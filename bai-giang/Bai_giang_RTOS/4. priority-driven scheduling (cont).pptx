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72" r:id="rId3"/>
    <p:sldId id="261" r:id="rId4"/>
    <p:sldId id="273" r:id="rId5"/>
    <p:sldId id="274" r:id="rId6"/>
    <p:sldId id="275" r:id="rId7"/>
    <p:sldId id="276" r:id="rId8"/>
    <p:sldId id="277" r:id="rId9"/>
    <p:sldId id="262" r:id="rId10"/>
    <p:sldId id="278" r:id="rId11"/>
    <p:sldId id="270" r:id="rId12"/>
    <p:sldId id="279" r:id="rId13"/>
    <p:sldId id="271" r:id="rId14"/>
    <p:sldId id="263" r:id="rId15"/>
    <p:sldId id="280" r:id="rId16"/>
    <p:sldId id="281" r:id="rId17"/>
    <p:sldId id="282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48" y="7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D3AC5-D058-46D8-8CC2-78D0797F90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FFFF2-AEDD-4881-8E6D-8CB7CF73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6284-CC99-4E68-A88B-334013B285A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C68-4654-4964-8289-9EC5F1B2691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1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336D10C-AAD6-488C-87E1-8BDB34C4CA2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B7A1F-DA9A-4147-9FAD-8F581AAEAE9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8027-F4D6-4D41-9243-594FD7263661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95F8-981A-47EF-8354-7B8589DDC695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48A2-85FA-4E94-9BCC-CB573B031788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5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7A86-E76B-4476-A3FC-7F9668C37BDC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547B-DB11-4FEE-B405-1BA7928B386C}" type="datetime1">
              <a:rPr lang="en-US" smtClean="0"/>
              <a:t>12/1/2025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A9F6-E845-4182-911C-60B2BF2E197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331E-8021-4B8A-97DB-0CA9F447B71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10496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803400"/>
            <a:ext cx="10058400" cy="436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6CE8B14-7202-4C06-871C-6A18898D884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F8A-8F3D-4145-B691-95D21995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Priority-driven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B1F9C-8AB0-4179-A5BB-80FD76E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</a:t>
            </a:r>
            <a:r>
              <a:rPr lang="en-US" dirty="0" err="1"/>
              <a:t>BuiHa</a:t>
            </a:r>
            <a:r>
              <a:rPr lang="en-US" dirty="0"/>
              <a:t> Duc, PhD</a:t>
            </a:r>
          </a:p>
          <a:p>
            <a:r>
              <a:rPr lang="en-US" dirty="0"/>
              <a:t>Department </a:t>
            </a:r>
            <a:r>
              <a:rPr lang="en-US"/>
              <a:t>of Mechatronics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9242-17D5-4758-B22A-3DED516B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 Monotonic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E03F6-682D-4755-A80B-52159E433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31235"/>
            <a:ext cx="10058400" cy="4740965"/>
          </a:xfrm>
        </p:spPr>
        <p:txBody>
          <a:bodyPr/>
          <a:lstStyle/>
          <a:p>
            <a:r>
              <a:rPr lang="en-US" dirty="0"/>
              <a:t> DMS was first proposed in 1982 by Leung and Whitehead</a:t>
            </a:r>
          </a:p>
          <a:p>
            <a:r>
              <a:rPr lang="en-US" dirty="0"/>
              <a:t> DMS is an extension of RMS where task have relative deadline less than or equal to their period.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29CD-82D4-4549-9F60-4373E1DE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B3C952-8881-4624-98C6-0E5D8B1A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90" y="3390181"/>
            <a:ext cx="8093854" cy="2516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FC565F-C26F-485F-AD5C-D34F0715EC91}"/>
              </a:ext>
            </a:extLst>
          </p:cNvPr>
          <p:cNvSpPr txBox="1"/>
          <p:nvPr/>
        </p:nvSpPr>
        <p:spPr>
          <a:xfrm>
            <a:off x="5076589" y="3429000"/>
            <a:ext cx="77585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p</a:t>
            </a:r>
            <a:r>
              <a:rPr lang="en-US" sz="2000" baseline="-25000" dirty="0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48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4215-D0B3-1C71-DA2C-7AA08417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 Monotonic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E978D-CAB6-F69E-9126-97FAC9F8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60945"/>
            <a:ext cx="10058400" cy="4611255"/>
          </a:xfrm>
        </p:spPr>
        <p:txBody>
          <a:bodyPr/>
          <a:lstStyle/>
          <a:p>
            <a:r>
              <a:rPr lang="en-US" dirty="0"/>
              <a:t> DMS assigns task priority according to relative deadlines</a:t>
            </a:r>
          </a:p>
          <a:p>
            <a:pPr lvl="1"/>
            <a:r>
              <a:rPr lang="en-US" dirty="0"/>
              <a:t> the shorter the relative deadline, the higher the priority</a:t>
            </a:r>
          </a:p>
          <a:p>
            <a:r>
              <a:rPr lang="en-US" dirty="0"/>
              <a:t> When relative deadline of every task matches its period, then rate monotonic and deadline monotonic give identical results</a:t>
            </a:r>
          </a:p>
          <a:p>
            <a:r>
              <a:rPr lang="en-US" dirty="0"/>
              <a:t> DMS can sometimes produce a feasible schedule in cases where rate monotonic cannot</a:t>
            </a:r>
          </a:p>
          <a:p>
            <a:r>
              <a:rPr lang="en-US" dirty="0"/>
              <a:t> RMS always fails when DMS fails</a:t>
            </a:r>
          </a:p>
          <a:p>
            <a:r>
              <a:rPr lang="en-US" dirty="0"/>
              <a:t> When deadline ≠ period, DMS is preferred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C37CD-F76F-E958-5C53-C6A0F983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9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F532-50C9-4BEF-80FA-1BA05038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SCHEDULABILITY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CCA79-3443-4571-B660-C2B3B1A99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533236"/>
                <a:ext cx="10058400" cy="4922982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 Method 1: Utilization test (pessimistic)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r>
                  <a:rPr lang="en-US" dirty="0"/>
                  <a:t>Method 2: </a:t>
                </a:r>
                <a:r>
                  <a:rPr lang="en-US" dirty="0" err="1"/>
                  <a:t>Reponse</a:t>
                </a:r>
                <a:r>
                  <a:rPr lang="en-US" dirty="0"/>
                  <a:t> time analysis</a:t>
                </a:r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every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task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h𝑝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FF0000"/>
                    </a:solidFill>
                  </a:rPr>
                  <a:t>DMS fails </a:t>
                </a:r>
                <a:r>
                  <a:rPr lang="en-US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RMS fail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CCA79-3443-4571-B660-C2B3B1A99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533236"/>
                <a:ext cx="10058400" cy="4922982"/>
              </a:xfrm>
              <a:blipFill>
                <a:blip r:embed="rId2"/>
                <a:stretch>
                  <a:fillRect l="-1273" t="-2354" b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7568A-83B2-400B-B14E-F5CEE7B0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5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D9CB-72A0-4520-8933-4F553AFF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E7AC-71EC-450B-B34B-B341C292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 the </a:t>
            </a:r>
            <a:r>
              <a:rPr lang="en-US" dirty="0" err="1"/>
              <a:t>schedulability</a:t>
            </a:r>
            <a:r>
              <a:rPr lang="en-US" dirty="0"/>
              <a:t> of these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5CA05-A503-4C12-B603-E35671E0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65B6773-6617-455F-80EE-54E9BA2A5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01599"/>
              </p:ext>
            </p:extLst>
          </p:nvPr>
        </p:nvGraphicFramePr>
        <p:xfrm>
          <a:off x="3445163" y="2548465"/>
          <a:ext cx="463665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164">
                  <a:extLst>
                    <a:ext uri="{9D8B030D-6E8A-4147-A177-3AD203B41FA5}">
                      <a16:colId xmlns:a16="http://schemas.microsoft.com/office/drawing/2014/main" val="1396493000"/>
                    </a:ext>
                  </a:extLst>
                </a:gridCol>
                <a:gridCol w="1159164">
                  <a:extLst>
                    <a:ext uri="{9D8B030D-6E8A-4147-A177-3AD203B41FA5}">
                      <a16:colId xmlns:a16="http://schemas.microsoft.com/office/drawing/2014/main" val="2127868728"/>
                    </a:ext>
                  </a:extLst>
                </a:gridCol>
                <a:gridCol w="1159164">
                  <a:extLst>
                    <a:ext uri="{9D8B030D-6E8A-4147-A177-3AD203B41FA5}">
                      <a16:colId xmlns:a16="http://schemas.microsoft.com/office/drawing/2014/main" val="427720079"/>
                    </a:ext>
                  </a:extLst>
                </a:gridCol>
                <a:gridCol w="1159164">
                  <a:extLst>
                    <a:ext uri="{9D8B030D-6E8A-4147-A177-3AD203B41FA5}">
                      <a16:colId xmlns:a16="http://schemas.microsoft.com/office/drawing/2014/main" val="1816530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r>
                        <a:rPr lang="en-US" sz="2400" baseline="-25000" dirty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  <a:r>
                        <a:rPr lang="en-US" sz="2400" baseline="-25000" dirty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  <a:r>
                        <a:rPr lang="en-US" sz="2400" baseline="-25000" dirty="0"/>
                        <a:t>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74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  <a:r>
                        <a:rPr lang="en-US" sz="2400" baseline="-25000" dirty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53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  <a:r>
                        <a:rPr lang="en-US" sz="2400" baseline="-250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593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  <a:r>
                        <a:rPr lang="en-US" sz="2400" baseline="-25000" dirty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289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  <a:r>
                        <a:rPr lang="en-US" sz="2400" baseline="-25000" dirty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748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83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8D27-6018-4E2B-9858-80D509CF4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DMS vs RMS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161F50-FB6E-40C3-95A9-4899E582B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841402"/>
            <a:ext cx="10409106" cy="33920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4B500-DBA0-494A-ACFE-1DC6BB0B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1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BA9F-0A4D-4367-9BA0-A8D8512A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Priority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2AAC-EE74-40FD-9131-8639A3FF3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651" y="1803400"/>
            <a:ext cx="10818891" cy="43688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Dynamic priority: priority of a task or job is </a:t>
            </a:r>
            <a:r>
              <a:rPr lang="en-US" b="1" dirty="0"/>
              <a:t>not fixed </a:t>
            </a:r>
            <a:r>
              <a:rPr lang="en-US" dirty="0"/>
              <a:t>but is calculated or adjusted at runtime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Typically based on remaining time to deadline or slack time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Dynamic priority scheduling has higher utilization bound.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</a:t>
            </a:r>
            <a:r>
              <a:rPr lang="en-US" dirty="0" err="1"/>
              <a:t>FreeRTOS</a:t>
            </a:r>
            <a:r>
              <a:rPr lang="en-US" dirty="0"/>
              <a:t> is a fixed-priority, preemptive scheduler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does not implement </a:t>
            </a:r>
            <a:r>
              <a:rPr lang="en-US" dirty="0">
                <a:sym typeface="Wingdings" panose="05000000000000000000" pitchFamily="2" charset="2"/>
              </a:rPr>
              <a:t>dynamic priority scheduling by default.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ym typeface="Wingdings" panose="05000000000000000000" pitchFamily="2" charset="2"/>
              </a:rPr>
              <a:t> must calculate tasks’ priority periodically, then use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vTaskPrioritySet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() </a:t>
            </a:r>
            <a:r>
              <a:rPr lang="en-US" dirty="0">
                <a:sym typeface="Wingdings" panose="05000000000000000000" pitchFamily="2" charset="2"/>
              </a:rPr>
              <a:t>to manually update </a:t>
            </a:r>
          </a:p>
          <a:p>
            <a:pPr marL="27432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solidFill>
                  <a:srgbClr val="0070C0"/>
                </a:solidFill>
              </a:rPr>
              <a:t>void </a:t>
            </a:r>
            <a:r>
              <a:rPr lang="en-US" i="1" dirty="0" err="1">
                <a:solidFill>
                  <a:srgbClr val="0070C0"/>
                </a:solidFill>
              </a:rPr>
              <a:t>vTaskPrioritySet</a:t>
            </a:r>
            <a:r>
              <a:rPr lang="en-US" i="1" dirty="0">
                <a:solidFill>
                  <a:srgbClr val="0070C0"/>
                </a:solidFill>
              </a:rPr>
              <a:t>( </a:t>
            </a:r>
            <a:r>
              <a:rPr lang="en-US" i="1" dirty="0" err="1">
                <a:solidFill>
                  <a:srgbClr val="0070C0"/>
                </a:solidFill>
              </a:rPr>
              <a:t>TaskHandle_t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xTask</a:t>
            </a:r>
            <a:r>
              <a:rPr lang="en-US" i="1" dirty="0">
                <a:solidFill>
                  <a:srgbClr val="0070C0"/>
                </a:solidFill>
              </a:rPr>
              <a:t>, </a:t>
            </a:r>
            <a:r>
              <a:rPr lang="en-US" i="1" dirty="0" err="1">
                <a:solidFill>
                  <a:srgbClr val="0070C0"/>
                </a:solidFill>
              </a:rPr>
              <a:t>UBaseType_t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uxNewPriority</a:t>
            </a:r>
            <a:r>
              <a:rPr lang="en-US" i="1" dirty="0">
                <a:solidFill>
                  <a:srgbClr val="0070C0"/>
                </a:solidFill>
              </a:rPr>
              <a:t> );</a:t>
            </a:r>
            <a:endParaRPr lang="en-US" i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461C5-8753-4354-8B58-83FE95E3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3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5538-48E7-4AB7-B1DC-C158F3D3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53E989-7C19-42A5-BF3B-D2E747702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987" y="695985"/>
            <a:ext cx="8066634" cy="57591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9460D-1BE3-4DC2-B9C6-9C1623EB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49A8-D5BF-D768-E523-3B20CC27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Dynamic-Priority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F727-134F-D828-0D8B-64E73E48E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0442"/>
            <a:ext cx="10058400" cy="5097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Dynamic Priority Algorithms</a:t>
            </a:r>
            <a:r>
              <a:rPr lang="en-US" dirty="0"/>
              <a:t> </a:t>
            </a:r>
          </a:p>
          <a:p>
            <a:r>
              <a:rPr lang="en-US" dirty="0"/>
              <a:t>Earliest deadline first (EDF)</a:t>
            </a:r>
          </a:p>
          <a:p>
            <a:pPr lvl="1"/>
            <a:r>
              <a:rPr lang="en-US" dirty="0"/>
              <a:t>The job queue is ordered by earliest deadline</a:t>
            </a:r>
          </a:p>
          <a:p>
            <a:r>
              <a:rPr lang="en-US" dirty="0"/>
              <a:t> Least slack time first (LST)</a:t>
            </a:r>
          </a:p>
          <a:p>
            <a:pPr lvl="1"/>
            <a:r>
              <a:rPr lang="en-US" dirty="0"/>
              <a:t> The job queue is ordered by least slack time</a:t>
            </a:r>
          </a:p>
          <a:p>
            <a:pPr lvl="1"/>
            <a:r>
              <a:rPr lang="en-US" dirty="0"/>
              <a:t> Scheduling decisions made only when jobs release or complete</a:t>
            </a:r>
          </a:p>
          <a:p>
            <a:r>
              <a:rPr lang="en-US" dirty="0"/>
              <a:t> First in, first out (FIFO)</a:t>
            </a:r>
          </a:p>
          <a:p>
            <a:pPr lvl="1"/>
            <a:r>
              <a:rPr lang="en-US" dirty="0"/>
              <a:t> Job queue is first-in-first-out by release time</a:t>
            </a:r>
          </a:p>
          <a:p>
            <a:r>
              <a:rPr lang="en-US" dirty="0"/>
              <a:t> Last in, first out (LIFO)</a:t>
            </a:r>
          </a:p>
          <a:p>
            <a:pPr lvl="1"/>
            <a:r>
              <a:rPr lang="en-US" dirty="0"/>
              <a:t>Job queue is last-in-first-out by release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167E-63DC-928E-B7F4-129A4E0A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65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82E0-77F9-40FA-AE93-8224378B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deadline first (EDF)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0AC87-6FCB-4093-9B04-274ED07F8B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EDF is the most well-known dynamic priority algorithm.</a:t>
                </a:r>
              </a:p>
              <a:p>
                <a:r>
                  <a:rPr lang="en-US" dirty="0"/>
                  <a:t> Priority Rule: The task with the earliest absolute deadline (d</a:t>
                </a:r>
                <a:r>
                  <a:rPr lang="en-US" baseline="-25000" dirty="0"/>
                  <a:t>i</a:t>
                </a:r>
                <a:r>
                  <a:rPr lang="en-US" dirty="0"/>
                  <a:t>) is assigned the highest priority.</a:t>
                </a:r>
              </a:p>
              <a:p>
                <a:r>
                  <a:rPr lang="en-US" dirty="0"/>
                  <a:t> </a:t>
                </a:r>
                <a:r>
                  <a:rPr lang="en-US" dirty="0" err="1"/>
                  <a:t>Schedulability</a:t>
                </a:r>
                <a:r>
                  <a:rPr lang="en-US" dirty="0"/>
                  <a:t> Bound: A set of tasks is EDF-schedulable if and only if the total CPU utilization is less than or equal to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0AC87-6FCB-4093-9B04-274ED07F8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8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A1854-6CC8-4A36-84EC-48E18837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1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7F3B-3058-E1DB-415A-CF28CD9A2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Schedulability</a:t>
            </a:r>
            <a:r>
              <a:rPr lang="en-US" dirty="0"/>
              <a:t> Tests: EDF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5F6AD-E11A-73E1-548D-3EBA865CF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If D</a:t>
                </a:r>
                <a:r>
                  <a:rPr lang="en-US" baseline="-25000" dirty="0"/>
                  <a:t>i</a:t>
                </a:r>
                <a:r>
                  <a:rPr lang="en-US" dirty="0"/>
                  <a:t> &lt; p</a:t>
                </a:r>
                <a:r>
                  <a:rPr lang="en-US" baseline="-25000" dirty="0"/>
                  <a:t>i</a:t>
                </a:r>
                <a:r>
                  <a:rPr lang="en-US" dirty="0"/>
                  <a:t>, use density test.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/>
                  <a:t>Density of a task: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sz="2800" b="0" dirty="0"/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/>
                  <a:t>Density of the system: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/>
                  <a:t>A system T of independent, preemptable periodic tasks can be feasibly scheduled on one processor if Δ ≤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5F6AD-E11A-73E1-548D-3EBA865CF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8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C4DF-37DA-FE90-6EFE-5A23D689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4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5235F-822C-44DF-8F47-D59A80848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Slack Time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D9120-B41D-42E3-801E-17AF6163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803400"/>
            <a:ext cx="10355625" cy="4368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LST is an algorithm under the same basic conditions as EDF</a:t>
            </a:r>
          </a:p>
          <a:p>
            <a:pPr>
              <a:spcAft>
                <a:spcPts val="600"/>
              </a:spcAft>
            </a:pPr>
            <a:r>
              <a:rPr lang="en-US" dirty="0"/>
              <a:t> Priority rule: The task with the least slack time (or laxity) is assigned the highest priority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/>
              <a:t>S</a:t>
            </a:r>
            <a:r>
              <a:rPr lang="en-US" sz="2400" baseline="-25000" dirty="0"/>
              <a:t>i</a:t>
            </a:r>
            <a:r>
              <a:rPr lang="en-US" sz="2400" dirty="0"/>
              <a:t>(t) = (</a:t>
            </a:r>
            <a:r>
              <a:rPr lang="en-US" sz="2400" dirty="0">
                <a:solidFill>
                  <a:srgbClr val="0070C0"/>
                </a:solidFill>
              </a:rPr>
              <a:t>Absolute deadline </a:t>
            </a:r>
            <a:r>
              <a:rPr lang="en-US" sz="2400" dirty="0"/>
              <a:t>– </a:t>
            </a:r>
            <a:r>
              <a:rPr lang="en-US" sz="2400" dirty="0">
                <a:solidFill>
                  <a:srgbClr val="00B050"/>
                </a:solidFill>
              </a:rPr>
              <a:t>Current time</a:t>
            </a:r>
            <a:r>
              <a:rPr lang="en-US" sz="2400" dirty="0"/>
              <a:t>) –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Remain execution time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en-US" dirty="0"/>
              <a:t>LST requires the scheduler to accurately track and update the remaining execution time for every task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significant runtime overhead and complexity</a:t>
            </a:r>
          </a:p>
          <a:p>
            <a:pPr>
              <a:spcAft>
                <a:spcPts val="600"/>
              </a:spcAft>
            </a:pP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LST can suffer from a high number of context switches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61B74-1D96-448A-AFE4-B4DB46D9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4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CA8C-4845-7EFC-CADF-75CCD0A0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 of EDF and LST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137E-B8F4-F6CA-0E9F-5001BF0FE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2875"/>
            <a:ext cx="10058400" cy="4669325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On a single processor, as long as preemption is allowed and jobs do not contend for resources, EDF and LST are optimal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they will always produce a feasible schedule if one exists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if they fail to produce a feasible schedule, no feasible schedule exists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Neither algorithm is optimal if jobs are non-preemptable or if there is more than one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1B1B7-AD61-0D7E-25CD-270D0D59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3557-4CC5-2359-B200-C00FD6596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Earliest Deadline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0EF44-ADEF-FEDB-1414-31E150D50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45" y="1245558"/>
            <a:ext cx="7497488" cy="2976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EA4BB6-A071-468E-DBC5-792FABE7C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50" y="4590039"/>
            <a:ext cx="9703299" cy="204480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34225D-28F5-73A0-3F80-B05677B5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02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2105-B1A6-46AD-9315-0445C6E8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8257-A14D-474B-AF46-DFF160F4F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E30AF-2EC1-4867-9669-FBCED979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6F52B-AEE6-45D7-A6EA-A70B6E5C7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255" y="167697"/>
            <a:ext cx="7472499" cy="652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60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ECC8-B38E-48B8-8017-18F366F4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732E-0679-46E6-BB39-098AD7E6D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9C2AA-2327-4E4B-A084-4DBD2974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36407-F6A3-4497-A4DC-F13F98F6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99" y="266657"/>
            <a:ext cx="7278565" cy="641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1251-FCE9-4CBD-98DE-78113A42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2FC6-3EB8-4BEA-8933-B09A0D823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AA66C-61CB-4727-A764-611FF696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AEFA7-6AE9-4A24-8B94-7A9E1C996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00" y="496279"/>
            <a:ext cx="6762799" cy="469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85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AD7B-6743-398C-85A6-40AF07E2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17381-A70D-2F87-AD32-87511B376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56267"/>
            <a:ext cx="10058400" cy="4749800"/>
          </a:xfrm>
        </p:spPr>
        <p:txBody>
          <a:bodyPr>
            <a:normAutofit fontScale="92500"/>
          </a:bodyPr>
          <a:lstStyle/>
          <a:p>
            <a:r>
              <a:rPr lang="en-US" dirty="0"/>
              <a:t>Fixed- and dynamic-priority scheduling algorithms have different properties; neither appropriate for all scenarios</a:t>
            </a:r>
          </a:p>
          <a:p>
            <a:r>
              <a:rPr lang="en-US" dirty="0"/>
              <a:t> Algorithms that do not take into account the urgencies of jobs in priority assignment usually perform poorly (</a:t>
            </a:r>
            <a:r>
              <a:rPr lang="en-US" dirty="0" err="1"/>
              <a:t>e.g</a:t>
            </a:r>
            <a:r>
              <a:rPr lang="en-US" dirty="0"/>
              <a:t> FIFO, LIFO)</a:t>
            </a:r>
          </a:p>
          <a:p>
            <a:r>
              <a:rPr lang="en-US" dirty="0"/>
              <a:t> The EDF algorithm gives higher priority to jobs that have missed their deadlines than to jobs whose deadline is still in the future</a:t>
            </a:r>
          </a:p>
          <a:p>
            <a:r>
              <a:rPr lang="en-US" dirty="0"/>
              <a:t> Dynamic algorithms like EDF can produce feasible schedules in cases where RM and DM cannot</a:t>
            </a:r>
          </a:p>
          <a:p>
            <a:r>
              <a:rPr lang="en-US" dirty="0"/>
              <a:t> Fixed priority algorithms often more predictable, lower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E1907-1034-C584-6A54-3ED15DBC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52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C0BB-4519-5545-B1C9-B5F106A9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Comparing Different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BA89D-0FB5-40D2-10F5-6DF561452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Assume a single processor system with 2 tasks</a:t>
            </a: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1</a:t>
            </a:r>
            <a:r>
              <a:rPr lang="en-US" dirty="0"/>
              <a:t>(2, 1)</a:t>
            </a: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2</a:t>
            </a:r>
            <a:r>
              <a:rPr lang="en-US" dirty="0"/>
              <a:t>(5, 2.5)</a:t>
            </a:r>
          </a:p>
          <a:p>
            <a:r>
              <a:rPr lang="en-US" dirty="0"/>
              <a:t> Total utilization is 1 </a:t>
            </a:r>
            <a:r>
              <a:rPr lang="en-US" dirty="0">
                <a:sym typeface="Wingdings" panose="05000000000000000000" pitchFamily="2" charset="2"/>
              </a:rPr>
              <a:t> no slack time</a:t>
            </a:r>
          </a:p>
          <a:p>
            <a:r>
              <a:rPr lang="en-US" dirty="0">
                <a:sym typeface="Wingdings" panose="05000000000000000000" pitchFamily="2" charset="2"/>
              </a:rPr>
              <a:t> Try to schedule these tasks with RMS, EDF,  LST, FIFO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E0BD2-0063-8E96-5D26-E37C406C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37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98BD-B455-398F-F538-230A3C89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Comparing Different Algorithms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5BEE7A-B76E-F8F7-5EF1-644B079AD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8593" y="1803400"/>
            <a:ext cx="9381163" cy="4368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6587C9-5D0C-B37E-A065-FE7151C2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37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355</TotalTime>
  <Words>800</Words>
  <Application>Microsoft Office PowerPoint</Application>
  <PresentationFormat>Widescreen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Cambria Math</vt:lpstr>
      <vt:lpstr>Rockwell</vt:lpstr>
      <vt:lpstr>Rockwell Condensed</vt:lpstr>
      <vt:lpstr>Wingdings</vt:lpstr>
      <vt:lpstr>Wood Type</vt:lpstr>
      <vt:lpstr>Priority-driven Scheduling</vt:lpstr>
      <vt:lpstr>Deadline Monotonic Scheduling</vt:lpstr>
      <vt:lpstr>Deadline Monotonic Scheduling</vt:lpstr>
      <vt:lpstr>SCHEDULABILITY ANALYSIS</vt:lpstr>
      <vt:lpstr>Example</vt:lpstr>
      <vt:lpstr>DMS vs RMS</vt:lpstr>
      <vt:lpstr>Dynamic Priority Scheduling</vt:lpstr>
      <vt:lpstr>PowerPoint Presentation</vt:lpstr>
      <vt:lpstr>Dynamic-Priority Algorithms</vt:lpstr>
      <vt:lpstr>Earliest deadline first (EDF)</vt:lpstr>
      <vt:lpstr>Schedulability Tests: EDF</vt:lpstr>
      <vt:lpstr>Least Slack Time First</vt:lpstr>
      <vt:lpstr>Optimality of EDF and LST</vt:lpstr>
      <vt:lpstr>Example: Earliest Deadline First</vt:lpstr>
      <vt:lpstr>PowerPoint Presentation</vt:lpstr>
      <vt:lpstr>PowerPoint Presentation</vt:lpstr>
      <vt:lpstr>PowerPoint Presentation</vt:lpstr>
      <vt:lpstr>Practice considerations</vt:lpstr>
      <vt:lpstr>Example: Comparing Different Algorithms</vt:lpstr>
      <vt:lpstr>Example: Comparing Different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b</dc:creator>
  <cp:lastModifiedBy>duc b</cp:lastModifiedBy>
  <cp:revision>47</cp:revision>
  <dcterms:created xsi:type="dcterms:W3CDTF">2025-10-20T03:05:03Z</dcterms:created>
  <dcterms:modified xsi:type="dcterms:W3CDTF">2025-11-30T17:36:05Z</dcterms:modified>
</cp:coreProperties>
</file>