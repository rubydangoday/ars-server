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0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5" r:id="rId16"/>
    <p:sldId id="286" r:id="rId17"/>
    <p:sldId id="287" r:id="rId18"/>
    <p:sldId id="288" r:id="rId19"/>
    <p:sldId id="278" r:id="rId20"/>
    <p:sldId id="298" r:id="rId21"/>
    <p:sldId id="274" r:id="rId22"/>
    <p:sldId id="273" r:id="rId23"/>
    <p:sldId id="276" r:id="rId24"/>
    <p:sldId id="279" r:id="rId25"/>
    <p:sldId id="280" r:id="rId26"/>
    <p:sldId id="281" r:id="rId27"/>
    <p:sldId id="282" r:id="rId28"/>
    <p:sldId id="283" r:id="rId29"/>
    <p:sldId id="285" r:id="rId30"/>
    <p:sldId id="289" r:id="rId31"/>
    <p:sldId id="290" r:id="rId32"/>
    <p:sldId id="291" r:id="rId33"/>
    <p:sldId id="292" r:id="rId34"/>
    <p:sldId id="293" r:id="rId35"/>
    <p:sldId id="295" r:id="rId36"/>
    <p:sldId id="294" r:id="rId37"/>
    <p:sldId id="296" r:id="rId38"/>
    <p:sldId id="297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39" y="1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A2D1EC-A048-4A56-9EE4-0A33B236125F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F674DE-ED65-4B94-972B-586103278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574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DFA81-18A5-4E71-9D17-C17465539D2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4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9F8B8-6268-4F5B-B5CB-BA4CFBE82EE8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14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3D08C10F-F7B0-4E36-B9EF-68F698CD78BC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D743C9-C963-444F-B485-7A7E5B284680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2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EDB84-F84F-4129-B035-75C92B4D009C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914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CE13D-57BC-4D91-B670-4D86A435FD78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26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507B45-5C0E-44E5-91EE-B02E170F9F39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759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EAA7C-4164-4913-B815-72A6AAD801FE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599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F2221-CE78-4061-B3DC-AFAF5E0212EE}" type="datetime1">
              <a:rPr lang="en-US" smtClean="0"/>
              <a:t>12/14/2025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55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2A4C98-B4D0-497C-B8DA-170359B9F324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403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6ACF4-63DD-46B7-949F-AAE6BAC9947F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072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30876A6F-21E4-4B0B-BCF2-D138EB9F1E2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272B216A-8B69-41AB-BAA8-88F2DEF314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488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A4F8A-8F3D-4145-B691-95D21995D6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dirty="0"/>
              <a:t>Scheduling of  Aperiodic and Sporadic Tasks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5B1F9C-8AB0-4179-A5BB-80FD76E314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Lecturer: </a:t>
            </a:r>
            <a:r>
              <a:rPr lang="en-US" dirty="0" err="1"/>
              <a:t>BuiHa</a:t>
            </a:r>
            <a:r>
              <a:rPr lang="en-US" dirty="0"/>
              <a:t> Duc, PhD</a:t>
            </a:r>
          </a:p>
          <a:p>
            <a:r>
              <a:rPr lang="en-US" dirty="0"/>
              <a:t>Department </a:t>
            </a:r>
            <a:r>
              <a:rPr lang="en-US"/>
              <a:t>of Mechatronics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294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86C54-4D46-48BD-ADC9-633A4A941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Remind: Types of task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84A6D-B93C-49ED-AA0F-9757E37DD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85257"/>
            <a:ext cx="10058400" cy="4386943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Tasks are primarily classified based on their arrival patterns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Periodic Tasks: A set of jobs that are executed </a:t>
            </a:r>
            <a:r>
              <a:rPr lang="en-US" dirty="0">
                <a:solidFill>
                  <a:srgbClr val="0070C0"/>
                </a:solidFill>
              </a:rPr>
              <a:t>repeatedly at regular time intervals</a:t>
            </a:r>
            <a:r>
              <a:rPr lang="en-US" dirty="0"/>
              <a:t>. 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They are predictable and their timing parameters are usually well-defined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hard real-time</a:t>
            </a:r>
            <a:endParaRPr lang="en-US" dirty="0">
              <a:solidFill>
                <a:srgbClr val="0070C0"/>
              </a:solidFill>
            </a:endParaRP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Aperiodic Tasks: These tasks arrive at </a:t>
            </a:r>
            <a:r>
              <a:rPr lang="en-US" dirty="0">
                <a:solidFill>
                  <a:srgbClr val="0070C0"/>
                </a:solidFill>
              </a:rPr>
              <a:t>irregular, unpredictable intervals </a:t>
            </a:r>
            <a:r>
              <a:rPr lang="en-US" dirty="0"/>
              <a:t>in response to random events. 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Their execution requirements are typically </a:t>
            </a:r>
            <a:r>
              <a:rPr lang="en-US" dirty="0">
                <a:solidFill>
                  <a:srgbClr val="0070C0"/>
                </a:solidFill>
              </a:rPr>
              <a:t>soft real-time</a:t>
            </a:r>
          </a:p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Sporadic Tasks: These tasks also arrive at </a:t>
            </a:r>
            <a:r>
              <a:rPr lang="en-US" dirty="0">
                <a:solidFill>
                  <a:srgbClr val="0070C0"/>
                </a:solidFill>
              </a:rPr>
              <a:t>irregular</a:t>
            </a:r>
            <a:r>
              <a:rPr lang="en-US" dirty="0"/>
              <a:t>, but they have a </a:t>
            </a:r>
            <a:r>
              <a:rPr lang="en-US" dirty="0">
                <a:solidFill>
                  <a:srgbClr val="0070C0"/>
                </a:solidFill>
              </a:rPr>
              <a:t>guaranteed minimum arrival time between arrivals</a:t>
            </a:r>
            <a:r>
              <a:rPr lang="en-US" dirty="0"/>
              <a:t>. 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Their execution requirements are usually </a:t>
            </a:r>
            <a:r>
              <a:rPr lang="en-US" dirty="0">
                <a:solidFill>
                  <a:srgbClr val="0070C0"/>
                </a:solidFill>
              </a:rPr>
              <a:t>hard real-time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36C19F-A630-EC11-F7BE-C589BE69C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7466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2F2C-9C38-8DAD-EF40-0B3AFA0BF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6C41E5-CF96-4448-77F5-F6FEE727B2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357" y="2133496"/>
            <a:ext cx="9455636" cy="40261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44A21-DE4E-27E1-57AF-FBBC07593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011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5163B-EDA1-4F25-BEC9-64513E5A4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FDE2A-7FD4-496C-F4FB-AC650EA9C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724297"/>
            <a:ext cx="10058400" cy="4789714"/>
          </a:xfrm>
        </p:spPr>
        <p:txBody>
          <a:bodyPr>
            <a:normAutofit fontScale="92500"/>
          </a:bodyPr>
          <a:lstStyle/>
          <a:p>
            <a:pPr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The </a:t>
            </a:r>
            <a:r>
              <a:rPr lang="en-US" sz="2400" b="1" dirty="0"/>
              <a:t>acceptance test </a:t>
            </a:r>
            <a:r>
              <a:rPr lang="en-US" sz="2400" dirty="0"/>
              <a:t>check the execution time and deadline of each newly arrived </a:t>
            </a:r>
            <a:r>
              <a:rPr lang="en-US" sz="2400" dirty="0">
                <a:solidFill>
                  <a:srgbClr val="0070C0"/>
                </a:solidFill>
              </a:rPr>
              <a:t>sporadic job</a:t>
            </a:r>
            <a:r>
              <a:rPr lang="en-US" sz="2400" dirty="0"/>
              <a:t>, decide whether to accept or reject the job</a:t>
            </a:r>
          </a:p>
          <a:p>
            <a:pPr lvl="1"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If job can be complete within its deadline </a:t>
            </a:r>
            <a:r>
              <a:rPr lang="en-US" sz="2000" dirty="0">
                <a:sym typeface="Wingdings" panose="05000000000000000000" pitchFamily="2" charset="2"/>
              </a:rPr>
              <a:t> accept</a:t>
            </a:r>
          </a:p>
          <a:p>
            <a:pPr lvl="1"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000" dirty="0"/>
              <a:t>If cannot guarantee it will meet its deadline </a:t>
            </a:r>
            <a:r>
              <a:rPr lang="en-US" sz="2000" dirty="0">
                <a:sym typeface="Wingdings" panose="05000000000000000000" pitchFamily="2" charset="2"/>
              </a:rPr>
              <a:t> do not accept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ym typeface="Wingdings" panose="05000000000000000000" pitchFamily="2" charset="2"/>
              </a:rPr>
              <a:t> </a:t>
            </a:r>
            <a:r>
              <a:rPr lang="en-US" sz="2400" dirty="0">
                <a:solidFill>
                  <a:srgbClr val="0070C0"/>
                </a:solidFill>
                <a:sym typeface="Wingdings" panose="05000000000000000000" pitchFamily="2" charset="2"/>
              </a:rPr>
              <a:t>Aperiodic jobs </a:t>
            </a:r>
            <a:r>
              <a:rPr lang="en-US" sz="2400" dirty="0">
                <a:sym typeface="Wingdings" panose="05000000000000000000" pitchFamily="2" charset="2"/>
              </a:rPr>
              <a:t>are always accepted 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>
                <a:sym typeface="Wingdings" panose="05000000000000000000" pitchFamily="2" charset="2"/>
              </a:rPr>
              <a:t> A </a:t>
            </a:r>
            <a:r>
              <a:rPr lang="en-US" sz="2400" dirty="0">
                <a:solidFill>
                  <a:srgbClr val="0070C0"/>
                </a:solidFill>
                <a:sym typeface="Wingdings" panose="05000000000000000000" pitchFamily="2" charset="2"/>
              </a:rPr>
              <a:t>correct schedule </a:t>
            </a:r>
            <a:r>
              <a:rPr lang="en-US" sz="2400" dirty="0">
                <a:sym typeface="Wingdings" panose="05000000000000000000" pitchFamily="2" charset="2"/>
              </a:rPr>
              <a:t>is one where all periodic tasks, and any sporadic tasks that have been accepted, meet their deadlines</a:t>
            </a:r>
          </a:p>
          <a:p>
            <a:pPr>
              <a:lnSpc>
                <a:spcPct val="12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400" dirty="0"/>
              <a:t> A scheduling algorithm supporting aperiodic and/or sporadic jobs is a correct algorithm if it only produces correct schedules for the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15BABD-1017-C064-BAE3-1175A0187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616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114BD-B269-6ADE-C0B9-8F4524352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BFE7-9351-9430-2401-687525733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An aperiodic job scheduling algorithm is </a:t>
            </a:r>
            <a:r>
              <a:rPr lang="en-US" b="1" dirty="0"/>
              <a:t>optimal if it minimizes </a:t>
            </a:r>
            <a:r>
              <a:rPr lang="en-US" dirty="0"/>
              <a:t>either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response time </a:t>
            </a:r>
            <a:r>
              <a:rPr lang="en-US" dirty="0"/>
              <a:t>of the job at the head of the aperiodic job queue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average response time </a:t>
            </a:r>
            <a:r>
              <a:rPr lang="en-US" dirty="0"/>
              <a:t>of all aperiodic jobs for a given queuing discipline</a:t>
            </a:r>
          </a:p>
          <a:p>
            <a:r>
              <a:rPr lang="en-US" dirty="0"/>
              <a:t> A sporadic job scheduling algorithm is optimal if and only if the new job can be correctly scheduled to complete in time</a:t>
            </a:r>
          </a:p>
          <a:p>
            <a:pPr lvl="1"/>
            <a:r>
              <a:rPr lang="en-US" dirty="0"/>
              <a:t> An optimal algorithm always produces a feasible schedule job accepted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10199-C420-3CAF-C6C7-D0B4AB13D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60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CA53DC-6B77-1BF2-C106-451AC8FAB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Aperiodic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9A57A-F4D3-DB60-2B04-00CEB2422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Two simple approaches:</a:t>
            </a:r>
          </a:p>
          <a:p>
            <a:pPr lvl="1"/>
            <a:r>
              <a:rPr lang="en-US" dirty="0"/>
              <a:t> Execute the aperiodic jobs in the background</a:t>
            </a:r>
          </a:p>
          <a:p>
            <a:pPr lvl="1"/>
            <a:r>
              <a:rPr lang="en-US" dirty="0"/>
              <a:t> Execute the aperiodic jobs by interrupting the periodic jobs</a:t>
            </a:r>
          </a:p>
          <a:p>
            <a:r>
              <a:rPr lang="en-US" dirty="0"/>
              <a:t> Neither background or interrupt driven execution ideal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F403FE-697C-7A19-3510-C201E8316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0009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0C2A8-AD5F-34C1-0D6D-057C9DDB4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/>
              <a:t>Background Scheduling of Aperiodic Jobs</a:t>
            </a:r>
            <a:endParaRPr lang="en-US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C3523-E470-BC02-B0C4-1403E46F3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Aperiodic jobs are scheduled and executed only at times when there are no periodic or sporadic jobs ready for execution</a:t>
            </a:r>
          </a:p>
          <a:p>
            <a:r>
              <a:rPr lang="en-US" dirty="0"/>
              <a:t> Advantages:</a:t>
            </a:r>
          </a:p>
          <a:p>
            <a:pPr lvl="1"/>
            <a:r>
              <a:rPr lang="en-US" dirty="0"/>
              <a:t> Clearly produces correct schedules</a:t>
            </a:r>
          </a:p>
          <a:p>
            <a:pPr lvl="1"/>
            <a:r>
              <a:rPr lang="en-US" dirty="0"/>
              <a:t> Extremely simple to implement</a:t>
            </a:r>
          </a:p>
          <a:p>
            <a:r>
              <a:rPr lang="en-US" dirty="0"/>
              <a:t> Disadvantages:</a:t>
            </a:r>
          </a:p>
          <a:p>
            <a:pPr lvl="1"/>
            <a:r>
              <a:rPr lang="en-US" dirty="0"/>
              <a:t> Not optimal due to the delay execution of aperiodic </a:t>
            </a:r>
            <a:r>
              <a:rPr lang="en-US" dirty="0">
                <a:sym typeface="Wingdings" panose="05000000000000000000" pitchFamily="2" charset="2"/>
              </a:rPr>
              <a:t> long response time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2BD946-EDFD-86B4-B1EA-43F6648A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686" y="4889371"/>
            <a:ext cx="5936628" cy="190766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A8B0C-0C85-DCF3-3603-5E6795AD4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91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E346-AF42-C780-21D7-4DB4C8F2E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Interrupt Scheduling of Aperiodic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659F4-3533-B3DD-04EB-D4211FCAE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Whenever an aperiodic job arrives, the execution of periodic tasks is interrupted, and the aperiodic job is executed.</a:t>
            </a:r>
          </a:p>
          <a:p>
            <a:pPr lvl="1"/>
            <a:r>
              <a:rPr lang="en-US" dirty="0"/>
              <a:t> Reduces response times of aperiodic jobs</a:t>
            </a:r>
          </a:p>
          <a:p>
            <a:pPr lvl="1"/>
            <a:r>
              <a:rPr lang="en-US" dirty="0"/>
              <a:t> But likely not correct, and will often cause periodic/sporadic tasks in the system to miss some deadlines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7C008-6C83-6342-9FB8-617F59663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85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86ACC-73D7-B0C8-8868-CD80B2E4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Stealing for Aperiodic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F93C1-6814-C901-8953-4182EA2BE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3204756"/>
            <a:ext cx="10058400" cy="338763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Idea of slack stealing </a:t>
            </a:r>
          </a:p>
          <a:p>
            <a:r>
              <a:rPr lang="en-US" dirty="0"/>
              <a:t>Periodic jobs are be scheduled to complete </a:t>
            </a:r>
            <a:r>
              <a:rPr lang="en-US" b="1" dirty="0"/>
              <a:t>before their deadline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some slack time between completion of the periodic job and its deadline</a:t>
            </a:r>
          </a:p>
          <a:p>
            <a:r>
              <a:rPr lang="en-US" dirty="0"/>
              <a:t> Move the slack time earlier in the schedule, running periodic jobs ‘just in time’ to meet their deadlines</a:t>
            </a:r>
          </a:p>
          <a:p>
            <a:r>
              <a:rPr lang="en-US" dirty="0"/>
              <a:t> Execute aperiodic jobs in the slack time, ahead of periodic jobs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55CEA6-78CE-67E6-EA18-41665B1A1B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8015" y="1967702"/>
            <a:ext cx="6338554" cy="13197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921255-F906-1D2B-C52D-9FD52C5C2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26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E4900-77B6-19FA-2DBA-28E80ECB9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Slack Stealing for Aperiodic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F7C76-E7DF-0B37-5AFF-FE23F3C93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</a:t>
            </a:r>
          </a:p>
          <a:p>
            <a:pPr lvl="1"/>
            <a:r>
              <a:rPr lang="en-US" dirty="0"/>
              <a:t> Reduces response time for aperiodic jobs</a:t>
            </a:r>
          </a:p>
          <a:p>
            <a:pPr lvl="1"/>
            <a:r>
              <a:rPr lang="en-US" dirty="0"/>
              <a:t> The schedule is correct</a:t>
            </a:r>
          </a:p>
          <a:p>
            <a:r>
              <a:rPr lang="en-US" dirty="0"/>
              <a:t> Difficulties:</a:t>
            </a:r>
          </a:p>
          <a:p>
            <a:pPr lvl="1"/>
            <a:r>
              <a:rPr lang="en-US" dirty="0"/>
              <a:t> more complex and difficult to implement</a:t>
            </a:r>
          </a:p>
          <a:p>
            <a:pPr lvl="1"/>
            <a:r>
              <a:rPr lang="en-US" dirty="0"/>
              <a:t>Pre-computation method such as clock-driven is conceptually simple but not practical in priority-driven system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947E6-5E31-C386-0AFD-8E7C13EB5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558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4F0C4-EC5A-778B-6A0E-D413AF116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44F4D-E1E1-67DB-6B42-155B4F0171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5059680"/>
            <a:ext cx="10058400" cy="20987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Server </a:t>
            </a:r>
            <a:r>
              <a:rPr lang="en-US" dirty="0"/>
              <a:t>is a special task that is modeled and </a:t>
            </a:r>
            <a:r>
              <a:rPr lang="en-US" dirty="0">
                <a:solidFill>
                  <a:srgbClr val="0070C0"/>
                </a:solidFill>
              </a:rPr>
              <a:t>schedules as a periodic task </a:t>
            </a:r>
            <a:r>
              <a:rPr lang="en-US" dirty="0"/>
              <a:t>along side the regular periodic tasks</a:t>
            </a:r>
          </a:p>
          <a:p>
            <a:pPr lvl="1"/>
            <a:r>
              <a:rPr lang="en-US" dirty="0"/>
              <a:t>Server has a fixed budget </a:t>
            </a:r>
            <a:r>
              <a:rPr lang="en-US" b="1" dirty="0"/>
              <a:t>C</a:t>
            </a:r>
            <a:r>
              <a:rPr lang="en-US" b="1" baseline="-25000" dirty="0"/>
              <a:t>s</a:t>
            </a:r>
            <a:r>
              <a:rPr lang="en-US" baseline="-25000" dirty="0"/>
              <a:t> </a:t>
            </a:r>
            <a:r>
              <a:rPr lang="en-US" dirty="0"/>
              <a:t>and period </a:t>
            </a:r>
            <a:r>
              <a:rPr lang="en-US" b="1" dirty="0" err="1"/>
              <a:t>p</a:t>
            </a:r>
            <a:r>
              <a:rPr lang="en-US" b="1" baseline="-25000" dirty="0" err="1"/>
              <a:t>s</a:t>
            </a:r>
            <a:endParaRPr lang="en-US" b="1" baseline="-25000" dirty="0"/>
          </a:p>
          <a:p>
            <a:pPr lvl="1"/>
            <a:r>
              <a:rPr lang="en-US" dirty="0"/>
              <a:t>Task go through a FIFO queue before processing by the server</a:t>
            </a:r>
          </a:p>
          <a:p>
            <a:endParaRPr lang="en-US" dirty="0"/>
          </a:p>
        </p:txBody>
      </p:sp>
      <p:pic>
        <p:nvPicPr>
          <p:cNvPr id="1026" name="Picture 2" descr="Block diagram of server scheduling for aperiodic tasks.  ">
            <a:extLst>
              <a:ext uri="{FF2B5EF4-FFF2-40B4-BE49-F238E27FC236}">
                <a16:creationId xmlns:a16="http://schemas.microsoft.com/office/drawing/2014/main" id="{B7FD9B4A-9E18-95F1-9465-3BFF014834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752220"/>
            <a:ext cx="8096250" cy="3133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5B4EC-55E1-4976-EC99-93CA824E9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013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F8C24-9A1D-EF06-E225-3335C31DA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EDB59-3DF9-87B9-C5C3-66670069E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AA285-7B1D-075D-1BBB-2CB1486F11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5058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most common and optimized servers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Polling server: </a:t>
            </a:r>
            <a:r>
              <a:rPr lang="en-US" dirty="0"/>
              <a:t>when it runs (“poll”), it checks the aperiodic task queue</a:t>
            </a:r>
          </a:p>
          <a:p>
            <a:pPr lvl="1"/>
            <a:r>
              <a:rPr lang="en-US" dirty="0"/>
              <a:t>Queue not empty </a:t>
            </a:r>
            <a:r>
              <a:rPr lang="en-US" dirty="0">
                <a:sym typeface="Wingdings" panose="05000000000000000000" pitchFamily="2" charset="2"/>
              </a:rPr>
              <a:t> execute the aperiodic tasks up to its budget C</a:t>
            </a:r>
            <a:r>
              <a:rPr lang="en-US" baseline="-25000" dirty="0">
                <a:sym typeface="Wingdings" panose="05000000000000000000" pitchFamily="2" charset="2"/>
              </a:rPr>
              <a:t>S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dirty="0">
                <a:sym typeface="Wingdings" panose="05000000000000000000" pitchFamily="2" charset="2"/>
              </a:rPr>
              <a:t>Queue empty  server immediately suspends its execution</a:t>
            </a:r>
          </a:p>
          <a:p>
            <a:r>
              <a:rPr lang="en-US" dirty="0"/>
              <a:t>Advantage: </a:t>
            </a:r>
          </a:p>
          <a:p>
            <a:pPr lvl="1"/>
            <a:r>
              <a:rPr lang="en-US" dirty="0"/>
              <a:t>Simple, easy to prove correctness</a:t>
            </a:r>
          </a:p>
          <a:p>
            <a:r>
              <a:rPr lang="en-US" dirty="0"/>
              <a:t>Disadvantage: </a:t>
            </a:r>
          </a:p>
          <a:p>
            <a:pPr lvl="1"/>
            <a:r>
              <a:rPr lang="en-US" dirty="0"/>
              <a:t>Can only serve aperiodic tasks when it poll </a:t>
            </a:r>
            <a:r>
              <a:rPr lang="en-US" dirty="0">
                <a:sym typeface="Wingdings" panose="05000000000000000000" pitchFamily="2" charset="2"/>
              </a:rPr>
              <a:t> poor response time</a:t>
            </a:r>
            <a:endParaRPr lang="en-US" dirty="0"/>
          </a:p>
          <a:p>
            <a:pPr lvl="1"/>
            <a:r>
              <a:rPr lang="en-US" dirty="0"/>
              <a:t>Its responsiveness is highly dependent on the polling period </a:t>
            </a:r>
            <a:r>
              <a:rPr lang="en-US" dirty="0" err="1"/>
              <a:t>p</a:t>
            </a:r>
            <a:r>
              <a:rPr lang="en-US" baseline="-25000" dirty="0" err="1"/>
              <a:t>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32A1C-C9C3-7FCA-C5F7-8AD6E9D07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47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9CE7-8C20-FA16-1F57-7B1E4C3B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158FB-3B4F-9015-0F5B-8505673478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773064"/>
            <a:ext cx="10058400" cy="46003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most common and optimized servers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Deferrable Server: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If queue is empty  server defer its budget throughout the period, to be used whenever there are aperiodic jobs to execute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budget is replenished on a fixed periodic schedule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deferrable server is almost always run at highest priority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Note: the server is </a:t>
            </a:r>
            <a:r>
              <a:rPr lang="en-US" b="1" dirty="0">
                <a:sym typeface="Wingdings" panose="05000000000000000000" pitchFamily="2" charset="2"/>
              </a:rPr>
              <a:t>not allowed</a:t>
            </a:r>
            <a:r>
              <a:rPr lang="en-US" dirty="0">
                <a:sym typeface="Wingdings" panose="05000000000000000000" pitchFamily="2" charset="2"/>
              </a:rPr>
              <a:t> to carry over budget from period to period</a:t>
            </a:r>
          </a:p>
          <a:p>
            <a:r>
              <a:rPr lang="en-US" dirty="0"/>
              <a:t>Advantage:</a:t>
            </a:r>
          </a:p>
          <a:p>
            <a:pPr lvl="1"/>
            <a:r>
              <a:rPr lang="en-US" dirty="0"/>
              <a:t>Improves response time of aperiodic jobs, compared to polling server</a:t>
            </a:r>
          </a:p>
          <a:p>
            <a:r>
              <a:rPr lang="en-US" dirty="0"/>
              <a:t> Disadvantage:</a:t>
            </a:r>
          </a:p>
          <a:p>
            <a:pPr lvl="1"/>
            <a:r>
              <a:rPr lang="en-US" dirty="0"/>
              <a:t> may delay lower-priority periodic tasks longer than a true periodic task would </a:t>
            </a:r>
            <a:r>
              <a:rPr lang="en-US" dirty="0">
                <a:sym typeface="Wingdings" panose="05000000000000000000" pitchFamily="2" charset="2"/>
              </a:rPr>
              <a:t> affect the system </a:t>
            </a:r>
            <a:r>
              <a:rPr lang="en-US" dirty="0" err="1">
                <a:sym typeface="Wingdings" panose="05000000000000000000" pitchFamily="2" charset="2"/>
              </a:rPr>
              <a:t>schedulability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1293C-D7B2-4D2E-7116-037B52393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4022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55B16-6A6E-A126-40F3-839E95EF2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74FCD-E93F-FCC1-371A-BB5771D6A9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0524" y="3087734"/>
            <a:ext cx="7656101" cy="35594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6756D9-0233-661F-EF12-5AB6AB0542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506" y="381214"/>
            <a:ext cx="9982713" cy="2228965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C35BCE8-DD14-37C6-9B88-1B92D67B8ACB}"/>
              </a:ext>
            </a:extLst>
          </p:cNvPr>
          <p:cNvCxnSpPr/>
          <p:nvPr/>
        </p:nvCxnSpPr>
        <p:spPr>
          <a:xfrm>
            <a:off x="1306291" y="2952208"/>
            <a:ext cx="0" cy="153270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DB1D0B-8A89-1E4C-7762-DF6895CCBBD5}"/>
              </a:ext>
            </a:extLst>
          </p:cNvPr>
          <p:cNvCxnSpPr/>
          <p:nvPr/>
        </p:nvCxnSpPr>
        <p:spPr>
          <a:xfrm>
            <a:off x="1288871" y="4493625"/>
            <a:ext cx="184621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557C8AB-EB58-0F77-493C-66D3CF9B2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237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7164-3544-FCAE-D7FE-B7E2811C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C595D-6773-D844-D90C-A3DC503E4E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Deferrable Server (DS) </a:t>
                </a:r>
                <a:r>
                  <a:rPr lang="en-US" dirty="0" err="1">
                    <a:solidFill>
                      <a:srgbClr val="0070C0"/>
                    </a:solidFill>
                  </a:rPr>
                  <a:t>Schedulability</a:t>
                </a:r>
                <a:r>
                  <a:rPr lang="en-US" dirty="0">
                    <a:solidFill>
                      <a:srgbClr val="0070C0"/>
                    </a:solidFill>
                  </a:rPr>
                  <a:t> Analysis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Fixed priority scheduling: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b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𝑒𝑣𝑒𝑟𝑦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𝑡𝑎𝑠𝑘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18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   </a:t>
                </a: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en-US" dirty="0"/>
                  <a:t>Dynamic-Priority (Earliest Deadline First) Scheduling</a:t>
                </a:r>
              </a:p>
              <a:p>
                <a:pPr marL="0" indent="0">
                  <a:spcBef>
                    <a:spcPts val="1800"/>
                  </a:spcBef>
                  <a:spcAft>
                    <a:spcPts val="12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C595D-6773-D844-D90C-A3DC503E4E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8" t="-3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D564-20E9-B70F-08F6-FB6DDD4B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76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87164-3544-FCAE-D7FE-B7E2811C3D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C595D-6773-D844-D90C-A3DC503E4E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70C0"/>
                    </a:solidFill>
                  </a:rPr>
                  <a:t>Deferrable Server (DS) </a:t>
                </a:r>
                <a:r>
                  <a:rPr lang="en-US" dirty="0" err="1">
                    <a:solidFill>
                      <a:srgbClr val="0070C0"/>
                    </a:solidFill>
                  </a:rPr>
                  <a:t>Schedulability</a:t>
                </a:r>
                <a:r>
                  <a:rPr lang="en-US" dirty="0">
                    <a:solidFill>
                      <a:srgbClr val="0070C0"/>
                    </a:solidFill>
                  </a:rPr>
                  <a:t> Analysis</a:t>
                </a:r>
              </a:p>
              <a:p>
                <a:pPr>
                  <a:spcAft>
                    <a:spcPts val="1200"/>
                  </a:spcAft>
                </a:pPr>
                <a:r>
                  <a:rPr lang="en-US" dirty="0"/>
                  <a:t>Time-Demand Analysis: </a:t>
                </a:r>
              </a:p>
              <a:p>
                <a:pPr marL="0" indent="0">
                  <a:spcAft>
                    <a:spcPts val="1200"/>
                  </a:spcAft>
                  <a:buNone/>
                </a:pPr>
                <a:r>
                  <a:rPr lang="en-US" dirty="0"/>
                  <a:t> Search time demand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i</a:t>
                </a:r>
                <a:r>
                  <a:rPr lang="en-US" baseline="-25000" dirty="0"/>
                  <a:t> </a:t>
                </a:r>
                <a:r>
                  <a:rPr lang="en-US" dirty="0"/>
                  <a:t>so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h𝑝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b>
                        <m:sup/>
                        <m:e>
                          <m:d>
                            <m:dPr>
                              <m:begChr m:val="⌈"/>
                              <m:endChr m:val="⌉"/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  <m:sSub>
                            <m:sSubPr>
                              <m:ctrlP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⌈"/>
                          <m:endChr m:val="⌉"/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den>
                          </m:f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𝑓𝑜𝑟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𝑒𝑣𝑒𝑟𝑦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𝑡𝑎𝑠𝑘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𝑖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spcBef>
                    <a:spcPts val="18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   t: time interval between critical instant</a:t>
                </a:r>
              </a:p>
              <a:p>
                <a:pPr marL="0" indent="0">
                  <a:spcBef>
                    <a:spcPts val="1800"/>
                  </a:spcBef>
                  <a:spcAft>
                    <a:spcPts val="1200"/>
                  </a:spcAft>
                  <a:buNone/>
                </a:pPr>
                <a:r>
                  <a:rPr lang="en-US" dirty="0"/>
                  <a:t>  if </a:t>
                </a:r>
                <a:r>
                  <a:rPr lang="en-US" dirty="0" err="1"/>
                  <a:t>t</a:t>
                </a:r>
                <a:r>
                  <a:rPr lang="en-US" baseline="-25000" dirty="0" err="1"/>
                  <a:t>i</a:t>
                </a:r>
                <a:r>
                  <a:rPr lang="en-US" dirty="0"/>
                  <a:t> &gt; D</a:t>
                </a:r>
                <a:r>
                  <a:rPr lang="en-US" baseline="-25000" dirty="0"/>
                  <a:t>i</a:t>
                </a:r>
                <a:r>
                  <a:rPr lang="en-US" dirty="0"/>
                  <a:t>, the system is not schedulable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1C595D-6773-D844-D90C-A3DC503E4E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70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D564-20E9-B70F-08F6-FB6DDD4B9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23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7D101-F444-40B5-B4E7-6D49E249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8A610-909B-4C8D-BEBC-D1851B85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8B96EDA-05E0-48BA-B857-8A49D4286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900" y="2728897"/>
            <a:ext cx="5953169" cy="3419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EE11CC-8DAF-4B28-85C3-635C8B7D8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31" y="1791148"/>
            <a:ext cx="3629052" cy="150496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F2BE50-D397-4782-8179-CCE5E7D99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3168" y="6272784"/>
            <a:ext cx="4219606" cy="314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6239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009892-1A01-4BD7-BDA5-1E49BF180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4166" y="2110329"/>
            <a:ext cx="6115095" cy="416245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747D101-F444-40B5-B4E7-6D49E2498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F8A610-909B-4C8D-BEBC-D1851B851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EE11CC-8DAF-4B28-85C3-635C8B7D84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31" y="1791148"/>
            <a:ext cx="3629052" cy="150496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9A9752-3E65-408D-AD18-7AB2D085F4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8452" y="6399782"/>
            <a:ext cx="4676809" cy="238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12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531A7-17B8-6294-025A-843A703EF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B7546-3D23-30CF-506B-1380BD7D9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following tasks:</a:t>
            </a:r>
          </a:p>
          <a:p>
            <a:pPr marL="0" indent="0">
              <a:buNone/>
            </a:pPr>
            <a:r>
              <a:rPr lang="en-US" dirty="0"/>
              <a:t>     Periodic tasks     T</a:t>
            </a:r>
            <a:r>
              <a:rPr lang="en-US" baseline="-25000" dirty="0"/>
              <a:t>1 </a:t>
            </a:r>
            <a:r>
              <a:rPr lang="en-US" dirty="0"/>
              <a:t>= (4,1);     T</a:t>
            </a:r>
            <a:r>
              <a:rPr lang="en-US" baseline="-25000" dirty="0"/>
              <a:t>2 </a:t>
            </a:r>
            <a:r>
              <a:rPr lang="en-US" dirty="0"/>
              <a:t>= (6,2);      T</a:t>
            </a:r>
            <a:r>
              <a:rPr lang="en-US" baseline="-25000" dirty="0"/>
              <a:t>DS</a:t>
            </a:r>
            <a:r>
              <a:rPr lang="en-US" dirty="0"/>
              <a:t> = (5,2)</a:t>
            </a:r>
          </a:p>
          <a:p>
            <a:pPr marL="0" indent="0">
              <a:buNone/>
            </a:pPr>
            <a:r>
              <a:rPr lang="en-US" dirty="0"/>
              <a:t>     Aperiodic jobs  </a:t>
            </a:r>
          </a:p>
          <a:p>
            <a:pPr marL="0" indent="0">
              <a:buNone/>
            </a:pPr>
            <a:r>
              <a:rPr lang="en-US" dirty="0"/>
              <a:t>              J</a:t>
            </a:r>
            <a:r>
              <a:rPr lang="en-US" baseline="-25000" dirty="0"/>
              <a:t>1</a:t>
            </a:r>
            <a:r>
              <a:rPr lang="en-US" dirty="0"/>
              <a:t>: arrival at 2, workload 2</a:t>
            </a:r>
          </a:p>
          <a:p>
            <a:pPr marL="0" indent="0">
              <a:buNone/>
            </a:pPr>
            <a:r>
              <a:rPr lang="en-US" dirty="0"/>
              <a:t>	  J</a:t>
            </a:r>
            <a:r>
              <a:rPr lang="en-US" baseline="-25000" dirty="0"/>
              <a:t>2</a:t>
            </a:r>
            <a:r>
              <a:rPr lang="en-US" dirty="0"/>
              <a:t>: arrival at 8, workload 1</a:t>
            </a:r>
          </a:p>
          <a:p>
            <a:pPr marL="0" indent="0">
              <a:buNone/>
            </a:pPr>
            <a:r>
              <a:rPr lang="en-US" dirty="0"/>
              <a:t>              J</a:t>
            </a:r>
            <a:r>
              <a:rPr lang="en-US" baseline="-25000" dirty="0"/>
              <a:t>3</a:t>
            </a:r>
            <a:r>
              <a:rPr lang="en-US" dirty="0"/>
              <a:t>: arrival at 12, workload 2</a:t>
            </a:r>
          </a:p>
          <a:p>
            <a:pPr marL="0" indent="0">
              <a:buNone/>
            </a:pPr>
            <a:r>
              <a:rPr lang="en-US" dirty="0"/>
              <a:t>              J</a:t>
            </a:r>
            <a:r>
              <a:rPr lang="en-US" baseline="-25000" dirty="0"/>
              <a:t>4</a:t>
            </a:r>
            <a:r>
              <a:rPr lang="en-US" dirty="0"/>
              <a:t>: arrival at 19, workload 2</a:t>
            </a:r>
          </a:p>
          <a:p>
            <a:pPr marL="0" indent="0">
              <a:buNone/>
            </a:pPr>
            <a:r>
              <a:rPr lang="en-US" dirty="0"/>
              <a:t>  Use RMS and Deferrable Server to schedule these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DDC0B-4273-F493-8865-EBA7CFCD4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11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B16EA3-C380-4EA7-8511-8649390B3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Time-Demand Analysis (TDA)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2DCA-88A7-416E-BC57-FD05B8A7F5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Time-Demand Analysis (TDA) depends crucially on two factors:</a:t>
                </a:r>
              </a:p>
              <a:p>
                <a:pPr lvl="1"/>
                <a:r>
                  <a:rPr lang="en-US" dirty="0"/>
                  <a:t>The Scheduling Algorithm (e.g., EDF or Rate Monotonic)</a:t>
                </a:r>
              </a:p>
              <a:p>
                <a:pPr lvl="1"/>
                <a:r>
                  <a:rPr lang="en-US" dirty="0"/>
                  <a:t>The Starting Time of the Analysis</a:t>
                </a:r>
              </a:p>
              <a:p>
                <a:r>
                  <a:rPr lang="en-US" dirty="0"/>
                  <a:t>For EDF Scheduling:</a:t>
                </a:r>
              </a:p>
              <a:p>
                <a:pPr marL="0" indent="0">
                  <a:buNone/>
                </a:pPr>
                <a:r>
                  <a:rPr lang="en-US" dirty="0"/>
                  <a:t>	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For RMS scheduling:</a:t>
                </a:r>
              </a:p>
              <a:p>
                <a:pPr marL="0" indent="0">
                  <a:buNone/>
                </a:pPr>
                <a:r>
                  <a:rPr lang="en-US" dirty="0"/>
                  <a:t>	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supHide m:val="on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h𝑝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sub>
                      <m:sup/>
                      <m:e>
                        <m:d>
                          <m:dPr>
                            <m:begChr m:val="⌈"/>
                            <m:endChr m:val="⌉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54B2DCA-88A7-416E-BC57-FD05B8A7F5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3A01-48F2-48D0-AEF0-287F2470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179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4EF28-F427-4F8E-C3DB-FD7A9323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F0B9E-886C-8C76-E108-5E0B5E206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Server-Based Scheduling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A5CC09-43AB-E80D-0D1E-331029091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10058400" cy="47365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The most common and optimized servers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Sporadic server: </a:t>
            </a:r>
            <a:r>
              <a:rPr lang="en-US" dirty="0"/>
              <a:t>one of the most effective and widely used methods for scheduling both hard and soft aperiodic tasks.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server is scheduled with a high priority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Its behavior is governed by sophisticated </a:t>
            </a:r>
            <a:r>
              <a:rPr lang="en-US" b="1" dirty="0">
                <a:sym typeface="Wingdings" panose="05000000000000000000" pitchFamily="2" charset="2"/>
              </a:rPr>
              <a:t>Consumption</a:t>
            </a:r>
            <a:r>
              <a:rPr lang="en-US" dirty="0">
                <a:sym typeface="Wingdings" panose="05000000000000000000" pitchFamily="2" charset="2"/>
              </a:rPr>
              <a:t> and </a:t>
            </a:r>
            <a:r>
              <a:rPr lang="en-US" b="1" dirty="0">
                <a:sym typeface="Wingdings" panose="05000000000000000000" pitchFamily="2" charset="2"/>
              </a:rPr>
              <a:t>Replenishment rules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Sporadic Server only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consumes</a:t>
            </a:r>
            <a:r>
              <a:rPr lang="en-US" dirty="0">
                <a:sym typeface="Wingdings" panose="05000000000000000000" pitchFamily="2" charset="2"/>
              </a:rPr>
              <a:t> its budget when an aperiodic task is actually running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The budget is not </a:t>
            </a:r>
            <a:r>
              <a:rPr lang="en-US" dirty="0">
                <a:solidFill>
                  <a:srgbClr val="0070C0"/>
                </a:solidFill>
                <a:sym typeface="Wingdings" panose="05000000000000000000" pitchFamily="2" charset="2"/>
              </a:rPr>
              <a:t>replenished</a:t>
            </a:r>
            <a:r>
              <a:rPr lang="en-US" dirty="0">
                <a:sym typeface="Wingdings" panose="05000000000000000000" pitchFamily="2" charset="2"/>
              </a:rPr>
              <a:t> on a fixed periodic schedule. It is replenished only after it has been consumed.</a:t>
            </a:r>
          </a:p>
          <a:p>
            <a:r>
              <a:rPr lang="en-US" dirty="0">
                <a:sym typeface="Wingdings" panose="05000000000000000000" pitchFamily="2" charset="2"/>
              </a:rPr>
              <a:t>Advantage: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can be treated exactly as a periodic in all </a:t>
            </a:r>
            <a:r>
              <a:rPr lang="en-US" dirty="0" err="1">
                <a:sym typeface="Wingdings" panose="05000000000000000000" pitchFamily="2" charset="2"/>
              </a:rPr>
              <a:t>schedulability</a:t>
            </a:r>
            <a:r>
              <a:rPr lang="en-US" dirty="0">
                <a:sym typeface="Wingdings" panose="05000000000000000000" pitchFamily="2" charset="2"/>
              </a:rPr>
              <a:t> analyses.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BD16ED-1C9B-5A66-96C8-D8BBB1E1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647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B0D4DC-AFEC-0DC4-A7D4-9E45169EFB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7670" y="729342"/>
            <a:ext cx="8836660" cy="5731888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3B4D6-DE25-2DAF-4EE3-06EEF2920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441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DD936-AA51-5B52-B7C5-0770842E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D31C0-C7AA-8205-82FF-E0460015D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075" y="687977"/>
            <a:ext cx="8931455" cy="5843452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4C5249-3DA0-06D6-C2CC-9E948B3FF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750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FF9EE-8DBF-6E6D-3CDB-3F48621B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6F7B8-5853-C6A3-F54D-59EB17F1B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following tasks:</a:t>
            </a:r>
          </a:p>
          <a:p>
            <a:pPr marL="0" indent="0">
              <a:buNone/>
            </a:pPr>
            <a:r>
              <a:rPr lang="en-US" dirty="0"/>
              <a:t>     Periodic tasks     T</a:t>
            </a:r>
            <a:r>
              <a:rPr lang="en-US" baseline="-25000" dirty="0"/>
              <a:t>1 </a:t>
            </a:r>
            <a:r>
              <a:rPr lang="en-US" dirty="0"/>
              <a:t>= (10,3);     T</a:t>
            </a:r>
            <a:r>
              <a:rPr lang="en-US" baseline="-25000" dirty="0"/>
              <a:t>2 </a:t>
            </a:r>
            <a:r>
              <a:rPr lang="en-US" dirty="0"/>
              <a:t>= (15,4</a:t>
            </a:r>
            <a:r>
              <a:rPr lang="en-US"/>
              <a:t>);      T</a:t>
            </a:r>
            <a:r>
              <a:rPr lang="en-US" baseline="-25000" dirty="0"/>
              <a:t>S</a:t>
            </a:r>
            <a:r>
              <a:rPr lang="en-US" baseline="-25000"/>
              <a:t>S</a:t>
            </a:r>
            <a:r>
              <a:rPr lang="en-US"/>
              <a:t> </a:t>
            </a:r>
            <a:r>
              <a:rPr lang="en-US" dirty="0"/>
              <a:t>= (8,2)</a:t>
            </a:r>
          </a:p>
          <a:p>
            <a:pPr marL="0" indent="0">
              <a:buNone/>
            </a:pPr>
            <a:r>
              <a:rPr lang="en-US" dirty="0"/>
              <a:t>     Aperiodic jobs  </a:t>
            </a:r>
          </a:p>
          <a:p>
            <a:pPr marL="0" indent="0">
              <a:buNone/>
            </a:pPr>
            <a:r>
              <a:rPr lang="en-US" dirty="0"/>
              <a:t>              J</a:t>
            </a:r>
            <a:r>
              <a:rPr lang="en-US" baseline="-25000" dirty="0"/>
              <a:t>1</a:t>
            </a:r>
            <a:r>
              <a:rPr lang="en-US" dirty="0"/>
              <a:t>: arrival at 2, workload 2</a:t>
            </a:r>
          </a:p>
          <a:p>
            <a:pPr marL="0" indent="0">
              <a:buNone/>
            </a:pPr>
            <a:r>
              <a:rPr lang="en-US" dirty="0"/>
              <a:t>	  J</a:t>
            </a:r>
            <a:r>
              <a:rPr lang="en-US" baseline="-25000" dirty="0"/>
              <a:t>2</a:t>
            </a:r>
            <a:r>
              <a:rPr lang="en-US" dirty="0"/>
              <a:t>: arrival at 7, workload 2</a:t>
            </a:r>
          </a:p>
          <a:p>
            <a:pPr marL="0" indent="0">
              <a:buNone/>
            </a:pPr>
            <a:r>
              <a:rPr lang="en-US" dirty="0"/>
              <a:t>Use RMS and Sporadic Server to schedule these tasks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B8AEE-75AF-EE40-3411-4F5ACB5B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412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039B-D09F-3BEF-CB5E-2F6E5756E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bandwidth-preserving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02D25-7E69-6FC5-2B2C-E2E21BA30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2121408"/>
            <a:ext cx="10399341" cy="5071872"/>
          </a:xfrm>
        </p:spPr>
        <p:txBody>
          <a:bodyPr>
            <a:normAutofit/>
          </a:bodyPr>
          <a:lstStyle/>
          <a:p>
            <a:r>
              <a:rPr lang="en-US" dirty="0"/>
              <a:t> Popular Algorithms:</a:t>
            </a:r>
          </a:p>
          <a:p>
            <a:pPr lvl="1"/>
            <a:r>
              <a:rPr lang="en-US" dirty="0"/>
              <a:t>Constant utilization server</a:t>
            </a:r>
          </a:p>
          <a:p>
            <a:pPr lvl="1"/>
            <a:r>
              <a:rPr lang="en-US" dirty="0"/>
              <a:t>Total bandwidth server</a:t>
            </a:r>
          </a:p>
          <a:p>
            <a:pPr lvl="1"/>
            <a:r>
              <a:rPr lang="en-US" dirty="0"/>
              <a:t>Weighted fair queuing server</a:t>
            </a:r>
          </a:p>
          <a:p>
            <a:r>
              <a:rPr lang="en-US" dirty="0"/>
              <a:t> Typically used in dynamic-priority systems to service aperiodic tasks</a:t>
            </a:r>
          </a:p>
          <a:p>
            <a:r>
              <a:rPr lang="en-US" dirty="0"/>
              <a:t> Main ideas:</a:t>
            </a:r>
          </a:p>
          <a:p>
            <a:pPr lvl="1"/>
            <a:r>
              <a:rPr lang="en-US" dirty="0"/>
              <a:t> Aims to provide </a:t>
            </a:r>
            <a:r>
              <a:rPr lang="en-US" b="1" dirty="0"/>
              <a:t>temporal isolation </a:t>
            </a:r>
            <a:r>
              <a:rPr lang="en-US" dirty="0"/>
              <a:t>by giving each task a guaranteed fraction of the CPU time, making each task behave as if it's running on a dedicated, slower processor</a:t>
            </a:r>
          </a:p>
          <a:p>
            <a:pPr lvl="1"/>
            <a:r>
              <a:rPr lang="en-US" dirty="0"/>
              <a:t>Aims to provide fair sharing, timing isolation, or guaranteed throughput</a:t>
            </a:r>
          </a:p>
          <a:p>
            <a:pPr lvl="1"/>
            <a:r>
              <a:rPr lang="en-US" dirty="0"/>
              <a:t>Widely used in network scheduling, but can also be used to schedule servers for aperiodic jobs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20C841-B2B7-720D-EC85-A9856C89C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3441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BFD5-AED0-4DD5-B079-D7511A52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Utilization Server (CUS)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E9F34-B28F-1485-1245-EAEBE47CF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898469"/>
                <a:ext cx="10058400" cy="4739439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 Reserve a constant utilization (bandwidth) U</a:t>
                </a:r>
                <a:r>
                  <a:rPr lang="en-US" baseline="-25000" dirty="0"/>
                  <a:t>S</a:t>
                </a:r>
                <a:r>
                  <a:rPr lang="en-US" dirty="0"/>
                  <a:t> for the server and provide temporal isolation to the tasks it serves</a:t>
                </a:r>
              </a:p>
              <a:p>
                <a:pPr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b="1" dirty="0"/>
                  <a:t> Mechanism:</a:t>
                </a:r>
              </a:p>
              <a:p>
                <a:pPr lvl="1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When an aperiodic job </a:t>
                </a:r>
                <a:r>
                  <a:rPr lang="en-US" dirty="0" err="1"/>
                  <a:t>J</a:t>
                </a:r>
                <a:r>
                  <a:rPr lang="en-US" baseline="-25000" dirty="0" err="1"/>
                  <a:t>k</a:t>
                </a:r>
                <a:r>
                  <a:rPr lang="en-US" dirty="0"/>
                  <a:t> arrives at time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 with execution time C</a:t>
                </a:r>
                <a:r>
                  <a:rPr lang="en-US" baseline="-25000" dirty="0"/>
                  <a:t>k</a:t>
                </a:r>
                <a:r>
                  <a:rPr lang="en-US" dirty="0"/>
                  <a:t>, the server calculates a scheduling deadline d</a:t>
                </a:r>
                <a:r>
                  <a:rPr lang="en-US" baseline="-25000" dirty="0"/>
                  <a:t>k</a:t>
                </a:r>
                <a:r>
                  <a:rPr lang="en-US" dirty="0"/>
                  <a:t> for job based on its reserved utilization U</a:t>
                </a:r>
                <a:r>
                  <a:rPr lang="en-US" baseline="-25000" dirty="0"/>
                  <a:t>S</a:t>
                </a:r>
                <a:r>
                  <a:rPr lang="en-US" dirty="0"/>
                  <a:t>.</a:t>
                </a:r>
              </a:p>
              <a:p>
                <a:pPr marL="274320" lvl="1" indent="0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lvl="1">
                  <a:lnSpc>
                    <a:spcPct val="11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The server is then scheduled by the EDF algorithm using this deadline d</a:t>
                </a:r>
                <a:r>
                  <a:rPr lang="en-US" baseline="-25000" dirty="0"/>
                  <a:t>k</a:t>
                </a:r>
                <a:r>
                  <a:rPr lang="en-US" dirty="0"/>
                  <a:t> and the budget C</a:t>
                </a:r>
                <a:r>
                  <a:rPr lang="en-US" baseline="-25000" dirty="0"/>
                  <a:t>k</a:t>
                </a:r>
              </a:p>
              <a:p>
                <a:r>
                  <a:rPr lang="en-US" dirty="0"/>
                  <a:t> </a:t>
                </a:r>
                <a:r>
                  <a:rPr lang="en-US" dirty="0" err="1"/>
                  <a:t>Schedulability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2E9F34-B28F-1485-1245-EAEBE47CF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898469"/>
                <a:ext cx="10058400" cy="4739439"/>
              </a:xfrm>
              <a:blipFill>
                <a:blip r:embed="rId2"/>
                <a:stretch>
                  <a:fillRect l="-424" t="-11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B3E7FE-F4D8-BD9F-BE5F-3B8C67455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402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0B714-3375-55FF-9315-702ED1BBB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72878-3F6A-6AF5-5C78-D0043B84A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Constant Utilization Server (CUS)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F4B3-10B7-E531-B48D-3735EFF7C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98469"/>
            <a:ext cx="10058400" cy="473943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Rules: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CUS only consumes its budget when it is active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server only generates a new deadline when a new job arrives and the server is idle.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the aperiodic queue is empty, the server becomes idle and its budget/deadline is effectively reset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18661-1AC3-8146-BBA9-83710ABC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52518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7C971-EA63-6066-37C8-6B590ADC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Bandwidth Server (TBS)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A66F9E-B7D1-98B4-DB0F-1812B704C2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933303"/>
                <a:ext cx="10058400" cy="4624251"/>
              </a:xfrm>
            </p:spPr>
            <p:txBody>
              <a:bodyPr>
                <a:normAutofit fontScale="92500" lnSpcReduction="20000"/>
              </a:bodyPr>
              <a:lstStyle/>
              <a:p>
                <a:pPr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Allocate a constant bandwidth U</a:t>
                </a:r>
                <a:r>
                  <a:rPr lang="en-US" baseline="-25000" dirty="0"/>
                  <a:t>S</a:t>
                </a:r>
                <a:r>
                  <a:rPr lang="en-US" dirty="0"/>
                  <a:t> to aperiodic tasks, similar to CUS, but to schedule jobs as early as possible, effectively utilizing background time.</a:t>
                </a:r>
              </a:p>
              <a:p>
                <a:pPr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b="1" dirty="0"/>
                  <a:t>Mechanism:</a:t>
                </a:r>
              </a:p>
              <a:p>
                <a:pPr lvl="1"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When an aperiodic job </a:t>
                </a:r>
                <a:r>
                  <a:rPr lang="en-US" dirty="0" err="1"/>
                  <a:t>J</a:t>
                </a:r>
                <a:r>
                  <a:rPr lang="en-US" baseline="-25000" dirty="0" err="1"/>
                  <a:t>k</a:t>
                </a:r>
                <a:r>
                  <a:rPr lang="en-US" dirty="0"/>
                  <a:t> arrives at time 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k</a:t>
                </a:r>
                <a:r>
                  <a:rPr lang="en-US" dirty="0"/>
                  <a:t> with execution time C</a:t>
                </a:r>
                <a:r>
                  <a:rPr lang="en-US" baseline="-25000" dirty="0"/>
                  <a:t>k</a:t>
                </a:r>
                <a:r>
                  <a:rPr lang="en-US" dirty="0"/>
                  <a:t>, the server calculates a virtual deadline d</a:t>
                </a:r>
                <a:r>
                  <a:rPr lang="en-US" baseline="-25000" dirty="0"/>
                  <a:t>k</a:t>
                </a:r>
                <a:r>
                  <a:rPr lang="en-US" dirty="0"/>
                  <a:t> </a:t>
                </a:r>
              </a:p>
              <a:p>
                <a:pPr marL="274320" lvl="1" indent="0"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 err="1"/>
                  <a:t>Schedulability</a:t>
                </a:r>
                <a:r>
                  <a:rPr lang="en-US" dirty="0"/>
                  <a:t>: </a:t>
                </a:r>
              </a:p>
              <a:p>
                <a:pPr marL="0" indent="0">
                  <a:lnSpc>
                    <a:spcPct val="124000"/>
                  </a:lnSpc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2A66F9E-B7D1-98B4-DB0F-1812B704C2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933303"/>
                <a:ext cx="10058400" cy="4624251"/>
              </a:xfrm>
              <a:blipFill>
                <a:blip r:embed="rId2"/>
                <a:stretch>
                  <a:fillRect l="-424" t="-10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1F4D5-4E60-FBE2-BB67-46DFE05E5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228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5939E-6A5A-0E8B-A984-138290DEF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AEC0D-F261-0E30-E2C1-7CE11C602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Total Bandwidth Server (CUS)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BB50D-B12C-C224-F9BD-3BC203F74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898469"/>
            <a:ext cx="10058400" cy="4739439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 Rules:</a:t>
            </a:r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Deadline calculation ensures that the server's utilization never exceeds U</a:t>
            </a:r>
            <a:r>
              <a:rPr lang="en-US" baseline="-25000" dirty="0"/>
              <a:t>S</a:t>
            </a:r>
            <a:endParaRPr lang="en-US" dirty="0"/>
          </a:p>
          <a:p>
            <a:pPr lvl="1">
              <a:lnSpc>
                <a:spcPct val="114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 server tends to assign earlier deadlines than a CUS </a:t>
            </a:r>
            <a:r>
              <a:rPr lang="en-US" dirty="0">
                <a:sym typeface="Wingdings" panose="05000000000000000000" pitchFamily="2" charset="2"/>
              </a:rPr>
              <a:t> shorter aperiodic response times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2B162-CF33-F313-C950-1A993A12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203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22505C-9911-4CBA-96AB-EEB87EDC8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Sporadic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B1480-31CC-4695-A779-5529A399E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4457" y="2093976"/>
            <a:ext cx="4560326" cy="40507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b="1" dirty="0">
                <a:solidFill>
                  <a:srgbClr val="0070C0"/>
                </a:solidFill>
              </a:rPr>
              <a:t>acceptance test </a:t>
            </a:r>
            <a:r>
              <a:rPr lang="en-US" dirty="0"/>
              <a:t>check the execution time and deadline of each newly arrived sporadic job</a:t>
            </a:r>
          </a:p>
          <a:p>
            <a:r>
              <a:rPr lang="en-US" dirty="0"/>
              <a:t>If job can be complete within its deadline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accept</a:t>
            </a:r>
          </a:p>
          <a:p>
            <a:r>
              <a:rPr lang="en-US" dirty="0"/>
              <a:t>If cannot guarantee it will meet its deadline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do not accept</a:t>
            </a:r>
          </a:p>
          <a:p>
            <a:pPr marL="0" indent="0">
              <a:buNone/>
            </a:pPr>
            <a:r>
              <a:rPr lang="en-US" dirty="0">
                <a:solidFill>
                  <a:srgbClr val="0070C0"/>
                </a:solidFill>
              </a:rPr>
              <a:t>How to implement acceptance test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4333C1-B6EE-4C21-9E6F-68309968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30</a:t>
            </a:fld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CE1912-E659-48E7-B41A-6C13D949FD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-313"/>
          <a:stretch/>
        </p:blipFill>
        <p:spPr>
          <a:xfrm>
            <a:off x="5494783" y="1998738"/>
            <a:ext cx="6697217" cy="2860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524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62A339-B53B-4C0C-966A-602DCFB4F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Sporadic jobs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E9652-6F18-4B63-9A4C-F4A5C0E665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865013"/>
                <a:ext cx="10058400" cy="465348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Sporadic jobs are denoted by: S</a:t>
                </a:r>
                <a:r>
                  <a:rPr lang="en-US" baseline="-25000" dirty="0"/>
                  <a:t>i</a:t>
                </a:r>
                <a:r>
                  <a:rPr lang="en-US" dirty="0"/>
                  <a:t>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,d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,C</a:t>
                </a:r>
                <a:r>
                  <a:rPr lang="en-US" baseline="-25000" dirty="0" err="1"/>
                  <a:t>i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 err="1"/>
                  <a:t>r</a:t>
                </a:r>
                <a:r>
                  <a:rPr lang="en-US" baseline="-25000" dirty="0" err="1"/>
                  <a:t>i</a:t>
                </a:r>
                <a:r>
                  <a:rPr lang="en-US" dirty="0"/>
                  <a:t> – release/arrival time</a:t>
                </a:r>
              </a:p>
              <a:p>
                <a:r>
                  <a:rPr lang="en-US" dirty="0"/>
                  <a:t>Sporadic jobs don’t have period </a:t>
                </a:r>
                <a:r>
                  <a:rPr lang="en-US" dirty="0">
                    <a:sym typeface="Wingdings" panose="05000000000000000000" pitchFamily="2" charset="2"/>
                  </a:rPr>
                  <a:t> will be </a:t>
                </a:r>
                <a:r>
                  <a:rPr lang="en-US" b="1" dirty="0">
                    <a:sym typeface="Wingdings" panose="05000000000000000000" pitchFamily="2" charset="2"/>
                  </a:rPr>
                  <a:t>scheduled in EDF </a:t>
                </a:r>
                <a:r>
                  <a:rPr lang="en-US" dirty="0">
                    <a:sym typeface="Wingdings" panose="05000000000000000000" pitchFamily="2" charset="2"/>
                  </a:rPr>
                  <a:t>order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 In a fixed-priority system, the sporadic jobs are </a:t>
                </a:r>
                <a:r>
                  <a:rPr lang="en-US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executed by a </a:t>
                </a:r>
                <a:r>
                  <a:rPr lang="en-US" b="1" dirty="0">
                    <a:solidFill>
                      <a:srgbClr val="0070C0"/>
                    </a:solidFill>
                    <a:sym typeface="Wingdings" panose="05000000000000000000" pitchFamily="2" charset="2"/>
                  </a:rPr>
                  <a:t>bandwidth preserving server</a:t>
                </a:r>
                <a:r>
                  <a:rPr lang="en-US" dirty="0">
                    <a:sym typeface="Wingdings" panose="05000000000000000000" pitchFamily="2" charset="2"/>
                  </a:rPr>
                  <a:t>, which performs an acceptance test and runs the sporadic jobs in EDF order</a:t>
                </a:r>
                <a:endParaRPr lang="en-US" dirty="0"/>
              </a:p>
              <a:p>
                <a:r>
                  <a:rPr lang="en-US" dirty="0"/>
                  <a:t>The density of a sporadic job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Total density of a system: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∆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The job is active during its feasible interval (</a:t>
                </a:r>
                <a:r>
                  <a:rPr lang="en-US" dirty="0" err="1"/>
                  <a:t>r</a:t>
                </a:r>
                <a:r>
                  <a:rPr lang="en-US" baseline="-25000" dirty="0" err="1"/>
                  <a:t>i</a:t>
                </a:r>
                <a:r>
                  <a:rPr lang="en-US" dirty="0" err="1"/>
                  <a:t>,d</a:t>
                </a:r>
                <a:r>
                  <a:rPr lang="en-US" baseline="-25000" dirty="0" err="1"/>
                  <a:t>i</a:t>
                </a:r>
                <a:r>
                  <a:rPr lang="en-US" dirty="0"/>
                  <a:t>]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0E9652-6F18-4B63-9A4C-F4A5C0E665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865013"/>
                <a:ext cx="10058400" cy="4653481"/>
              </a:xfrm>
              <a:blipFill>
                <a:blip r:embed="rId2"/>
                <a:stretch>
                  <a:fillRect l="-545" t="-1966" b="-11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24097B-F0BE-4BCD-BE0F-C8858A166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8463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5CC4C-CA7D-4C87-9011-4385AE205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Sporadic jobs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7F59-D029-4B1E-8988-57373B88F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012830"/>
            <a:ext cx="10058400" cy="415937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Theorem: A system of </a:t>
            </a:r>
            <a:r>
              <a:rPr lang="en-US" dirty="0">
                <a:solidFill>
                  <a:srgbClr val="0070C0"/>
                </a:solidFill>
              </a:rPr>
              <a:t>independent preemptable sporadic </a:t>
            </a:r>
            <a:r>
              <a:rPr lang="en-US" dirty="0"/>
              <a:t>jobs is </a:t>
            </a:r>
            <a:r>
              <a:rPr lang="en-US" b="1" dirty="0"/>
              <a:t>schedulable</a:t>
            </a:r>
            <a:r>
              <a:rPr lang="en-US" dirty="0"/>
              <a:t> according to the EDF algorithm </a:t>
            </a:r>
            <a:r>
              <a:rPr lang="en-US" b="1" dirty="0"/>
              <a:t>if the total density of all active jobs in the system ≤ 1 at all times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is the </a:t>
            </a:r>
            <a:r>
              <a:rPr lang="en-US" b="1" dirty="0"/>
              <a:t>standard </a:t>
            </a:r>
            <a:r>
              <a:rPr lang="en-US" b="1" dirty="0" err="1"/>
              <a:t>schedulability</a:t>
            </a:r>
            <a:r>
              <a:rPr lang="en-US" b="1" dirty="0"/>
              <a:t> test </a:t>
            </a:r>
            <a:r>
              <a:rPr lang="en-US" dirty="0"/>
              <a:t>for EDF systems, but including both periodic and sporadic jobs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This test uses the density since deadlines may not equal periods; hence</a:t>
            </a:r>
            <a:r>
              <a:rPr lang="en-US" b="1" dirty="0"/>
              <a:t> it is a sufficient test, but not a necessary test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When a sporadic job arrives </a:t>
            </a:r>
            <a:r>
              <a:rPr lang="en-US" dirty="0">
                <a:sym typeface="Wingdings" panose="05000000000000000000" pitchFamily="2" charset="2"/>
              </a:rPr>
              <a:t> calculate </a:t>
            </a:r>
            <a:r>
              <a:rPr lang="en-US" dirty="0"/>
              <a:t>the total density ∆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If ∆ &gt; 1 in  its feasible interval </a:t>
            </a:r>
            <a:r>
              <a:rPr lang="en-US" dirty="0">
                <a:sym typeface="Wingdings" panose="05000000000000000000" pitchFamily="2" charset="2"/>
              </a:rPr>
              <a:t> reject the job</a:t>
            </a:r>
          </a:p>
          <a:p>
            <a:pPr marL="274320" lvl="1" indent="0">
              <a:buNone/>
            </a:pPr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BBBD3-A5F6-4AD4-BD71-4E819316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530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C44F9-AB47-4F4E-9BB5-3D03FD311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Admission Control for Sporadic Jobs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84C99-0449-4602-9245-570BB3FAAF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7" y="1774479"/>
                <a:ext cx="10536695" cy="4598889"/>
              </a:xfrm>
            </p:spPr>
            <p:txBody>
              <a:bodyPr/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 At time </a:t>
                </a:r>
                <a:r>
                  <a:rPr lang="en-US" i="1" dirty="0">
                    <a:solidFill>
                      <a:srgbClr val="0070C0"/>
                    </a:solidFill>
                  </a:rPr>
                  <a:t>t</a:t>
                </a:r>
                <a:r>
                  <a:rPr lang="en-US" dirty="0"/>
                  <a:t> there are </a:t>
                </a:r>
                <a:r>
                  <a:rPr lang="en-US" i="1" dirty="0">
                    <a:solidFill>
                      <a:srgbClr val="0070C0"/>
                    </a:solidFill>
                  </a:rPr>
                  <a:t>n</a:t>
                </a:r>
                <a:r>
                  <a:rPr lang="en-US" dirty="0"/>
                  <a:t> active sporadic jobs in the system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 The EDF scheduler maintains a list of the jobs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The deadlines partition the time from t to ∞ into n + 1 discrete intervals: I</a:t>
                </a:r>
                <a:r>
                  <a:rPr lang="en-US" baseline="-25000" dirty="0"/>
                  <a:t>1</a:t>
                </a:r>
                <a:r>
                  <a:rPr lang="en-US" dirty="0"/>
                  <a:t>,I</a:t>
                </a:r>
                <a:r>
                  <a:rPr lang="en-US" baseline="-25000" dirty="0"/>
                  <a:t>2</a:t>
                </a:r>
                <a:r>
                  <a:rPr lang="en-US" dirty="0"/>
                  <a:t>,…,I</a:t>
                </a:r>
                <a:r>
                  <a:rPr lang="en-US" baseline="-25000" dirty="0"/>
                  <a:t>n+1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I</a:t>
                </a:r>
                <a:r>
                  <a:rPr lang="en-US" baseline="-25000" dirty="0"/>
                  <a:t>1</a:t>
                </a:r>
                <a:r>
                  <a:rPr lang="en-US" dirty="0"/>
                  <a:t> begins at t and ends at the earliest sporadic job deadline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For each 1 ≤ k ≤ n, each interval I</a:t>
                </a:r>
                <a:r>
                  <a:rPr lang="en-US" baseline="-25000" dirty="0"/>
                  <a:t>k+1</a:t>
                </a:r>
                <a:r>
                  <a:rPr lang="en-US" dirty="0"/>
                  <a:t> begins when the interval 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k</a:t>
                </a:r>
                <a:r>
                  <a:rPr lang="en-US" dirty="0"/>
                  <a:t> ends, and ends at the next deadline in the list (or ∞ for I</a:t>
                </a:r>
                <a:r>
                  <a:rPr lang="en-US" baseline="-25000" dirty="0"/>
                  <a:t>n+1</a:t>
                </a:r>
                <a:r>
                  <a:rPr lang="en-US" dirty="0"/>
                  <a:t>)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The scheduler maintains the total density </a:t>
                </a:r>
                <a:r>
                  <a:rPr lang="en-US" dirty="0" err="1"/>
                  <a:t>Δ</a:t>
                </a:r>
                <a:r>
                  <a:rPr lang="en-US" i="1" baseline="-25000" dirty="0" err="1"/>
                  <a:t>s,k</a:t>
                </a:r>
                <a:r>
                  <a:rPr lang="en-US" dirty="0"/>
                  <a:t> of each interval </a:t>
                </a:r>
                <a:r>
                  <a:rPr lang="en-US" dirty="0" err="1"/>
                  <a:t>I</a:t>
                </a:r>
                <a:r>
                  <a:rPr lang="en-US" baseline="-25000" dirty="0" err="1"/>
                  <a:t>k</a:t>
                </a:r>
                <a:endParaRPr lang="en-US" baseline="-25000" dirty="0"/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 Let I</a:t>
                </a:r>
                <a:r>
                  <a:rPr lang="en-US" baseline="-25000" dirty="0"/>
                  <a:t>n</a:t>
                </a:r>
                <a:r>
                  <a:rPr lang="en-US" dirty="0"/>
                  <a:t> be the interval containing the deadline d of the new sporadic job S(t, d, C)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The job is accepted if: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≤1−∆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884C99-0449-4602-9245-570BB3FAAF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7" y="1774479"/>
                <a:ext cx="10536695" cy="4598889"/>
              </a:xfrm>
              <a:blipFill>
                <a:blip r:embed="rId2"/>
                <a:stretch>
                  <a:fillRect l="-463" t="-1987" r="-10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ED8E3E-8505-4A89-89C5-7CD6B6B5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637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F9F89-93B8-400E-BD7D-35B41277A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Sporadic Jobs in Fixed-Priority Systems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4F5B4-618B-4346-9EE3-DF12995DFA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1865014"/>
                <a:ext cx="10058400" cy="4307186"/>
              </a:xfrm>
            </p:spPr>
            <p:txBody>
              <a:bodyPr>
                <a:normAutofit lnSpcReduction="10000"/>
              </a:bodyPr>
              <a:lstStyle/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One way to schedule sporadic jobs in a fixed-priority system is to use a sporadic server (</a:t>
                </a:r>
                <a:r>
                  <a:rPr lang="en-US" dirty="0" err="1"/>
                  <a:t>p</a:t>
                </a:r>
                <a:r>
                  <a:rPr lang="en-US" baseline="-25000" dirty="0" err="1"/>
                  <a:t>S</a:t>
                </a:r>
                <a:r>
                  <a:rPr lang="en-US" dirty="0" err="1"/>
                  <a:t>,C</a:t>
                </a:r>
                <a:r>
                  <a:rPr lang="en-US" baseline="-25000" dirty="0" err="1"/>
                  <a:t>S</a:t>
                </a:r>
                <a:r>
                  <a:rPr lang="en-US" dirty="0"/>
                  <a:t>)</a:t>
                </a: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 The scheduler can compute the </a:t>
                </a:r>
                <a:r>
                  <a:rPr lang="en-US" b="1" dirty="0"/>
                  <a:t>least amount of time </a:t>
                </a:r>
                <a:r>
                  <a:rPr lang="en-US" dirty="0"/>
                  <a:t>available to every sporadic job in the system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First sporadic job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1</a:t>
                </a:r>
                <a:r>
                  <a:rPr lang="en-US" b="1" dirty="0"/>
                  <a:t>(t, d</a:t>
                </a:r>
                <a:r>
                  <a:rPr lang="en-US" b="1" baseline="-25000" dirty="0"/>
                  <a:t>s,1</a:t>
                </a:r>
                <a:r>
                  <a:rPr lang="en-US" b="1" dirty="0"/>
                  <a:t>, C</a:t>
                </a:r>
                <a:r>
                  <a:rPr lang="en-US" b="1" baseline="-25000" dirty="0"/>
                  <a:t>s,1</a:t>
                </a:r>
                <a:r>
                  <a:rPr lang="en-US" b="1" dirty="0"/>
                  <a:t>)</a:t>
                </a:r>
                <a:r>
                  <a:rPr lang="en-US" dirty="0"/>
                  <a:t>:</a:t>
                </a:r>
              </a:p>
              <a:p>
                <a:pPr marL="274320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,1</m:t>
                              </m:r>
                            </m:sub>
                          </m:s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)/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 marL="274320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    Accept S</a:t>
                </a:r>
                <a:r>
                  <a:rPr lang="en-US" baseline="-25000" dirty="0"/>
                  <a:t>1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≥ 0</a:t>
                </a:r>
              </a:p>
              <a:p>
                <a:pPr lvl="1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dirty="0"/>
                  <a:t>For a new job </a:t>
                </a:r>
                <a:r>
                  <a:rPr lang="en-US" b="1" dirty="0"/>
                  <a:t>S</a:t>
                </a:r>
                <a:r>
                  <a:rPr lang="en-US" b="1" baseline="-25000" dirty="0"/>
                  <a:t>i</a:t>
                </a:r>
                <a:r>
                  <a:rPr lang="en-US" b="1" dirty="0"/>
                  <a:t>(t, </a:t>
                </a:r>
                <a:r>
                  <a:rPr lang="en-US" b="1" dirty="0" err="1"/>
                  <a:t>d</a:t>
                </a:r>
                <a:r>
                  <a:rPr lang="en-US" b="1" baseline="-25000" dirty="0" err="1"/>
                  <a:t>s,i</a:t>
                </a:r>
                <a:r>
                  <a:rPr lang="en-US" b="1" dirty="0"/>
                  <a:t>, </a:t>
                </a:r>
                <a:r>
                  <a:rPr lang="en-US" b="1" dirty="0" err="1"/>
                  <a:t>C</a:t>
                </a:r>
                <a:r>
                  <a:rPr lang="en-US" b="1" baseline="-25000" dirty="0" err="1"/>
                  <a:t>s,i</a:t>
                </a:r>
                <a:r>
                  <a:rPr lang="en-US" b="1" dirty="0"/>
                  <a:t>) </a:t>
                </a:r>
                <a:r>
                  <a:rPr lang="en-US" dirty="0"/>
                  <a:t>when there are n sporadic jobs in the system</a:t>
                </a:r>
              </a:p>
              <a:p>
                <a:pPr marL="274320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𝜉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274320" lvl="1" indent="0">
                  <a:spcBef>
                    <a:spcPts val="600"/>
                  </a:spcBef>
                  <a:spcAft>
                    <a:spcPts val="600"/>
                  </a:spcAft>
                  <a:buNone/>
                </a:pPr>
                <a:r>
                  <a:rPr lang="en-US" dirty="0"/>
                  <a:t>    Accept S</a:t>
                </a:r>
                <a:r>
                  <a:rPr lang="en-US" baseline="-25000" dirty="0"/>
                  <a:t>i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≥ 0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for every existing sporadic job </a:t>
                </a:r>
                <a:r>
                  <a:rPr lang="en-US" dirty="0" err="1"/>
                  <a:t>S</a:t>
                </a:r>
                <a:r>
                  <a:rPr lang="en-US" baseline="-25000" dirty="0" err="1"/>
                  <a:t>k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4F5B4-618B-4346-9EE3-DF12995DFA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1865014"/>
                <a:ext cx="10058400" cy="4307186"/>
              </a:xfrm>
              <a:blipFill>
                <a:blip r:embed="rId2"/>
                <a:stretch>
                  <a:fillRect l="-545" t="-29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48593-1ACE-448D-AF04-CBDF1DF7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02A9A7-679B-4AAE-981A-D0ACCBED9B43}"/>
              </a:ext>
            </a:extLst>
          </p:cNvPr>
          <p:cNvSpPr txBox="1"/>
          <p:nvPr/>
        </p:nvSpPr>
        <p:spPr>
          <a:xfrm>
            <a:off x="4758064" y="4139640"/>
            <a:ext cx="1738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Time available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5FF029-EAF5-46D5-8947-736ABBC8ACAF}"/>
              </a:ext>
            </a:extLst>
          </p:cNvPr>
          <p:cNvSpPr txBox="1"/>
          <p:nvPr/>
        </p:nvSpPr>
        <p:spPr>
          <a:xfrm>
            <a:off x="7358959" y="4092166"/>
            <a:ext cx="1759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Execution time</a:t>
            </a:r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AE1C826-D819-4768-9F97-75DFEBDD9B20}"/>
              </a:ext>
            </a:extLst>
          </p:cNvPr>
          <p:cNvCxnSpPr>
            <a:cxnSpLocks/>
          </p:cNvCxnSpPr>
          <p:nvPr/>
        </p:nvCxnSpPr>
        <p:spPr>
          <a:xfrm flipV="1">
            <a:off x="5680091" y="4054347"/>
            <a:ext cx="170008" cy="166307"/>
          </a:xfrm>
          <a:prstGeom prst="curvedConnector3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FC537675-CEE7-4284-A71C-10A8DA3FED2A}"/>
              </a:ext>
            </a:extLst>
          </p:cNvPr>
          <p:cNvCxnSpPr>
            <a:cxnSpLocks/>
          </p:cNvCxnSpPr>
          <p:nvPr/>
        </p:nvCxnSpPr>
        <p:spPr>
          <a:xfrm rot="10800000">
            <a:off x="7774652" y="4018608"/>
            <a:ext cx="288286" cy="157005"/>
          </a:xfrm>
          <a:prstGeom prst="curvedConnector3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DC2191D-DA78-4979-9015-EE20FE71B925}"/>
              </a:ext>
            </a:extLst>
          </p:cNvPr>
          <p:cNvSpPr txBox="1"/>
          <p:nvPr/>
        </p:nvSpPr>
        <p:spPr>
          <a:xfrm>
            <a:off x="8754583" y="5379683"/>
            <a:ext cx="2409442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4"/>
                </a:solidFill>
              </a:rPr>
              <a:t>Execution time of job </a:t>
            </a:r>
            <a:r>
              <a:rPr lang="en-US" sz="1600" dirty="0" err="1">
                <a:solidFill>
                  <a:schemeClr val="accent4"/>
                </a:solidFill>
              </a:rPr>
              <a:t>S</a:t>
            </a:r>
            <a:r>
              <a:rPr lang="en-US" sz="1600" baseline="-25000" dirty="0" err="1">
                <a:solidFill>
                  <a:schemeClr val="accent4"/>
                </a:solidFill>
              </a:rPr>
              <a:t>k</a:t>
            </a:r>
            <a:endParaRPr lang="en-US" sz="1600" dirty="0">
              <a:solidFill>
                <a:schemeClr val="accent4"/>
              </a:solidFill>
            </a:endParaRP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31E0DED3-6EBF-4E37-8C84-0421BCFEB06D}"/>
              </a:ext>
            </a:extLst>
          </p:cNvPr>
          <p:cNvCxnSpPr>
            <a:cxnSpLocks/>
            <a:stCxn id="18" idx="1"/>
          </p:cNvCxnSpPr>
          <p:nvPr/>
        </p:nvCxnSpPr>
        <p:spPr>
          <a:xfrm rot="10800000">
            <a:off x="8610443" y="5391956"/>
            <a:ext cx="144141" cy="157004"/>
          </a:xfrm>
          <a:prstGeom prst="curvedConnector2">
            <a:avLst/>
          </a:prstGeom>
          <a:ln w="19050"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5379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1F520-842C-4EAC-A589-E4F83F23E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NoteS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94665-9FED-4C03-9DEF-133FDB2009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Density test is a sufficient test, but not a necessary test</a:t>
                </a:r>
              </a:p>
              <a:p>
                <a:r>
                  <a:rPr lang="en-US" dirty="0"/>
                  <a:t>Density test as a fast, preliminary screening tool </a:t>
                </a:r>
              </a:p>
              <a:p>
                <a:pPr lvl="1"/>
                <a:r>
                  <a:rPr lang="en-US" dirty="0"/>
                  <a:t>to reject immediately </a:t>
                </a:r>
                <a:r>
                  <a:rPr lang="en-US" dirty="0" err="1"/>
                  <a:t>unschedulable</a:t>
                </a:r>
                <a:r>
                  <a:rPr lang="en-US" dirty="0"/>
                  <a:t> jobs, </a:t>
                </a:r>
              </a:p>
              <a:p>
                <a:pPr lvl="1"/>
                <a:r>
                  <a:rPr lang="en-US" dirty="0"/>
                  <a:t>To save the computational cost of a more complex analysis</a:t>
                </a:r>
              </a:p>
              <a:p>
                <a:r>
                  <a:rPr lang="en-US" dirty="0"/>
                  <a:t>Time-Demand Analysis is needed to give final acceptance decision</a:t>
                </a:r>
              </a:p>
              <a:p>
                <a:pPr lvl="1"/>
                <a:r>
                  <a:rPr lang="en-US" dirty="0"/>
                  <a:t>It’s a necessary &amp; sufficient test</a:t>
                </a:r>
              </a:p>
              <a:p>
                <a:pPr lvl="1"/>
                <a:r>
                  <a:rPr lang="en-US" dirty="0"/>
                  <a:t>if a job pass the density test, then the system must proceed to TDA.</a:t>
                </a:r>
              </a:p>
              <a:p>
                <a:pPr lvl="1"/>
                <a:r>
                  <a:rPr lang="en-US" dirty="0"/>
                  <a:t>A sporadic job pass the TDA if and only if: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4694665-9FED-4C03-9DEF-133FDB2009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5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304AC-E387-45A2-8A9F-244D2732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8619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D355E-4404-4FF5-8BE0-297B85F25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7C658-5FF5-4873-BD4F-9F2CB675EB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 Given a system with 3 high priority periodic task: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1</a:t>
            </a:r>
            <a:r>
              <a:rPr lang="en-US" dirty="0"/>
              <a:t>=(20,5);   T</a:t>
            </a:r>
            <a:r>
              <a:rPr lang="en-US" baseline="-25000" dirty="0"/>
              <a:t>2</a:t>
            </a:r>
            <a:r>
              <a:rPr lang="en-US" dirty="0"/>
              <a:t>=(50,10);   T</a:t>
            </a:r>
            <a:r>
              <a:rPr lang="en-US" baseline="-25000" dirty="0"/>
              <a:t>3</a:t>
            </a:r>
            <a:r>
              <a:rPr lang="en-US" dirty="0"/>
              <a:t>=(100,15)</a:t>
            </a:r>
          </a:p>
          <a:p>
            <a:pPr marL="0" indent="0">
              <a:buNone/>
            </a:pPr>
            <a:r>
              <a:rPr lang="en-US" dirty="0"/>
              <a:t>   a. At t = 30ms, a new sporadic job J</a:t>
            </a:r>
            <a:r>
              <a:rPr lang="en-US" baseline="-25000" dirty="0"/>
              <a:t>S1</a:t>
            </a:r>
            <a:r>
              <a:rPr lang="en-US" dirty="0"/>
              <a:t> arrives</a:t>
            </a:r>
          </a:p>
          <a:p>
            <a:pPr marL="0" indent="0">
              <a:buNone/>
            </a:pPr>
            <a:r>
              <a:rPr lang="en-US" dirty="0"/>
              <a:t>            J</a:t>
            </a:r>
            <a:r>
              <a:rPr lang="en-US" baseline="-25000" dirty="0"/>
              <a:t>S1</a:t>
            </a:r>
            <a:r>
              <a:rPr lang="en-US" dirty="0"/>
              <a:t>=(30,55,20)</a:t>
            </a:r>
          </a:p>
          <a:p>
            <a:pPr marL="0" indent="0">
              <a:buNone/>
            </a:pPr>
            <a:r>
              <a:rPr lang="en-US" dirty="0"/>
              <a:t>    b. At t = 100ms, a new sporadic job J</a:t>
            </a:r>
            <a:r>
              <a:rPr lang="en-US" baseline="-25000" dirty="0"/>
              <a:t>S2</a:t>
            </a:r>
            <a:r>
              <a:rPr lang="en-US" dirty="0"/>
              <a:t> arrives</a:t>
            </a:r>
          </a:p>
          <a:p>
            <a:pPr marL="0" indent="0">
              <a:buNone/>
            </a:pPr>
            <a:r>
              <a:rPr lang="en-US" dirty="0"/>
              <a:t>	J</a:t>
            </a:r>
            <a:r>
              <a:rPr lang="en-US" baseline="-25000" dirty="0"/>
              <a:t>S2</a:t>
            </a:r>
            <a:r>
              <a:rPr lang="en-US" dirty="0"/>
              <a:t>=(100,125,10)</a:t>
            </a:r>
          </a:p>
          <a:p>
            <a:pPr marL="0" indent="0">
              <a:buNone/>
            </a:pPr>
            <a:r>
              <a:rPr lang="en-US" dirty="0"/>
              <a:t>Can these sporadic jobs pass the acceptance test? </a:t>
            </a:r>
          </a:p>
          <a:p>
            <a:pPr marL="0" indent="0">
              <a:buNone/>
            </a:pPr>
            <a:r>
              <a:rPr lang="en-US" dirty="0"/>
              <a:t>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F1670-7D40-4A57-B078-8CE4DC47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378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18FE-C226-4E9C-8E99-164DDDCD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39685-62B9-4DFA-B3DC-0E0F3301F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4415194"/>
              </a:xfrm>
            </p:spPr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US" b="1" dirty="0"/>
                  <a:t>Density test</a:t>
                </a:r>
              </a:p>
              <a:p>
                <a:pPr marL="0" indent="0">
                  <a:buNone/>
                </a:pPr>
                <a:r>
                  <a:rPr lang="en-US" b="1" dirty="0"/>
                  <a:t>    </a:t>
                </a:r>
                <a:r>
                  <a:rPr lang="en-US" dirty="0"/>
                  <a:t>System density for the periodic tasks: 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=0.6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Density for sporadic jobs</a:t>
                </a:r>
              </a:p>
              <a:p>
                <a:pPr marL="0" indent="0">
                  <a:buNone/>
                </a:pPr>
                <a:r>
                  <a:rPr lang="en-US" dirty="0"/>
                  <a:t>        For J</a:t>
                </a:r>
                <a:r>
                  <a:rPr lang="en-US" baseline="-25000" dirty="0"/>
                  <a:t>S1: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55−30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=0.8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from t=(30,55],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∆=0.6+0.8=1.4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Rejected</a:t>
                </a:r>
              </a:p>
              <a:p>
                <a:pPr marL="0" indent="0">
                  <a:buNone/>
                </a:pPr>
                <a:r>
                  <a:rPr lang="en-US" dirty="0"/>
                  <a:t>        For J</a:t>
                </a:r>
                <a:r>
                  <a:rPr lang="en-US" baseline="-25000" dirty="0"/>
                  <a:t>S2: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from t=(100,125],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∆=0.6+0.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 </a:t>
                </a:r>
                <a:r>
                  <a:rPr lang="en-US" dirty="0">
                    <a:sym typeface="Wingdings" panose="05000000000000000000" pitchFamily="2" charset="2"/>
                  </a:rPr>
                  <a:t> Pass  TDA</a:t>
                </a: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39685-62B9-4DFA-B3DC-0E0F3301F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4415194"/>
              </a:xfrm>
              <a:blipFill>
                <a:blip r:embed="rId2"/>
                <a:stretch>
                  <a:fillRect l="-667" t="-2072" b="-1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7A12-5140-4E96-A148-74F45FCB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2159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518FE-C226-4E9C-8E99-164DDDCD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39685-62B9-4DFA-B3DC-0E0F3301F2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69848" y="2121408"/>
                <a:ext cx="10058400" cy="4415194"/>
              </a:xfrm>
            </p:spPr>
            <p:txBody>
              <a:bodyPr/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b="1" dirty="0"/>
                  <a:t>Time demand analysis</a:t>
                </a:r>
              </a:p>
              <a:p>
                <a:pPr marL="0" indent="0">
                  <a:buNone/>
                </a:pPr>
                <a:r>
                  <a:rPr lang="en-US" b="1" dirty="0"/>
                  <a:t>             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)=</m:t>
                    </m:r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Critical time: (100ms, 125ms]  </a:t>
                </a:r>
                <a:r>
                  <a:rPr lang="en-US" dirty="0">
                    <a:sym typeface="Wingdings" panose="05000000000000000000" pitchFamily="2" charset="2"/>
                  </a:rPr>
                  <a:t> t = 125 – 100 = 25 </a:t>
                </a:r>
                <a:r>
                  <a:rPr lang="en-US" dirty="0" err="1">
                    <a:sym typeface="Wingdings" panose="05000000000000000000" pitchFamily="2" charset="2"/>
                  </a:rPr>
                  <a:t>ms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Task T</a:t>
                </a:r>
                <a:r>
                  <a:rPr lang="en-US" baseline="-25000" dirty="0"/>
                  <a:t>1</a:t>
                </a:r>
                <a:r>
                  <a:rPr lang="en-US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25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den>
                          </m:f>
                        </m:e>
                      </m:d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5=5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𝑚𝑠</m:t>
                      </m:r>
                    </m:oMath>
                  </m:oMathPara>
                </a14:m>
                <a:endParaRPr lang="en-US" baseline="-25000" dirty="0"/>
              </a:p>
              <a:p>
                <a:pPr marL="0" indent="0">
                  <a:buNone/>
                </a:pPr>
                <a:r>
                  <a:rPr lang="en-US" dirty="0"/>
                  <a:t> Task T</a:t>
                </a:r>
                <a:r>
                  <a:rPr lang="en-US" baseline="-25000" dirty="0"/>
                  <a:t>2</a:t>
                </a:r>
                <a:r>
                  <a:rPr lang="en-US" dirty="0"/>
                  <a:t> and T</a:t>
                </a:r>
                <a:r>
                  <a:rPr lang="en-US" baseline="-25000" dirty="0"/>
                  <a:t>3</a:t>
                </a:r>
                <a:r>
                  <a:rPr lang="en-US" dirty="0"/>
                  <a:t>: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 Time demand for sporadic task: C</a:t>
                </a:r>
                <a:r>
                  <a:rPr lang="en-US" baseline="-25000" dirty="0"/>
                  <a:t>S</a:t>
                </a:r>
                <a:r>
                  <a:rPr lang="en-US" dirty="0"/>
                  <a:t> = 10 </a:t>
                </a:r>
                <a:r>
                  <a:rPr lang="en-US" dirty="0" err="1"/>
                  <a:t>ms</a:t>
                </a: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10+5+0+0=15&lt;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dirty="0"/>
                  <a:t> accepted</a:t>
                </a:r>
              </a:p>
              <a:p>
                <a:pPr marL="0" indent="0">
                  <a:buNone/>
                </a:pPr>
                <a:endParaRPr lang="en-US" baseline="-25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B639685-62B9-4DFA-B3DC-0E0F3301F2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9848" y="2121408"/>
                <a:ext cx="10058400" cy="4415194"/>
              </a:xfrm>
              <a:blipFill>
                <a:blip r:embed="rId2"/>
                <a:stretch>
                  <a:fillRect l="-667" t="-2072" b="-6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787A12-5140-4E96-A148-74F45FCB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B216A-8B69-41AB-BAA8-88F2DEF3147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6662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667</TotalTime>
  <Words>2349</Words>
  <Application>Microsoft Office PowerPoint</Application>
  <PresentationFormat>Widescreen</PresentationFormat>
  <Paragraphs>276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Calibri</vt:lpstr>
      <vt:lpstr>Cambria Math</vt:lpstr>
      <vt:lpstr>Rockwell</vt:lpstr>
      <vt:lpstr>Rockwell Condensed</vt:lpstr>
      <vt:lpstr>Wingdings</vt:lpstr>
      <vt:lpstr>Wood Type</vt:lpstr>
      <vt:lpstr>Scheduling of  Aperiodic and Sporadic Tasks</vt:lpstr>
      <vt:lpstr>Remind: Types of task</vt:lpstr>
      <vt:lpstr>System model</vt:lpstr>
      <vt:lpstr>System model</vt:lpstr>
      <vt:lpstr>System model</vt:lpstr>
      <vt:lpstr>Scheduling Aperiodic Jobs</vt:lpstr>
      <vt:lpstr>Background Scheduling of Aperiodic Jobs</vt:lpstr>
      <vt:lpstr>Interrupt Scheduling of Aperiodic Jobs</vt:lpstr>
      <vt:lpstr>Slack Stealing for Aperiodic Jobs</vt:lpstr>
      <vt:lpstr>Slack Stealing for Aperiodic Jobs</vt:lpstr>
      <vt:lpstr>Server-Based Scheduling Algorithms</vt:lpstr>
      <vt:lpstr>Server-Based Scheduling Algorithms</vt:lpstr>
      <vt:lpstr>Server-Based Scheduling Algorithms</vt:lpstr>
      <vt:lpstr>PowerPoint Presentation</vt:lpstr>
      <vt:lpstr>Server-Based Scheduling Algorithms</vt:lpstr>
      <vt:lpstr>Server-Based Scheduling Algorithms</vt:lpstr>
      <vt:lpstr>Example</vt:lpstr>
      <vt:lpstr>Example</vt:lpstr>
      <vt:lpstr>Example</vt:lpstr>
      <vt:lpstr>Time-Demand Analysis (TDA)</vt:lpstr>
      <vt:lpstr>Server-Based Scheduling Algorithms</vt:lpstr>
      <vt:lpstr>PowerPoint Presentation</vt:lpstr>
      <vt:lpstr>PowerPoint Presentation</vt:lpstr>
      <vt:lpstr>Example</vt:lpstr>
      <vt:lpstr>Advanced bandwidth-preserving Server</vt:lpstr>
      <vt:lpstr>Constant Utilization Server (CUS)</vt:lpstr>
      <vt:lpstr>Constant Utilization Server (CUS)</vt:lpstr>
      <vt:lpstr>Total Bandwidth Server (TBS)</vt:lpstr>
      <vt:lpstr>Total Bandwidth Server (CUS)</vt:lpstr>
      <vt:lpstr>Scheduling Sporadic jobs</vt:lpstr>
      <vt:lpstr>Scheduling Sporadic jobs</vt:lpstr>
      <vt:lpstr>Scheduling Sporadic jobs</vt:lpstr>
      <vt:lpstr>Admission Control for Sporadic Jobs</vt:lpstr>
      <vt:lpstr>Sporadic Jobs in Fixed-Priority Systems</vt:lpstr>
      <vt:lpstr>NoteS</vt:lpstr>
      <vt:lpstr>Example</vt:lpstr>
      <vt:lpstr>Example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duc b</dc:creator>
  <cp:lastModifiedBy>duc b</cp:lastModifiedBy>
  <cp:revision>38</cp:revision>
  <dcterms:created xsi:type="dcterms:W3CDTF">2025-10-20T03:05:03Z</dcterms:created>
  <dcterms:modified xsi:type="dcterms:W3CDTF">2025-12-14T09:43:41Z</dcterms:modified>
</cp:coreProperties>
</file>