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61" r:id="rId5"/>
    <p:sldId id="260" r:id="rId6"/>
    <p:sldId id="259" r:id="rId7"/>
    <p:sldId id="263" r:id="rId8"/>
    <p:sldId id="265" r:id="rId9"/>
    <p:sldId id="262" r:id="rId10"/>
    <p:sldId id="267" r:id="rId11"/>
    <p:sldId id="268" r:id="rId12"/>
    <p:sldId id="274" r:id="rId13"/>
    <p:sldId id="266" r:id="rId14"/>
    <p:sldId id="269" r:id="rId15"/>
    <p:sldId id="264" r:id="rId16"/>
    <p:sldId id="275" r:id="rId17"/>
    <p:sldId id="273" r:id="rId18"/>
    <p:sldId id="272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52994-7F4E-410F-93AA-15C3A1BFB7C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76CE2-B512-4807-AA88-AA5D35EC3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4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00476-B57E-43CE-A549-DD119218C595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6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510CD-25C2-4A78-A3AF-4495C90F5570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1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BA2C8E0-03BA-4010-9B29-B4BDE67EA345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14AB2-17C9-463E-ACBB-59AC8747ADBC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B0DB-ABD5-4C6F-9CEF-D04547F356A9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1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CCA7F-46F4-49C8-A675-B8C527443829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1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CC25B-B1EA-4BB8-AD58-F0EC5433FDA5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5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1FF6B-B572-41D7-917D-4CEE74DC654C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9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565C-E6DB-457A-97E0-CD0C174F6B30}" type="datetime1">
              <a:rPr lang="en-US" smtClean="0"/>
              <a:t>11/9/2025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5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A4BD6-AA74-4A0A-BAF7-2487CE562EC9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0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E0BE9-5B41-4B79-9409-F1CDD68113F4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7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8628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1846907"/>
            <a:ext cx="10058400" cy="4325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A636EB5-6BBE-44CF-B72C-8B63403F0E91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8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4F8A-8F3D-4145-B691-95D21995D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Clock Driven Scheduling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B1F9C-8AB0-4179-A5BB-80FD76E31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Lecturer: </a:t>
            </a:r>
            <a:r>
              <a:rPr lang="en-US" dirty="0" err="1"/>
              <a:t>BuiHa</a:t>
            </a:r>
            <a:r>
              <a:rPr lang="en-US" dirty="0"/>
              <a:t> Duc, PhD</a:t>
            </a:r>
          </a:p>
          <a:p>
            <a:r>
              <a:rPr lang="en-US" dirty="0"/>
              <a:t>Department </a:t>
            </a:r>
            <a:r>
              <a:rPr lang="en-US"/>
              <a:t>of Mechatronics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94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18C7B-6EB4-4CFC-99A2-27C1C6EC7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C999A-AA90-4A63-A7DC-EAE65D210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Clock-driven scheduling applicable to deterministic systems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parameters of all periodic tasks are known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For each mode of operation, system has a fixed number periodic tasks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Aperiodic jobs may exist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There are no sporadic jobs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292EF-82EF-44C9-A215-0B9D90A7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3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35B6-3CCB-44CE-B0C6-1C1B5FF5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9EB7B7-7BE1-44D8-A1E4-657B9A14A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464031"/>
                <a:ext cx="10058400" cy="4325293"/>
              </a:xfrm>
            </p:spPr>
            <p:txBody>
              <a:bodyPr/>
              <a:lstStyle/>
              <a:p>
                <a:r>
                  <a:rPr lang="en-US" dirty="0"/>
                  <a:t> Each periodic task </a:t>
                </a:r>
                <a:r>
                  <a:rPr lang="en-US" dirty="0" err="1"/>
                  <a:t>T</a:t>
                </a:r>
                <a:r>
                  <a:rPr lang="en-US" baseline="-25000" dirty="0" err="1"/>
                  <a:t>i</a:t>
                </a:r>
                <a:r>
                  <a:rPr lang="en-US" dirty="0"/>
                  <a:t> using tuple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Phase (release time of the first job)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:  </a:t>
                </a:r>
                <a:r>
                  <a:rPr lang="en-US" dirty="0"/>
                  <a:t>Period (inter-arrival time of job)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: </a:t>
                </a:r>
                <a:r>
                  <a:rPr lang="en-US" dirty="0"/>
                  <a:t>execution time (WCET)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Relative </a:t>
                </a:r>
                <a:r>
                  <a:rPr lang="en-US" dirty="0" err="1"/>
                  <a:t>dealine</a:t>
                </a:r>
                <a:endParaRPr lang="en-US" dirty="0"/>
              </a:p>
              <a:p>
                <a:r>
                  <a:rPr lang="en-US" dirty="0"/>
                  <a:t> Default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=0, D</a:t>
                </a:r>
                <a:r>
                  <a:rPr lang="en-US" i="1" baseline="-25000" dirty="0">
                    <a:latin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</a:rPr>
                  <a:t> = p</a:t>
                </a:r>
                <a:r>
                  <a:rPr lang="en-US" i="1" baseline="-25000" dirty="0">
                    <a:latin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</a:rPr>
                  <a:t> ,</a:t>
                </a:r>
                <a:r>
                  <a:rPr lang="en-US" dirty="0"/>
                  <a:t> omit elements will have default values</a:t>
                </a:r>
              </a:p>
              <a:p>
                <a:r>
                  <a:rPr lang="en-US" dirty="0"/>
                  <a:t> Example: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9EB7B7-7BE1-44D8-A1E4-657B9A14A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464031"/>
                <a:ext cx="10058400" cy="4325293"/>
              </a:xfrm>
              <a:blipFill>
                <a:blip r:embed="rId2"/>
                <a:stretch>
                  <a:fillRect l="-848" t="-2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BAF7191-1E5B-4719-AF0E-22DFB0067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297" y="5084987"/>
            <a:ext cx="2104228" cy="471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BF4984-489F-45E5-8F12-29FC6CE57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881" y="5022633"/>
            <a:ext cx="2696920" cy="853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647264-48A8-47A3-83B4-FC12343F5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9708" y="5938974"/>
            <a:ext cx="1895998" cy="4451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9F778D-4087-47C6-B9CF-D104DE146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5515" y="5913629"/>
            <a:ext cx="2686286" cy="89086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46E4FB-F90B-4C55-8D88-C7B6C645A17D}"/>
              </a:ext>
            </a:extLst>
          </p:cNvPr>
          <p:cNvCxnSpPr/>
          <p:nvPr/>
        </p:nvCxnSpPr>
        <p:spPr>
          <a:xfrm>
            <a:off x="4002499" y="5311132"/>
            <a:ext cx="6609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AC77DB-0517-434E-B093-4BC65CC9D535}"/>
              </a:ext>
            </a:extLst>
          </p:cNvPr>
          <p:cNvCxnSpPr>
            <a:cxnSpLocks/>
          </p:cNvCxnSpPr>
          <p:nvPr/>
        </p:nvCxnSpPr>
        <p:spPr>
          <a:xfrm>
            <a:off x="3675706" y="6214439"/>
            <a:ext cx="9876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21A91-0B0C-493F-859F-343E44BD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9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A4F0-5B93-408A-A29C-0F2A34191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Clock-driven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28E0C-3CC8-46F3-92FE-5D24D4A0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Implementing clock-driven scheduling in a real-time system involves a </a:t>
            </a:r>
            <a:r>
              <a:rPr lang="en-US" dirty="0">
                <a:solidFill>
                  <a:srgbClr val="0070C0"/>
                </a:solidFill>
              </a:rPr>
              <a:t>two-phase</a:t>
            </a:r>
            <a:r>
              <a:rPr lang="en-US" dirty="0"/>
              <a:t>:</a:t>
            </a:r>
          </a:p>
          <a:p>
            <a:r>
              <a:rPr lang="en-US" dirty="0"/>
              <a:t> Off-line pre-computation</a:t>
            </a:r>
          </a:p>
          <a:p>
            <a:pPr lvl="1"/>
            <a:r>
              <a:rPr lang="en-US" dirty="0"/>
              <a:t>Define the Task</a:t>
            </a:r>
          </a:p>
          <a:p>
            <a:pPr lvl="1"/>
            <a:r>
              <a:rPr lang="en-US" dirty="0"/>
              <a:t>Generate a schedule that meets all the deadlines</a:t>
            </a:r>
          </a:p>
          <a:p>
            <a:r>
              <a:rPr lang="en-US" dirty="0"/>
              <a:t> Run-time execution</a:t>
            </a:r>
          </a:p>
          <a:p>
            <a:pPr lvl="1"/>
            <a:r>
              <a:rPr lang="en-US" dirty="0"/>
              <a:t>Implement the schedule on </a:t>
            </a:r>
            <a:r>
              <a:rPr lang="en-US" dirty="0" err="1"/>
              <a:t>cpu</a:t>
            </a:r>
            <a:r>
              <a:rPr lang="en-US" dirty="0"/>
              <a:t>/system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5FA6F-8E3B-4D5F-AC17-7A5B7BEF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8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12D5-C58F-4AB0-9344-812ED702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Clock-driven scheduling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47D9A-D1B3-4C34-8C54-EF2B54422D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Off-line Schedule Computation: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Define each period task </a:t>
                </a:r>
                <a:r>
                  <a:rPr lang="en-US" dirty="0" err="1"/>
                  <a:t>T</a:t>
                </a:r>
                <a:r>
                  <a:rPr lang="en-US" baseline="-25000" dirty="0" err="1"/>
                  <a:t>i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Determine </a:t>
                </a:r>
                <a:r>
                  <a:rPr lang="en-US" dirty="0" err="1"/>
                  <a:t>hyperperiod</a:t>
                </a:r>
                <a:r>
                  <a:rPr lang="en-US" dirty="0"/>
                  <a:t> </a:t>
                </a:r>
                <a:r>
                  <a:rPr lang="en-US" b="1" dirty="0"/>
                  <a:t>H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 Calculate the Least Common Multiple (LCM) of all task periods</a:t>
                </a:r>
              </a:p>
              <a:p>
                <a:pPr lvl="1"/>
                <a:r>
                  <a:rPr lang="en-US" dirty="0"/>
                  <a:t> Schedule will repeat exactly after this time </a:t>
                </a:r>
                <a:r>
                  <a:rPr lang="en-US" b="1" dirty="0"/>
                  <a:t>H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747D9A-D1B3-4C34-8C54-EF2B54422D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3" t="-3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B7DA707-134D-4A65-8F44-A6C956AD8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917" y="2937257"/>
            <a:ext cx="9570235" cy="16093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BEA52-747D-4E2E-956B-96EA3A81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6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D1DD-1817-40C7-ABF1-2DF3EA60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cyclic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0445F-3DEF-45B8-963B-AFA5D5CB6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81146"/>
            <a:ext cx="10058400" cy="432529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Hyperperiod</a:t>
            </a:r>
            <a:r>
              <a:rPr lang="en-US" dirty="0"/>
              <a:t> H = 20 (least common multiple of 4, 5, 20, 20)</a:t>
            </a:r>
          </a:p>
          <a:p>
            <a:r>
              <a:rPr lang="en-US" dirty="0"/>
              <a:t> An arbitrary static schedule to meet all deadlines: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AF5DDA-7542-4123-884B-9BE64C287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27" y="2695436"/>
            <a:ext cx="10651630" cy="31447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DBE4FD-B5F8-4ADC-B96D-C5221B168861}"/>
              </a:ext>
            </a:extLst>
          </p:cNvPr>
          <p:cNvSpPr txBox="1"/>
          <p:nvPr/>
        </p:nvSpPr>
        <p:spPr>
          <a:xfrm>
            <a:off x="771659" y="5715312"/>
            <a:ext cx="3993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Is this schedule optimized?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6F16E2-22A7-4A24-B8D9-4604095C8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92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0661-D461-4BC3-9B33-3029CA8E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cyclic schedule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07F90-7A42-42C4-A547-B606CFC66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51" y="1570678"/>
            <a:ext cx="6294316" cy="1858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988C1C-185D-4D4D-BEAD-3A662E00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241" y="487029"/>
            <a:ext cx="2276364" cy="6257197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6F2300BC-DAB4-4BEF-BE76-A793B820C418}"/>
              </a:ext>
            </a:extLst>
          </p:cNvPr>
          <p:cNvSpPr/>
          <p:nvPr/>
        </p:nvSpPr>
        <p:spPr>
          <a:xfrm>
            <a:off x="7394713" y="1796994"/>
            <a:ext cx="962107" cy="556592"/>
          </a:xfrm>
          <a:prstGeom prst="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5E66B3-2C4A-4EC1-9BE7-43D447EF8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3593991"/>
            <a:ext cx="7534750" cy="31502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Implement the schedule:</a:t>
            </a:r>
          </a:p>
          <a:p>
            <a:r>
              <a:rPr lang="en-US" sz="2400" b="1" dirty="0"/>
              <a:t> </a:t>
            </a:r>
            <a:r>
              <a:rPr lang="en-US" sz="2400" dirty="0"/>
              <a:t>Scheduler sets the hardware timer to interrupt at the first decision time, </a:t>
            </a:r>
            <a:r>
              <a:rPr lang="en-US" sz="2400" dirty="0" err="1"/>
              <a:t>t</a:t>
            </a:r>
            <a:r>
              <a:rPr lang="en-US" sz="2400" baseline="-25000" dirty="0" err="1"/>
              <a:t>k</a:t>
            </a:r>
            <a:r>
              <a:rPr lang="en-US" sz="2400" dirty="0"/>
              <a:t>=0</a:t>
            </a:r>
          </a:p>
          <a:p>
            <a:r>
              <a:rPr lang="en-US" sz="2400" dirty="0"/>
              <a:t> On receipt of an interrupt at </a:t>
            </a:r>
            <a:r>
              <a:rPr lang="en-US" sz="2400" dirty="0" err="1"/>
              <a:t>t</a:t>
            </a:r>
            <a:r>
              <a:rPr lang="en-US" sz="2400" baseline="-25000" dirty="0" err="1"/>
              <a:t>k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Scheduler sets the timer interrupt to expire at t</a:t>
            </a:r>
            <a:r>
              <a:rPr lang="en-US" sz="2000" baseline="-25000" dirty="0"/>
              <a:t>k+1</a:t>
            </a:r>
          </a:p>
          <a:p>
            <a:pPr lvl="1"/>
            <a:r>
              <a:rPr lang="en-US" sz="2000" dirty="0"/>
              <a:t>If T(</a:t>
            </a:r>
            <a:r>
              <a:rPr lang="en-US" sz="2000" dirty="0" err="1"/>
              <a:t>t</a:t>
            </a:r>
            <a:r>
              <a:rPr lang="en-US" sz="2000" baseline="-25000" dirty="0" err="1"/>
              <a:t>k</a:t>
            </a:r>
            <a:r>
              <a:rPr lang="en-US" sz="2000" dirty="0"/>
              <a:t>) = I and aperiodic job waiting, start aperiodic job</a:t>
            </a:r>
          </a:p>
          <a:p>
            <a:pPr lvl="1"/>
            <a:r>
              <a:rPr lang="en-US" sz="2000" dirty="0"/>
              <a:t>Otherwise, start next job in task T(</a:t>
            </a:r>
            <a:r>
              <a:rPr lang="en-US" sz="2000" dirty="0" err="1"/>
              <a:t>t</a:t>
            </a:r>
            <a:r>
              <a:rPr lang="en-US" sz="2000" baseline="-25000" dirty="0" err="1"/>
              <a:t>k</a:t>
            </a:r>
            <a:r>
              <a:rPr lang="en-US" sz="2000" dirty="0"/>
              <a:t>) executing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2C8D8-1593-4063-A48A-BB026D6D6893}"/>
              </a:ext>
            </a:extLst>
          </p:cNvPr>
          <p:cNvSpPr txBox="1"/>
          <p:nvPr/>
        </p:nvSpPr>
        <p:spPr>
          <a:xfrm>
            <a:off x="485411" y="6310053"/>
            <a:ext cx="3245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Is there any problem?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6B17919-B7C9-471E-9277-3C8A7F59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1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A583-5AAB-4DC4-8FD7-72845B89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cyclic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4214F-C857-48F5-B7CA-B00A312A6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3116911"/>
            <a:ext cx="10058400" cy="30552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Problems:</a:t>
            </a:r>
          </a:p>
          <a:p>
            <a:r>
              <a:rPr lang="en-US" sz="2400" dirty="0"/>
              <a:t> Relies on accurate timer interrupts and execution times of tasks</a:t>
            </a:r>
          </a:p>
          <a:p>
            <a:r>
              <a:rPr lang="en-US" sz="2400" dirty="0"/>
              <a:t> High </a:t>
            </a:r>
            <a:r>
              <a:rPr lang="en-US" sz="2400" dirty="0">
                <a:solidFill>
                  <a:srgbClr val="0070C0"/>
                </a:solidFill>
              </a:rPr>
              <a:t>scheduling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overhead </a:t>
            </a:r>
            <a:r>
              <a:rPr lang="en-US" sz="2400" dirty="0"/>
              <a:t>(amount of processor time or resources consumed)</a:t>
            </a:r>
          </a:p>
          <a:p>
            <a:pPr lvl="1"/>
            <a:r>
              <a:rPr lang="en-US" sz="2000" dirty="0"/>
              <a:t>Reduce CPU availability</a:t>
            </a:r>
          </a:p>
          <a:p>
            <a:pPr lvl="1"/>
            <a:r>
              <a:rPr lang="en-US" sz="2000" dirty="0"/>
              <a:t>Missed deadlines</a:t>
            </a:r>
          </a:p>
          <a:p>
            <a:pPr lvl="1"/>
            <a:r>
              <a:rPr lang="en-US" sz="2000" dirty="0"/>
              <a:t>Increase jitter/unpredictability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B31E13B-A23A-40E9-924B-ACE593AAFA1F}"/>
              </a:ext>
            </a:extLst>
          </p:cNvPr>
          <p:cNvGrpSpPr/>
          <p:nvPr/>
        </p:nvGrpSpPr>
        <p:grpSpPr>
          <a:xfrm>
            <a:off x="1195812" y="1411879"/>
            <a:ext cx="8495224" cy="1705032"/>
            <a:chOff x="1195812" y="1411879"/>
            <a:chExt cx="8495224" cy="170503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5F8A1AC-4DB4-47FC-989E-646386FC4E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32019"/>
            <a:stretch/>
          </p:blipFill>
          <p:spPr>
            <a:xfrm>
              <a:off x="1195812" y="1411879"/>
              <a:ext cx="8495224" cy="1705032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CCDF99-84E0-4855-9308-9D66F5883EAB}"/>
                </a:ext>
              </a:extLst>
            </p:cNvPr>
            <p:cNvSpPr/>
            <p:nvPr/>
          </p:nvSpPr>
          <p:spPr>
            <a:xfrm>
              <a:off x="5995283" y="2743200"/>
              <a:ext cx="413468" cy="373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418F1397-57D2-4953-A807-CF9D676837EC}"/>
              </a:ext>
            </a:extLst>
          </p:cNvPr>
          <p:cNvSpPr/>
          <p:nvPr/>
        </p:nvSpPr>
        <p:spPr>
          <a:xfrm>
            <a:off x="906449" y="6106602"/>
            <a:ext cx="572494" cy="2862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E9822-8DA1-475C-B97F-65B26E0D29C1}"/>
              </a:ext>
            </a:extLst>
          </p:cNvPr>
          <p:cNvSpPr txBox="1"/>
          <p:nvPr/>
        </p:nvSpPr>
        <p:spPr>
          <a:xfrm>
            <a:off x="1642342" y="6018892"/>
            <a:ext cx="1222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Frames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A1368-C133-45A1-9534-1C69DF687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4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12D5-C58F-4AB0-9344-812ED702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Clock-driven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47D9A-D1B3-4C34-8C54-EF2B5442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72" y="1566407"/>
            <a:ext cx="10286276" cy="5057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Off-line Schedule Computation: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dirty="0"/>
              <a:t>Dividing the timeline into intervals called frames (</a:t>
            </a:r>
            <a:r>
              <a:rPr lang="en-US" b="1" dirty="0"/>
              <a:t>F</a:t>
            </a:r>
            <a:r>
              <a:rPr lang="en-US" dirty="0"/>
              <a:t>) of duration </a:t>
            </a:r>
            <a:r>
              <a:rPr lang="en-US" b="1" dirty="0"/>
              <a:t>f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f &gt; max(C</a:t>
            </a:r>
            <a:r>
              <a:rPr lang="en-US" baseline="-25000" dirty="0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) </a:t>
            </a:r>
            <a:r>
              <a:rPr lang="en-US" dirty="0"/>
              <a:t>: long enough to execute any job </a:t>
            </a:r>
            <a:r>
              <a:rPr lang="en-US" dirty="0">
                <a:solidFill>
                  <a:srgbClr val="0070C0"/>
                </a:solidFill>
              </a:rPr>
              <a:t>non-preemptively </a:t>
            </a:r>
            <a:r>
              <a:rPr lang="en-US" dirty="0"/>
              <a:t>within a frame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f is a </a:t>
            </a:r>
            <a:r>
              <a:rPr lang="en-US" dirty="0">
                <a:solidFill>
                  <a:srgbClr val="0070C0"/>
                </a:solidFill>
              </a:rPr>
              <a:t>divisor of H </a:t>
            </a:r>
            <a:r>
              <a:rPr lang="en-US" dirty="0"/>
              <a:t>: to keep schedule table cyclic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0070C0"/>
                </a:solidFill>
              </a:rPr>
              <a:t>2f –</a:t>
            </a:r>
            <a:r>
              <a:rPr lang="en-US" dirty="0" err="1">
                <a:solidFill>
                  <a:srgbClr val="0070C0"/>
                </a:solidFill>
              </a:rPr>
              <a:t>gcd</a:t>
            </a:r>
            <a:r>
              <a:rPr lang="en-US" dirty="0">
                <a:solidFill>
                  <a:srgbClr val="0070C0"/>
                </a:solidFill>
              </a:rPr>
              <a:t>(p</a:t>
            </a:r>
            <a:r>
              <a:rPr lang="en-US" baseline="-25000" dirty="0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, f) ≤ D</a:t>
            </a:r>
            <a:r>
              <a:rPr lang="en-US" baseline="-25000" dirty="0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: short enough to ensure there is at least one frame boundary between a task's release time and its deadline, allowing the scheduler to check for and handle potential overruns </a:t>
            </a:r>
          </a:p>
          <a:p>
            <a:pPr marL="274320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  </a:t>
            </a:r>
            <a:r>
              <a:rPr lang="en-US" dirty="0" err="1"/>
              <a:t>gcd</a:t>
            </a:r>
            <a:r>
              <a:rPr lang="en-US" dirty="0"/>
              <a:t>: Greatest Common Divisor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2E71-5772-475E-885D-393697D4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8BE8FC-6B9C-4A87-8AE3-270B3DE399FE}"/>
              </a:ext>
            </a:extLst>
          </p:cNvPr>
          <p:cNvSpPr txBox="1"/>
          <p:nvPr/>
        </p:nvSpPr>
        <p:spPr>
          <a:xfrm>
            <a:off x="8545728" y="3697866"/>
            <a:ext cx="3858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accent1">
                    <a:lumMod val="75000"/>
                  </a:schemeClr>
                </a:solidFill>
              </a:rPr>
              <a:t>without any interruptions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424A93A9-5F37-4331-908A-28DB0996F464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V="1">
            <a:off x="10119745" y="3342755"/>
            <a:ext cx="366191" cy="34403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8466FE-C158-4829-BBF6-DAF7DF592261}"/>
              </a:ext>
            </a:extLst>
          </p:cNvPr>
          <p:cNvSpPr txBox="1"/>
          <p:nvPr/>
        </p:nvSpPr>
        <p:spPr>
          <a:xfrm>
            <a:off x="10912536" y="2888116"/>
            <a:ext cx="1105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(Eq. 1)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59D517-D9BC-4DA0-A94D-B02BE7FA18E1}"/>
              </a:ext>
            </a:extLst>
          </p:cNvPr>
          <p:cNvSpPr txBox="1"/>
          <p:nvPr/>
        </p:nvSpPr>
        <p:spPr>
          <a:xfrm>
            <a:off x="10912536" y="4580967"/>
            <a:ext cx="1105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(Eq. 2)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314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8BD4-C5B6-4D57-8803-1C97F8E6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27DB8-F5DD-4EA1-B8B4-8C0FEACE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750F59-512D-4BCD-B69C-D0F36E5EF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1545594"/>
            <a:ext cx="10651067" cy="1043697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B8830ABC-D37B-46F1-BA22-FB64FE66B27E}"/>
              </a:ext>
            </a:extLst>
          </p:cNvPr>
          <p:cNvSpPr/>
          <p:nvPr/>
        </p:nvSpPr>
        <p:spPr>
          <a:xfrm>
            <a:off x="776629" y="4431552"/>
            <a:ext cx="962107" cy="556592"/>
          </a:xfrm>
          <a:prstGeom prst="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628DC0-2BFF-4DF3-9697-CDF64E1E8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184" y="4093411"/>
            <a:ext cx="3542690" cy="10436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C62CCC-32C4-44E2-B24F-057C59983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029" y="3154938"/>
            <a:ext cx="4720872" cy="297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52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2576F-4A94-4894-8A8A-2E6C7A67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563A6-5CD5-4861-9CCF-628BBE6E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0CC5D4-E348-4C9D-B3BE-9816F35CD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75" y="4007683"/>
            <a:ext cx="11311649" cy="210323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44C20D8-97B1-47BB-A2DE-B7A2741EE852}"/>
              </a:ext>
            </a:extLst>
          </p:cNvPr>
          <p:cNvGrpSpPr/>
          <p:nvPr/>
        </p:nvGrpSpPr>
        <p:grpSpPr>
          <a:xfrm>
            <a:off x="1567005" y="1257970"/>
            <a:ext cx="8495224" cy="1705032"/>
            <a:chOff x="1195812" y="1411879"/>
            <a:chExt cx="8495224" cy="170503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CC469A6-E7A7-474C-B249-92677A0315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2019"/>
            <a:stretch/>
          </p:blipFill>
          <p:spPr>
            <a:xfrm>
              <a:off x="1195812" y="1411879"/>
              <a:ext cx="8495224" cy="170503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563AD28-973F-408A-877F-DD23EE287CDD}"/>
                </a:ext>
              </a:extLst>
            </p:cNvPr>
            <p:cNvSpPr/>
            <p:nvPr/>
          </p:nvSpPr>
          <p:spPr>
            <a:xfrm>
              <a:off x="5995283" y="2743200"/>
              <a:ext cx="413468" cy="373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Arrow: Down 9">
            <a:extLst>
              <a:ext uri="{FF2B5EF4-FFF2-40B4-BE49-F238E27FC236}">
                <a16:creationId xmlns:a16="http://schemas.microsoft.com/office/drawing/2014/main" id="{C2A283F5-1289-4BA9-A0C2-2D18DA11D6EB}"/>
              </a:ext>
            </a:extLst>
          </p:cNvPr>
          <p:cNvSpPr/>
          <p:nvPr/>
        </p:nvSpPr>
        <p:spPr>
          <a:xfrm>
            <a:off x="5359651" y="2999745"/>
            <a:ext cx="624689" cy="858510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1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146B-F217-428E-97C6-8C703B4F9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5C29C-A05A-4D16-BD67-E21744784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the schedule table for the 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F3021-C231-4863-8157-9FEFB4065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B9994-09A0-428F-AF9F-AFA408106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19" y="2713038"/>
            <a:ext cx="11311649" cy="210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09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12D5-C58F-4AB0-9344-812ED702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Clock-driven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47D9A-D1B3-4C34-8C54-EF2B5442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66407"/>
            <a:ext cx="10310358" cy="5057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Off-line Schedule Computation: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Job slicing: If the frame size constraints cannot be met, tasks must be broken down into smaller, </a:t>
            </a:r>
            <a:r>
              <a:rPr lang="en-US" b="1" dirty="0">
                <a:solidFill>
                  <a:srgbClr val="0070C0"/>
                </a:solidFill>
              </a:rPr>
              <a:t>non-preemptible</a:t>
            </a:r>
            <a:r>
              <a:rPr lang="en-US" dirty="0"/>
              <a:t> slices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687388" indent="-182563"/>
            <a:r>
              <a:rPr lang="en-US" sz="2400" dirty="0"/>
              <a:t> Consider a system with T</a:t>
            </a:r>
            <a:r>
              <a:rPr lang="en-US" sz="2400" baseline="-25000" dirty="0"/>
              <a:t>1</a:t>
            </a:r>
            <a:r>
              <a:rPr lang="en-US" sz="2400" dirty="0"/>
              <a:t> = (4, 1), T</a:t>
            </a:r>
            <a:r>
              <a:rPr lang="en-US" sz="2400" baseline="-25000" dirty="0"/>
              <a:t>2</a:t>
            </a:r>
            <a:r>
              <a:rPr lang="en-US" sz="2400" dirty="0"/>
              <a:t> = (5, 2, 7), T</a:t>
            </a:r>
            <a:r>
              <a:rPr lang="en-US" sz="2400" baseline="-25000" dirty="0"/>
              <a:t>3</a:t>
            </a:r>
            <a:r>
              <a:rPr lang="en-US" sz="2400" dirty="0"/>
              <a:t> = (20, 5)</a:t>
            </a:r>
          </a:p>
          <a:p>
            <a:pPr marL="687388" indent="-182563"/>
            <a:r>
              <a:rPr lang="en-US" sz="2400" dirty="0"/>
              <a:t> Eq. 1</a:t>
            </a:r>
            <a:r>
              <a:rPr lang="en-US" sz="2400" dirty="0">
                <a:sym typeface="Wingdings" panose="05000000000000000000" pitchFamily="2" charset="2"/>
              </a:rPr>
              <a:t> f ≥ 5, but Eq. 2  f ≤ 4</a:t>
            </a:r>
          </a:p>
          <a:p>
            <a:pPr marL="687388" indent="-182563"/>
            <a:r>
              <a:rPr lang="en-US" sz="2400" dirty="0">
                <a:sym typeface="Wingdings" panose="05000000000000000000" pitchFamily="2" charset="2"/>
              </a:rPr>
              <a:t> Solve by splitting T</a:t>
            </a:r>
            <a:r>
              <a:rPr lang="en-US" sz="2400" baseline="-25000" dirty="0">
                <a:sym typeface="Wingdings" panose="05000000000000000000" pitchFamily="2" charset="2"/>
              </a:rPr>
              <a:t>3</a:t>
            </a:r>
            <a:r>
              <a:rPr lang="en-US" sz="2400" dirty="0">
                <a:sym typeface="Wingdings" panose="05000000000000000000" pitchFamily="2" charset="2"/>
              </a:rPr>
              <a:t> into T</a:t>
            </a:r>
            <a:r>
              <a:rPr lang="en-US" sz="2400" baseline="-25000" dirty="0">
                <a:sym typeface="Wingdings" panose="05000000000000000000" pitchFamily="2" charset="2"/>
              </a:rPr>
              <a:t>3,1</a:t>
            </a:r>
            <a:r>
              <a:rPr lang="en-US" sz="2400" dirty="0">
                <a:sym typeface="Wingdings" panose="05000000000000000000" pitchFamily="2" charset="2"/>
              </a:rPr>
              <a:t> = (20, 1), T</a:t>
            </a:r>
            <a:r>
              <a:rPr lang="en-US" sz="2400" baseline="-25000" dirty="0">
                <a:sym typeface="Wingdings" panose="05000000000000000000" pitchFamily="2" charset="2"/>
              </a:rPr>
              <a:t>3,2</a:t>
            </a:r>
            <a:r>
              <a:rPr lang="en-US" sz="2400" dirty="0">
                <a:sym typeface="Wingdings" panose="05000000000000000000" pitchFamily="2" charset="2"/>
              </a:rPr>
              <a:t> = (20, 3) and T</a:t>
            </a:r>
            <a:r>
              <a:rPr lang="en-US" sz="2400" baseline="-25000" dirty="0">
                <a:sym typeface="Wingdings" panose="05000000000000000000" pitchFamily="2" charset="2"/>
              </a:rPr>
              <a:t>3,3</a:t>
            </a:r>
            <a:r>
              <a:rPr lang="en-US" sz="2400" dirty="0">
                <a:sym typeface="Wingdings" panose="05000000000000000000" pitchFamily="2" charset="2"/>
              </a:rPr>
              <a:t> = (20,1)</a:t>
            </a:r>
          </a:p>
          <a:p>
            <a:pPr marL="687388" indent="-182563"/>
            <a:r>
              <a:rPr lang="en-US" sz="2400" dirty="0">
                <a:sym typeface="Wingdings" panose="05000000000000000000" pitchFamily="2" charset="2"/>
              </a:rPr>
              <a:t> Result can be scheduled with f = 4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2E71-5772-475E-885D-393697D4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74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12D5-C58F-4AB0-9344-812ED702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Clock-driven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47D9A-D1B3-4C34-8C54-EF2B5442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66407"/>
            <a:ext cx="10058400" cy="5057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Off-line Schedule Computation: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dirty="0"/>
              <a:t>Construct the static schedule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task (or slice) is to be executed at the beginning of each frame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guarantee that all hard real-time deadlines are met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table will store entries </a:t>
            </a:r>
            <a:r>
              <a:rPr lang="en-US" b="1" dirty="0"/>
              <a:t>(</a:t>
            </a:r>
            <a:r>
              <a:rPr lang="en-US" b="1" dirty="0" err="1"/>
              <a:t>t</a:t>
            </a:r>
            <a:r>
              <a:rPr lang="en-US" b="1" baseline="-25000" dirty="0" err="1"/>
              <a:t>k</a:t>
            </a:r>
            <a:r>
              <a:rPr lang="en-US" b="1" dirty="0"/>
              <a:t>, T(</a:t>
            </a:r>
            <a:r>
              <a:rPr lang="en-US" b="1" dirty="0" err="1"/>
              <a:t>t</a:t>
            </a:r>
            <a:r>
              <a:rPr lang="en-US" b="1" baseline="-25000" dirty="0" err="1"/>
              <a:t>k</a:t>
            </a:r>
            <a:r>
              <a:rPr lang="en-US" b="1" dirty="0"/>
              <a:t>))</a:t>
            </a:r>
            <a:r>
              <a:rPr lang="en-US" dirty="0"/>
              <a:t>, where </a:t>
            </a:r>
            <a:r>
              <a:rPr lang="en-US" dirty="0" err="1"/>
              <a:t>t</a:t>
            </a:r>
            <a:r>
              <a:rPr lang="en-US" baseline="-25000" dirty="0" err="1"/>
              <a:t>k</a:t>
            </a:r>
            <a:r>
              <a:rPr lang="en-US" dirty="0"/>
              <a:t> is the decision time (start of the frame) and T(</a:t>
            </a:r>
            <a:r>
              <a:rPr lang="en-US" dirty="0" err="1"/>
              <a:t>t</a:t>
            </a:r>
            <a:r>
              <a:rPr lang="en-US" baseline="-25000" dirty="0" err="1"/>
              <a:t>k</a:t>
            </a:r>
            <a:r>
              <a:rPr lang="en-US" dirty="0"/>
              <a:t>) is the task/slice to execute.</a:t>
            </a:r>
          </a:p>
          <a:p>
            <a:pPr marL="27432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2E71-5772-475E-885D-393697D4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26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8AD5C-4C4F-46D6-BBD9-B3FF8DB0C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Clock-driven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A7E2E-BDD2-4DF3-8283-95AAF2DB8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Run-time Execution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Initialization: The scheduler sets up the system, creates all tasks, and sets a hardware timer to interrupt at the beginning of the first frame (t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Timer Interrupt: When the timer interrupts (at </a:t>
            </a:r>
            <a:r>
              <a:rPr lang="en-US" sz="2400" dirty="0" err="1"/>
              <a:t>t</a:t>
            </a:r>
            <a:r>
              <a:rPr lang="en-US" sz="2400" baseline="-25000" dirty="0" err="1"/>
              <a:t>k</a:t>
            </a:r>
            <a:r>
              <a:rPr lang="en-US" sz="2400" dirty="0"/>
              <a:t>, the start of a frame)</a:t>
            </a:r>
          </a:p>
          <a:p>
            <a:pPr lvl="1"/>
            <a:r>
              <a:rPr lang="en-US" sz="2000" dirty="0"/>
              <a:t>The scheduler preempts any lower-priority task currently running (like an aperiodic job).</a:t>
            </a:r>
          </a:p>
          <a:p>
            <a:pPr lvl="1"/>
            <a:r>
              <a:rPr lang="en-US" sz="2000" dirty="0"/>
              <a:t>It checks the static schedule table for the task/slice T(</a:t>
            </a:r>
            <a:r>
              <a:rPr lang="en-US" sz="2000" dirty="0" err="1"/>
              <a:t>t</a:t>
            </a:r>
            <a:r>
              <a:rPr lang="en-US" sz="2000" baseline="-25000" dirty="0" err="1"/>
              <a:t>k</a:t>
            </a:r>
            <a:r>
              <a:rPr lang="en-US" sz="2000" dirty="0"/>
              <a:t>) assigned to the current frame.</a:t>
            </a:r>
          </a:p>
          <a:p>
            <a:pPr lvl="1"/>
            <a:r>
              <a:rPr lang="en-US" sz="2000" dirty="0"/>
              <a:t>It sets the timer to expire at the beginning of the next frame (t</a:t>
            </a:r>
            <a:r>
              <a:rPr lang="en-US" sz="2000" baseline="-25000" dirty="0"/>
              <a:t>k+1</a:t>
            </a:r>
            <a:r>
              <a:rPr lang="en-US" sz="2000" dirty="0"/>
              <a:t>). It then dispatches the job T(</a:t>
            </a:r>
            <a:r>
              <a:rPr lang="en-US" sz="2000" dirty="0" err="1"/>
              <a:t>t</a:t>
            </a:r>
            <a:r>
              <a:rPr lang="en-US" sz="2000" baseline="-25000" dirty="0" err="1"/>
              <a:t>k</a:t>
            </a:r>
            <a:r>
              <a:rPr lang="en-US" sz="2000" dirty="0"/>
              <a:t>) to execute.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4FD8B-8168-4E77-B78B-1A1EF0BAA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05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7C37-8487-4E5E-8523-80755C4E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Clock-driven scheduling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E42B2-6E3A-45EA-8220-533BE76C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97049-BF57-4F6A-B016-A4469A072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613" y="1275753"/>
            <a:ext cx="7362879" cy="549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90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07D1-1982-4EA6-9EB9-EB79B143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Clock-driven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580D4-4E9A-4260-B528-F42303957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Handling Aperiodic/Sporadic Jobs</a:t>
            </a:r>
          </a:p>
          <a:p>
            <a:r>
              <a:rPr lang="en-US" b="1" dirty="0"/>
              <a:t> Idle Time Execution</a:t>
            </a:r>
            <a:r>
              <a:rPr lang="en-US" dirty="0"/>
              <a:t>: Aperiodic jobs are often </a:t>
            </a:r>
          </a:p>
          <a:p>
            <a:pPr lvl="1"/>
            <a:r>
              <a:rPr lang="en-US" dirty="0"/>
              <a:t>Execute Aperiodic jobs during any idle time within a frame, </a:t>
            </a:r>
          </a:p>
          <a:p>
            <a:pPr lvl="1"/>
            <a:r>
              <a:rPr lang="en-US" dirty="0"/>
              <a:t>Using a First-Come, First-Served (FCFS) approach</a:t>
            </a:r>
          </a:p>
          <a:p>
            <a:r>
              <a:rPr lang="en-US" dirty="0"/>
              <a:t> </a:t>
            </a:r>
            <a:r>
              <a:rPr lang="en-US" b="1" dirty="0"/>
              <a:t>Slack Stealing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Compute the maximum available time (slack) that can be "stolen" </a:t>
            </a:r>
          </a:p>
          <a:p>
            <a:pPr lvl="1"/>
            <a:r>
              <a:rPr lang="en-US" dirty="0"/>
              <a:t>Move the slack time to the start of the frame</a:t>
            </a:r>
          </a:p>
          <a:p>
            <a:pPr lvl="1"/>
            <a:r>
              <a:rPr lang="en-US" dirty="0"/>
              <a:t>Running the periodic jobs just in time to meet their deadline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CC9EA-EA97-427A-B055-4E7C09ABE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89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61B83-808D-40B9-936C-EA6C89F0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67D0C-F5B1-49CD-919E-482F9A6E5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Handling overruns:</a:t>
            </a:r>
          </a:p>
          <a:p>
            <a:pPr lvl="1"/>
            <a:r>
              <a:rPr lang="en-US" dirty="0"/>
              <a:t>Killing the job and starting an error recovery task</a:t>
            </a:r>
          </a:p>
          <a:p>
            <a:pPr lvl="1"/>
            <a:r>
              <a:rPr lang="en-US" dirty="0"/>
              <a:t>Preempting the job and scheduling the remainder as an aperiodic job</a:t>
            </a:r>
          </a:p>
          <a:p>
            <a:r>
              <a:rPr lang="en-US" dirty="0"/>
              <a:t> Mode changes:</a:t>
            </a:r>
          </a:p>
          <a:p>
            <a:pPr lvl="1"/>
            <a:r>
              <a:rPr lang="en-US" dirty="0"/>
              <a:t>Generate different schedule tables for different modes</a:t>
            </a:r>
          </a:p>
          <a:p>
            <a:r>
              <a:rPr lang="en-US" dirty="0"/>
              <a:t>Multiple processors:</a:t>
            </a:r>
          </a:p>
          <a:p>
            <a:pPr lvl="1"/>
            <a:r>
              <a:rPr lang="en-US" dirty="0"/>
              <a:t>Possible but off-line scheduling table generation more complex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8507E-4156-42A6-B1E3-469205ED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99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F20D-C613-41E7-A1F3-DF8890D81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Clock-driven Scheduling: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6D44-B7A4-4DFE-ACEA-0A55F67D2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Conceptual simplicity</a:t>
            </a:r>
          </a:p>
          <a:p>
            <a:pPr lvl="1"/>
            <a:r>
              <a:rPr lang="en-US" dirty="0"/>
              <a:t> Entire schedule is captured in a static table</a:t>
            </a:r>
          </a:p>
          <a:p>
            <a:pPr lvl="1"/>
            <a:r>
              <a:rPr lang="en-US" dirty="0"/>
              <a:t> Different operating modes can be represented by different tables</a:t>
            </a:r>
          </a:p>
          <a:p>
            <a:pPr lvl="1"/>
            <a:r>
              <a:rPr lang="en-US" dirty="0"/>
              <a:t> No concurrency control or synchronization required</a:t>
            </a:r>
          </a:p>
          <a:p>
            <a:r>
              <a:rPr lang="en-US" dirty="0"/>
              <a:t> Timing constraints can be checked and enforced at each frame boundary</a:t>
            </a:r>
          </a:p>
          <a:p>
            <a:r>
              <a:rPr lang="en-US" dirty="0"/>
              <a:t> Choice of frame size can minimize context switching and communication overheads</a:t>
            </a:r>
          </a:p>
          <a:p>
            <a:r>
              <a:rPr lang="en-US" dirty="0"/>
              <a:t> Relatively easy to validate, test and certify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AC924-A5C0-44CA-A7EA-C01772CD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37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FBB0-7291-475E-8C6C-EE5C69E5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Clock-driven Scheduling: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72C1D-CE87-461A-B62C-2BA3C993F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95627"/>
            <a:ext cx="10058400" cy="447657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Inflexible</a:t>
            </a:r>
          </a:p>
          <a:p>
            <a:pPr lv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If anything changes, have to redo the table generation</a:t>
            </a:r>
          </a:p>
          <a:p>
            <a:pPr lvl="1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Best suited for systems which are rarely modified once built</a:t>
            </a: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Release times of all jobs must be fixed</a:t>
            </a: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All possible combinations of periodic tasks that can execute at the same time must be known, so that the combined schedule can be precomputed</a:t>
            </a: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The treatment of aperiodic jobs is very primitive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2EF9C-F93E-4CAC-A0CE-A3E99A01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6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163</TotalTime>
  <Words>1037</Words>
  <Application>Microsoft Office PowerPoint</Application>
  <PresentationFormat>Widescreen</PresentationFormat>
  <Paragraphs>141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Cambria Math</vt:lpstr>
      <vt:lpstr>Rockwell</vt:lpstr>
      <vt:lpstr>Rockwell Condensed</vt:lpstr>
      <vt:lpstr>Wingdings</vt:lpstr>
      <vt:lpstr>Wood Type</vt:lpstr>
      <vt:lpstr>Clock Driven Scheduling</vt:lpstr>
      <vt:lpstr>Assumptions</vt:lpstr>
      <vt:lpstr>Notation</vt:lpstr>
      <vt:lpstr>Clock-driven scheduling</vt:lpstr>
      <vt:lpstr>Clock-driven scheduling</vt:lpstr>
      <vt:lpstr>Example of cyclic schedule</vt:lpstr>
      <vt:lpstr>Example of cyclic schedule</vt:lpstr>
      <vt:lpstr>Example of cyclic schedule</vt:lpstr>
      <vt:lpstr>Clock-driven scheduling</vt:lpstr>
      <vt:lpstr>Example</vt:lpstr>
      <vt:lpstr>Example</vt:lpstr>
      <vt:lpstr>Exercise</vt:lpstr>
      <vt:lpstr>Clock-driven scheduling</vt:lpstr>
      <vt:lpstr>Clock-driven scheduling</vt:lpstr>
      <vt:lpstr>Clock-driven scheduling</vt:lpstr>
      <vt:lpstr>Clock-driven scheduling</vt:lpstr>
      <vt:lpstr>Clock-driven scheduling</vt:lpstr>
      <vt:lpstr>Practical Considerations</vt:lpstr>
      <vt:lpstr>Clock-driven Scheduling: Advantages</vt:lpstr>
      <vt:lpstr>Clock-driven Scheduling: Disadvantages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 b</dc:creator>
  <cp:lastModifiedBy>duc b</cp:lastModifiedBy>
  <cp:revision>29</cp:revision>
  <dcterms:created xsi:type="dcterms:W3CDTF">2025-10-20T03:05:03Z</dcterms:created>
  <dcterms:modified xsi:type="dcterms:W3CDTF">2025-11-09T04:05:00Z</dcterms:modified>
</cp:coreProperties>
</file>