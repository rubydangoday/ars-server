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74" r:id="rId6"/>
    <p:sldId id="275" r:id="rId7"/>
    <p:sldId id="276" r:id="rId8"/>
    <p:sldId id="277" r:id="rId9"/>
    <p:sldId id="280" r:id="rId10"/>
    <p:sldId id="279" r:id="rId11"/>
    <p:sldId id="259" r:id="rId12"/>
    <p:sldId id="281" r:id="rId13"/>
    <p:sldId id="260" r:id="rId14"/>
    <p:sldId id="267" r:id="rId15"/>
    <p:sldId id="268" r:id="rId16"/>
    <p:sldId id="269" r:id="rId17"/>
    <p:sldId id="282" r:id="rId18"/>
    <p:sldId id="273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D3AC5-D058-46D8-8CC2-78D0797F906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FFFF2-AEDD-4881-8E6D-8CB7CF73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6284-CC99-4E68-A88B-334013B285A0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C68-4654-4964-8289-9EC5F1B2691A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1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336D10C-AAD6-488C-87E1-8BDB34C4CA2A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B7A1F-DA9A-4147-9FAD-8F581AAEAE92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8027-F4D6-4D41-9243-594FD7263661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95F8-981A-47EF-8354-7B8589DDC695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48A2-85FA-4E94-9BCC-CB573B031788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5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7A86-E76B-4476-A3FC-7F9668C37BDC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547B-DB11-4FEE-B405-1BA7928B386C}" type="datetime1">
              <a:rPr lang="en-US" smtClean="0"/>
              <a:t>11/16/2025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A9F6-E845-4182-911C-60B2BF2E1971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331E-8021-4B8A-97DB-0CA9F447B71A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10496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803400"/>
            <a:ext cx="10058400" cy="436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6CE8B14-7202-4C06-871C-6A18898D8847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F8A-8F3D-4145-B691-95D21995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Priority-driven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B1F9C-8AB0-4179-A5BB-80FD76E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</a:t>
            </a:r>
            <a:r>
              <a:rPr lang="en-US" dirty="0" err="1"/>
              <a:t>BuiHa</a:t>
            </a:r>
            <a:r>
              <a:rPr lang="en-US" dirty="0"/>
              <a:t> Duc, PhD</a:t>
            </a:r>
          </a:p>
          <a:p>
            <a:r>
              <a:rPr lang="en-US" dirty="0"/>
              <a:t>Department </a:t>
            </a:r>
            <a:r>
              <a:rPr lang="en-US"/>
              <a:t>of Mechatronics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7108-7D26-0241-4966-5413E331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6022-6D86-6356-6331-289D50F0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Priority-driven scheduling of periodic tasks on a single processor</a:t>
            </a:r>
          </a:p>
          <a:p>
            <a:r>
              <a:rPr lang="en-US" dirty="0"/>
              <a:t>There are no aperiodic or sporadic tasks</a:t>
            </a:r>
          </a:p>
          <a:p>
            <a:r>
              <a:rPr lang="en-US" dirty="0"/>
              <a:t>Scheduling decisions made immediately upon job release and completion</a:t>
            </a:r>
          </a:p>
          <a:p>
            <a:pPr lvl="1"/>
            <a:r>
              <a:rPr lang="en-US" dirty="0"/>
              <a:t>Algorithms are event driven, not clock driven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20C0F-9C71-7435-C6FA-2A262340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7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CD3B-0E9C-EEAF-351D-41EC7F0D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Priority-driven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19C7-4562-5720-3A20-6F3C720F4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619840"/>
            <a:ext cx="10058400" cy="4368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A priority-driven scheduler is an on-line scheduler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does not pre-compute a schedule of tasks/jobs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assigns priorities to jobs when released, places them on a run queue in priority order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At each scheduling decision time, the scheduler updates the run queues and executes the job at the head of the queue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Jobs in a task may be assigned the same priority (fixed  priority) or different priorities (dynamic-priority)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The priority of each job is usually fixed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F5643-1453-A298-B72A-C1A435B2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2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75D0-1D04-25F1-AD7F-4FAD4971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Priority-driven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217DA-0C1C-327A-EB99-EA9DC9653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Advantages of priority-driven scheduling: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Better suited to applications with varying time and resource requirements, since needs less a priori information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Run-time overheads are small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FDEB7-4431-43F5-4EE8-9134A2BE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8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9B00-035C-6BBC-A32F-5E37DF79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PreemPtion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9DFAD-9B26-99C4-BF39-E47088C8B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1" y="1515976"/>
            <a:ext cx="10730316" cy="1570862"/>
          </a:xfrm>
        </p:spPr>
        <p:txBody>
          <a:bodyPr>
            <a:normAutofit/>
          </a:bodyPr>
          <a:lstStyle/>
          <a:p>
            <a:r>
              <a:rPr lang="en-US" b="1" dirty="0"/>
              <a:t>Preemption</a:t>
            </a:r>
            <a:r>
              <a:rPr lang="en-US" dirty="0"/>
              <a:t> is the act of an operating system (OS) interrupting a lower-priority task to run a higher-priority task that has become ready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66E345-7C2C-D49C-8E9C-0F3D76E69295}"/>
              </a:ext>
            </a:extLst>
          </p:cNvPr>
          <p:cNvGrpSpPr/>
          <p:nvPr/>
        </p:nvGrpSpPr>
        <p:grpSpPr>
          <a:xfrm>
            <a:off x="356994" y="3429000"/>
            <a:ext cx="5739006" cy="2525184"/>
            <a:chOff x="3219391" y="2811559"/>
            <a:chExt cx="4538830" cy="1968500"/>
          </a:xfrm>
        </p:grpSpPr>
        <p:sp>
          <p:nvSpPr>
            <p:cNvPr id="5" name="Line 2">
              <a:extLst>
                <a:ext uri="{FF2B5EF4-FFF2-40B4-BE49-F238E27FC236}">
                  <a16:creationId xmlns:a16="http://schemas.microsoft.com/office/drawing/2014/main" id="{5594FC1F-6CF2-DCB1-C374-42275DA6E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299219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5127EC4D-6F94-04CF-8788-3C27822C4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4370782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71F95C85-892C-8155-AC61-FA5FA1B64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656407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7E4ADE38-8F6C-A0C6-9DE3-FCB88E291C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888187" y="4012664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413E79F7-DA58-1B36-8AA6-ED194A6E9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601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88F026-5C7F-5AD7-F98E-AE6EE013A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043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393AE6-0FCD-B61B-1D1E-8C5A59279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554" y="365640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4621C9F-C4B6-2924-1245-B5A32964D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624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EA62D6C2-F945-1BFA-EDA3-CC6CE7DD0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0648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BE8729A6-80C9-9327-A7D9-E629EF4A5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672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CF18677-41AF-AD1C-01C1-6F5EA2033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254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E9F9068-9A5A-8DCB-090C-3A3FAAE8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625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8D93CA2-8537-BB52-F925-15A60E31A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0649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250C45-D1B5-53B2-D978-213F20C08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601" y="365640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4ED7AF23-AFCB-953B-4990-B49A8982F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895" y="4013594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2593E48B-7BAF-A288-4B36-18EE8080F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035" y="4013594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E2252179-72D5-25E4-75C3-EF0472A4C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391" y="2811559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2F03EF1B-C1CD-988C-60E2-42AA9BF6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226" y="4589311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73C4E9F-05DA-BACA-82CA-E4D637533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5433" y="4452141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3862B19-0D9B-52A0-5BC4-996C4C5F0B60}"/>
              </a:ext>
            </a:extLst>
          </p:cNvPr>
          <p:cNvGrpSpPr/>
          <p:nvPr/>
        </p:nvGrpSpPr>
        <p:grpSpPr>
          <a:xfrm>
            <a:off x="7065773" y="4205632"/>
            <a:ext cx="4238796" cy="925772"/>
            <a:chOff x="7065773" y="4205632"/>
            <a:chExt cx="4238796" cy="925772"/>
          </a:xfrm>
        </p:grpSpPr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BFF3FF06-0D19-3C71-D324-BE89F0AA4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5773" y="4911850"/>
              <a:ext cx="4238796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5" name="Line 5">
              <a:extLst>
                <a:ext uri="{FF2B5EF4-FFF2-40B4-BE49-F238E27FC236}">
                  <a16:creationId xmlns:a16="http://schemas.microsoft.com/office/drawing/2014/main" id="{9AF2A42E-BE9D-85AA-7098-05DD4684A6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065773" y="4452458"/>
              <a:ext cx="4238796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D2D4EEE8-B255-7714-01A5-C57E2A5C2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9864" y="4205632"/>
              <a:ext cx="0" cy="925771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0B8170-E390-904B-66D5-1C2842461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9273" y="4451659"/>
              <a:ext cx="169363" cy="458199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EB63A0-09C2-8EBE-95C4-4A4A88B0E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136" y="4452652"/>
              <a:ext cx="470454" cy="458199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13909455-BA8A-2A06-498C-29A13F5E2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9591" y="4205632"/>
              <a:ext cx="0" cy="925771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AEEFBBB1-2562-EB53-D8CC-827A3C6BD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9319" y="4205632"/>
              <a:ext cx="0" cy="925772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872AB718-7928-C22C-3EB8-BB1D1E564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9047" y="4205632"/>
              <a:ext cx="0" cy="925772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E97F4075-F8C6-29EC-7C37-9BA846D68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9365" y="4273366"/>
              <a:ext cx="0" cy="85803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FB987CA-0420-B70F-AD21-2DDBE0745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9592" y="4451660"/>
              <a:ext cx="169363" cy="458199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79EF0F8-A4B2-77F3-FDD8-3B7094B85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9320" y="4451659"/>
              <a:ext cx="169363" cy="458199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03B095-81F1-9465-2D85-146E664CD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8592" y="4452658"/>
              <a:ext cx="470454" cy="458199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A7962661-CA8E-E6B9-E40D-3DD781E90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7183" y="4453651"/>
              <a:ext cx="762137" cy="458199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7" name="Rectangle 20">
              <a:extLst>
                <a:ext uri="{FF2B5EF4-FFF2-40B4-BE49-F238E27FC236}">
                  <a16:creationId xmlns:a16="http://schemas.microsoft.com/office/drawing/2014/main" id="{3C13EF31-69D8-ECE0-DB52-992E7436B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8092" y="4453651"/>
              <a:ext cx="169363" cy="458199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73C51C6-A123-96FE-D3AF-26205A02726A}"/>
              </a:ext>
            </a:extLst>
          </p:cNvPr>
          <p:cNvSpPr>
            <a:spLocks/>
          </p:cNvSpPr>
          <p:nvPr/>
        </p:nvSpPr>
        <p:spPr bwMode="auto">
          <a:xfrm>
            <a:off x="11112955" y="4969773"/>
            <a:ext cx="838045" cy="244691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333" dirty="0">
                <a:ea typeface="Gill Sans" charset="0"/>
                <a:cs typeface="Gill Sans" charset="0"/>
              </a:rPr>
              <a:t>Time</a:t>
            </a:r>
            <a:endParaRPr lang="en-US" sz="1000" dirty="0">
              <a:ea typeface="Gill Sans" charset="0"/>
              <a:cs typeface="Gill Sans" charset="0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302B762F-32D2-C19E-0E1D-AFAC1358D867}"/>
              </a:ext>
            </a:extLst>
          </p:cNvPr>
          <p:cNvSpPr/>
          <p:nvPr/>
        </p:nvSpPr>
        <p:spPr>
          <a:xfrm>
            <a:off x="6166249" y="4482214"/>
            <a:ext cx="584001" cy="3970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893186-6C9E-91B7-C61F-13F3D149C6E2}"/>
              </a:ext>
            </a:extLst>
          </p:cNvPr>
          <p:cNvSpPr txBox="1"/>
          <p:nvPr/>
        </p:nvSpPr>
        <p:spPr>
          <a:xfrm>
            <a:off x="3378921" y="5896524"/>
            <a:ext cx="15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Preemption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F615A068-03CC-B4FF-9D97-712ABA5000EF}"/>
              </a:ext>
            </a:extLst>
          </p:cNvPr>
          <p:cNvCxnSpPr/>
          <p:nvPr/>
        </p:nvCxnSpPr>
        <p:spPr>
          <a:xfrm rot="16200000" flipV="1">
            <a:off x="3198111" y="5587976"/>
            <a:ext cx="490130" cy="2422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6C8E0265-67C2-73E7-25A7-34EC8AE6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89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FAB0-30BF-4EBA-A7BC-52287A7D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PreemPtion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A65062-7D39-E7F4-7ED9-48BA1CF8A3DA}"/>
              </a:ext>
            </a:extLst>
          </p:cNvPr>
          <p:cNvGrpSpPr/>
          <p:nvPr/>
        </p:nvGrpSpPr>
        <p:grpSpPr>
          <a:xfrm>
            <a:off x="6705630" y="307568"/>
            <a:ext cx="4893364" cy="1943208"/>
            <a:chOff x="3888187" y="3128067"/>
            <a:chExt cx="3870034" cy="1514822"/>
          </a:xfrm>
        </p:grpSpPr>
        <p:sp>
          <p:nvSpPr>
            <p:cNvPr id="5" name="Line 2">
              <a:extLst>
                <a:ext uri="{FF2B5EF4-FFF2-40B4-BE49-F238E27FC236}">
                  <a16:creationId xmlns:a16="http://schemas.microsoft.com/office/drawing/2014/main" id="{596D9D41-3F79-0189-AAE6-7C38B9E1C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299219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425170D3-1D6F-79BB-157A-650B6794C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4370782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9EFC74BC-588C-A4C0-AD4D-8AB14E931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656407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9D8DB562-9B9B-8149-B529-03842A0763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888187" y="4012664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BBF11FA9-F830-E196-CEFD-166F5AB95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601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DF1E34-3BEC-31D8-C0A2-2B597E221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043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731FD6-8131-1BF3-BA40-335231535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554" y="365640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DCEE3899-8A83-F0B8-CA40-B6BBDBA41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624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997A1D3-FDEE-8BCD-6EA7-82F9DF04C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0648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7A59E8A7-B4B6-1B24-7451-BC6E518C3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672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43E7D7B5-C9EE-8B6E-BEE7-8173236E6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254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B06DD7-02C0-A874-2BD8-152D462BB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625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C254C53-0037-79D8-4EC4-93FBC52E1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0649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039C32-B2C1-EC89-06FB-310A1C69C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601" y="365640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E19E4FD4-04BC-5259-E198-A9C19597B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895" y="4013594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D1BB66C1-19DB-1BCE-1A30-DAF9D10FE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035" y="4013594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D75A510-CF9C-9403-DF1F-1B16E402D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5433" y="4452141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C650FE-7E57-2C1E-05B0-8453B4AA96DD}"/>
              </a:ext>
            </a:extLst>
          </p:cNvPr>
          <p:cNvSpPr/>
          <p:nvPr/>
        </p:nvSpPr>
        <p:spPr>
          <a:xfrm>
            <a:off x="566928" y="2679192"/>
            <a:ext cx="3099816" cy="1865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Trigger by interrupt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Higher Priority Task Arrival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Timer Expiration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AE7834A-9F08-B94A-E53C-8A3032B30CD3}"/>
              </a:ext>
            </a:extLst>
          </p:cNvPr>
          <p:cNvSpPr/>
          <p:nvPr/>
        </p:nvSpPr>
        <p:spPr>
          <a:xfrm>
            <a:off x="4630086" y="2679192"/>
            <a:ext cx="3099816" cy="1865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Saving the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CPU</a:t>
            </a:r>
            <a:r>
              <a:rPr lang="en-US" dirty="0">
                <a:solidFill>
                  <a:schemeClr val="tx1"/>
                </a:solidFill>
              </a:rPr>
              <a:t> halt the running task (e.g. task 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Current state is save into </a:t>
            </a:r>
            <a:r>
              <a:rPr lang="en-US" b="1" dirty="0">
                <a:solidFill>
                  <a:schemeClr val="tx1"/>
                </a:solidFill>
              </a:rPr>
              <a:t>Process control Block </a:t>
            </a:r>
            <a:r>
              <a:rPr lang="en-US" dirty="0">
                <a:solidFill>
                  <a:schemeClr val="tx1"/>
                </a:solidFill>
              </a:rPr>
              <a:t>(PCB)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17329CC-F6EA-D08C-5976-3F65D391F044}"/>
              </a:ext>
            </a:extLst>
          </p:cNvPr>
          <p:cNvSpPr/>
          <p:nvPr/>
        </p:nvSpPr>
        <p:spPr>
          <a:xfrm>
            <a:off x="8693244" y="2679192"/>
            <a:ext cx="3099816" cy="1865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3. Decision of scheduler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Interrupt handler </a:t>
            </a:r>
            <a:r>
              <a:rPr lang="en-US" dirty="0">
                <a:solidFill>
                  <a:schemeClr val="tx1"/>
                </a:solidFill>
              </a:rPr>
              <a:t>notify the scheduler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Scheduler analyzes the </a:t>
            </a:r>
            <a:r>
              <a:rPr lang="en-US" b="1" dirty="0">
                <a:solidFill>
                  <a:schemeClr val="tx1"/>
                </a:solidFill>
              </a:rPr>
              <a:t>Ready Queue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select task which highest priority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E001DF0-361C-AD7C-2E65-A6492BEC65B8}"/>
              </a:ext>
            </a:extLst>
          </p:cNvPr>
          <p:cNvSpPr/>
          <p:nvPr/>
        </p:nvSpPr>
        <p:spPr>
          <a:xfrm>
            <a:off x="2490564" y="4843272"/>
            <a:ext cx="3099816" cy="1865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4. Context Switch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OS load the new task context from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CPU starts executing the new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DBB53AC-8940-8D3B-F39C-5ED6241B30FD}"/>
              </a:ext>
            </a:extLst>
          </p:cNvPr>
          <p:cNvSpPr/>
          <p:nvPr/>
        </p:nvSpPr>
        <p:spPr>
          <a:xfrm>
            <a:off x="6527394" y="4843272"/>
            <a:ext cx="3099816" cy="18653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5. Resume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Task A is move into ready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CPU will resume the task when its priority is the highest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9058A79-BC50-1792-76CF-A79095C3FB64}"/>
              </a:ext>
            </a:extLst>
          </p:cNvPr>
          <p:cNvCxnSpPr>
            <a:stCxn id="25" idx="3"/>
            <a:endCxn id="46" idx="1"/>
          </p:cNvCxnSpPr>
          <p:nvPr/>
        </p:nvCxnSpPr>
        <p:spPr>
          <a:xfrm>
            <a:off x="3666744" y="3611880"/>
            <a:ext cx="963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9C476BD-278F-CF6F-C00A-E451AD191B1B}"/>
              </a:ext>
            </a:extLst>
          </p:cNvPr>
          <p:cNvCxnSpPr/>
          <p:nvPr/>
        </p:nvCxnSpPr>
        <p:spPr>
          <a:xfrm>
            <a:off x="7729902" y="3581400"/>
            <a:ext cx="963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1D1DF43-65C3-29EE-02D7-26600B5F0804}"/>
              </a:ext>
            </a:extLst>
          </p:cNvPr>
          <p:cNvCxnSpPr/>
          <p:nvPr/>
        </p:nvCxnSpPr>
        <p:spPr>
          <a:xfrm>
            <a:off x="1508760" y="5775960"/>
            <a:ext cx="963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A4B2E77-7D25-B632-2BE2-BCEEF51A5132}"/>
              </a:ext>
            </a:extLst>
          </p:cNvPr>
          <p:cNvCxnSpPr/>
          <p:nvPr/>
        </p:nvCxnSpPr>
        <p:spPr>
          <a:xfrm>
            <a:off x="5577076" y="5754624"/>
            <a:ext cx="963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2256E30-09C5-4A73-EC7D-536A406EAF34}"/>
              </a:ext>
            </a:extLst>
          </p:cNvPr>
          <p:cNvSpPr txBox="1"/>
          <p:nvPr/>
        </p:nvSpPr>
        <p:spPr>
          <a:xfrm>
            <a:off x="596764" y="1381851"/>
            <a:ext cx="49936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Preemption relies on specific </a:t>
            </a:r>
            <a:r>
              <a:rPr lang="en-US" sz="2400" b="1" dirty="0"/>
              <a:t>CPU hardware features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6C8BE-5AFC-B17E-DE2C-A372F53F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8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3BFA-FB94-0F62-AE4D-D202A768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Switching in FREERTOS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3080-D6F3-C94A-13ED-21BF60812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8760"/>
            <a:ext cx="10058400" cy="46634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FreeRTOS</a:t>
            </a:r>
            <a:r>
              <a:rPr lang="en-US" b="1" dirty="0"/>
              <a:t> scheduling policy</a:t>
            </a:r>
          </a:p>
          <a:p>
            <a:r>
              <a:rPr lang="en-US" dirty="0"/>
              <a:t> </a:t>
            </a:r>
            <a:r>
              <a:rPr lang="en-US" i="1" dirty="0"/>
              <a:t>Fixed-priority:  </a:t>
            </a:r>
            <a:r>
              <a:rPr lang="en-US" dirty="0"/>
              <a:t>every task is assigned a priority, which does not change during runtime</a:t>
            </a:r>
          </a:p>
          <a:p>
            <a:r>
              <a:rPr lang="en-US" i="1" dirty="0"/>
              <a:t> Preemptive: </a:t>
            </a:r>
            <a:r>
              <a:rPr lang="en-US" dirty="0"/>
              <a:t>always run the highest-priority task that is in the </a:t>
            </a:r>
            <a:r>
              <a:rPr lang="en-US" dirty="0">
                <a:solidFill>
                  <a:srgbClr val="0070C0"/>
                </a:solidFill>
              </a:rPr>
              <a:t>Ready</a:t>
            </a:r>
            <a:r>
              <a:rPr lang="en-US" dirty="0"/>
              <a:t> state</a:t>
            </a:r>
          </a:p>
          <a:p>
            <a:r>
              <a:rPr lang="en-US" dirty="0"/>
              <a:t> </a:t>
            </a:r>
            <a:r>
              <a:rPr lang="en-US" i="1" dirty="0"/>
              <a:t>Time Slicing</a:t>
            </a:r>
            <a:r>
              <a:rPr lang="en-US" dirty="0"/>
              <a:t>: for tasks of equal priority, </a:t>
            </a:r>
            <a:r>
              <a:rPr lang="en-US" dirty="0" err="1"/>
              <a:t>FreeRTOS</a:t>
            </a:r>
            <a:r>
              <a:rPr lang="en-US" dirty="0"/>
              <a:t> switches between them on every </a:t>
            </a:r>
            <a:r>
              <a:rPr lang="en-US" dirty="0">
                <a:solidFill>
                  <a:srgbClr val="0070C0"/>
                </a:solidFill>
              </a:rPr>
              <a:t>RTOS Tick interrupt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Time slicing can be disabled using the </a:t>
            </a:r>
            <a:r>
              <a:rPr lang="en-US" dirty="0" err="1"/>
              <a:t>configUSE_TIME_SLICING</a:t>
            </a:r>
            <a:r>
              <a:rPr lang="en-US" dirty="0"/>
              <a:t> setting</a:t>
            </a:r>
          </a:p>
          <a:p>
            <a:r>
              <a:rPr lang="en-US" dirty="0"/>
              <a:t> </a:t>
            </a:r>
            <a:r>
              <a:rPr lang="en-US" i="1" dirty="0"/>
              <a:t>Round-robin</a:t>
            </a:r>
            <a:r>
              <a:rPr lang="en-US" dirty="0"/>
              <a:t>:  tasks that share a priority take turns entering the Running 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F8BE3-C45F-3C7D-2604-A082D337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83B1-B840-6EC1-37C0-CF244FBD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Switching in FREERTOS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446D-E763-5B02-A727-7D150C368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02509"/>
            <a:ext cx="10664952" cy="6071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FreeRTOS</a:t>
            </a:r>
            <a:r>
              <a:rPr lang="en-US" dirty="0"/>
              <a:t>, task </a:t>
            </a:r>
            <a:r>
              <a:rPr lang="en-US" b="1" dirty="0"/>
              <a:t>preemption is triggered </a:t>
            </a:r>
            <a:r>
              <a:rPr lang="en-US" dirty="0"/>
              <a:t>by one of </a:t>
            </a:r>
            <a:r>
              <a:rPr lang="en-US" dirty="0">
                <a:solidFill>
                  <a:srgbClr val="0070C0"/>
                </a:solidFill>
              </a:rPr>
              <a:t>three main events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 </a:t>
            </a:r>
            <a:r>
              <a:rPr lang="en-US" i="1" dirty="0" err="1"/>
              <a:t>PendSV</a:t>
            </a:r>
            <a:r>
              <a:rPr lang="en-US" i="1" dirty="0"/>
              <a:t> Interrupt</a:t>
            </a:r>
          </a:p>
          <a:p>
            <a:pPr lvl="1"/>
            <a:r>
              <a:rPr lang="en-US" dirty="0"/>
              <a:t>Software triggered, deferred context switch, </a:t>
            </a:r>
          </a:p>
          <a:p>
            <a:pPr lvl="1"/>
            <a:r>
              <a:rPr lang="en-US" dirty="0"/>
              <a:t>Lowest priority </a:t>
            </a:r>
            <a:r>
              <a:rPr lang="en-US" dirty="0" err="1"/>
              <a:t>PendSV</a:t>
            </a:r>
            <a:r>
              <a:rPr lang="en-US" dirty="0"/>
              <a:t> will be executed when the CPU is free</a:t>
            </a:r>
          </a:p>
          <a:p>
            <a:r>
              <a:rPr lang="en-US" i="1" dirty="0"/>
              <a:t> SVC interrupt</a:t>
            </a:r>
          </a:p>
          <a:p>
            <a:pPr lvl="1"/>
            <a:r>
              <a:rPr lang="en-US" dirty="0"/>
              <a:t>risen by SVC instruction</a:t>
            </a:r>
          </a:p>
          <a:p>
            <a:pPr lvl="1"/>
            <a:r>
              <a:rPr lang="en-US" dirty="0"/>
              <a:t>SVC 0 call used only once, to start the scheduler (within </a:t>
            </a:r>
            <a:r>
              <a:rPr lang="en-US" dirty="0" err="1"/>
              <a:t>vPortStartFirstTask</a:t>
            </a:r>
            <a:r>
              <a:rPr lang="en-US" dirty="0"/>
              <a:t>() which is used to start the kernel)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2B660-E4C1-CEB2-4805-195623C6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848" y="2264623"/>
            <a:ext cx="4213359" cy="9266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A16160-4145-9215-E912-7650F03688B2}"/>
              </a:ext>
            </a:extLst>
          </p:cNvPr>
          <p:cNvSpPr txBox="1"/>
          <p:nvPr/>
        </p:nvSpPr>
        <p:spPr>
          <a:xfrm>
            <a:off x="866648" y="2183226"/>
            <a:ext cx="609600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8620" indent="-182880" defTabSz="914400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800" dirty="0"/>
              <a:t> </a:t>
            </a:r>
            <a:r>
              <a:rPr lang="en-US" sz="2800" i="1" dirty="0"/>
              <a:t>RTOS tick (</a:t>
            </a:r>
            <a:r>
              <a:rPr lang="en-US" sz="2800" i="1" dirty="0" err="1"/>
              <a:t>SysTick</a:t>
            </a:r>
            <a:r>
              <a:rPr lang="en-US" sz="2800" i="1" dirty="0"/>
              <a:t>) interrupt </a:t>
            </a:r>
          </a:p>
          <a:p>
            <a:pPr marL="845820" lvl="1" indent="-182880" defTabSz="914400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800" dirty="0"/>
              <a:t>When tick occurs, OS will check if any task is waiting </a:t>
            </a:r>
            <a:r>
              <a:rPr lang="en-US" sz="2800" dirty="0">
                <a:sym typeface="Wingdings" panose="05000000000000000000" pitchFamily="2" charset="2"/>
              </a:rPr>
              <a:t> context switching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07E59-5AF6-6144-FBF2-87DD1745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4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D996-65B9-EAFE-7562-93EB2D95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4E8E-FDC9-D549-F29E-D8066E6F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Switching in FREERTOS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4F3A2-628A-2E0E-3F2F-7F1F1CCE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3" y="1254771"/>
            <a:ext cx="11624733" cy="49211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5969F-3147-A4E7-6CFB-DEB7BEDC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C12CC-5AA0-0908-EC51-45767F3987E7}"/>
              </a:ext>
            </a:extLst>
          </p:cNvPr>
          <p:cNvSpPr txBox="1"/>
          <p:nvPr/>
        </p:nvSpPr>
        <p:spPr>
          <a:xfrm>
            <a:off x="4157133" y="6224513"/>
            <a:ext cx="5384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FreeRTOS</a:t>
            </a:r>
            <a:r>
              <a:rPr lang="en-US" sz="2400" b="1" dirty="0">
                <a:solidFill>
                  <a:srgbClr val="0070C0"/>
                </a:solidFill>
              </a:rPr>
              <a:t> Preemptive mode</a:t>
            </a:r>
          </a:p>
        </p:txBody>
      </p:sp>
    </p:spTree>
    <p:extLst>
      <p:ext uri="{BB962C8B-B14F-4D97-AF65-F5344CB8AC3E}">
        <p14:creationId xmlns:p14="http://schemas.microsoft.com/office/powerpoint/2010/main" val="2723742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8F06-45FB-06FD-FD58-0A23DECB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CDF1-C66C-3E94-7E7D-8F5DD38B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Switching in FREERTOS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F1D9D-EEED-E2EF-FC9D-64BFD1812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97" y="1233002"/>
            <a:ext cx="11185838" cy="47371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4342C-42C1-70A3-22EB-7EEFD1E7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EC731-A711-EB05-5BE7-8E35F58A34CC}"/>
              </a:ext>
            </a:extLst>
          </p:cNvPr>
          <p:cNvSpPr txBox="1"/>
          <p:nvPr/>
        </p:nvSpPr>
        <p:spPr>
          <a:xfrm>
            <a:off x="4224866" y="6176244"/>
            <a:ext cx="4885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FreeRTOS</a:t>
            </a:r>
            <a:r>
              <a:rPr lang="en-US" sz="2400" b="1" dirty="0">
                <a:solidFill>
                  <a:srgbClr val="0070C0"/>
                </a:solidFill>
              </a:rPr>
              <a:t> Cooperative</a:t>
            </a:r>
            <a:r>
              <a:rPr lang="en-US" sz="2000" b="1" dirty="0">
                <a:solidFill>
                  <a:srgbClr val="0070C0"/>
                </a:solidFill>
              </a:rPr>
              <a:t> mode</a:t>
            </a:r>
          </a:p>
        </p:txBody>
      </p:sp>
    </p:spTree>
    <p:extLst>
      <p:ext uri="{BB962C8B-B14F-4D97-AF65-F5344CB8AC3E}">
        <p14:creationId xmlns:p14="http://schemas.microsoft.com/office/powerpoint/2010/main" val="294211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C94C-07FA-0343-384F-B4A0392F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FDB02-92AE-CFCA-82C7-C73E490CC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553402"/>
            <a:ext cx="10354733" cy="4948998"/>
          </a:xfrm>
        </p:spPr>
        <p:txBody>
          <a:bodyPr>
            <a:normAutofit/>
          </a:bodyPr>
          <a:lstStyle/>
          <a:p>
            <a:r>
              <a:rPr lang="en-US" dirty="0"/>
              <a:t> Best known </a:t>
            </a:r>
            <a:r>
              <a:rPr lang="en-US" b="1" dirty="0"/>
              <a:t>fixed-priority</a:t>
            </a:r>
            <a:r>
              <a:rPr lang="en-US" dirty="0"/>
              <a:t> algorithm</a:t>
            </a:r>
          </a:p>
          <a:p>
            <a:r>
              <a:rPr lang="en-US" dirty="0"/>
              <a:t> Assigns priorities to tasks based on their periods p</a:t>
            </a:r>
            <a:r>
              <a:rPr lang="en-US" baseline="-25000" dirty="0"/>
              <a:t>i</a:t>
            </a:r>
          </a:p>
          <a:p>
            <a:pPr lvl="1"/>
            <a:r>
              <a:rPr lang="en-US" dirty="0"/>
              <a:t> The shorter the period, the higher the priority</a:t>
            </a:r>
          </a:p>
          <a:p>
            <a:pPr lvl="1"/>
            <a:r>
              <a:rPr lang="en-US" dirty="0"/>
              <a:t> The rate (of job releases) is the inverse of the period, so jobs with higher rate have higher priority</a:t>
            </a:r>
          </a:p>
          <a:p>
            <a:r>
              <a:rPr lang="en-US" dirty="0"/>
              <a:t>For example:</a:t>
            </a:r>
          </a:p>
          <a:p>
            <a:pPr marL="274320" lvl="1" indent="0">
              <a:buNone/>
            </a:pPr>
            <a:r>
              <a:rPr lang="en-US" dirty="0"/>
              <a:t> T</a:t>
            </a:r>
            <a:r>
              <a:rPr lang="en-US" baseline="-25000" dirty="0"/>
              <a:t>1</a:t>
            </a:r>
            <a:r>
              <a:rPr lang="en-US" dirty="0"/>
              <a:t>(4,1)    </a:t>
            </a:r>
            <a:r>
              <a:rPr lang="en-US" dirty="0">
                <a:sym typeface="Wingdings" panose="05000000000000000000" pitchFamily="2" charset="2"/>
              </a:rPr>
              <a:t>    rate = 1/4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 T</a:t>
            </a:r>
            <a:r>
              <a:rPr lang="en-US" baseline="-25000" dirty="0"/>
              <a:t>2</a:t>
            </a:r>
            <a:r>
              <a:rPr lang="en-US" dirty="0"/>
              <a:t>(5,2)    </a:t>
            </a:r>
            <a:r>
              <a:rPr lang="en-US" dirty="0">
                <a:sym typeface="Wingdings" panose="05000000000000000000" pitchFamily="2" charset="2"/>
              </a:rPr>
              <a:t>    rate = 1/5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 T</a:t>
            </a:r>
            <a:r>
              <a:rPr lang="en-US" baseline="-25000" dirty="0"/>
              <a:t>3</a:t>
            </a:r>
            <a:r>
              <a:rPr lang="en-US" dirty="0"/>
              <a:t>(20,5)  </a:t>
            </a:r>
            <a:r>
              <a:rPr lang="en-US" dirty="0">
                <a:sym typeface="Wingdings" panose="05000000000000000000" pitchFamily="2" charset="2"/>
              </a:rPr>
              <a:t>    rate = 1/20</a:t>
            </a:r>
          </a:p>
          <a:p>
            <a:r>
              <a:rPr lang="en-US" dirty="0">
                <a:sym typeface="Wingdings" panose="05000000000000000000" pitchFamily="2" charset="2"/>
              </a:rPr>
              <a:t> In </a:t>
            </a:r>
            <a:r>
              <a:rPr lang="en-US" dirty="0" err="1">
                <a:sym typeface="Wingdings" panose="05000000000000000000" pitchFamily="2" charset="2"/>
              </a:rPr>
              <a:t>FreeRTOS</a:t>
            </a:r>
            <a:r>
              <a:rPr lang="en-US" dirty="0">
                <a:sym typeface="Wingdings" panose="05000000000000000000" pitchFamily="2" charset="2"/>
              </a:rPr>
              <a:t>: set priority based on task periods and use </a:t>
            </a:r>
            <a:r>
              <a:rPr lang="en-US" i="1" dirty="0" err="1">
                <a:sym typeface="Wingdings" panose="05000000000000000000" pitchFamily="2" charset="2"/>
              </a:rPr>
              <a:t>vTaskDelayUntil</a:t>
            </a:r>
            <a:r>
              <a:rPr lang="en-US" i="1" dirty="0">
                <a:sym typeface="Wingdings" panose="05000000000000000000" pitchFamily="2" charset="2"/>
              </a:rPr>
              <a:t>() </a:t>
            </a:r>
            <a:r>
              <a:rPr lang="en-US" dirty="0">
                <a:sym typeface="Wingdings" panose="05000000000000000000" pitchFamily="2" charset="2"/>
              </a:rPr>
              <a:t>function to implement the periodic release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20773-CFE4-3E2A-6922-C72E8DBBBCEC}"/>
              </a:ext>
            </a:extLst>
          </p:cNvPr>
          <p:cNvSpPr txBox="1"/>
          <p:nvPr/>
        </p:nvSpPr>
        <p:spPr>
          <a:xfrm>
            <a:off x="6011333" y="4572000"/>
            <a:ext cx="444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Relative priorities: T</a:t>
            </a:r>
            <a:r>
              <a:rPr lang="en-US" sz="2400" baseline="-25000" dirty="0"/>
              <a:t>1 </a:t>
            </a:r>
            <a:r>
              <a:rPr lang="en-US" sz="2400" dirty="0"/>
              <a:t>&gt; T</a:t>
            </a:r>
            <a:r>
              <a:rPr lang="en-US" sz="2400" baseline="-25000" dirty="0"/>
              <a:t>2 </a:t>
            </a:r>
            <a:r>
              <a:rPr lang="en-US" sz="2400" dirty="0"/>
              <a:t>&gt; T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046FB-CBE8-1514-DC08-411FF4AF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40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D0F1E-9268-AA0E-4718-9FCB3346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A0120-EB7A-1892-FD3E-16C550A7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44AC07-2C05-4F56-D66D-6AE320D7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90" y="1743404"/>
            <a:ext cx="8179220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9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C8F4-07FD-0EF0-D155-FCF8EAA6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02940-21CD-3195-BC37-E00C15B27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445" y="624326"/>
            <a:ext cx="8361088" cy="3261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B381F-002E-780C-1C9D-5B61C29D4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8" y="4078226"/>
            <a:ext cx="9677897" cy="2159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A18F0E-CC37-724E-85EE-938B0A0DA2A9}"/>
              </a:ext>
            </a:extLst>
          </p:cNvPr>
          <p:cNvSpPr txBox="1"/>
          <p:nvPr/>
        </p:nvSpPr>
        <p:spPr>
          <a:xfrm>
            <a:off x="647445" y="64301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Visualization: https://ddmills.com/schedule-vis/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EB3C7C-489D-B28E-9418-0E4378E5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29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388A-9669-CC25-412C-4575CE12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Schedulability</a:t>
            </a:r>
            <a:r>
              <a:rPr lang="en-US" dirty="0"/>
              <a:t> Tests: 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DFDAAE-3231-3784-2197-CA4C09522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5114" y="1515444"/>
                <a:ext cx="6182785" cy="4656756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b="1" dirty="0"/>
                  <a:t>Method 1: </a:t>
                </a:r>
                <a:r>
                  <a:rPr lang="en-US" dirty="0"/>
                  <a:t>(Liu and Layland, 1973)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Total utilization of the system: 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b="0" dirty="0"/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 In </a:t>
                </a:r>
                <a:r>
                  <a:rPr lang="en-US" b="1" dirty="0"/>
                  <a:t>RMS</a:t>
                </a:r>
                <a:r>
                  <a:rPr lang="en-US" dirty="0"/>
                  <a:t>: a system of n independent preemptable periodic tasks with </a:t>
                </a:r>
                <a:r>
                  <a:rPr lang="en-US" dirty="0">
                    <a:solidFill>
                      <a:srgbClr val="0070C0"/>
                    </a:solidFill>
                  </a:rPr>
                  <a:t>D</a:t>
                </a:r>
                <a:r>
                  <a:rPr lang="en-US" baseline="-25000" dirty="0">
                    <a:solidFill>
                      <a:srgbClr val="0070C0"/>
                    </a:solidFill>
                  </a:rPr>
                  <a:t>i</a:t>
                </a:r>
                <a:r>
                  <a:rPr lang="en-US" dirty="0">
                    <a:solidFill>
                      <a:srgbClr val="0070C0"/>
                    </a:solidFill>
                  </a:rPr>
                  <a:t>= p</a:t>
                </a:r>
                <a:r>
                  <a:rPr lang="en-US" baseline="-25000" dirty="0">
                    <a:solidFill>
                      <a:srgbClr val="0070C0"/>
                    </a:solidFill>
                  </a:rPr>
                  <a:t>i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can be feasibly scheduled on one processor using RM if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      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DFDAAE-3231-3784-2197-CA4C09522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5114" y="1515444"/>
                <a:ext cx="6182785" cy="4656756"/>
              </a:xfrm>
              <a:blipFill>
                <a:blip r:embed="rId2"/>
                <a:stretch>
                  <a:fillRect l="-2071" t="-2487" r="-3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88339C8-F9AB-3AAC-F1E7-FD4FE7D44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899" y="1515444"/>
            <a:ext cx="4883401" cy="3454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1B1159-1740-10EB-AF2B-E3041F68F6E9}"/>
              </a:ext>
            </a:extLst>
          </p:cNvPr>
          <p:cNvSpPr txBox="1"/>
          <p:nvPr/>
        </p:nvSpPr>
        <p:spPr>
          <a:xfrm>
            <a:off x="7653867" y="39878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ln(2)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A9A63-9A63-7E01-AACA-310617CD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17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0C3B-A147-42B8-24A6-485877DA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Schedulability</a:t>
            </a:r>
            <a:r>
              <a:rPr lang="en-US" dirty="0"/>
              <a:t> Tests: 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94B27-936C-9CCC-DA2C-2F1CEBE17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619840"/>
                <a:ext cx="10058400" cy="52276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 If the relative deadlines for tasks are not equal to their respective periods</a:t>
                </a:r>
              </a:p>
              <a:p>
                <a:pPr marL="0" indent="0">
                  <a:buNone/>
                </a:pPr>
                <a:r>
                  <a:rPr lang="en-US" dirty="0"/>
                  <a:t>	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 It can be shown that: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0≤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𝜗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0.5≤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𝜗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𝜗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=2,3,…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94B27-936C-9CCC-DA2C-2F1CEBE17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619840"/>
                <a:ext cx="10058400" cy="5227664"/>
              </a:xfrm>
              <a:blipFill>
                <a:blip r:embed="rId2"/>
                <a:stretch>
                  <a:fillRect l="-848" t="-2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861E-3E0D-B638-7F0F-9D339A73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A9E6-2673-39C7-1F45-905E05E5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Schedulability</a:t>
            </a:r>
            <a:r>
              <a:rPr lang="en-US" dirty="0"/>
              <a:t> Tests: 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E44ED-F2FA-B8EF-BC5F-FB67232D3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142" y="1193881"/>
            <a:ext cx="9231715" cy="56536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854B8-CBF9-1BA3-4D6A-68AD92CF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5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C748-DD1E-1939-6CBD-4A553055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Schedulability</a:t>
            </a:r>
            <a:r>
              <a:rPr lang="en-US" dirty="0"/>
              <a:t> Tests: 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4FE586-C3E8-D9FB-9899-A3B433F17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354667"/>
                <a:ext cx="10058400" cy="481753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Method 2: </a:t>
                </a:r>
                <a:r>
                  <a:rPr lang="en-US" dirty="0"/>
                  <a:t>Response Time Analysis (RTA)</a:t>
                </a:r>
              </a:p>
              <a:p>
                <a:r>
                  <a:rPr lang="en-US" dirty="0"/>
                  <a:t> The primary goal of RTA is to calculate the Worst-Case Response Time (R</a:t>
                </a:r>
                <a:r>
                  <a:rPr lang="en-US" baseline="-25000" dirty="0"/>
                  <a:t>i</a:t>
                </a:r>
                <a:r>
                  <a:rPr lang="en-US" dirty="0"/>
                  <a:t>) for every task in the system</a:t>
                </a:r>
              </a:p>
              <a:p>
                <a:r>
                  <a:rPr lang="en-US" dirty="0"/>
                  <a:t> A task set is considered schedulable if and only if: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𝑒𝑣𝑒𝑟𝑦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𝑡𝑎𝑠𝑘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h𝑝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4FE586-C3E8-D9FB-9899-A3B433F17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354667"/>
                <a:ext cx="10058400" cy="4817533"/>
              </a:xfrm>
              <a:blipFill>
                <a:blip r:embed="rId2"/>
                <a:stretch>
                  <a:fillRect l="-1273"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8A383-11D1-7E8A-082F-D980470A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FEF15-EAEE-7776-6BDC-345FD6C49D52}"/>
                  </a:ext>
                </a:extLst>
              </p:cNvPr>
              <p:cNvSpPr txBox="1"/>
              <p:nvPr/>
            </p:nvSpPr>
            <p:spPr>
              <a:xfrm>
                <a:off x="2500714" y="5626453"/>
                <a:ext cx="40809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: The set of all tasks with a Higher Priority than T</a:t>
                </a:r>
                <a:r>
                  <a:rPr lang="en-US" baseline="-25000" dirty="0">
                    <a:solidFill>
                      <a:srgbClr val="00B050"/>
                    </a:solidFill>
                  </a:rPr>
                  <a:t>i</a:t>
                </a:r>
                <a:r>
                  <a:rPr lang="en-US" dirty="0">
                    <a:solidFill>
                      <a:srgbClr val="00B05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FEF15-EAEE-7776-6BDC-345FD6C49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714" y="5626453"/>
                <a:ext cx="4080934" cy="646331"/>
              </a:xfrm>
              <a:prstGeom prst="rect">
                <a:avLst/>
              </a:prstGeom>
              <a:blipFill>
                <a:blip r:embed="rId3"/>
                <a:stretch>
                  <a:fillRect l="-1194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2670C8-DC00-EB08-3F58-D41BB8C67C6D}"/>
              </a:ext>
            </a:extLst>
          </p:cNvPr>
          <p:cNvSpPr txBox="1"/>
          <p:nvPr/>
        </p:nvSpPr>
        <p:spPr>
          <a:xfrm>
            <a:off x="7501467" y="5687451"/>
            <a:ext cx="454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 Number of Times task </a:t>
            </a:r>
            <a:r>
              <a:rPr lang="en-US" dirty="0" err="1">
                <a:solidFill>
                  <a:srgbClr val="0070C0"/>
                </a:solidFill>
              </a:rPr>
              <a:t>T</a:t>
            </a:r>
            <a:r>
              <a:rPr lang="en-US" baseline="-25000" dirty="0" err="1">
                <a:solidFill>
                  <a:srgbClr val="0070C0"/>
                </a:solidFill>
              </a:rPr>
              <a:t>j</a:t>
            </a:r>
            <a:r>
              <a:rPr lang="en-US" dirty="0">
                <a:solidFill>
                  <a:srgbClr val="0070C0"/>
                </a:solidFill>
              </a:rPr>
              <a:t> can preempt T</a:t>
            </a:r>
            <a:r>
              <a:rPr lang="en-US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during the response time R</a:t>
            </a:r>
            <a:r>
              <a:rPr lang="en-US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ECE188-74B5-ABAB-CADB-A5876A61F4CF}"/>
              </a:ext>
            </a:extLst>
          </p:cNvPr>
          <p:cNvCxnSpPr/>
          <p:nvPr/>
        </p:nvCxnSpPr>
        <p:spPr>
          <a:xfrm flipV="1">
            <a:off x="5571067" y="5477933"/>
            <a:ext cx="524933" cy="209518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067B95-BCB9-574E-73DF-B150C0C13E3D}"/>
              </a:ext>
            </a:extLst>
          </p:cNvPr>
          <p:cNvCxnSpPr>
            <a:cxnSpLocks/>
          </p:cNvCxnSpPr>
          <p:nvPr/>
        </p:nvCxnSpPr>
        <p:spPr>
          <a:xfrm flipH="1" flipV="1">
            <a:off x="7679267" y="5367867"/>
            <a:ext cx="333247" cy="31958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2DE9993-D974-B4CE-3A2C-381C1F9EB0AF}"/>
              </a:ext>
            </a:extLst>
          </p:cNvPr>
          <p:cNvSpPr txBox="1"/>
          <p:nvPr/>
        </p:nvSpPr>
        <p:spPr>
          <a:xfrm>
            <a:off x="4148667" y="4031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Blocking Time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78B90A-5E42-FAEA-F7F3-9DC2465D3796}"/>
              </a:ext>
            </a:extLst>
          </p:cNvPr>
          <p:cNvCxnSpPr/>
          <p:nvPr/>
        </p:nvCxnSpPr>
        <p:spPr>
          <a:xfrm>
            <a:off x="5190067" y="4401066"/>
            <a:ext cx="203200" cy="21326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15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723C-8646-96D8-331F-864F6C65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E610-C420-F32D-12DD-1001830C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295399"/>
            <a:ext cx="4331885" cy="1312333"/>
          </a:xfrm>
        </p:spPr>
        <p:txBody>
          <a:bodyPr/>
          <a:lstStyle/>
          <a:p>
            <a:pPr marL="274320" lvl="1" indent="0">
              <a:buNone/>
            </a:pP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(4,1)    </a:t>
            </a:r>
            <a:r>
              <a:rPr lang="en-US" dirty="0">
                <a:sym typeface="Wingdings" panose="05000000000000000000" pitchFamily="2" charset="2"/>
              </a:rPr>
              <a:t>    rate = 1/4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(5,2)    </a:t>
            </a:r>
            <a:r>
              <a:rPr lang="en-US" dirty="0">
                <a:sym typeface="Wingdings" panose="05000000000000000000" pitchFamily="2" charset="2"/>
              </a:rPr>
              <a:t>    rate = 1/5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T</a:t>
            </a:r>
            <a:r>
              <a:rPr lang="en-US" baseline="-25000" dirty="0"/>
              <a:t>3</a:t>
            </a:r>
            <a:r>
              <a:rPr lang="en-US" dirty="0"/>
              <a:t>(20,5)  </a:t>
            </a:r>
            <a:r>
              <a:rPr lang="en-US" dirty="0">
                <a:sym typeface="Wingdings" panose="05000000000000000000" pitchFamily="2" charset="2"/>
              </a:rPr>
              <a:t>    rate = 1/20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0C6803-7B35-12DA-C459-5752D8192C5E}"/>
                  </a:ext>
                </a:extLst>
              </p:cNvPr>
              <p:cNvSpPr txBox="1"/>
              <p:nvPr/>
            </p:nvSpPr>
            <p:spPr>
              <a:xfrm>
                <a:off x="5551085" y="745741"/>
                <a:ext cx="5571067" cy="184011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1" i="1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Liu &amp; Layland analysis: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=0.9&gt;0.779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May not be schedulable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0C6803-7B35-12DA-C459-5752D8192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085" y="745741"/>
                <a:ext cx="5571067" cy="1840119"/>
              </a:xfrm>
              <a:prstGeom prst="rect">
                <a:avLst/>
              </a:prstGeom>
              <a:blipFill>
                <a:blip r:embed="rId2"/>
                <a:stretch>
                  <a:fillRect l="-1638" t="-2632" b="-5921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8E94E-00FB-18A5-3045-13476498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9F407B4-AE0B-854E-13B1-FAA71BCB86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3752" y="2744019"/>
                <a:ext cx="10058400" cy="396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b="1" i="1" dirty="0">
                    <a:solidFill>
                      <a:srgbClr val="0070C0"/>
                    </a:solidFill>
                  </a:rPr>
                  <a:t>Response Time Analysis (RTA)</a:t>
                </a:r>
              </a:p>
              <a:p>
                <a:r>
                  <a:rPr lang="en-US" sz="2400" dirty="0"/>
                  <a:t> RTA for T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</a:t>
                </a:r>
                <a:r>
                  <a:rPr lang="en-US" sz="2400" dirty="0">
                    <a:sym typeface="Wingdings" panose="05000000000000000000" pitchFamily="2" charset="2"/>
                  </a:rPr>
                  <a:t> Schedulable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/>
                  <a:t> RTA for T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: only T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can preempt T</a:t>
                </a:r>
                <a:r>
                  <a:rPr lang="en-US" sz="2400" baseline="-25000" dirty="0"/>
                  <a:t>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:r>
                  <a:rPr lang="en-US" sz="2400" dirty="0"/>
                  <a:t> RTA for T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: T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and T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can preempt T</a:t>
                </a:r>
                <a:r>
                  <a:rPr lang="en-US" sz="2400" baseline="-25000" dirty="0"/>
                  <a:t>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9F407B4-AE0B-854E-13B1-FAA71BCB8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52" y="2744019"/>
                <a:ext cx="10058400" cy="3961581"/>
              </a:xfrm>
              <a:prstGeom prst="rect">
                <a:avLst/>
              </a:prstGeom>
              <a:blipFill>
                <a:blip r:embed="rId3"/>
                <a:stretch>
                  <a:fillRect l="-970" t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596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08F-6533-E9A1-CA91-47E72D88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62BE-8A17-BEBF-F4F4-4A45B14CC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78467"/>
            <a:ext cx="10058400" cy="4885267"/>
          </a:xfrm>
        </p:spPr>
        <p:txBody>
          <a:bodyPr/>
          <a:lstStyle/>
          <a:p>
            <a:r>
              <a:rPr lang="en-US" dirty="0"/>
              <a:t> RTA for T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r>
              <a:rPr lang="en-US" dirty="0"/>
              <a:t>RTA for T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1A5C4-90FE-864B-C106-8EF1E8C6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C12F4E-CCAF-FB9A-D730-76CEBE2FD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76" y="1915306"/>
            <a:ext cx="6400034" cy="1317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68543-16AD-6355-B3A8-96601129A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776" y="3930964"/>
            <a:ext cx="6832266" cy="2647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45E72B-E357-F04A-B61F-67B7EBCE8BC6}"/>
                  </a:ext>
                </a:extLst>
              </p:cNvPr>
              <p:cNvSpPr txBox="1"/>
              <p:nvPr/>
            </p:nvSpPr>
            <p:spPr>
              <a:xfrm>
                <a:off x="8232786" y="2487701"/>
                <a:ext cx="34596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  Schedulable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45E72B-E357-F04A-B61F-67B7EBCE8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786" y="2487701"/>
                <a:ext cx="3459681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D37CDD-DD99-53A7-EE3C-F6EAAF138B5E}"/>
                  </a:ext>
                </a:extLst>
              </p:cNvPr>
              <p:cNvSpPr txBox="1"/>
              <p:nvPr/>
            </p:nvSpPr>
            <p:spPr>
              <a:xfrm>
                <a:off x="8386202" y="5179423"/>
                <a:ext cx="35650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=15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  Schedulable</a:t>
                </a:r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D37CDD-DD99-53A7-EE3C-F6EAAF138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02" y="5179423"/>
                <a:ext cx="3565006" cy="400110"/>
              </a:xfrm>
              <a:prstGeom prst="rect">
                <a:avLst/>
              </a:prstGeom>
              <a:blipFill>
                <a:blip r:embed="rId5"/>
                <a:stretch>
                  <a:fillRect t="-9231" r="-17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8162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267</TotalTime>
  <Words>967</Words>
  <Application>Microsoft Office PowerPoint</Application>
  <PresentationFormat>Widescreen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Gill Sans</vt:lpstr>
      <vt:lpstr>Rockwell</vt:lpstr>
      <vt:lpstr>Rockwell Condensed</vt:lpstr>
      <vt:lpstr>Wingdings</vt:lpstr>
      <vt:lpstr>Wood Type</vt:lpstr>
      <vt:lpstr>Priority-driven Scheduling</vt:lpstr>
      <vt:lpstr>Assumptions</vt:lpstr>
      <vt:lpstr>Priority-driven algorithms</vt:lpstr>
      <vt:lpstr>Priority-driven algorithms</vt:lpstr>
      <vt:lpstr>PreemPtion</vt:lpstr>
      <vt:lpstr>PreemPtion</vt:lpstr>
      <vt:lpstr>Task Switching in FREERTOS</vt:lpstr>
      <vt:lpstr>Task Switching in FREERTOS</vt:lpstr>
      <vt:lpstr>Task Switching in FREERTOS</vt:lpstr>
      <vt:lpstr>Task Switching in FREERTOS</vt:lpstr>
      <vt:lpstr>Rate Monotonic Scheduling</vt:lpstr>
      <vt:lpstr>Example</vt:lpstr>
      <vt:lpstr>Example</vt:lpstr>
      <vt:lpstr>Schedulability Tests: RMS</vt:lpstr>
      <vt:lpstr>Schedulability Tests: RMS</vt:lpstr>
      <vt:lpstr>Schedulability Tests: RMS</vt:lpstr>
      <vt:lpstr>Schedulability Tests: RMS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b</dc:creator>
  <cp:lastModifiedBy>duc b</cp:lastModifiedBy>
  <cp:revision>40</cp:revision>
  <dcterms:created xsi:type="dcterms:W3CDTF">2025-10-20T03:05:03Z</dcterms:created>
  <dcterms:modified xsi:type="dcterms:W3CDTF">2025-11-16T09:10:59Z</dcterms:modified>
</cp:coreProperties>
</file>