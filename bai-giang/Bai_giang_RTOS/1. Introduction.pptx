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56" r:id="rId2"/>
    <p:sldId id="257" r:id="rId3"/>
    <p:sldId id="258" r:id="rId4"/>
    <p:sldId id="261" r:id="rId5"/>
    <p:sldId id="259" r:id="rId6"/>
    <p:sldId id="262" r:id="rId7"/>
    <p:sldId id="260" r:id="rId8"/>
    <p:sldId id="263" r:id="rId9"/>
    <p:sldId id="267" r:id="rId10"/>
    <p:sldId id="288" r:id="rId11"/>
    <p:sldId id="264" r:id="rId12"/>
    <p:sldId id="265" r:id="rId13"/>
    <p:sldId id="266" r:id="rId14"/>
    <p:sldId id="268" r:id="rId15"/>
    <p:sldId id="271" r:id="rId16"/>
    <p:sldId id="269" r:id="rId17"/>
    <p:sldId id="276" r:id="rId18"/>
    <p:sldId id="277" r:id="rId19"/>
    <p:sldId id="278" r:id="rId20"/>
    <p:sldId id="287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70" r:id="rId30"/>
    <p:sldId id="272" r:id="rId31"/>
    <p:sldId id="273" r:id="rId32"/>
    <p:sldId id="274" r:id="rId33"/>
    <p:sldId id="289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677" autoAdjust="0"/>
  </p:normalViewPr>
  <p:slideViewPr>
    <p:cSldViewPr snapToGrid="0">
      <p:cViewPr varScale="1">
        <p:scale>
          <a:sx n="60" d="100"/>
          <a:sy n="60" d="100"/>
        </p:scale>
        <p:origin x="36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031FF0-F41D-403B-B7CF-4E5E57CF2A79}" type="doc">
      <dgm:prSet loTypeId="urn:microsoft.com/office/officeart/2005/8/layout/lProcess2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6B59B3C6-7C35-4CC8-83C1-989788779C8B}">
      <dgm:prSet phldrT="[Text]"/>
      <dgm:spPr/>
      <dgm:t>
        <a:bodyPr/>
        <a:lstStyle/>
        <a:p>
          <a:r>
            <a:rPr lang="en-US" dirty="0"/>
            <a:t>Low-level </a:t>
          </a:r>
        </a:p>
        <a:p>
          <a:r>
            <a:rPr lang="en-US" dirty="0"/>
            <a:t>(real-time)</a:t>
          </a:r>
        </a:p>
      </dgm:t>
    </dgm:pt>
    <dgm:pt modelId="{C5E68266-FEE2-4323-A9FA-11DBC3EADE9D}" type="parTrans" cxnId="{17842CF1-A69E-4187-AFA3-90BBFD5B5ED1}">
      <dgm:prSet/>
      <dgm:spPr/>
      <dgm:t>
        <a:bodyPr/>
        <a:lstStyle/>
        <a:p>
          <a:endParaRPr lang="en-US"/>
        </a:p>
      </dgm:t>
    </dgm:pt>
    <dgm:pt modelId="{9B8149F9-4463-4D05-A621-FE7BA6F3D4E9}" type="sibTrans" cxnId="{17842CF1-A69E-4187-AFA3-90BBFD5B5ED1}">
      <dgm:prSet/>
      <dgm:spPr/>
      <dgm:t>
        <a:bodyPr/>
        <a:lstStyle/>
        <a:p>
          <a:endParaRPr lang="en-US"/>
        </a:p>
      </dgm:t>
    </dgm:pt>
    <dgm:pt modelId="{5DABBA6F-4663-49AF-9745-4315EA8B4AF5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600" b="1" dirty="0"/>
            <a:t>Purpose: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1600" dirty="0"/>
            <a:t>- Directly controls actuators, motors, and sensors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1600" dirty="0"/>
            <a:t>- Must respond in few milliseconds</a:t>
          </a:r>
        </a:p>
      </dgm:t>
    </dgm:pt>
    <dgm:pt modelId="{C4F474BB-759D-4AA9-8A20-B678416FBBEB}" type="parTrans" cxnId="{47A9990F-D7AD-43AF-8532-867D09D34DD9}">
      <dgm:prSet/>
      <dgm:spPr/>
      <dgm:t>
        <a:bodyPr/>
        <a:lstStyle/>
        <a:p>
          <a:endParaRPr lang="en-US"/>
        </a:p>
      </dgm:t>
    </dgm:pt>
    <dgm:pt modelId="{175525FC-8ED0-4981-8CEE-106A9E79ABC9}" type="sibTrans" cxnId="{47A9990F-D7AD-43AF-8532-867D09D34DD9}">
      <dgm:prSet/>
      <dgm:spPr/>
      <dgm:t>
        <a:bodyPr/>
        <a:lstStyle/>
        <a:p>
          <a:endParaRPr lang="en-US"/>
        </a:p>
      </dgm:t>
    </dgm:pt>
    <dgm:pt modelId="{B2380F18-DE40-4283-B0B7-18AB1126B736}">
      <dgm:prSet phldrT="[Text]"/>
      <dgm:spPr/>
      <dgm:t>
        <a:bodyPr/>
        <a:lstStyle/>
        <a:p>
          <a:pPr algn="l"/>
          <a:r>
            <a:rPr lang="en-US" dirty="0"/>
            <a:t>Hardware:</a:t>
          </a:r>
        </a:p>
        <a:p>
          <a:pPr algn="l"/>
          <a:r>
            <a:rPr lang="en-US" dirty="0"/>
            <a:t>- Microcontroller, Real-time Processor</a:t>
          </a:r>
        </a:p>
        <a:p>
          <a:pPr algn="l"/>
          <a:r>
            <a:rPr lang="en-US" dirty="0"/>
            <a:t>- FPGA</a:t>
          </a:r>
        </a:p>
        <a:p>
          <a:pPr algn="l"/>
          <a:r>
            <a:rPr lang="en-US" dirty="0"/>
            <a:t>- Free RTOS, Zephyr</a:t>
          </a:r>
        </a:p>
      </dgm:t>
    </dgm:pt>
    <dgm:pt modelId="{DCBA0BC0-DBC9-42A3-A37B-823425F2AD59}" type="parTrans" cxnId="{DF27321A-C3A4-44A8-A615-7AF0F6C4A527}">
      <dgm:prSet/>
      <dgm:spPr/>
      <dgm:t>
        <a:bodyPr/>
        <a:lstStyle/>
        <a:p>
          <a:endParaRPr lang="en-US"/>
        </a:p>
      </dgm:t>
    </dgm:pt>
    <dgm:pt modelId="{E46BAD01-E693-413F-94E2-8F7D806EA307}" type="sibTrans" cxnId="{DF27321A-C3A4-44A8-A615-7AF0F6C4A527}">
      <dgm:prSet/>
      <dgm:spPr/>
      <dgm:t>
        <a:bodyPr/>
        <a:lstStyle/>
        <a:p>
          <a:endParaRPr lang="en-US"/>
        </a:p>
      </dgm:t>
    </dgm:pt>
    <dgm:pt modelId="{41DD4D5B-20B8-42F2-83A2-503B8ADBA661}">
      <dgm:prSet phldrT="[Text]"/>
      <dgm:spPr/>
      <dgm:t>
        <a:bodyPr/>
        <a:lstStyle/>
        <a:p>
          <a:r>
            <a:rPr lang="en-US" dirty="0"/>
            <a:t>Intermediate-level </a:t>
          </a:r>
        </a:p>
        <a:p>
          <a:r>
            <a:rPr lang="en-US" dirty="0"/>
            <a:t>(soft real-time or near real-time)</a:t>
          </a:r>
        </a:p>
      </dgm:t>
    </dgm:pt>
    <dgm:pt modelId="{FC1C9DCC-A44C-4D42-946D-DE5B846E3E44}" type="parTrans" cxnId="{77326FC1-3941-471C-B3AE-C0B070896AB1}">
      <dgm:prSet/>
      <dgm:spPr/>
      <dgm:t>
        <a:bodyPr/>
        <a:lstStyle/>
        <a:p>
          <a:endParaRPr lang="en-US"/>
        </a:p>
      </dgm:t>
    </dgm:pt>
    <dgm:pt modelId="{A2A615DA-5439-4078-BCB3-593102D1F164}" type="sibTrans" cxnId="{77326FC1-3941-471C-B3AE-C0B070896AB1}">
      <dgm:prSet/>
      <dgm:spPr/>
      <dgm:t>
        <a:bodyPr/>
        <a:lstStyle/>
        <a:p>
          <a:endParaRPr lang="en-US"/>
        </a:p>
      </dgm:t>
    </dgm:pt>
    <dgm:pt modelId="{60BB045F-5AE2-4C03-9652-7C52FCFFA3F5}">
      <dgm:prSet phldrT="[Text]" custT="1"/>
      <dgm:spPr/>
      <dgm:t>
        <a:bodyPr/>
        <a:lstStyle/>
        <a:p>
          <a:pPr algn="l"/>
          <a:r>
            <a:rPr lang="en-US" sz="1600" dirty="0"/>
            <a:t>Purpose:</a:t>
          </a:r>
        </a:p>
        <a:p>
          <a:pPr algn="l"/>
          <a:r>
            <a:rPr lang="en-US" sz="1600" dirty="0"/>
            <a:t>-  Navigating, digital signal processing</a:t>
          </a:r>
        </a:p>
        <a:p>
          <a:pPr algn="l"/>
          <a:r>
            <a:rPr lang="en-US" sz="1600" dirty="0"/>
            <a:t>- Time scale of </a:t>
          </a:r>
          <a:r>
            <a:rPr lang="en-US" sz="1600" dirty="0" err="1"/>
            <a:t>ms</a:t>
          </a:r>
          <a:r>
            <a:rPr lang="en-US" sz="1600" dirty="0"/>
            <a:t> to seconds</a:t>
          </a:r>
        </a:p>
      </dgm:t>
    </dgm:pt>
    <dgm:pt modelId="{ECC5639D-B61F-4EBE-AABB-5E1F6959BEBA}" type="parTrans" cxnId="{7B06B037-C259-41C0-AFCE-D6A8E23DECDE}">
      <dgm:prSet/>
      <dgm:spPr/>
      <dgm:t>
        <a:bodyPr/>
        <a:lstStyle/>
        <a:p>
          <a:endParaRPr lang="en-US"/>
        </a:p>
      </dgm:t>
    </dgm:pt>
    <dgm:pt modelId="{25F75D2B-FCC6-4DA7-8E19-3F5DFAF9EF88}" type="sibTrans" cxnId="{7B06B037-C259-41C0-AFCE-D6A8E23DECDE}">
      <dgm:prSet/>
      <dgm:spPr/>
      <dgm:t>
        <a:bodyPr/>
        <a:lstStyle/>
        <a:p>
          <a:endParaRPr lang="en-US"/>
        </a:p>
      </dgm:t>
    </dgm:pt>
    <dgm:pt modelId="{A8EEB538-4A04-4BFC-A178-D75007507B2B}">
      <dgm:prSet phldrT="[Text]" custT="1"/>
      <dgm:spPr/>
      <dgm:t>
        <a:bodyPr/>
        <a:lstStyle/>
        <a:p>
          <a:pPr algn="l"/>
          <a:r>
            <a:rPr lang="en-US" sz="1600" dirty="0"/>
            <a:t>Hardware:</a:t>
          </a:r>
        </a:p>
        <a:p>
          <a:pPr algn="l"/>
          <a:r>
            <a:rPr lang="en-US" sz="1600" dirty="0"/>
            <a:t>-  Single-board computer (raspberry pi, orange pi…)</a:t>
          </a:r>
        </a:p>
        <a:p>
          <a:pPr algn="l"/>
          <a:r>
            <a:rPr lang="en-US" sz="1600" dirty="0"/>
            <a:t>-  Linux OS, ROS</a:t>
          </a:r>
        </a:p>
      </dgm:t>
    </dgm:pt>
    <dgm:pt modelId="{950CB1FE-9F51-46D0-B1EB-128811C67540}" type="parTrans" cxnId="{74BBDA82-F003-4930-B6D0-DB79185A0BE7}">
      <dgm:prSet/>
      <dgm:spPr/>
      <dgm:t>
        <a:bodyPr/>
        <a:lstStyle/>
        <a:p>
          <a:endParaRPr lang="en-US"/>
        </a:p>
      </dgm:t>
    </dgm:pt>
    <dgm:pt modelId="{9421C993-3E74-470D-A423-269305C7163A}" type="sibTrans" cxnId="{74BBDA82-F003-4930-B6D0-DB79185A0BE7}">
      <dgm:prSet/>
      <dgm:spPr/>
      <dgm:t>
        <a:bodyPr/>
        <a:lstStyle/>
        <a:p>
          <a:endParaRPr lang="en-US"/>
        </a:p>
      </dgm:t>
    </dgm:pt>
    <dgm:pt modelId="{9FA085CC-DADE-4DAF-8E45-5DB1A43861E7}">
      <dgm:prSet phldrT="[Text]"/>
      <dgm:spPr/>
      <dgm:t>
        <a:bodyPr/>
        <a:lstStyle/>
        <a:p>
          <a:r>
            <a:rPr lang="en-US" dirty="0"/>
            <a:t>High-level </a:t>
          </a:r>
        </a:p>
        <a:p>
          <a:r>
            <a:rPr lang="en-US" dirty="0"/>
            <a:t>(non real-time)</a:t>
          </a:r>
        </a:p>
      </dgm:t>
    </dgm:pt>
    <dgm:pt modelId="{ECC9EB09-FE7B-410B-A5D7-209AD23D43F4}" type="parTrans" cxnId="{025F60D7-690F-46BD-8705-37A3C664AD45}">
      <dgm:prSet/>
      <dgm:spPr/>
      <dgm:t>
        <a:bodyPr/>
        <a:lstStyle/>
        <a:p>
          <a:endParaRPr lang="en-US"/>
        </a:p>
      </dgm:t>
    </dgm:pt>
    <dgm:pt modelId="{32982136-728F-483F-AB9A-513B7ACD9757}" type="sibTrans" cxnId="{025F60D7-690F-46BD-8705-37A3C664AD45}">
      <dgm:prSet/>
      <dgm:spPr/>
      <dgm:t>
        <a:bodyPr/>
        <a:lstStyle/>
        <a:p>
          <a:endParaRPr lang="en-US"/>
        </a:p>
      </dgm:t>
    </dgm:pt>
    <dgm:pt modelId="{1BF32F22-02C4-411C-95E7-60B1287D469A}">
      <dgm:prSet phldrT="[Text]" custT="1"/>
      <dgm:spPr/>
      <dgm:t>
        <a:bodyPr/>
        <a:lstStyle/>
        <a:p>
          <a:pPr algn="l"/>
          <a:r>
            <a:rPr lang="en-US" sz="1600" dirty="0"/>
            <a:t>Purpose: </a:t>
          </a:r>
        </a:p>
        <a:p>
          <a:pPr algn="l"/>
          <a:r>
            <a:rPr lang="en-US" sz="1600" dirty="0"/>
            <a:t>-  cognitive and computationally heavy tasks</a:t>
          </a:r>
        </a:p>
        <a:p>
          <a:pPr algn="l"/>
          <a:r>
            <a:rPr lang="en-US" sz="1600" dirty="0"/>
            <a:t>- Time scale of a few seconds</a:t>
          </a:r>
        </a:p>
      </dgm:t>
    </dgm:pt>
    <dgm:pt modelId="{9B12F7AE-722A-46F2-83D1-A3218B667E12}" type="parTrans" cxnId="{42CF383C-30C7-4D65-93EB-C832EB8F2F6A}">
      <dgm:prSet/>
      <dgm:spPr/>
      <dgm:t>
        <a:bodyPr/>
        <a:lstStyle/>
        <a:p>
          <a:endParaRPr lang="en-US"/>
        </a:p>
      </dgm:t>
    </dgm:pt>
    <dgm:pt modelId="{6B1C30AC-53F0-4C2D-AD1F-E2BB51A02489}" type="sibTrans" cxnId="{42CF383C-30C7-4D65-93EB-C832EB8F2F6A}">
      <dgm:prSet/>
      <dgm:spPr/>
      <dgm:t>
        <a:bodyPr/>
        <a:lstStyle/>
        <a:p>
          <a:endParaRPr lang="en-US"/>
        </a:p>
      </dgm:t>
    </dgm:pt>
    <dgm:pt modelId="{AF150C7E-CA15-4C8B-9F6B-67C4F23C91CB}">
      <dgm:prSet phldrT="[Text]" custT="1"/>
      <dgm:spPr/>
      <dgm:t>
        <a:bodyPr/>
        <a:lstStyle/>
        <a:p>
          <a:pPr algn="l"/>
          <a:r>
            <a:rPr lang="en-US" sz="1600" dirty="0"/>
            <a:t>Hardware:</a:t>
          </a:r>
        </a:p>
        <a:p>
          <a:pPr algn="l"/>
          <a:r>
            <a:rPr lang="en-US" sz="1600" dirty="0"/>
            <a:t>- </a:t>
          </a:r>
          <a:r>
            <a:rPr lang="en-US" sz="1600" dirty="0" err="1"/>
            <a:t>miniPC</a:t>
          </a:r>
          <a:r>
            <a:rPr lang="en-US" sz="1600" dirty="0"/>
            <a:t>, SBC with GPU (</a:t>
          </a:r>
          <a:r>
            <a:rPr lang="en-US" sz="1600" dirty="0" err="1"/>
            <a:t>nvidia</a:t>
          </a:r>
          <a:r>
            <a:rPr lang="en-US" sz="1600" dirty="0"/>
            <a:t> jetson)</a:t>
          </a:r>
        </a:p>
        <a:p>
          <a:pPr algn="l"/>
          <a:r>
            <a:rPr lang="en-US" sz="1600" dirty="0"/>
            <a:t>- Cloud server</a:t>
          </a:r>
        </a:p>
      </dgm:t>
    </dgm:pt>
    <dgm:pt modelId="{13A70DBF-9306-4C6B-B453-EA2A4146A6BB}" type="parTrans" cxnId="{46699A08-A65F-444C-9FEF-1CE10855DB91}">
      <dgm:prSet/>
      <dgm:spPr/>
      <dgm:t>
        <a:bodyPr/>
        <a:lstStyle/>
        <a:p>
          <a:endParaRPr lang="en-US"/>
        </a:p>
      </dgm:t>
    </dgm:pt>
    <dgm:pt modelId="{3DB212D0-EBB6-4E80-8A1E-792F82B4929C}" type="sibTrans" cxnId="{46699A08-A65F-444C-9FEF-1CE10855DB91}">
      <dgm:prSet/>
      <dgm:spPr/>
      <dgm:t>
        <a:bodyPr/>
        <a:lstStyle/>
        <a:p>
          <a:endParaRPr lang="en-US"/>
        </a:p>
      </dgm:t>
    </dgm:pt>
    <dgm:pt modelId="{3C27591A-BBA3-40EE-97D5-FE380A5E1F43}" type="pres">
      <dgm:prSet presAssocID="{AC031FF0-F41D-403B-B7CF-4E5E57CF2A79}" presName="theList" presStyleCnt="0">
        <dgm:presLayoutVars>
          <dgm:dir/>
          <dgm:animLvl val="lvl"/>
          <dgm:resizeHandles val="exact"/>
        </dgm:presLayoutVars>
      </dgm:prSet>
      <dgm:spPr/>
    </dgm:pt>
    <dgm:pt modelId="{D4B7DD61-D44E-408E-BCCD-6A5F5D0A4427}" type="pres">
      <dgm:prSet presAssocID="{6B59B3C6-7C35-4CC8-83C1-989788779C8B}" presName="compNode" presStyleCnt="0"/>
      <dgm:spPr/>
    </dgm:pt>
    <dgm:pt modelId="{9F87E8D7-4CC4-4A10-8B5A-226324BF84DA}" type="pres">
      <dgm:prSet presAssocID="{6B59B3C6-7C35-4CC8-83C1-989788779C8B}" presName="aNode" presStyleLbl="bgShp" presStyleIdx="0" presStyleCnt="3"/>
      <dgm:spPr/>
    </dgm:pt>
    <dgm:pt modelId="{668DB563-32DB-44AA-9480-4575225328B5}" type="pres">
      <dgm:prSet presAssocID="{6B59B3C6-7C35-4CC8-83C1-989788779C8B}" presName="textNode" presStyleLbl="bgShp" presStyleIdx="0" presStyleCnt="3"/>
      <dgm:spPr/>
    </dgm:pt>
    <dgm:pt modelId="{D326D293-6B4F-4D50-8DC0-CA5D0459A31E}" type="pres">
      <dgm:prSet presAssocID="{6B59B3C6-7C35-4CC8-83C1-989788779C8B}" presName="compChildNode" presStyleCnt="0"/>
      <dgm:spPr/>
    </dgm:pt>
    <dgm:pt modelId="{07DF7586-1134-4B62-B370-592B2C42FC4B}" type="pres">
      <dgm:prSet presAssocID="{6B59B3C6-7C35-4CC8-83C1-989788779C8B}" presName="theInnerList" presStyleCnt="0"/>
      <dgm:spPr/>
    </dgm:pt>
    <dgm:pt modelId="{5B07B5E5-314E-473E-8DC9-2A0BB360965B}" type="pres">
      <dgm:prSet presAssocID="{5DABBA6F-4663-49AF-9745-4315EA8B4AF5}" presName="childNode" presStyleLbl="node1" presStyleIdx="0" presStyleCnt="6">
        <dgm:presLayoutVars>
          <dgm:bulletEnabled val="1"/>
        </dgm:presLayoutVars>
      </dgm:prSet>
      <dgm:spPr/>
    </dgm:pt>
    <dgm:pt modelId="{C20A07AB-72EC-4ABA-B6BB-419435E79B7C}" type="pres">
      <dgm:prSet presAssocID="{5DABBA6F-4663-49AF-9745-4315EA8B4AF5}" presName="aSpace2" presStyleCnt="0"/>
      <dgm:spPr/>
    </dgm:pt>
    <dgm:pt modelId="{287F1102-12CB-4C03-ABAC-3BC3002B5034}" type="pres">
      <dgm:prSet presAssocID="{B2380F18-DE40-4283-B0B7-18AB1126B736}" presName="childNode" presStyleLbl="node1" presStyleIdx="1" presStyleCnt="6">
        <dgm:presLayoutVars>
          <dgm:bulletEnabled val="1"/>
        </dgm:presLayoutVars>
      </dgm:prSet>
      <dgm:spPr/>
    </dgm:pt>
    <dgm:pt modelId="{A6A99B91-B4B3-4DA0-8319-7202C0520AA6}" type="pres">
      <dgm:prSet presAssocID="{6B59B3C6-7C35-4CC8-83C1-989788779C8B}" presName="aSpace" presStyleCnt="0"/>
      <dgm:spPr/>
    </dgm:pt>
    <dgm:pt modelId="{ADB4878F-A8E8-468E-B0B4-D404543F9DD2}" type="pres">
      <dgm:prSet presAssocID="{41DD4D5B-20B8-42F2-83A2-503B8ADBA661}" presName="compNode" presStyleCnt="0"/>
      <dgm:spPr/>
    </dgm:pt>
    <dgm:pt modelId="{4B901892-91E6-484F-99DC-C49157799B30}" type="pres">
      <dgm:prSet presAssocID="{41DD4D5B-20B8-42F2-83A2-503B8ADBA661}" presName="aNode" presStyleLbl="bgShp" presStyleIdx="1" presStyleCnt="3"/>
      <dgm:spPr/>
    </dgm:pt>
    <dgm:pt modelId="{79F13D27-127E-4F00-8757-2F3F7EBD6F6A}" type="pres">
      <dgm:prSet presAssocID="{41DD4D5B-20B8-42F2-83A2-503B8ADBA661}" presName="textNode" presStyleLbl="bgShp" presStyleIdx="1" presStyleCnt="3"/>
      <dgm:spPr/>
    </dgm:pt>
    <dgm:pt modelId="{7F188B08-4E71-4F7C-9C52-CD7BD2B309F4}" type="pres">
      <dgm:prSet presAssocID="{41DD4D5B-20B8-42F2-83A2-503B8ADBA661}" presName="compChildNode" presStyleCnt="0"/>
      <dgm:spPr/>
    </dgm:pt>
    <dgm:pt modelId="{47039871-F57A-4351-A2C4-83633CF354FC}" type="pres">
      <dgm:prSet presAssocID="{41DD4D5B-20B8-42F2-83A2-503B8ADBA661}" presName="theInnerList" presStyleCnt="0"/>
      <dgm:spPr/>
    </dgm:pt>
    <dgm:pt modelId="{C2D1757F-B4CD-4FD0-B496-BAEC98A20C0E}" type="pres">
      <dgm:prSet presAssocID="{60BB045F-5AE2-4C03-9652-7C52FCFFA3F5}" presName="childNode" presStyleLbl="node1" presStyleIdx="2" presStyleCnt="6">
        <dgm:presLayoutVars>
          <dgm:bulletEnabled val="1"/>
        </dgm:presLayoutVars>
      </dgm:prSet>
      <dgm:spPr/>
    </dgm:pt>
    <dgm:pt modelId="{29587560-6CA5-447C-8E52-EDFD1FAF6F57}" type="pres">
      <dgm:prSet presAssocID="{60BB045F-5AE2-4C03-9652-7C52FCFFA3F5}" presName="aSpace2" presStyleCnt="0"/>
      <dgm:spPr/>
    </dgm:pt>
    <dgm:pt modelId="{8E31351C-0495-4B2E-83FD-E10322702123}" type="pres">
      <dgm:prSet presAssocID="{A8EEB538-4A04-4BFC-A178-D75007507B2B}" presName="childNode" presStyleLbl="node1" presStyleIdx="3" presStyleCnt="6">
        <dgm:presLayoutVars>
          <dgm:bulletEnabled val="1"/>
        </dgm:presLayoutVars>
      </dgm:prSet>
      <dgm:spPr/>
    </dgm:pt>
    <dgm:pt modelId="{7C26D06D-AD67-4C1D-8C79-02FC3616E565}" type="pres">
      <dgm:prSet presAssocID="{41DD4D5B-20B8-42F2-83A2-503B8ADBA661}" presName="aSpace" presStyleCnt="0"/>
      <dgm:spPr/>
    </dgm:pt>
    <dgm:pt modelId="{C821F0F7-A85A-4D57-AE18-28D4634D6EE3}" type="pres">
      <dgm:prSet presAssocID="{9FA085CC-DADE-4DAF-8E45-5DB1A43861E7}" presName="compNode" presStyleCnt="0"/>
      <dgm:spPr/>
    </dgm:pt>
    <dgm:pt modelId="{B63F8D07-10CB-4EFB-8DE1-94F7AC56B07A}" type="pres">
      <dgm:prSet presAssocID="{9FA085CC-DADE-4DAF-8E45-5DB1A43861E7}" presName="aNode" presStyleLbl="bgShp" presStyleIdx="2" presStyleCnt="3"/>
      <dgm:spPr/>
    </dgm:pt>
    <dgm:pt modelId="{2772A74E-64AF-40D6-AB56-5A4ABE85CE8F}" type="pres">
      <dgm:prSet presAssocID="{9FA085CC-DADE-4DAF-8E45-5DB1A43861E7}" presName="textNode" presStyleLbl="bgShp" presStyleIdx="2" presStyleCnt="3"/>
      <dgm:spPr/>
    </dgm:pt>
    <dgm:pt modelId="{0891EAE7-8EDB-4B14-B5E1-8356BF8BDB28}" type="pres">
      <dgm:prSet presAssocID="{9FA085CC-DADE-4DAF-8E45-5DB1A43861E7}" presName="compChildNode" presStyleCnt="0"/>
      <dgm:spPr/>
    </dgm:pt>
    <dgm:pt modelId="{7867F55E-9DBF-46C8-B83D-A4FDBF5996DA}" type="pres">
      <dgm:prSet presAssocID="{9FA085CC-DADE-4DAF-8E45-5DB1A43861E7}" presName="theInnerList" presStyleCnt="0"/>
      <dgm:spPr/>
    </dgm:pt>
    <dgm:pt modelId="{CA6501A9-E9B2-4FDB-B235-E65722600ABF}" type="pres">
      <dgm:prSet presAssocID="{1BF32F22-02C4-411C-95E7-60B1287D469A}" presName="childNode" presStyleLbl="node1" presStyleIdx="4" presStyleCnt="6">
        <dgm:presLayoutVars>
          <dgm:bulletEnabled val="1"/>
        </dgm:presLayoutVars>
      </dgm:prSet>
      <dgm:spPr/>
    </dgm:pt>
    <dgm:pt modelId="{69F19D73-E09E-45DB-8F20-775EA2B40239}" type="pres">
      <dgm:prSet presAssocID="{1BF32F22-02C4-411C-95E7-60B1287D469A}" presName="aSpace2" presStyleCnt="0"/>
      <dgm:spPr/>
    </dgm:pt>
    <dgm:pt modelId="{FDA93177-ED83-4F58-8A09-022300F648F7}" type="pres">
      <dgm:prSet presAssocID="{AF150C7E-CA15-4C8B-9F6B-67C4F23C91CB}" presName="childNode" presStyleLbl="node1" presStyleIdx="5" presStyleCnt="6">
        <dgm:presLayoutVars>
          <dgm:bulletEnabled val="1"/>
        </dgm:presLayoutVars>
      </dgm:prSet>
      <dgm:spPr/>
    </dgm:pt>
  </dgm:ptLst>
  <dgm:cxnLst>
    <dgm:cxn modelId="{F1720007-B103-4C46-A7A6-365B557F545A}" type="presOf" srcId="{5DABBA6F-4663-49AF-9745-4315EA8B4AF5}" destId="{5B07B5E5-314E-473E-8DC9-2A0BB360965B}" srcOrd="0" destOrd="0" presId="urn:microsoft.com/office/officeart/2005/8/layout/lProcess2"/>
    <dgm:cxn modelId="{46699A08-A65F-444C-9FEF-1CE10855DB91}" srcId="{9FA085CC-DADE-4DAF-8E45-5DB1A43861E7}" destId="{AF150C7E-CA15-4C8B-9F6B-67C4F23C91CB}" srcOrd="1" destOrd="0" parTransId="{13A70DBF-9306-4C6B-B453-EA2A4146A6BB}" sibTransId="{3DB212D0-EBB6-4E80-8A1E-792F82B4929C}"/>
    <dgm:cxn modelId="{47A9990F-D7AD-43AF-8532-867D09D34DD9}" srcId="{6B59B3C6-7C35-4CC8-83C1-989788779C8B}" destId="{5DABBA6F-4663-49AF-9745-4315EA8B4AF5}" srcOrd="0" destOrd="0" parTransId="{C4F474BB-759D-4AA9-8A20-B678416FBBEB}" sibTransId="{175525FC-8ED0-4981-8CEE-106A9E79ABC9}"/>
    <dgm:cxn modelId="{DF27321A-C3A4-44A8-A615-7AF0F6C4A527}" srcId="{6B59B3C6-7C35-4CC8-83C1-989788779C8B}" destId="{B2380F18-DE40-4283-B0B7-18AB1126B736}" srcOrd="1" destOrd="0" parTransId="{DCBA0BC0-DBC9-42A3-A37B-823425F2AD59}" sibTransId="{E46BAD01-E693-413F-94E2-8F7D806EA307}"/>
    <dgm:cxn modelId="{523A3D1C-23A9-4973-A3EC-58A4A093E1B3}" type="presOf" srcId="{6B59B3C6-7C35-4CC8-83C1-989788779C8B}" destId="{668DB563-32DB-44AA-9480-4575225328B5}" srcOrd="1" destOrd="0" presId="urn:microsoft.com/office/officeart/2005/8/layout/lProcess2"/>
    <dgm:cxn modelId="{7B06B037-C259-41C0-AFCE-D6A8E23DECDE}" srcId="{41DD4D5B-20B8-42F2-83A2-503B8ADBA661}" destId="{60BB045F-5AE2-4C03-9652-7C52FCFFA3F5}" srcOrd="0" destOrd="0" parTransId="{ECC5639D-B61F-4EBE-AABB-5E1F6959BEBA}" sibTransId="{25F75D2B-FCC6-4DA7-8E19-3F5DFAF9EF88}"/>
    <dgm:cxn modelId="{228E4B39-D238-44D3-B7F4-F77DA2466FAF}" type="presOf" srcId="{9FA085CC-DADE-4DAF-8E45-5DB1A43861E7}" destId="{B63F8D07-10CB-4EFB-8DE1-94F7AC56B07A}" srcOrd="0" destOrd="0" presId="urn:microsoft.com/office/officeart/2005/8/layout/lProcess2"/>
    <dgm:cxn modelId="{42CF383C-30C7-4D65-93EB-C832EB8F2F6A}" srcId="{9FA085CC-DADE-4DAF-8E45-5DB1A43861E7}" destId="{1BF32F22-02C4-411C-95E7-60B1287D469A}" srcOrd="0" destOrd="0" parTransId="{9B12F7AE-722A-46F2-83D1-A3218B667E12}" sibTransId="{6B1C30AC-53F0-4C2D-AD1F-E2BB51A02489}"/>
    <dgm:cxn modelId="{490B4643-F0D8-43DA-918F-B73BA68C7885}" type="presOf" srcId="{AF150C7E-CA15-4C8B-9F6B-67C4F23C91CB}" destId="{FDA93177-ED83-4F58-8A09-022300F648F7}" srcOrd="0" destOrd="0" presId="urn:microsoft.com/office/officeart/2005/8/layout/lProcess2"/>
    <dgm:cxn modelId="{01969B4D-7D10-4A9A-9965-7970F3AD1359}" type="presOf" srcId="{60BB045F-5AE2-4C03-9652-7C52FCFFA3F5}" destId="{C2D1757F-B4CD-4FD0-B496-BAEC98A20C0E}" srcOrd="0" destOrd="0" presId="urn:microsoft.com/office/officeart/2005/8/layout/lProcess2"/>
    <dgm:cxn modelId="{74BBDA82-F003-4930-B6D0-DB79185A0BE7}" srcId="{41DD4D5B-20B8-42F2-83A2-503B8ADBA661}" destId="{A8EEB538-4A04-4BFC-A178-D75007507B2B}" srcOrd="1" destOrd="0" parTransId="{950CB1FE-9F51-46D0-B1EB-128811C67540}" sibTransId="{9421C993-3E74-470D-A423-269305C7163A}"/>
    <dgm:cxn modelId="{5FC6B194-BFBA-447E-87A9-494FCE0E36E2}" type="presOf" srcId="{41DD4D5B-20B8-42F2-83A2-503B8ADBA661}" destId="{4B901892-91E6-484F-99DC-C49157799B30}" srcOrd="0" destOrd="0" presId="urn:microsoft.com/office/officeart/2005/8/layout/lProcess2"/>
    <dgm:cxn modelId="{F71BBA9B-4BE1-4B94-9DD4-68E228E5B877}" type="presOf" srcId="{1BF32F22-02C4-411C-95E7-60B1287D469A}" destId="{CA6501A9-E9B2-4FDB-B235-E65722600ABF}" srcOrd="0" destOrd="0" presId="urn:microsoft.com/office/officeart/2005/8/layout/lProcess2"/>
    <dgm:cxn modelId="{B7B21BA7-C04D-402E-B128-34898EEBEE68}" type="presOf" srcId="{AC031FF0-F41D-403B-B7CF-4E5E57CF2A79}" destId="{3C27591A-BBA3-40EE-97D5-FE380A5E1F43}" srcOrd="0" destOrd="0" presId="urn:microsoft.com/office/officeart/2005/8/layout/lProcess2"/>
    <dgm:cxn modelId="{15C494AA-BC03-4856-BED3-54F9F4262EDD}" type="presOf" srcId="{41DD4D5B-20B8-42F2-83A2-503B8ADBA661}" destId="{79F13D27-127E-4F00-8757-2F3F7EBD6F6A}" srcOrd="1" destOrd="0" presId="urn:microsoft.com/office/officeart/2005/8/layout/lProcess2"/>
    <dgm:cxn modelId="{1F126CBC-00A2-4C46-9F87-9A29CED1E6AF}" type="presOf" srcId="{B2380F18-DE40-4283-B0B7-18AB1126B736}" destId="{287F1102-12CB-4C03-ABAC-3BC3002B5034}" srcOrd="0" destOrd="0" presId="urn:microsoft.com/office/officeart/2005/8/layout/lProcess2"/>
    <dgm:cxn modelId="{77326FC1-3941-471C-B3AE-C0B070896AB1}" srcId="{AC031FF0-F41D-403B-B7CF-4E5E57CF2A79}" destId="{41DD4D5B-20B8-42F2-83A2-503B8ADBA661}" srcOrd="1" destOrd="0" parTransId="{FC1C9DCC-A44C-4D42-946D-DE5B846E3E44}" sibTransId="{A2A615DA-5439-4078-BCB3-593102D1F164}"/>
    <dgm:cxn modelId="{025F60D7-690F-46BD-8705-37A3C664AD45}" srcId="{AC031FF0-F41D-403B-B7CF-4E5E57CF2A79}" destId="{9FA085CC-DADE-4DAF-8E45-5DB1A43861E7}" srcOrd="2" destOrd="0" parTransId="{ECC9EB09-FE7B-410B-A5D7-209AD23D43F4}" sibTransId="{32982136-728F-483F-AB9A-513B7ACD9757}"/>
    <dgm:cxn modelId="{9F117BE3-CAC2-4A99-81C8-78E1966AA02D}" type="presOf" srcId="{6B59B3C6-7C35-4CC8-83C1-989788779C8B}" destId="{9F87E8D7-4CC4-4A10-8B5A-226324BF84DA}" srcOrd="0" destOrd="0" presId="urn:microsoft.com/office/officeart/2005/8/layout/lProcess2"/>
    <dgm:cxn modelId="{F79EA9E7-84FC-4B94-B4DE-91C13AF553D6}" type="presOf" srcId="{A8EEB538-4A04-4BFC-A178-D75007507B2B}" destId="{8E31351C-0495-4B2E-83FD-E10322702123}" srcOrd="0" destOrd="0" presId="urn:microsoft.com/office/officeart/2005/8/layout/lProcess2"/>
    <dgm:cxn modelId="{5EC913E8-0A3D-427C-9FBD-6F7C41E6E0F7}" type="presOf" srcId="{9FA085CC-DADE-4DAF-8E45-5DB1A43861E7}" destId="{2772A74E-64AF-40D6-AB56-5A4ABE85CE8F}" srcOrd="1" destOrd="0" presId="urn:microsoft.com/office/officeart/2005/8/layout/lProcess2"/>
    <dgm:cxn modelId="{17842CF1-A69E-4187-AFA3-90BBFD5B5ED1}" srcId="{AC031FF0-F41D-403B-B7CF-4E5E57CF2A79}" destId="{6B59B3C6-7C35-4CC8-83C1-989788779C8B}" srcOrd="0" destOrd="0" parTransId="{C5E68266-FEE2-4323-A9FA-11DBC3EADE9D}" sibTransId="{9B8149F9-4463-4D05-A621-FE7BA6F3D4E9}"/>
    <dgm:cxn modelId="{A44BD15A-890F-4D5B-91C2-B2688C2B01E1}" type="presParOf" srcId="{3C27591A-BBA3-40EE-97D5-FE380A5E1F43}" destId="{D4B7DD61-D44E-408E-BCCD-6A5F5D0A4427}" srcOrd="0" destOrd="0" presId="urn:microsoft.com/office/officeart/2005/8/layout/lProcess2"/>
    <dgm:cxn modelId="{36FD55EA-5E50-4884-82F5-092CAC093C75}" type="presParOf" srcId="{D4B7DD61-D44E-408E-BCCD-6A5F5D0A4427}" destId="{9F87E8D7-4CC4-4A10-8B5A-226324BF84DA}" srcOrd="0" destOrd="0" presId="urn:microsoft.com/office/officeart/2005/8/layout/lProcess2"/>
    <dgm:cxn modelId="{C2C2F60F-5801-455D-8FFA-706767DD3095}" type="presParOf" srcId="{D4B7DD61-D44E-408E-BCCD-6A5F5D0A4427}" destId="{668DB563-32DB-44AA-9480-4575225328B5}" srcOrd="1" destOrd="0" presId="urn:microsoft.com/office/officeart/2005/8/layout/lProcess2"/>
    <dgm:cxn modelId="{F5EF2DFD-3080-4982-8EAB-72F38C07D738}" type="presParOf" srcId="{D4B7DD61-D44E-408E-BCCD-6A5F5D0A4427}" destId="{D326D293-6B4F-4D50-8DC0-CA5D0459A31E}" srcOrd="2" destOrd="0" presId="urn:microsoft.com/office/officeart/2005/8/layout/lProcess2"/>
    <dgm:cxn modelId="{5FBA2828-C29F-4500-B561-52A8A1FD2244}" type="presParOf" srcId="{D326D293-6B4F-4D50-8DC0-CA5D0459A31E}" destId="{07DF7586-1134-4B62-B370-592B2C42FC4B}" srcOrd="0" destOrd="0" presId="urn:microsoft.com/office/officeart/2005/8/layout/lProcess2"/>
    <dgm:cxn modelId="{18D0489F-D4D2-4C01-9F74-C8A9752CB5D9}" type="presParOf" srcId="{07DF7586-1134-4B62-B370-592B2C42FC4B}" destId="{5B07B5E5-314E-473E-8DC9-2A0BB360965B}" srcOrd="0" destOrd="0" presId="urn:microsoft.com/office/officeart/2005/8/layout/lProcess2"/>
    <dgm:cxn modelId="{4B3B4E93-1CF6-44DA-869E-CC7A5D8ED515}" type="presParOf" srcId="{07DF7586-1134-4B62-B370-592B2C42FC4B}" destId="{C20A07AB-72EC-4ABA-B6BB-419435E79B7C}" srcOrd="1" destOrd="0" presId="urn:microsoft.com/office/officeart/2005/8/layout/lProcess2"/>
    <dgm:cxn modelId="{4EBA8F8F-1128-48CF-9289-B44D63A1ED56}" type="presParOf" srcId="{07DF7586-1134-4B62-B370-592B2C42FC4B}" destId="{287F1102-12CB-4C03-ABAC-3BC3002B5034}" srcOrd="2" destOrd="0" presId="urn:microsoft.com/office/officeart/2005/8/layout/lProcess2"/>
    <dgm:cxn modelId="{B5399840-334A-4B26-BC3E-0C4B646A00E2}" type="presParOf" srcId="{3C27591A-BBA3-40EE-97D5-FE380A5E1F43}" destId="{A6A99B91-B4B3-4DA0-8319-7202C0520AA6}" srcOrd="1" destOrd="0" presId="urn:microsoft.com/office/officeart/2005/8/layout/lProcess2"/>
    <dgm:cxn modelId="{DF71C79A-4A9A-46DC-AE4D-D7F522072F5F}" type="presParOf" srcId="{3C27591A-BBA3-40EE-97D5-FE380A5E1F43}" destId="{ADB4878F-A8E8-468E-B0B4-D404543F9DD2}" srcOrd="2" destOrd="0" presId="urn:microsoft.com/office/officeart/2005/8/layout/lProcess2"/>
    <dgm:cxn modelId="{06F2023B-DDD5-4C1C-806D-ECD31722E3E0}" type="presParOf" srcId="{ADB4878F-A8E8-468E-B0B4-D404543F9DD2}" destId="{4B901892-91E6-484F-99DC-C49157799B30}" srcOrd="0" destOrd="0" presId="urn:microsoft.com/office/officeart/2005/8/layout/lProcess2"/>
    <dgm:cxn modelId="{D4B06928-3759-4C2A-AB49-A6B486C38A86}" type="presParOf" srcId="{ADB4878F-A8E8-468E-B0B4-D404543F9DD2}" destId="{79F13D27-127E-4F00-8757-2F3F7EBD6F6A}" srcOrd="1" destOrd="0" presId="urn:microsoft.com/office/officeart/2005/8/layout/lProcess2"/>
    <dgm:cxn modelId="{E217562A-1941-4587-AFC7-F7D8FE599E5B}" type="presParOf" srcId="{ADB4878F-A8E8-468E-B0B4-D404543F9DD2}" destId="{7F188B08-4E71-4F7C-9C52-CD7BD2B309F4}" srcOrd="2" destOrd="0" presId="urn:microsoft.com/office/officeart/2005/8/layout/lProcess2"/>
    <dgm:cxn modelId="{FB5E0474-BDD9-4649-BFDA-EBD0113A9382}" type="presParOf" srcId="{7F188B08-4E71-4F7C-9C52-CD7BD2B309F4}" destId="{47039871-F57A-4351-A2C4-83633CF354FC}" srcOrd="0" destOrd="0" presId="urn:microsoft.com/office/officeart/2005/8/layout/lProcess2"/>
    <dgm:cxn modelId="{64BDF366-DCDD-459F-9607-646D4AF189A7}" type="presParOf" srcId="{47039871-F57A-4351-A2C4-83633CF354FC}" destId="{C2D1757F-B4CD-4FD0-B496-BAEC98A20C0E}" srcOrd="0" destOrd="0" presId="urn:microsoft.com/office/officeart/2005/8/layout/lProcess2"/>
    <dgm:cxn modelId="{86765427-97DB-4A5B-BBA6-A53AC395F806}" type="presParOf" srcId="{47039871-F57A-4351-A2C4-83633CF354FC}" destId="{29587560-6CA5-447C-8E52-EDFD1FAF6F57}" srcOrd="1" destOrd="0" presId="urn:microsoft.com/office/officeart/2005/8/layout/lProcess2"/>
    <dgm:cxn modelId="{4F929D2A-132B-42E8-9498-EA0F852A0C61}" type="presParOf" srcId="{47039871-F57A-4351-A2C4-83633CF354FC}" destId="{8E31351C-0495-4B2E-83FD-E10322702123}" srcOrd="2" destOrd="0" presId="urn:microsoft.com/office/officeart/2005/8/layout/lProcess2"/>
    <dgm:cxn modelId="{AB03D3BF-08E6-47FD-9644-EFC8068444E4}" type="presParOf" srcId="{3C27591A-BBA3-40EE-97D5-FE380A5E1F43}" destId="{7C26D06D-AD67-4C1D-8C79-02FC3616E565}" srcOrd="3" destOrd="0" presId="urn:microsoft.com/office/officeart/2005/8/layout/lProcess2"/>
    <dgm:cxn modelId="{4B77C802-C016-4140-B97A-4603A8030476}" type="presParOf" srcId="{3C27591A-BBA3-40EE-97D5-FE380A5E1F43}" destId="{C821F0F7-A85A-4D57-AE18-28D4634D6EE3}" srcOrd="4" destOrd="0" presId="urn:microsoft.com/office/officeart/2005/8/layout/lProcess2"/>
    <dgm:cxn modelId="{A4E8CC6E-840D-41F7-B878-78C7C8BA9A2C}" type="presParOf" srcId="{C821F0F7-A85A-4D57-AE18-28D4634D6EE3}" destId="{B63F8D07-10CB-4EFB-8DE1-94F7AC56B07A}" srcOrd="0" destOrd="0" presId="urn:microsoft.com/office/officeart/2005/8/layout/lProcess2"/>
    <dgm:cxn modelId="{20EEE6C5-642C-432A-A7E5-55A0B5B7B358}" type="presParOf" srcId="{C821F0F7-A85A-4D57-AE18-28D4634D6EE3}" destId="{2772A74E-64AF-40D6-AB56-5A4ABE85CE8F}" srcOrd="1" destOrd="0" presId="urn:microsoft.com/office/officeart/2005/8/layout/lProcess2"/>
    <dgm:cxn modelId="{E32F16BF-F801-4A85-8EAD-678D71721160}" type="presParOf" srcId="{C821F0F7-A85A-4D57-AE18-28D4634D6EE3}" destId="{0891EAE7-8EDB-4B14-B5E1-8356BF8BDB28}" srcOrd="2" destOrd="0" presId="urn:microsoft.com/office/officeart/2005/8/layout/lProcess2"/>
    <dgm:cxn modelId="{8CC1E33F-C763-44DF-8D3F-30B1B21BED82}" type="presParOf" srcId="{0891EAE7-8EDB-4B14-B5E1-8356BF8BDB28}" destId="{7867F55E-9DBF-46C8-B83D-A4FDBF5996DA}" srcOrd="0" destOrd="0" presId="urn:microsoft.com/office/officeart/2005/8/layout/lProcess2"/>
    <dgm:cxn modelId="{BA32E9C1-7D66-4A96-B829-3ECDD6649FBD}" type="presParOf" srcId="{7867F55E-9DBF-46C8-B83D-A4FDBF5996DA}" destId="{CA6501A9-E9B2-4FDB-B235-E65722600ABF}" srcOrd="0" destOrd="0" presId="urn:microsoft.com/office/officeart/2005/8/layout/lProcess2"/>
    <dgm:cxn modelId="{89BB2802-EA89-4EB4-9269-F0DD54056F7B}" type="presParOf" srcId="{7867F55E-9DBF-46C8-B83D-A4FDBF5996DA}" destId="{69F19D73-E09E-45DB-8F20-775EA2B40239}" srcOrd="1" destOrd="0" presId="urn:microsoft.com/office/officeart/2005/8/layout/lProcess2"/>
    <dgm:cxn modelId="{37FD779B-C7B3-484E-923B-7F8E706CA1F4}" type="presParOf" srcId="{7867F55E-9DBF-46C8-B83D-A4FDBF5996DA}" destId="{FDA93177-ED83-4F58-8A09-022300F648F7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36FF90-9449-47AD-9DB6-A6A9194A65B3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2A28AF8C-E24B-462C-AC03-D2F6E200A98D}">
      <dgm:prSet phldrT="[Text]"/>
      <dgm:spPr/>
      <dgm:t>
        <a:bodyPr/>
        <a:lstStyle/>
        <a:p>
          <a:r>
            <a:rPr lang="en-US" b="1" dirty="0"/>
            <a:t>1950s-1970s</a:t>
          </a:r>
        </a:p>
        <a:p>
          <a:r>
            <a:rPr lang="en-US" dirty="0"/>
            <a:t>Bare-metal control loops</a:t>
          </a:r>
        </a:p>
      </dgm:t>
    </dgm:pt>
    <dgm:pt modelId="{4F752373-D87F-4BCD-B715-981E897C82D6}" type="parTrans" cxnId="{E9DE653E-387C-466C-8735-1AE8815CEF35}">
      <dgm:prSet/>
      <dgm:spPr/>
      <dgm:t>
        <a:bodyPr/>
        <a:lstStyle/>
        <a:p>
          <a:endParaRPr lang="en-US"/>
        </a:p>
      </dgm:t>
    </dgm:pt>
    <dgm:pt modelId="{96975209-342E-4B8E-A813-D085B0BA6CE8}" type="sibTrans" cxnId="{E9DE653E-387C-466C-8735-1AE8815CEF35}">
      <dgm:prSet/>
      <dgm:spPr/>
      <dgm:t>
        <a:bodyPr/>
        <a:lstStyle/>
        <a:p>
          <a:endParaRPr lang="en-US"/>
        </a:p>
      </dgm:t>
    </dgm:pt>
    <dgm:pt modelId="{3E4B5494-744A-446F-8777-9EB6A50A8CE5}">
      <dgm:prSet phldrT="[Text]"/>
      <dgm:spPr/>
      <dgm:t>
        <a:bodyPr/>
        <a:lstStyle/>
        <a:p>
          <a:r>
            <a:rPr lang="en-US" b="1" dirty="0"/>
            <a:t>1980s</a:t>
          </a:r>
        </a:p>
        <a:p>
          <a:r>
            <a:rPr lang="en-US" dirty="0"/>
            <a:t>“Interrupt driven” real-time</a:t>
          </a:r>
        </a:p>
      </dgm:t>
    </dgm:pt>
    <dgm:pt modelId="{8B7F7690-EB17-4A40-AED4-DCA4DABC0D4C}" type="parTrans" cxnId="{FF6AC8A9-2BB5-45AB-940A-0E07625003B7}">
      <dgm:prSet/>
      <dgm:spPr/>
      <dgm:t>
        <a:bodyPr/>
        <a:lstStyle/>
        <a:p>
          <a:endParaRPr lang="en-US"/>
        </a:p>
      </dgm:t>
    </dgm:pt>
    <dgm:pt modelId="{E0E04338-76C0-4D4E-9B76-496C38B2F04D}" type="sibTrans" cxnId="{FF6AC8A9-2BB5-45AB-940A-0E07625003B7}">
      <dgm:prSet/>
      <dgm:spPr/>
      <dgm:t>
        <a:bodyPr/>
        <a:lstStyle/>
        <a:p>
          <a:endParaRPr lang="en-US"/>
        </a:p>
      </dgm:t>
    </dgm:pt>
    <dgm:pt modelId="{133082C3-699C-4E21-B154-8FD0B5078ECA}">
      <dgm:prSet phldrT="[Text]"/>
      <dgm:spPr/>
      <dgm:t>
        <a:bodyPr/>
        <a:lstStyle/>
        <a:p>
          <a:r>
            <a:rPr lang="en-US" b="1" dirty="0"/>
            <a:t>2000s-now</a:t>
          </a:r>
        </a:p>
        <a:p>
          <a:r>
            <a:rPr lang="en-US" dirty="0">
              <a:solidFill>
                <a:srgbClr val="0070C0"/>
              </a:solidFill>
            </a:rPr>
            <a:t>Real-time Operating Systems </a:t>
          </a:r>
          <a:r>
            <a:rPr lang="en-US" dirty="0"/>
            <a:t>(RTOS)</a:t>
          </a:r>
        </a:p>
      </dgm:t>
    </dgm:pt>
    <dgm:pt modelId="{62482759-F94F-4F7B-B488-33296127B165}" type="parTrans" cxnId="{C0A1D68D-C0BA-4F6B-8122-699A713E542A}">
      <dgm:prSet/>
      <dgm:spPr/>
      <dgm:t>
        <a:bodyPr/>
        <a:lstStyle/>
        <a:p>
          <a:endParaRPr lang="en-US"/>
        </a:p>
      </dgm:t>
    </dgm:pt>
    <dgm:pt modelId="{440006AD-8566-4C48-A414-4010CD6F0DB3}" type="sibTrans" cxnId="{C0A1D68D-C0BA-4F6B-8122-699A713E542A}">
      <dgm:prSet/>
      <dgm:spPr/>
      <dgm:t>
        <a:bodyPr/>
        <a:lstStyle/>
        <a:p>
          <a:endParaRPr lang="en-US"/>
        </a:p>
      </dgm:t>
    </dgm:pt>
    <dgm:pt modelId="{36B4E661-38C4-4CAC-BB0A-C4DF9B9B1022}">
      <dgm:prSet phldrT="[Text]"/>
      <dgm:spPr/>
      <dgm:t>
        <a:bodyPr/>
        <a:lstStyle/>
        <a:p>
          <a:r>
            <a:rPr lang="en-US" b="1" dirty="0"/>
            <a:t>Late 1980s-1990s</a:t>
          </a:r>
        </a:p>
        <a:p>
          <a:r>
            <a:rPr lang="en-US" dirty="0"/>
            <a:t>Cooperative Scheduler</a:t>
          </a:r>
        </a:p>
      </dgm:t>
    </dgm:pt>
    <dgm:pt modelId="{F83FC2B3-0062-40A4-8315-CD0F866E21C1}" type="parTrans" cxnId="{E59650C0-5225-4BFA-B284-1C84850B21B4}">
      <dgm:prSet/>
      <dgm:spPr/>
      <dgm:t>
        <a:bodyPr/>
        <a:lstStyle/>
        <a:p>
          <a:endParaRPr lang="en-US"/>
        </a:p>
      </dgm:t>
    </dgm:pt>
    <dgm:pt modelId="{C22DDF78-3417-4961-A62E-259F6F32E554}" type="sibTrans" cxnId="{E59650C0-5225-4BFA-B284-1C84850B21B4}">
      <dgm:prSet/>
      <dgm:spPr/>
      <dgm:t>
        <a:bodyPr/>
        <a:lstStyle/>
        <a:p>
          <a:endParaRPr lang="en-US"/>
        </a:p>
      </dgm:t>
    </dgm:pt>
    <dgm:pt modelId="{916FC874-36D7-47EA-BD4C-7F8B06C6C937}" type="pres">
      <dgm:prSet presAssocID="{8A36FF90-9449-47AD-9DB6-A6A9194A65B3}" presName="Name0" presStyleCnt="0">
        <dgm:presLayoutVars>
          <dgm:dir/>
          <dgm:resizeHandles val="exact"/>
        </dgm:presLayoutVars>
      </dgm:prSet>
      <dgm:spPr/>
    </dgm:pt>
    <dgm:pt modelId="{0FA3ABCF-7458-4724-AA82-52C2EBAE9575}" type="pres">
      <dgm:prSet presAssocID="{8A36FF90-9449-47AD-9DB6-A6A9194A65B3}" presName="arrow" presStyleLbl="bgShp" presStyleIdx="0" presStyleCnt="1"/>
      <dgm:spPr/>
    </dgm:pt>
    <dgm:pt modelId="{4CF90225-4689-4CFC-B0BF-732059CFAC91}" type="pres">
      <dgm:prSet presAssocID="{8A36FF90-9449-47AD-9DB6-A6A9194A65B3}" presName="points" presStyleCnt="0"/>
      <dgm:spPr/>
    </dgm:pt>
    <dgm:pt modelId="{138C76C2-FB78-4ABA-A9FB-628EE8D31375}" type="pres">
      <dgm:prSet presAssocID="{2A28AF8C-E24B-462C-AC03-D2F6E200A98D}" presName="compositeA" presStyleCnt="0"/>
      <dgm:spPr/>
    </dgm:pt>
    <dgm:pt modelId="{9B5D67E4-DE03-436F-940E-F526FD562D03}" type="pres">
      <dgm:prSet presAssocID="{2A28AF8C-E24B-462C-AC03-D2F6E200A98D}" presName="textA" presStyleLbl="revTx" presStyleIdx="0" presStyleCnt="4">
        <dgm:presLayoutVars>
          <dgm:bulletEnabled val="1"/>
        </dgm:presLayoutVars>
      </dgm:prSet>
      <dgm:spPr/>
    </dgm:pt>
    <dgm:pt modelId="{8F314B47-EE10-4ECF-A2E9-4866E52F3148}" type="pres">
      <dgm:prSet presAssocID="{2A28AF8C-E24B-462C-AC03-D2F6E200A98D}" presName="circleA" presStyleLbl="node1" presStyleIdx="0" presStyleCnt="4"/>
      <dgm:spPr/>
    </dgm:pt>
    <dgm:pt modelId="{A2577CF9-5E9D-4B54-B3C2-6C828743A154}" type="pres">
      <dgm:prSet presAssocID="{2A28AF8C-E24B-462C-AC03-D2F6E200A98D}" presName="spaceA" presStyleCnt="0"/>
      <dgm:spPr/>
    </dgm:pt>
    <dgm:pt modelId="{426E4D64-1703-4A07-94F1-07C31888D29E}" type="pres">
      <dgm:prSet presAssocID="{96975209-342E-4B8E-A813-D085B0BA6CE8}" presName="space" presStyleCnt="0"/>
      <dgm:spPr/>
    </dgm:pt>
    <dgm:pt modelId="{5D58A3B0-DDCA-4CF4-83B2-CA9459377EB8}" type="pres">
      <dgm:prSet presAssocID="{3E4B5494-744A-446F-8777-9EB6A50A8CE5}" presName="compositeB" presStyleCnt="0"/>
      <dgm:spPr/>
    </dgm:pt>
    <dgm:pt modelId="{8684BC89-F1F1-403A-AEF7-2B84BD2B1336}" type="pres">
      <dgm:prSet presAssocID="{3E4B5494-744A-446F-8777-9EB6A50A8CE5}" presName="textB" presStyleLbl="revTx" presStyleIdx="1" presStyleCnt="4">
        <dgm:presLayoutVars>
          <dgm:bulletEnabled val="1"/>
        </dgm:presLayoutVars>
      </dgm:prSet>
      <dgm:spPr/>
    </dgm:pt>
    <dgm:pt modelId="{4049A219-B3E4-47FA-8989-7EBC6BCCB968}" type="pres">
      <dgm:prSet presAssocID="{3E4B5494-744A-446F-8777-9EB6A50A8CE5}" presName="circleB" presStyleLbl="node1" presStyleIdx="1" presStyleCnt="4"/>
      <dgm:spPr/>
    </dgm:pt>
    <dgm:pt modelId="{C2CFB80B-CF53-4EB1-9EF7-543F301B66D5}" type="pres">
      <dgm:prSet presAssocID="{3E4B5494-744A-446F-8777-9EB6A50A8CE5}" presName="spaceB" presStyleCnt="0"/>
      <dgm:spPr/>
    </dgm:pt>
    <dgm:pt modelId="{92BABFF2-C44D-4851-955F-85D415C9AC5E}" type="pres">
      <dgm:prSet presAssocID="{E0E04338-76C0-4D4E-9B76-496C38B2F04D}" presName="space" presStyleCnt="0"/>
      <dgm:spPr/>
    </dgm:pt>
    <dgm:pt modelId="{C2611C12-CACF-4ECE-B7B0-69DE4F8D5EBD}" type="pres">
      <dgm:prSet presAssocID="{36B4E661-38C4-4CAC-BB0A-C4DF9B9B1022}" presName="compositeA" presStyleCnt="0"/>
      <dgm:spPr/>
    </dgm:pt>
    <dgm:pt modelId="{855110B4-A0A1-4FBC-B041-4E1F61955281}" type="pres">
      <dgm:prSet presAssocID="{36B4E661-38C4-4CAC-BB0A-C4DF9B9B1022}" presName="textA" presStyleLbl="revTx" presStyleIdx="2" presStyleCnt="4">
        <dgm:presLayoutVars>
          <dgm:bulletEnabled val="1"/>
        </dgm:presLayoutVars>
      </dgm:prSet>
      <dgm:spPr/>
    </dgm:pt>
    <dgm:pt modelId="{5E5E4C12-A74C-450E-A393-2060A41962D3}" type="pres">
      <dgm:prSet presAssocID="{36B4E661-38C4-4CAC-BB0A-C4DF9B9B1022}" presName="circleA" presStyleLbl="node1" presStyleIdx="2" presStyleCnt="4"/>
      <dgm:spPr/>
    </dgm:pt>
    <dgm:pt modelId="{CC2768CD-991E-4AD7-8BDD-AF9FE4C97329}" type="pres">
      <dgm:prSet presAssocID="{36B4E661-38C4-4CAC-BB0A-C4DF9B9B1022}" presName="spaceA" presStyleCnt="0"/>
      <dgm:spPr/>
    </dgm:pt>
    <dgm:pt modelId="{EFE5260C-9FCF-4BEA-A4FC-38BD36E13CD0}" type="pres">
      <dgm:prSet presAssocID="{C22DDF78-3417-4961-A62E-259F6F32E554}" presName="space" presStyleCnt="0"/>
      <dgm:spPr/>
    </dgm:pt>
    <dgm:pt modelId="{F17846BB-FA15-4068-A2BB-FEFB1004A327}" type="pres">
      <dgm:prSet presAssocID="{133082C3-699C-4E21-B154-8FD0B5078ECA}" presName="compositeB" presStyleCnt="0"/>
      <dgm:spPr/>
    </dgm:pt>
    <dgm:pt modelId="{DE831309-2A81-41F9-9E89-82672E577D57}" type="pres">
      <dgm:prSet presAssocID="{133082C3-699C-4E21-B154-8FD0B5078ECA}" presName="textB" presStyleLbl="revTx" presStyleIdx="3" presStyleCnt="4">
        <dgm:presLayoutVars>
          <dgm:bulletEnabled val="1"/>
        </dgm:presLayoutVars>
      </dgm:prSet>
      <dgm:spPr/>
    </dgm:pt>
    <dgm:pt modelId="{3E62D2C5-6D80-478E-B033-439B27D97E01}" type="pres">
      <dgm:prSet presAssocID="{133082C3-699C-4E21-B154-8FD0B5078ECA}" presName="circleB" presStyleLbl="node1" presStyleIdx="3" presStyleCnt="4"/>
      <dgm:spPr/>
    </dgm:pt>
    <dgm:pt modelId="{CF2587C9-7E07-439F-B4B0-39BF1FCE767D}" type="pres">
      <dgm:prSet presAssocID="{133082C3-699C-4E21-B154-8FD0B5078ECA}" presName="spaceB" presStyleCnt="0"/>
      <dgm:spPr/>
    </dgm:pt>
  </dgm:ptLst>
  <dgm:cxnLst>
    <dgm:cxn modelId="{E9DE653E-387C-466C-8735-1AE8815CEF35}" srcId="{8A36FF90-9449-47AD-9DB6-A6A9194A65B3}" destId="{2A28AF8C-E24B-462C-AC03-D2F6E200A98D}" srcOrd="0" destOrd="0" parTransId="{4F752373-D87F-4BCD-B715-981E897C82D6}" sibTransId="{96975209-342E-4B8E-A813-D085B0BA6CE8}"/>
    <dgm:cxn modelId="{F77B9660-F7C7-4120-B3D5-3B7AF0040829}" type="presOf" srcId="{36B4E661-38C4-4CAC-BB0A-C4DF9B9B1022}" destId="{855110B4-A0A1-4FBC-B041-4E1F61955281}" srcOrd="0" destOrd="0" presId="urn:microsoft.com/office/officeart/2005/8/layout/hProcess11"/>
    <dgm:cxn modelId="{C0A1D68D-C0BA-4F6B-8122-699A713E542A}" srcId="{8A36FF90-9449-47AD-9DB6-A6A9194A65B3}" destId="{133082C3-699C-4E21-B154-8FD0B5078ECA}" srcOrd="3" destOrd="0" parTransId="{62482759-F94F-4F7B-B488-33296127B165}" sibTransId="{440006AD-8566-4C48-A414-4010CD6F0DB3}"/>
    <dgm:cxn modelId="{CBF6EC8E-2113-4553-9B39-49A2954093A0}" type="presOf" srcId="{8A36FF90-9449-47AD-9DB6-A6A9194A65B3}" destId="{916FC874-36D7-47EA-BD4C-7F8B06C6C937}" srcOrd="0" destOrd="0" presId="urn:microsoft.com/office/officeart/2005/8/layout/hProcess11"/>
    <dgm:cxn modelId="{7AD39EA2-A3B5-41EF-AD0E-A565231E45C3}" type="presOf" srcId="{3E4B5494-744A-446F-8777-9EB6A50A8CE5}" destId="{8684BC89-F1F1-403A-AEF7-2B84BD2B1336}" srcOrd="0" destOrd="0" presId="urn:microsoft.com/office/officeart/2005/8/layout/hProcess11"/>
    <dgm:cxn modelId="{FF6AC8A9-2BB5-45AB-940A-0E07625003B7}" srcId="{8A36FF90-9449-47AD-9DB6-A6A9194A65B3}" destId="{3E4B5494-744A-446F-8777-9EB6A50A8CE5}" srcOrd="1" destOrd="0" parTransId="{8B7F7690-EB17-4A40-AED4-DCA4DABC0D4C}" sibTransId="{E0E04338-76C0-4D4E-9B76-496C38B2F04D}"/>
    <dgm:cxn modelId="{E59650C0-5225-4BFA-B284-1C84850B21B4}" srcId="{8A36FF90-9449-47AD-9DB6-A6A9194A65B3}" destId="{36B4E661-38C4-4CAC-BB0A-C4DF9B9B1022}" srcOrd="2" destOrd="0" parTransId="{F83FC2B3-0062-40A4-8315-CD0F866E21C1}" sibTransId="{C22DDF78-3417-4961-A62E-259F6F32E554}"/>
    <dgm:cxn modelId="{07F4EEEB-1F5E-402E-AF94-1BF9BF6EE128}" type="presOf" srcId="{2A28AF8C-E24B-462C-AC03-D2F6E200A98D}" destId="{9B5D67E4-DE03-436F-940E-F526FD562D03}" srcOrd="0" destOrd="0" presId="urn:microsoft.com/office/officeart/2005/8/layout/hProcess11"/>
    <dgm:cxn modelId="{899AD4F7-E24F-4709-86C0-DC7300200FD8}" type="presOf" srcId="{133082C3-699C-4E21-B154-8FD0B5078ECA}" destId="{DE831309-2A81-41F9-9E89-82672E577D57}" srcOrd="0" destOrd="0" presId="urn:microsoft.com/office/officeart/2005/8/layout/hProcess11"/>
    <dgm:cxn modelId="{42196337-5A8C-4BD3-81FB-078E3E3A65D1}" type="presParOf" srcId="{916FC874-36D7-47EA-BD4C-7F8B06C6C937}" destId="{0FA3ABCF-7458-4724-AA82-52C2EBAE9575}" srcOrd="0" destOrd="0" presId="urn:microsoft.com/office/officeart/2005/8/layout/hProcess11"/>
    <dgm:cxn modelId="{5DF3294F-528B-4B81-BB28-4AA6339540CF}" type="presParOf" srcId="{916FC874-36D7-47EA-BD4C-7F8B06C6C937}" destId="{4CF90225-4689-4CFC-B0BF-732059CFAC91}" srcOrd="1" destOrd="0" presId="urn:microsoft.com/office/officeart/2005/8/layout/hProcess11"/>
    <dgm:cxn modelId="{94048F3D-ACFB-4967-A6D5-3A1C69437FE3}" type="presParOf" srcId="{4CF90225-4689-4CFC-B0BF-732059CFAC91}" destId="{138C76C2-FB78-4ABA-A9FB-628EE8D31375}" srcOrd="0" destOrd="0" presId="urn:microsoft.com/office/officeart/2005/8/layout/hProcess11"/>
    <dgm:cxn modelId="{C86F6096-1756-400F-8599-92B1110B66D5}" type="presParOf" srcId="{138C76C2-FB78-4ABA-A9FB-628EE8D31375}" destId="{9B5D67E4-DE03-436F-940E-F526FD562D03}" srcOrd="0" destOrd="0" presId="urn:microsoft.com/office/officeart/2005/8/layout/hProcess11"/>
    <dgm:cxn modelId="{8B6F8367-E673-48F2-9AB5-56E44378347A}" type="presParOf" srcId="{138C76C2-FB78-4ABA-A9FB-628EE8D31375}" destId="{8F314B47-EE10-4ECF-A2E9-4866E52F3148}" srcOrd="1" destOrd="0" presId="urn:microsoft.com/office/officeart/2005/8/layout/hProcess11"/>
    <dgm:cxn modelId="{618DE33E-1DE5-494C-B897-42327272F353}" type="presParOf" srcId="{138C76C2-FB78-4ABA-A9FB-628EE8D31375}" destId="{A2577CF9-5E9D-4B54-B3C2-6C828743A154}" srcOrd="2" destOrd="0" presId="urn:microsoft.com/office/officeart/2005/8/layout/hProcess11"/>
    <dgm:cxn modelId="{EEB8CF48-672B-4280-A3F1-BEA229655551}" type="presParOf" srcId="{4CF90225-4689-4CFC-B0BF-732059CFAC91}" destId="{426E4D64-1703-4A07-94F1-07C31888D29E}" srcOrd="1" destOrd="0" presId="urn:microsoft.com/office/officeart/2005/8/layout/hProcess11"/>
    <dgm:cxn modelId="{A32FD7FA-AD68-419C-925F-456678EE585D}" type="presParOf" srcId="{4CF90225-4689-4CFC-B0BF-732059CFAC91}" destId="{5D58A3B0-DDCA-4CF4-83B2-CA9459377EB8}" srcOrd="2" destOrd="0" presId="urn:microsoft.com/office/officeart/2005/8/layout/hProcess11"/>
    <dgm:cxn modelId="{9BC91999-C1B3-435E-B51C-31B4C5D18204}" type="presParOf" srcId="{5D58A3B0-DDCA-4CF4-83B2-CA9459377EB8}" destId="{8684BC89-F1F1-403A-AEF7-2B84BD2B1336}" srcOrd="0" destOrd="0" presId="urn:microsoft.com/office/officeart/2005/8/layout/hProcess11"/>
    <dgm:cxn modelId="{2AD4065C-DF6E-4E07-ABEC-708F62D4674A}" type="presParOf" srcId="{5D58A3B0-DDCA-4CF4-83B2-CA9459377EB8}" destId="{4049A219-B3E4-47FA-8989-7EBC6BCCB968}" srcOrd="1" destOrd="0" presId="urn:microsoft.com/office/officeart/2005/8/layout/hProcess11"/>
    <dgm:cxn modelId="{92EB8B23-AAC0-41C9-8CFC-66EF588F7C1D}" type="presParOf" srcId="{5D58A3B0-DDCA-4CF4-83B2-CA9459377EB8}" destId="{C2CFB80B-CF53-4EB1-9EF7-543F301B66D5}" srcOrd="2" destOrd="0" presId="urn:microsoft.com/office/officeart/2005/8/layout/hProcess11"/>
    <dgm:cxn modelId="{F88693DB-5070-4837-9073-0974733561B4}" type="presParOf" srcId="{4CF90225-4689-4CFC-B0BF-732059CFAC91}" destId="{92BABFF2-C44D-4851-955F-85D415C9AC5E}" srcOrd="3" destOrd="0" presId="urn:microsoft.com/office/officeart/2005/8/layout/hProcess11"/>
    <dgm:cxn modelId="{D9E08ACD-22F9-4FF0-8826-5E10979D18DA}" type="presParOf" srcId="{4CF90225-4689-4CFC-B0BF-732059CFAC91}" destId="{C2611C12-CACF-4ECE-B7B0-69DE4F8D5EBD}" srcOrd="4" destOrd="0" presId="urn:microsoft.com/office/officeart/2005/8/layout/hProcess11"/>
    <dgm:cxn modelId="{CD5254FA-5A2F-4928-9529-830E1C9EF25D}" type="presParOf" srcId="{C2611C12-CACF-4ECE-B7B0-69DE4F8D5EBD}" destId="{855110B4-A0A1-4FBC-B041-4E1F61955281}" srcOrd="0" destOrd="0" presId="urn:microsoft.com/office/officeart/2005/8/layout/hProcess11"/>
    <dgm:cxn modelId="{A3602538-FFD2-4E48-83B7-52B084E32217}" type="presParOf" srcId="{C2611C12-CACF-4ECE-B7B0-69DE4F8D5EBD}" destId="{5E5E4C12-A74C-450E-A393-2060A41962D3}" srcOrd="1" destOrd="0" presId="urn:microsoft.com/office/officeart/2005/8/layout/hProcess11"/>
    <dgm:cxn modelId="{32398EF8-6050-41C4-ABDC-E3A84FF8281C}" type="presParOf" srcId="{C2611C12-CACF-4ECE-B7B0-69DE4F8D5EBD}" destId="{CC2768CD-991E-4AD7-8BDD-AF9FE4C97329}" srcOrd="2" destOrd="0" presId="urn:microsoft.com/office/officeart/2005/8/layout/hProcess11"/>
    <dgm:cxn modelId="{950BBFE2-A318-4999-AD22-798A8199AACD}" type="presParOf" srcId="{4CF90225-4689-4CFC-B0BF-732059CFAC91}" destId="{EFE5260C-9FCF-4BEA-A4FC-38BD36E13CD0}" srcOrd="5" destOrd="0" presId="urn:microsoft.com/office/officeart/2005/8/layout/hProcess11"/>
    <dgm:cxn modelId="{7A7D9348-CA4E-4CF2-82CA-200F442956F0}" type="presParOf" srcId="{4CF90225-4689-4CFC-B0BF-732059CFAC91}" destId="{F17846BB-FA15-4068-A2BB-FEFB1004A327}" srcOrd="6" destOrd="0" presId="urn:microsoft.com/office/officeart/2005/8/layout/hProcess11"/>
    <dgm:cxn modelId="{1C556490-451C-4827-8249-EF731340A4CC}" type="presParOf" srcId="{F17846BB-FA15-4068-A2BB-FEFB1004A327}" destId="{DE831309-2A81-41F9-9E89-82672E577D57}" srcOrd="0" destOrd="0" presId="urn:microsoft.com/office/officeart/2005/8/layout/hProcess11"/>
    <dgm:cxn modelId="{DC26A37D-9FC7-47C6-9C8A-5FE030417A38}" type="presParOf" srcId="{F17846BB-FA15-4068-A2BB-FEFB1004A327}" destId="{3E62D2C5-6D80-478E-B033-439B27D97E01}" srcOrd="1" destOrd="0" presId="urn:microsoft.com/office/officeart/2005/8/layout/hProcess11"/>
    <dgm:cxn modelId="{ED1ADCEF-0E6E-4334-976B-E04EEB31DF0F}" type="presParOf" srcId="{F17846BB-FA15-4068-A2BB-FEFB1004A327}" destId="{CF2587C9-7E07-439F-B4B0-39BF1FCE767D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87E8D7-4CC4-4A10-8B5A-226324BF84DA}">
      <dsp:nvSpPr>
        <dsp:cNvPr id="0" name=""/>
        <dsp:cNvSpPr/>
      </dsp:nvSpPr>
      <dsp:spPr>
        <a:xfrm>
          <a:off x="1364" y="0"/>
          <a:ext cx="3547412" cy="446499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Low-level 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(real-time)</a:t>
          </a:r>
        </a:p>
      </dsp:txBody>
      <dsp:txXfrm>
        <a:off x="1364" y="0"/>
        <a:ext cx="3547412" cy="1339498"/>
      </dsp:txXfrm>
    </dsp:sp>
    <dsp:sp modelId="{5B07B5E5-314E-473E-8DC9-2A0BB360965B}">
      <dsp:nvSpPr>
        <dsp:cNvPr id="0" name=""/>
        <dsp:cNvSpPr/>
      </dsp:nvSpPr>
      <dsp:spPr>
        <a:xfrm>
          <a:off x="356105" y="1340806"/>
          <a:ext cx="2837930" cy="1346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1" kern="1200" dirty="0"/>
            <a:t>Purpose: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kern="1200" dirty="0"/>
            <a:t>- Directly controls actuators, motors, and sensors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kern="1200" dirty="0"/>
            <a:t>- Must respond in few milliseconds</a:t>
          </a:r>
        </a:p>
      </dsp:txBody>
      <dsp:txXfrm>
        <a:off x="395536" y="1380237"/>
        <a:ext cx="2759068" cy="1267395"/>
      </dsp:txXfrm>
    </dsp:sp>
    <dsp:sp modelId="{287F1102-12CB-4C03-ABAC-3BC3002B5034}">
      <dsp:nvSpPr>
        <dsp:cNvPr id="0" name=""/>
        <dsp:cNvSpPr/>
      </dsp:nvSpPr>
      <dsp:spPr>
        <a:xfrm>
          <a:off x="356105" y="2894180"/>
          <a:ext cx="2837930" cy="1346257"/>
        </a:xfrm>
        <a:prstGeom prst="roundRect">
          <a:avLst>
            <a:gd name="adj" fmla="val 10000"/>
          </a:avLst>
        </a:prstGeom>
        <a:solidFill>
          <a:schemeClr val="accent3">
            <a:hueOff val="-282838"/>
            <a:satOff val="1285"/>
            <a:lumOff val="-14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Hardware: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- Microcontroller, Real-time Processor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- FPGA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- Free RTOS, Zephyr</a:t>
          </a:r>
        </a:p>
      </dsp:txBody>
      <dsp:txXfrm>
        <a:off x="395536" y="2933611"/>
        <a:ext cx="2759068" cy="1267395"/>
      </dsp:txXfrm>
    </dsp:sp>
    <dsp:sp modelId="{4B901892-91E6-484F-99DC-C49157799B30}">
      <dsp:nvSpPr>
        <dsp:cNvPr id="0" name=""/>
        <dsp:cNvSpPr/>
      </dsp:nvSpPr>
      <dsp:spPr>
        <a:xfrm>
          <a:off x="3814833" y="0"/>
          <a:ext cx="3547412" cy="446499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Intermediate-level 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(soft real-time or near real-time)</a:t>
          </a:r>
        </a:p>
      </dsp:txBody>
      <dsp:txXfrm>
        <a:off x="3814833" y="0"/>
        <a:ext cx="3547412" cy="1339498"/>
      </dsp:txXfrm>
    </dsp:sp>
    <dsp:sp modelId="{C2D1757F-B4CD-4FD0-B496-BAEC98A20C0E}">
      <dsp:nvSpPr>
        <dsp:cNvPr id="0" name=""/>
        <dsp:cNvSpPr/>
      </dsp:nvSpPr>
      <dsp:spPr>
        <a:xfrm>
          <a:off x="4169574" y="1340806"/>
          <a:ext cx="2837930" cy="1346257"/>
        </a:xfrm>
        <a:prstGeom prst="roundRect">
          <a:avLst>
            <a:gd name="adj" fmla="val 10000"/>
          </a:avLst>
        </a:prstGeom>
        <a:solidFill>
          <a:schemeClr val="accent3">
            <a:hueOff val="-565677"/>
            <a:satOff val="2570"/>
            <a:lumOff val="-298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Purpose: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 Navigating, digital signal processing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Time scale of </a:t>
          </a:r>
          <a:r>
            <a:rPr lang="en-US" sz="1600" kern="1200" dirty="0" err="1"/>
            <a:t>ms</a:t>
          </a:r>
          <a:r>
            <a:rPr lang="en-US" sz="1600" kern="1200" dirty="0"/>
            <a:t> to seconds</a:t>
          </a:r>
        </a:p>
      </dsp:txBody>
      <dsp:txXfrm>
        <a:off x="4209005" y="1380237"/>
        <a:ext cx="2759068" cy="1267395"/>
      </dsp:txXfrm>
    </dsp:sp>
    <dsp:sp modelId="{8E31351C-0495-4B2E-83FD-E10322702123}">
      <dsp:nvSpPr>
        <dsp:cNvPr id="0" name=""/>
        <dsp:cNvSpPr/>
      </dsp:nvSpPr>
      <dsp:spPr>
        <a:xfrm>
          <a:off x="4169574" y="2894180"/>
          <a:ext cx="2837930" cy="1346257"/>
        </a:xfrm>
        <a:prstGeom prst="roundRect">
          <a:avLst>
            <a:gd name="adj" fmla="val 10000"/>
          </a:avLst>
        </a:prstGeom>
        <a:solidFill>
          <a:schemeClr val="accent3">
            <a:hueOff val="-848515"/>
            <a:satOff val="3855"/>
            <a:lumOff val="-4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Hardware: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 Single-board computer (raspberry pi, orange pi…)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 Linux OS, ROS</a:t>
          </a:r>
        </a:p>
      </dsp:txBody>
      <dsp:txXfrm>
        <a:off x="4209005" y="2933611"/>
        <a:ext cx="2759068" cy="1267395"/>
      </dsp:txXfrm>
    </dsp:sp>
    <dsp:sp modelId="{B63F8D07-10CB-4EFB-8DE1-94F7AC56B07A}">
      <dsp:nvSpPr>
        <dsp:cNvPr id="0" name=""/>
        <dsp:cNvSpPr/>
      </dsp:nvSpPr>
      <dsp:spPr>
        <a:xfrm>
          <a:off x="7628301" y="0"/>
          <a:ext cx="3547412" cy="446499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High-level 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(non real-time)</a:t>
          </a:r>
        </a:p>
      </dsp:txBody>
      <dsp:txXfrm>
        <a:off x="7628301" y="0"/>
        <a:ext cx="3547412" cy="1339498"/>
      </dsp:txXfrm>
    </dsp:sp>
    <dsp:sp modelId="{CA6501A9-E9B2-4FDB-B235-E65722600ABF}">
      <dsp:nvSpPr>
        <dsp:cNvPr id="0" name=""/>
        <dsp:cNvSpPr/>
      </dsp:nvSpPr>
      <dsp:spPr>
        <a:xfrm>
          <a:off x="7983043" y="1340806"/>
          <a:ext cx="2837930" cy="1346257"/>
        </a:xfrm>
        <a:prstGeom prst="roundRect">
          <a:avLst>
            <a:gd name="adj" fmla="val 10000"/>
          </a:avLst>
        </a:prstGeom>
        <a:solidFill>
          <a:schemeClr val="accent3">
            <a:hueOff val="-1131354"/>
            <a:satOff val="5140"/>
            <a:lumOff val="-5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Purpose: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 cognitive and computationally heavy tasks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Time scale of a few seconds</a:t>
          </a:r>
        </a:p>
      </dsp:txBody>
      <dsp:txXfrm>
        <a:off x="8022474" y="1380237"/>
        <a:ext cx="2759068" cy="1267395"/>
      </dsp:txXfrm>
    </dsp:sp>
    <dsp:sp modelId="{FDA93177-ED83-4F58-8A09-022300F648F7}">
      <dsp:nvSpPr>
        <dsp:cNvPr id="0" name=""/>
        <dsp:cNvSpPr/>
      </dsp:nvSpPr>
      <dsp:spPr>
        <a:xfrm>
          <a:off x="7983043" y="2894180"/>
          <a:ext cx="2837930" cy="1346257"/>
        </a:xfrm>
        <a:prstGeom prst="roundRect">
          <a:avLst>
            <a:gd name="adj" fmla="val 10000"/>
          </a:avLst>
        </a:prstGeom>
        <a:solidFill>
          <a:schemeClr val="accent3">
            <a:hueOff val="-1414192"/>
            <a:satOff val="6425"/>
            <a:lumOff val="-7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Hardware: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</a:t>
          </a:r>
          <a:r>
            <a:rPr lang="en-US" sz="1600" kern="1200" dirty="0" err="1"/>
            <a:t>miniPC</a:t>
          </a:r>
          <a:r>
            <a:rPr lang="en-US" sz="1600" kern="1200" dirty="0"/>
            <a:t>, SBC with GPU (</a:t>
          </a:r>
          <a:r>
            <a:rPr lang="en-US" sz="1600" kern="1200" dirty="0" err="1"/>
            <a:t>nvidia</a:t>
          </a:r>
          <a:r>
            <a:rPr lang="en-US" sz="1600" kern="1200" dirty="0"/>
            <a:t> jetson)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Cloud server</a:t>
          </a:r>
        </a:p>
      </dsp:txBody>
      <dsp:txXfrm>
        <a:off x="8022474" y="2933611"/>
        <a:ext cx="2759068" cy="12673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A3ABCF-7458-4724-AA82-52C2EBAE9575}">
      <dsp:nvSpPr>
        <dsp:cNvPr id="0" name=""/>
        <dsp:cNvSpPr/>
      </dsp:nvSpPr>
      <dsp:spPr>
        <a:xfrm>
          <a:off x="0" y="1245870"/>
          <a:ext cx="10058399" cy="1661160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5D67E4-DE03-436F-940E-F526FD562D03}">
      <dsp:nvSpPr>
        <dsp:cNvPr id="0" name=""/>
        <dsp:cNvSpPr/>
      </dsp:nvSpPr>
      <dsp:spPr>
        <a:xfrm>
          <a:off x="4530" y="0"/>
          <a:ext cx="2179156" cy="1661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1950s-1970s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Bare-metal control loops</a:t>
          </a:r>
        </a:p>
      </dsp:txBody>
      <dsp:txXfrm>
        <a:off x="4530" y="0"/>
        <a:ext cx="2179156" cy="1661160"/>
      </dsp:txXfrm>
    </dsp:sp>
    <dsp:sp modelId="{8F314B47-EE10-4ECF-A2E9-4866E52F3148}">
      <dsp:nvSpPr>
        <dsp:cNvPr id="0" name=""/>
        <dsp:cNvSpPr/>
      </dsp:nvSpPr>
      <dsp:spPr>
        <a:xfrm>
          <a:off x="886463" y="1868805"/>
          <a:ext cx="415290" cy="4152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84BC89-F1F1-403A-AEF7-2B84BD2B1336}">
      <dsp:nvSpPr>
        <dsp:cNvPr id="0" name=""/>
        <dsp:cNvSpPr/>
      </dsp:nvSpPr>
      <dsp:spPr>
        <a:xfrm>
          <a:off x="2292644" y="2491740"/>
          <a:ext cx="2179156" cy="1661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1980s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“Interrupt driven” real-time</a:t>
          </a:r>
        </a:p>
      </dsp:txBody>
      <dsp:txXfrm>
        <a:off x="2292644" y="2491740"/>
        <a:ext cx="2179156" cy="1661160"/>
      </dsp:txXfrm>
    </dsp:sp>
    <dsp:sp modelId="{4049A219-B3E4-47FA-8989-7EBC6BCCB968}">
      <dsp:nvSpPr>
        <dsp:cNvPr id="0" name=""/>
        <dsp:cNvSpPr/>
      </dsp:nvSpPr>
      <dsp:spPr>
        <a:xfrm>
          <a:off x="3174577" y="1868805"/>
          <a:ext cx="415290" cy="4152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5110B4-A0A1-4FBC-B041-4E1F61955281}">
      <dsp:nvSpPr>
        <dsp:cNvPr id="0" name=""/>
        <dsp:cNvSpPr/>
      </dsp:nvSpPr>
      <dsp:spPr>
        <a:xfrm>
          <a:off x="4580758" y="0"/>
          <a:ext cx="2179156" cy="1661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Late 1980s-1990s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Cooperative Scheduler</a:t>
          </a:r>
        </a:p>
      </dsp:txBody>
      <dsp:txXfrm>
        <a:off x="4580758" y="0"/>
        <a:ext cx="2179156" cy="1661160"/>
      </dsp:txXfrm>
    </dsp:sp>
    <dsp:sp modelId="{5E5E4C12-A74C-450E-A393-2060A41962D3}">
      <dsp:nvSpPr>
        <dsp:cNvPr id="0" name=""/>
        <dsp:cNvSpPr/>
      </dsp:nvSpPr>
      <dsp:spPr>
        <a:xfrm>
          <a:off x="5462692" y="1868805"/>
          <a:ext cx="415290" cy="4152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31309-2A81-41F9-9E89-82672E577D57}">
      <dsp:nvSpPr>
        <dsp:cNvPr id="0" name=""/>
        <dsp:cNvSpPr/>
      </dsp:nvSpPr>
      <dsp:spPr>
        <a:xfrm>
          <a:off x="6868873" y="2491740"/>
          <a:ext cx="2179156" cy="1661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2000s-now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0070C0"/>
              </a:solidFill>
            </a:rPr>
            <a:t>Real-time Operating Systems </a:t>
          </a:r>
          <a:r>
            <a:rPr lang="en-US" sz="2000" kern="1200" dirty="0"/>
            <a:t>(RTOS)</a:t>
          </a:r>
        </a:p>
      </dsp:txBody>
      <dsp:txXfrm>
        <a:off x="6868873" y="2491740"/>
        <a:ext cx="2179156" cy="1661160"/>
      </dsp:txXfrm>
    </dsp:sp>
    <dsp:sp modelId="{3E62D2C5-6D80-478E-B033-439B27D97E01}">
      <dsp:nvSpPr>
        <dsp:cNvPr id="0" name=""/>
        <dsp:cNvSpPr/>
      </dsp:nvSpPr>
      <dsp:spPr>
        <a:xfrm>
          <a:off x="7750806" y="1868805"/>
          <a:ext cx="415290" cy="4152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A9F9EE-4FE6-4DCC-8108-3F03A1E58212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D4BE2-81FC-4C9E-B37B-1962E9A77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02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Round robin: tasks have equal priority, Rotate through all tasks, Each task gets a fixed time slice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D4BE2-81FC-4C9E-B37B-1962E9A771A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049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5348-B099-40D9-9A9C-EE2840B670BB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764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223373"/>
            <a:ext cx="10058400" cy="16093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D7A0-A841-4FF7-AF33-3D597CDEE200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314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0E7C35CC-567A-49C9-A0C2-D11F6800560C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2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234260"/>
            <a:ext cx="10058400" cy="16093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5FD8E-5F52-4852-BC0C-1DCCBF18F5BF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2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4C8B3-B61B-426B-8F9F-116A6616AF25}" type="datetime1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14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69848" y="234257"/>
            <a:ext cx="10058400" cy="16093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ED29-838D-4F98-AF0E-1F7B484FCA5E}" type="datetime1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12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7E47-8B39-4411-9FAF-C45B84CA6E90}" type="datetime1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759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DB51-9E47-43DF-B7BC-B28FD8A89218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599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0D25D-6075-4281-883D-2931D54356EF}" type="datetime1">
              <a:rPr lang="en-US" smtClean="0"/>
              <a:t>11/2/2025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055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A2680-A0FF-4EA5-990C-C0C22873F812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40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462B4-5EA6-466A-9657-88DEBB7B5D99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072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245145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19300"/>
            <a:ext cx="10058400" cy="4152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E88373F1-9185-4770-A8FC-185A45DE3D4D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88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F321087yYy4&amp;list=PLEBQazB0HUyQ4hAPU1cJED6t3DU0h34bz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A4F8A-8F3D-4145-B691-95D21995D6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5B1F9C-8AB0-4179-A5BB-80FD76E314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Lecturer: </a:t>
            </a:r>
            <a:r>
              <a:rPr lang="en-US" dirty="0" err="1"/>
              <a:t>BuiHa</a:t>
            </a:r>
            <a:r>
              <a:rPr lang="en-US" dirty="0"/>
              <a:t> Duc, PhD</a:t>
            </a:r>
          </a:p>
          <a:p>
            <a:r>
              <a:rPr lang="en-US" dirty="0"/>
              <a:t>Department </a:t>
            </a:r>
            <a:r>
              <a:rPr lang="en-US"/>
              <a:t>of Mechatronics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948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7D91C-8D45-4BEB-8007-5FF5AFF1E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ECA58-5636-46CA-A536-761E10117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This course is designed to provide student with:</a:t>
            </a:r>
          </a:p>
          <a:p>
            <a:r>
              <a:rPr lang="en-US" sz="3200" dirty="0">
                <a:solidFill>
                  <a:srgbClr val="0070C0"/>
                </a:solidFill>
              </a:rPr>
              <a:t> Fundamental principles</a:t>
            </a:r>
            <a:r>
              <a:rPr lang="en-US" sz="3200" dirty="0"/>
              <a:t>, </a:t>
            </a:r>
            <a:r>
              <a:rPr lang="en-US" sz="3200" dirty="0">
                <a:solidFill>
                  <a:srgbClr val="0070C0"/>
                </a:solidFill>
              </a:rPr>
              <a:t>design </a:t>
            </a:r>
            <a:r>
              <a:rPr lang="en-US" sz="3200" dirty="0" err="1">
                <a:solidFill>
                  <a:srgbClr val="0070C0"/>
                </a:solidFill>
              </a:rPr>
              <a:t>considerations</a:t>
            </a:r>
            <a:r>
              <a:rPr lang="en-US" sz="3200" dirty="0" err="1"/>
              <a:t>,of</a:t>
            </a:r>
            <a:r>
              <a:rPr lang="en-US" sz="3200" dirty="0"/>
              <a:t> Real-time system</a:t>
            </a:r>
          </a:p>
          <a:p>
            <a:r>
              <a:rPr lang="en-US" sz="3200" dirty="0"/>
              <a:t> Ability to </a:t>
            </a:r>
            <a:r>
              <a:rPr lang="en-US" sz="3200" dirty="0">
                <a:solidFill>
                  <a:srgbClr val="0070C0"/>
                </a:solidFill>
              </a:rPr>
              <a:t>implement</a:t>
            </a:r>
            <a:r>
              <a:rPr lang="en-US" sz="3200" dirty="0"/>
              <a:t> a real-time system</a:t>
            </a:r>
          </a:p>
          <a:p>
            <a:r>
              <a:rPr lang="en-US" sz="3200" dirty="0">
                <a:solidFill>
                  <a:srgbClr val="0070C0"/>
                </a:solidFill>
              </a:rPr>
              <a:t>Hands-on experience </a:t>
            </a:r>
            <a:r>
              <a:rPr lang="en-US" sz="3200" dirty="0"/>
              <a:t>through programming assignments and projects using an RTOS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D6A2D-6AA5-421F-B15D-58E6AF31F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100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E8231-29A5-45A6-8E8B-454ED6C65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134E1-EE4F-4DDB-8AEC-593ED1788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Introduction to Real-time system</a:t>
            </a:r>
          </a:p>
          <a:p>
            <a:pPr lvl="1"/>
            <a:r>
              <a:rPr lang="en-US" sz="2400" dirty="0"/>
              <a:t>Process</a:t>
            </a:r>
          </a:p>
          <a:p>
            <a:pPr lvl="1"/>
            <a:r>
              <a:rPr lang="en-US" sz="2400" dirty="0"/>
              <a:t>Process block control</a:t>
            </a:r>
          </a:p>
          <a:p>
            <a:pPr lvl="1"/>
            <a:r>
              <a:rPr lang="en-US" sz="2400" dirty="0"/>
              <a:t>Real-time operating system</a:t>
            </a:r>
          </a:p>
          <a:p>
            <a:r>
              <a:rPr lang="en-US" sz="2400" dirty="0"/>
              <a:t>Real-time system model:</a:t>
            </a:r>
          </a:p>
          <a:p>
            <a:pPr lvl="1"/>
            <a:r>
              <a:rPr lang="en-US" sz="2400" dirty="0"/>
              <a:t>Task scheduling</a:t>
            </a:r>
          </a:p>
          <a:p>
            <a:pPr lvl="1"/>
            <a:r>
              <a:rPr lang="en-US" sz="2400" dirty="0"/>
              <a:t>Hard and soft real-time systems</a:t>
            </a:r>
          </a:p>
          <a:p>
            <a:pPr lvl="1"/>
            <a:r>
              <a:rPr lang="en-US" sz="2400" dirty="0"/>
              <a:t>Periodic task model, aperiodic task, sporadic task</a:t>
            </a:r>
          </a:p>
          <a:p>
            <a:r>
              <a:rPr lang="en-US" sz="2400" dirty="0"/>
              <a:t>Clock-driven scheduling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82852-1FBF-42C4-ABFE-3C6E38ADA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779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CA942-18BD-468D-BCAB-08D9F229D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863A0-4760-41E0-80DA-AD8546E12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Priority-driven scheduling</a:t>
            </a:r>
          </a:p>
          <a:p>
            <a:r>
              <a:rPr lang="en-US" sz="2800" dirty="0"/>
              <a:t>Dynamic/Static systems</a:t>
            </a:r>
          </a:p>
          <a:p>
            <a:r>
              <a:rPr lang="en-US" sz="2800" dirty="0"/>
              <a:t>Rate-monotonic scheduling</a:t>
            </a:r>
          </a:p>
          <a:p>
            <a:r>
              <a:rPr lang="en-US" sz="2800" dirty="0"/>
              <a:t>Validating timing scheduling</a:t>
            </a:r>
          </a:p>
          <a:p>
            <a:r>
              <a:rPr lang="en-US" sz="2800" dirty="0"/>
              <a:t>Synchronization: </a:t>
            </a:r>
          </a:p>
          <a:p>
            <a:pPr lvl="1"/>
            <a:r>
              <a:rPr lang="en-US" sz="2600" dirty="0"/>
              <a:t>critical-section</a:t>
            </a:r>
          </a:p>
          <a:p>
            <a:pPr lvl="1"/>
            <a:r>
              <a:rPr lang="en-US" sz="2600" dirty="0"/>
              <a:t>Semaphores</a:t>
            </a:r>
          </a:p>
          <a:p>
            <a:pPr lvl="1"/>
            <a:r>
              <a:rPr lang="en-US" sz="2600" dirty="0"/>
              <a:t>Monitors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A8119-4AAD-433C-B7CE-1C1DCEAD0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281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66AA4-D232-4CF7-BE68-118B83EFD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pic>
        <p:nvPicPr>
          <p:cNvPr id="1026" name="Picture 2" descr="REAL TIME SYSTEMS BY JANE W S LIU -- 2006 IMPRINT -- 2000 COPYRIGHT">
            <a:extLst>
              <a:ext uri="{FF2B5EF4-FFF2-40B4-BE49-F238E27FC236}">
                <a16:creationId xmlns:a16="http://schemas.microsoft.com/office/drawing/2014/main" id="{7963991B-9C24-4649-9E2D-13C21AFF97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26" r="31152"/>
          <a:stretch/>
        </p:blipFill>
        <p:spPr bwMode="auto">
          <a:xfrm>
            <a:off x="2101174" y="1775796"/>
            <a:ext cx="2393005" cy="3306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perating System Concepts: Silberschatz, Abraham, Galvin, Peter B., Gagne,  Greg: 9781118063330: Amazon.com: Books">
            <a:extLst>
              <a:ext uri="{FF2B5EF4-FFF2-40B4-BE49-F238E27FC236}">
                <a16:creationId xmlns:a16="http://schemas.microsoft.com/office/drawing/2014/main" id="{EE951C61-2CAA-4BF4-B37B-B52F10E48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0793" y="2091448"/>
            <a:ext cx="1895902" cy="2723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75679F-A2F9-4D78-831B-2C63BEA561AF}"/>
              </a:ext>
            </a:extLst>
          </p:cNvPr>
          <p:cNvSpPr txBox="1"/>
          <p:nvPr/>
        </p:nvSpPr>
        <p:spPr>
          <a:xfrm>
            <a:off x="2101174" y="4984926"/>
            <a:ext cx="27599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212529"/>
                </a:solidFill>
                <a:effectLst/>
                <a:latin typeface="acumin-pro"/>
              </a:rPr>
              <a:t>Real-time Systems</a:t>
            </a:r>
            <a:r>
              <a:rPr lang="en-US" sz="2400" b="1" i="0" dirty="0">
                <a:solidFill>
                  <a:srgbClr val="212529"/>
                </a:solidFill>
                <a:effectLst/>
                <a:latin typeface="acumin-pro"/>
              </a:rPr>
              <a:t> 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acumin-pro"/>
              </a:rPr>
              <a:t>Jane W. S. Liu , Prentice-Hall , 2000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971A9F-C3DC-49AA-ABAC-F64A035DAD7D}"/>
              </a:ext>
            </a:extLst>
          </p:cNvPr>
          <p:cNvSpPr txBox="1"/>
          <p:nvPr/>
        </p:nvSpPr>
        <p:spPr>
          <a:xfrm>
            <a:off x="6254463" y="4984926"/>
            <a:ext cx="389318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212529"/>
                </a:solidFill>
                <a:effectLst/>
                <a:latin typeface="acumin-pro"/>
              </a:rPr>
              <a:t>Operating System Concepts</a:t>
            </a:r>
            <a:r>
              <a:rPr lang="en-US" sz="2400" b="1" i="0" dirty="0">
                <a:solidFill>
                  <a:srgbClr val="212529"/>
                </a:solidFill>
                <a:effectLst/>
                <a:latin typeface="acumin-pro"/>
              </a:rPr>
              <a:t>  </a:t>
            </a:r>
          </a:p>
          <a:p>
            <a:r>
              <a:rPr lang="en-US" b="0" i="0" dirty="0" err="1">
                <a:solidFill>
                  <a:srgbClr val="212529"/>
                </a:solidFill>
                <a:effectLst/>
                <a:latin typeface="acumin-pro"/>
              </a:rPr>
              <a:t>Sliberschatz</a:t>
            </a:r>
            <a:r>
              <a:rPr lang="en-US" b="0" i="0" dirty="0">
                <a:solidFill>
                  <a:srgbClr val="212529"/>
                </a:solidFill>
                <a:effectLst/>
                <a:latin typeface="acumin-pro"/>
              </a:rPr>
              <a:t>, Galvin and Gagne , John Wiley &amp; Sons Inc. , 2018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AB9560-5F7C-491D-8044-70AC164EF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70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B46CD-D97C-418D-BB40-D72F6BE57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4139A-CB37-4B6F-BA86-D59A79AEE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i="0" dirty="0">
                <a:effectLst/>
                <a:latin typeface="Arial" panose="020B0604020202020204" pitchFamily="34" charset="0"/>
              </a:rPr>
              <a:t>STM: </a:t>
            </a:r>
            <a:r>
              <a:rPr lang="en-US" sz="2800" b="1" i="0" dirty="0" err="1">
                <a:effectLst/>
                <a:latin typeface="Arial" panose="020B0604020202020204" pitchFamily="34" charset="0"/>
              </a:rPr>
              <a:t>FreeRTOS</a:t>
            </a:r>
            <a:r>
              <a:rPr lang="en-US" sz="2800" b="1" i="0" dirty="0">
                <a:effectLst/>
                <a:latin typeface="Arial" panose="020B0604020202020204" pitchFamily="34" charset="0"/>
              </a:rPr>
              <a:t> on STM32</a:t>
            </a:r>
          </a:p>
          <a:p>
            <a:pPr lvl="1"/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</a:rPr>
              <a:t>Links: </a:t>
            </a:r>
            <a:r>
              <a:rPr lang="en-US" i="1" dirty="0">
                <a:solidFill>
                  <a:srgbClr val="0070C0"/>
                </a:solidFill>
                <a:latin typeface="Arial" panose="020B0604020202020204" pitchFamily="34" charset="0"/>
              </a:rPr>
              <a:t>https://www.youtube.com/playlist?list=PLnMKNibPkDnExrAsDpjjF1PsvtoAIBquX</a:t>
            </a:r>
            <a:endParaRPr lang="en-US" i="1" dirty="0"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  <a:p>
            <a:r>
              <a:rPr lang="en-US" sz="3200" b="1" dirty="0" err="1"/>
              <a:t>Digikey</a:t>
            </a:r>
            <a:r>
              <a:rPr lang="en-US" sz="3200" b="1" dirty="0"/>
              <a:t>: Introduction to RTOS</a:t>
            </a:r>
          </a:p>
          <a:p>
            <a:pPr lvl="1"/>
            <a:r>
              <a:rPr lang="en-US" sz="2400" b="1" dirty="0"/>
              <a:t>Link: </a:t>
            </a:r>
            <a:r>
              <a:rPr lang="en-US" i="1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https://www.youtube.com/watch?v=F321087yYy4&amp;list=PLEBQazB0HUyQ4hAPU1cJED6t3DU0h34bz</a:t>
            </a:r>
            <a:endParaRPr lang="en-US" i="1" dirty="0">
              <a:solidFill>
                <a:srgbClr val="0070C0"/>
              </a:solidFill>
            </a:endParaRPr>
          </a:p>
          <a:p>
            <a:pPr lvl="1"/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36DC3-2AC6-49DF-A209-1078618B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638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D500A-C09A-4235-8334-B2E6CFB9A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1DC75-DB67-4149-9489-AD08FB57E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Quizzes and Project – 50%</a:t>
            </a:r>
          </a:p>
          <a:p>
            <a:pPr lvl="1"/>
            <a:r>
              <a:rPr lang="en-US" sz="3000" dirty="0"/>
              <a:t> 1 in-class Quiz</a:t>
            </a:r>
          </a:p>
          <a:p>
            <a:pPr lvl="1"/>
            <a:r>
              <a:rPr lang="en-US" sz="3000" dirty="0"/>
              <a:t> 1 Project</a:t>
            </a:r>
          </a:p>
          <a:p>
            <a:r>
              <a:rPr lang="en-US" sz="3200" dirty="0"/>
              <a:t>Final Examination – 50%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0A3129C-8176-4611-946B-6A9195344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3146" y="2093976"/>
            <a:ext cx="3479006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E91D25-93E3-4FB1-AE7E-009A21680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3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80F38-E818-4C11-A763-2FD989E02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Microcontroller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B594D-CD3B-4A52-9AB1-E79C86E34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What is a Microcontroller?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How does Microcontroller work?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Components of a Microcontroller?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What is a Microcontroller program?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9E36D-30F9-419B-806A-AB51544C7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88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4E9E0-58A9-412F-9848-08D3ADC07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Robot’s Control architecture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741F2CA-6D8A-495D-8311-D9F365485D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6937" y="1587260"/>
            <a:ext cx="6564808" cy="499595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93D53B-509D-4875-8433-878FD1BEE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41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766FC-1C6B-4B04-B719-4263DCD71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Robot’s Control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300E9-333F-438F-A072-E4EF2FFFE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BAB1BE-4214-4055-BDBC-514559436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164" y="2019300"/>
            <a:ext cx="6972351" cy="368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660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C50D1-8F5E-4214-B44A-45049F087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Robot’s Control architecture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455829-B137-4B1D-838C-1B509DD26A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8296778"/>
              </p:ext>
            </p:extLst>
          </p:nvPr>
        </p:nvGraphicFramePr>
        <p:xfrm>
          <a:off x="525294" y="1638590"/>
          <a:ext cx="11177079" cy="4464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CDA7B4-6BD2-4045-A3EC-5C7C2753E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2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F4EEC-464C-4701-863E-F9974D067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Real-time system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B4DEDB0-393E-4481-ADFD-EFDB53CD12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1210229"/>
              </p:ext>
            </p:extLst>
          </p:nvPr>
        </p:nvGraphicFramePr>
        <p:xfrm>
          <a:off x="1069975" y="2120900"/>
          <a:ext cx="10058400" cy="21261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1109026616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5848634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Myth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Truth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644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trike="sngStrike" dirty="0"/>
                        <a:t>The Real-Time Computing is equivalent to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trike="sngStrike" dirty="0"/>
                        <a:t>fast computing?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Real-Time Computing is equivalent to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Predictable computing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880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trike="sngStrike" dirty="0"/>
                        <a:t>The Real-Time Computing means higher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trike="sngStrike" dirty="0"/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In Real-Time Computing timeliness is more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important than performance.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06729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4884D1E-98AC-4F2C-A602-A55B2D27D900}"/>
              </a:ext>
            </a:extLst>
          </p:cNvPr>
          <p:cNvSpPr txBox="1"/>
          <p:nvPr/>
        </p:nvSpPr>
        <p:spPr>
          <a:xfrm>
            <a:off x="2375138" y="4856035"/>
            <a:ext cx="81260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u="none" strike="noStrike" baseline="0" dirty="0">
                <a:latin typeface="CIDFont+F1"/>
              </a:rPr>
              <a:t>Real-time deals with </a:t>
            </a:r>
            <a:r>
              <a:rPr lang="en-US" sz="2800" b="1" i="1" u="none" strike="noStrike" baseline="0" dirty="0">
                <a:solidFill>
                  <a:srgbClr val="0070C0"/>
                </a:solidFill>
                <a:latin typeface="CIDFont+F3"/>
              </a:rPr>
              <a:t>guarantees</a:t>
            </a:r>
            <a:r>
              <a:rPr lang="en-US" sz="2800" b="0" i="0" u="none" strike="noStrike" baseline="0" dirty="0">
                <a:latin typeface="CIDFont+F1"/>
              </a:rPr>
              <a:t>, not with </a:t>
            </a:r>
            <a:r>
              <a:rPr lang="en-US" sz="2800" b="0" i="0" u="none" strike="noStrike" baseline="0" dirty="0">
                <a:latin typeface="CIDFont+F3"/>
              </a:rPr>
              <a:t>raw speed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9FE3F5-B691-46E9-9C1E-22F9CBB7A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924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DAAB5-4098-49E7-984D-7047661F4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Real-time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0AA1E8-861E-4A64-B216-156C4E35E6DE}"/>
              </a:ext>
            </a:extLst>
          </p:cNvPr>
          <p:cNvSpPr txBox="1"/>
          <p:nvPr/>
        </p:nvSpPr>
        <p:spPr>
          <a:xfrm>
            <a:off x="1687902" y="2093976"/>
            <a:ext cx="881619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0" i="0" u="none" strike="noStrike" baseline="0" dirty="0">
                <a:latin typeface="CIDFont+F1"/>
              </a:rPr>
              <a:t>“A Real time system is one in which the correctness of the computations not only depends upon the logical correctness of the computation, but also upon </a:t>
            </a:r>
            <a:r>
              <a:rPr lang="en-US" sz="3200" b="1" i="0" u="none" strike="noStrike" baseline="0" dirty="0">
                <a:solidFill>
                  <a:srgbClr val="0070C0"/>
                </a:solidFill>
                <a:latin typeface="CIDFont+F1"/>
              </a:rPr>
              <a:t>the</a:t>
            </a:r>
            <a:r>
              <a:rPr lang="en-US" sz="3200" b="0" i="0" u="none" strike="noStrike" baseline="0" dirty="0">
                <a:latin typeface="CIDFont+F1"/>
              </a:rPr>
              <a:t> </a:t>
            </a:r>
            <a:r>
              <a:rPr lang="en-US" sz="3200" b="1" i="0" u="none" strike="noStrike" baseline="0" dirty="0">
                <a:solidFill>
                  <a:srgbClr val="0070C0"/>
                </a:solidFill>
                <a:latin typeface="CIDFont+F1"/>
              </a:rPr>
              <a:t>time at which the result is produced </a:t>
            </a:r>
            <a:r>
              <a:rPr lang="en-US" sz="3200" b="0" i="0" u="none" strike="noStrike" baseline="0" dirty="0">
                <a:latin typeface="CIDFont+F1"/>
              </a:rPr>
              <a:t>. If the timing constraints are not met, system failure is said to have occurred”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902EF8-3487-4F92-9F09-6AF98378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591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35C1E-C853-411F-AF0D-F3CC1F84A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Real-time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1E5F4-AF17-4A6A-88FE-048FA5771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DCB1FD-F0EA-4B8D-A2E2-44F760BBF2CF}"/>
              </a:ext>
            </a:extLst>
          </p:cNvPr>
          <p:cNvSpPr txBox="1"/>
          <p:nvPr/>
        </p:nvSpPr>
        <p:spPr>
          <a:xfrm>
            <a:off x="1943820" y="4861309"/>
            <a:ext cx="27547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0" u="none" strike="noStrike" baseline="0" dirty="0">
                <a:latin typeface="CIDFont+F1"/>
              </a:rPr>
              <a:t>Hard real-time </a:t>
            </a:r>
          </a:p>
          <a:p>
            <a:pPr algn="l"/>
            <a:r>
              <a:rPr lang="en-US" sz="2000" b="0" i="0" u="none" strike="noStrike" baseline="0" dirty="0">
                <a:latin typeface="CIDFont+F1"/>
              </a:rPr>
              <a:t>Actions must complete within a given time limit.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645A49-E72D-4D7B-B4A9-63E2E9D383C2}"/>
              </a:ext>
            </a:extLst>
          </p:cNvPr>
          <p:cNvSpPr txBox="1"/>
          <p:nvPr/>
        </p:nvSpPr>
        <p:spPr>
          <a:xfrm>
            <a:off x="7329577" y="4861309"/>
            <a:ext cx="301636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0" u="none" strike="noStrike" baseline="0" dirty="0">
                <a:latin typeface="CIDFont+F1"/>
              </a:rPr>
              <a:t>Soft real-time </a:t>
            </a:r>
          </a:p>
          <a:p>
            <a:pPr algn="l"/>
            <a:r>
              <a:rPr lang="en-US" sz="2000" b="0" i="0" u="none" strike="noStrike" baseline="0" dirty="0">
                <a:latin typeface="CIDFont+F1"/>
              </a:rPr>
              <a:t>Small deviation in response time is tolerable</a:t>
            </a:r>
            <a:endParaRPr lang="en-US" sz="2000" dirty="0"/>
          </a:p>
        </p:txBody>
      </p:sp>
      <p:pic>
        <p:nvPicPr>
          <p:cNvPr id="1026" name="Picture 2" descr="ABS BRAKING SYSTEM">
            <a:extLst>
              <a:ext uri="{FF2B5EF4-FFF2-40B4-BE49-F238E27FC236}">
                <a16:creationId xmlns:a16="http://schemas.microsoft.com/office/drawing/2014/main" id="{E92D6217-3C31-4240-9C81-D2EC513F5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167" y="3089067"/>
            <a:ext cx="2353259" cy="1568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esting Aircraft Wings - Let's Talk Science">
            <a:extLst>
              <a:ext uri="{FF2B5EF4-FFF2-40B4-BE49-F238E27FC236}">
                <a16:creationId xmlns:a16="http://schemas.microsoft.com/office/drawing/2014/main" id="{A8E33814-8CD2-410E-B16F-4FDDA2E5A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426" y="2036120"/>
            <a:ext cx="2506692" cy="2506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mart Friday with RobotLAB- Robotic Arms and Assembly Lines!">
            <a:extLst>
              <a:ext uri="{FF2B5EF4-FFF2-40B4-BE49-F238E27FC236}">
                <a16:creationId xmlns:a16="http://schemas.microsoft.com/office/drawing/2014/main" id="{D476B0C1-448A-4A6C-9DAD-21AD4D567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241" y="1464546"/>
            <a:ext cx="2480185" cy="1624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oogle Nest Temperature Sensor - Walmart.com">
            <a:extLst>
              <a:ext uri="{FF2B5EF4-FFF2-40B4-BE49-F238E27FC236}">
                <a16:creationId xmlns:a16="http://schemas.microsoft.com/office/drawing/2014/main" id="{B5179195-4B6B-4947-8F0E-3C856950FF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24" b="11326"/>
          <a:stretch/>
        </p:blipFill>
        <p:spPr bwMode="auto">
          <a:xfrm>
            <a:off x="6781800" y="2524664"/>
            <a:ext cx="2691442" cy="2081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EA441B-9A10-4492-B5E6-BEBBEED34D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8492" y="2465349"/>
            <a:ext cx="2409843" cy="20193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B04BF7-7379-4984-842A-E513D9894C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8959" y="359143"/>
            <a:ext cx="4238656" cy="209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584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43B16-FFCC-4826-A69A-50F74C3EA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(Action)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FAD52-CFD1-49CB-9102-BC6A6B9EA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EF1C86-F36E-4496-99F9-E6928A9CD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168" y="1681888"/>
            <a:ext cx="2897681" cy="32671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48A081-6B05-4912-9A11-0A284E154900}"/>
              </a:ext>
            </a:extLst>
          </p:cNvPr>
          <p:cNvSpPr txBox="1"/>
          <p:nvPr/>
        </p:nvSpPr>
        <p:spPr>
          <a:xfrm>
            <a:off x="355369" y="5025284"/>
            <a:ext cx="55458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Task</a:t>
            </a:r>
            <a:r>
              <a:rPr lang="en-US" dirty="0"/>
              <a:t> is the </a:t>
            </a:r>
            <a:r>
              <a:rPr lang="en-US" b="1" dirty="0"/>
              <a:t>smallest schedulable unit of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Task is </a:t>
            </a:r>
            <a:r>
              <a:rPr lang="en-US" b="1" dirty="0"/>
              <a:t>a piece of code </a:t>
            </a:r>
            <a:r>
              <a:rPr lang="en-US" dirty="0"/>
              <a:t>run within </a:t>
            </a:r>
            <a:r>
              <a:rPr lang="en-US" b="1" dirty="0"/>
              <a:t>infinite loop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Task usually has </a:t>
            </a:r>
            <a:r>
              <a:rPr lang="en-US" b="1" dirty="0"/>
              <a:t>4 states</a:t>
            </a:r>
            <a:r>
              <a:rPr lang="en-US" dirty="0"/>
              <a:t>: ready, run, blocked, suspended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E96DAC-9E3B-4B7F-97C1-7C2A42DB7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853" y="901035"/>
            <a:ext cx="1851203" cy="20872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586E6C-1C25-462E-B46D-6E99FC294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2255" y="776915"/>
            <a:ext cx="2488008" cy="28052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D04D40-1814-4FC8-89CD-66E75EA5E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6158" y="3063122"/>
            <a:ext cx="1430723" cy="16131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61E4595-CAE8-4360-8A62-6E8DADA8B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627" y="3705447"/>
            <a:ext cx="1017632" cy="114739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A153692-FF01-48C0-A1B3-160A17C9B435}"/>
              </a:ext>
            </a:extLst>
          </p:cNvPr>
          <p:cNvSpPr txBox="1"/>
          <p:nvPr/>
        </p:nvSpPr>
        <p:spPr>
          <a:xfrm>
            <a:off x="7022968" y="5071280"/>
            <a:ext cx="445652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a real-time system, there are many tasks run simultaneously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task has different priority</a:t>
            </a:r>
          </a:p>
          <a:p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 How to implement these tasks in </a:t>
            </a:r>
            <a:r>
              <a:rPr lang="en-US" b="1" dirty="0" err="1">
                <a:solidFill>
                  <a:srgbClr val="FF0000"/>
                </a:solidFill>
                <a:sym typeface="Wingdings" panose="05000000000000000000" pitchFamily="2" charset="2"/>
              </a:rPr>
              <a:t>realtime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291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0D1D7-55C5-405E-8BAD-64031FF43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Real-time system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E476A55-486B-4E3D-940F-3FACDE070C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554901"/>
              </p:ext>
            </p:extLst>
          </p:nvPr>
        </p:nvGraphicFramePr>
        <p:xfrm>
          <a:off x="1063752" y="1832717"/>
          <a:ext cx="10058400" cy="4152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F98B3-4306-4866-AC10-6A0E7F7EC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794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E2E7D-1F84-4DD2-A3B1-818E861A5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Real-time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54186-095E-4161-989B-ABA302922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928CDE-A454-46FD-9090-B79C9129E605}"/>
              </a:ext>
            </a:extLst>
          </p:cNvPr>
          <p:cNvSpPr txBox="1"/>
          <p:nvPr/>
        </p:nvSpPr>
        <p:spPr>
          <a:xfrm>
            <a:off x="1552492" y="5532321"/>
            <a:ext cx="33852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Bare-metal control loops</a:t>
            </a:r>
          </a:p>
          <a:p>
            <a:pPr lvl="0"/>
            <a:r>
              <a:rPr lang="en-US" dirty="0"/>
              <a:t>Round Robin Scheduling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661A0E-8C26-4E1B-813B-EC1DB2047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265" y="1832717"/>
            <a:ext cx="1866914" cy="36957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72C02E-6B8E-46EC-9969-980801EC1723}"/>
              </a:ext>
            </a:extLst>
          </p:cNvPr>
          <p:cNvSpPr txBox="1"/>
          <p:nvPr/>
        </p:nvSpPr>
        <p:spPr>
          <a:xfrm>
            <a:off x="6909682" y="5528444"/>
            <a:ext cx="3576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“Interrupt driven”</a:t>
            </a:r>
          </a:p>
          <a:p>
            <a:pPr lvl="0"/>
            <a:r>
              <a:rPr lang="en-US" dirty="0"/>
              <a:t>Round Robin with Interrupts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40ECB55-A4EF-481E-930F-D13410858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173" y="1832717"/>
            <a:ext cx="4818332" cy="370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437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E2E7D-1F84-4DD2-A3B1-818E861A5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Real-time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54186-095E-4161-989B-ABA302922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72C02E-6B8E-46EC-9969-980801EC1723}"/>
              </a:ext>
            </a:extLst>
          </p:cNvPr>
          <p:cNvSpPr txBox="1"/>
          <p:nvPr/>
        </p:nvSpPr>
        <p:spPr>
          <a:xfrm>
            <a:off x="7164127" y="4575982"/>
            <a:ext cx="53969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Cooperative scheduling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506577-4746-4E74-9623-722A9959D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04" y="1635617"/>
            <a:ext cx="7694117" cy="21094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3F4FFA-5D7E-4610-AE1E-66A0AF902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550" y="3833224"/>
            <a:ext cx="5585269" cy="244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072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E2E7D-1F84-4DD2-A3B1-818E861A5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Real-time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54186-095E-4161-989B-ABA302922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72C02E-6B8E-46EC-9969-980801EC1723}"/>
              </a:ext>
            </a:extLst>
          </p:cNvPr>
          <p:cNvSpPr txBox="1"/>
          <p:nvPr/>
        </p:nvSpPr>
        <p:spPr>
          <a:xfrm>
            <a:off x="3888187" y="5560249"/>
            <a:ext cx="3576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Real-time OS Scheduling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363E4E4-93A8-47EA-914C-DAA356465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570" y="1466850"/>
            <a:ext cx="3714750" cy="392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7962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E2E7D-1F84-4DD2-A3B1-818E861A5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Real-time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54186-095E-4161-989B-ABA302922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72C02E-6B8E-46EC-9969-980801EC1723}"/>
              </a:ext>
            </a:extLst>
          </p:cNvPr>
          <p:cNvSpPr txBox="1"/>
          <p:nvPr/>
        </p:nvSpPr>
        <p:spPr>
          <a:xfrm>
            <a:off x="3888187" y="5560249"/>
            <a:ext cx="3576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Real-time OS Scheduling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6124D66-053B-4170-B3A4-7FCB77648FF2}"/>
              </a:ext>
            </a:extLst>
          </p:cNvPr>
          <p:cNvGrpSpPr/>
          <p:nvPr/>
        </p:nvGrpSpPr>
        <p:grpSpPr>
          <a:xfrm>
            <a:off x="3127179" y="2444750"/>
            <a:ext cx="4538830" cy="1968500"/>
            <a:chOff x="3564500" y="2493507"/>
            <a:chExt cx="4538830" cy="1968500"/>
          </a:xfrm>
        </p:grpSpPr>
        <p:sp>
          <p:nvSpPr>
            <p:cNvPr id="9" name="Line 2">
              <a:extLst>
                <a:ext uri="{FF2B5EF4-FFF2-40B4-BE49-F238E27FC236}">
                  <a16:creationId xmlns:a16="http://schemas.microsoft.com/office/drawing/2014/main" id="{3C34F121-4AA6-4F86-834C-72AD37E97F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3296" y="2981167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1" name="Line 3">
              <a:extLst>
                <a:ext uri="{FF2B5EF4-FFF2-40B4-BE49-F238E27FC236}">
                  <a16:creationId xmlns:a16="http://schemas.microsoft.com/office/drawing/2014/main" id="{157E4F99-B3E5-46A0-8B08-E3661B66AF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3296" y="4052730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2" name="Line 4">
              <a:extLst>
                <a:ext uri="{FF2B5EF4-FFF2-40B4-BE49-F238E27FC236}">
                  <a16:creationId xmlns:a16="http://schemas.microsoft.com/office/drawing/2014/main" id="{C30302BA-AC22-461A-8A7C-2912EE6154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3296" y="3338355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3" name="Line 5">
              <a:extLst>
                <a:ext uri="{FF2B5EF4-FFF2-40B4-BE49-F238E27FC236}">
                  <a16:creationId xmlns:a16="http://schemas.microsoft.com/office/drawing/2014/main" id="{5606DB93-B2C1-4FD7-A6A4-DCFA74BDBCE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4233296" y="3694612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4" name="Line 6">
              <a:extLst>
                <a:ext uri="{FF2B5EF4-FFF2-40B4-BE49-F238E27FC236}">
                  <a16:creationId xmlns:a16="http://schemas.microsoft.com/office/drawing/2014/main" id="{9A4FF833-3E37-4C17-BC08-7D95431DB8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7710" y="2810015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5" name="Rectangle 9">
              <a:extLst>
                <a:ext uri="{FF2B5EF4-FFF2-40B4-BE49-F238E27FC236}">
                  <a16:creationId xmlns:a16="http://schemas.microsoft.com/office/drawing/2014/main" id="{000C9614-0DD9-49B6-8CE4-0DFE721240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5152" y="2981167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6" name="Line 10">
              <a:extLst>
                <a:ext uri="{FF2B5EF4-FFF2-40B4-BE49-F238E27FC236}">
                  <a16:creationId xmlns:a16="http://schemas.microsoft.com/office/drawing/2014/main" id="{92162D32-3145-414D-A719-2FAFFED380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6733" y="2810015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7" name="Line 11">
              <a:extLst>
                <a:ext uri="{FF2B5EF4-FFF2-40B4-BE49-F238E27FC236}">
                  <a16:creationId xmlns:a16="http://schemas.microsoft.com/office/drawing/2014/main" id="{DADCF342-06A0-4B40-BE05-4C8400287C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5757" y="2810015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8" name="Line 12">
              <a:extLst>
                <a:ext uri="{FF2B5EF4-FFF2-40B4-BE49-F238E27FC236}">
                  <a16:creationId xmlns:a16="http://schemas.microsoft.com/office/drawing/2014/main" id="{C72D7F7A-1B2D-44B0-972A-2D4676BAA6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84781" y="2810015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9" name="Line 13">
              <a:extLst>
                <a:ext uri="{FF2B5EF4-FFF2-40B4-BE49-F238E27FC236}">
                  <a16:creationId xmlns:a16="http://schemas.microsoft.com/office/drawing/2014/main" id="{8104E581-AF17-4F17-8445-FB93E864B1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6363" y="2810015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0" name="Rectangle 8">
              <a:extLst>
                <a:ext uri="{FF2B5EF4-FFF2-40B4-BE49-F238E27FC236}">
                  <a16:creationId xmlns:a16="http://schemas.microsoft.com/office/drawing/2014/main" id="{847BF1A0-F350-41A9-A47F-E6265E0AD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4500" y="2493507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High Priority Task</a:t>
              </a:r>
            </a:p>
          </p:txBody>
        </p:sp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83409EF8-5303-405E-A4D2-24636C64C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3335" y="4271259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Low Priority Task</a:t>
              </a:r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12190FB3-6A37-44C5-8ECF-A8631CF6F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0542" y="4134089"/>
              <a:ext cx="662788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Time</a:t>
              </a:r>
              <a:endParaRPr lang="en-US" sz="1000" dirty="0">
                <a:ea typeface="Gill Sans" charset="0"/>
                <a:cs typeface="Gill S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0037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E2E7D-1F84-4DD2-A3B1-818E861A5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Real-time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54186-095E-4161-989B-ABA302922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72C02E-6B8E-46EC-9969-980801EC1723}"/>
              </a:ext>
            </a:extLst>
          </p:cNvPr>
          <p:cNvSpPr txBox="1"/>
          <p:nvPr/>
        </p:nvSpPr>
        <p:spPr>
          <a:xfrm>
            <a:off x="3888187" y="5560249"/>
            <a:ext cx="3576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Real-time OS Scheduling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CE02643-54D5-47F0-BA6D-70603C71C297}"/>
              </a:ext>
            </a:extLst>
          </p:cNvPr>
          <p:cNvGrpSpPr/>
          <p:nvPr/>
        </p:nvGrpSpPr>
        <p:grpSpPr>
          <a:xfrm>
            <a:off x="3135128" y="2444750"/>
            <a:ext cx="4538830" cy="1968500"/>
            <a:chOff x="3007908" y="2541215"/>
            <a:chExt cx="4538830" cy="1968500"/>
          </a:xfrm>
        </p:grpSpPr>
        <p:sp>
          <p:nvSpPr>
            <p:cNvPr id="23" name="Line 2">
              <a:extLst>
                <a:ext uri="{FF2B5EF4-FFF2-40B4-BE49-F238E27FC236}">
                  <a16:creationId xmlns:a16="http://schemas.microsoft.com/office/drawing/2014/main" id="{9E5DC8E1-0980-42AC-B9CF-DFB59BED4E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6704" y="3028875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4" name="Line 3">
              <a:extLst>
                <a:ext uri="{FF2B5EF4-FFF2-40B4-BE49-F238E27FC236}">
                  <a16:creationId xmlns:a16="http://schemas.microsoft.com/office/drawing/2014/main" id="{8BB461A1-DEE9-4530-9FBD-021F08575C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6704" y="4100438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 sz="1500" dirty="0"/>
            </a:p>
          </p:txBody>
        </p:sp>
        <p:sp>
          <p:nvSpPr>
            <p:cNvPr id="25" name="Line 4">
              <a:extLst>
                <a:ext uri="{FF2B5EF4-FFF2-40B4-BE49-F238E27FC236}">
                  <a16:creationId xmlns:a16="http://schemas.microsoft.com/office/drawing/2014/main" id="{60B0F090-EED7-42B9-84FE-B57F96FAC6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6704" y="3386063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6" name="Line 5">
              <a:extLst>
                <a:ext uri="{FF2B5EF4-FFF2-40B4-BE49-F238E27FC236}">
                  <a16:creationId xmlns:a16="http://schemas.microsoft.com/office/drawing/2014/main" id="{4099346D-07CF-48A2-BA14-24DA60FCEBB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3676704" y="3742320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7" name="Line 6">
              <a:extLst>
                <a:ext uri="{FF2B5EF4-FFF2-40B4-BE49-F238E27FC236}">
                  <a16:creationId xmlns:a16="http://schemas.microsoft.com/office/drawing/2014/main" id="{CCC6CE02-8471-4B69-9F6E-4BA12449F4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1118" y="2857723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8" name="Rectangle 9">
              <a:extLst>
                <a:ext uri="{FF2B5EF4-FFF2-40B4-BE49-F238E27FC236}">
                  <a16:creationId xmlns:a16="http://schemas.microsoft.com/office/drawing/2014/main" id="{5A921581-5B4B-4083-B41F-D761C316B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8560" y="3028875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9" name="Rectangle 10">
              <a:extLst>
                <a:ext uri="{FF2B5EF4-FFF2-40B4-BE49-F238E27FC236}">
                  <a16:creationId xmlns:a16="http://schemas.microsoft.com/office/drawing/2014/main" id="{C03BC40D-2CDE-4C16-895B-C8B0500F45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8071" y="3386063"/>
              <a:ext cx="372070" cy="357188"/>
            </a:xfrm>
            <a:prstGeom prst="rect">
              <a:avLst/>
            </a:prstGeom>
            <a:solidFill>
              <a:srgbClr val="D6881C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0" name="Line 11">
              <a:extLst>
                <a:ext uri="{FF2B5EF4-FFF2-40B4-BE49-F238E27FC236}">
                  <a16:creationId xmlns:a16="http://schemas.microsoft.com/office/drawing/2014/main" id="{E70B6A88-758A-467B-8CFC-E5B32BD117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0141" y="2857723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1" name="Line 12">
              <a:extLst>
                <a:ext uri="{FF2B5EF4-FFF2-40B4-BE49-F238E27FC236}">
                  <a16:creationId xmlns:a16="http://schemas.microsoft.com/office/drawing/2014/main" id="{134686E8-5ED5-4B59-B43E-E3AF770453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9165" y="2857723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2" name="Line 13">
              <a:extLst>
                <a:ext uri="{FF2B5EF4-FFF2-40B4-BE49-F238E27FC236}">
                  <a16:creationId xmlns:a16="http://schemas.microsoft.com/office/drawing/2014/main" id="{0DA2A93E-B18F-4556-8D96-CC1732D11D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8189" y="2857723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3" name="Line 14">
              <a:extLst>
                <a:ext uri="{FF2B5EF4-FFF2-40B4-BE49-F238E27FC236}">
                  <a16:creationId xmlns:a16="http://schemas.microsoft.com/office/drawing/2014/main" id="{E9CFE6C9-7B6D-4A30-82D5-6346F0832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79771" y="2857723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FBAB4BF2-164D-4549-BA59-BD76A2EBB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7908" y="2541215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High Priority Task</a:t>
              </a:r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D153883B-65F4-4BB8-A376-8B5A69B36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6743" y="4318967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Low Priority Task</a:t>
              </a:r>
            </a:p>
          </p:txBody>
        </p:sp>
        <p:sp>
          <p:nvSpPr>
            <p:cNvPr id="36" name="Rectangle 22">
              <a:extLst>
                <a:ext uri="{FF2B5EF4-FFF2-40B4-BE49-F238E27FC236}">
                  <a16:creationId xmlns:a16="http://schemas.microsoft.com/office/drawing/2014/main" id="{D08BB41A-EE71-47CC-912B-35096A4E0A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3950" y="4181797"/>
              <a:ext cx="662788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Time</a:t>
              </a:r>
              <a:endParaRPr lang="en-US" sz="1000" dirty="0">
                <a:ea typeface="Gill Sans" charset="0"/>
                <a:cs typeface="Gill S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2282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E2E7D-1F84-4DD2-A3B1-818E861A5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Real-time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54186-095E-4161-989B-ABA302922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72C02E-6B8E-46EC-9969-980801EC1723}"/>
              </a:ext>
            </a:extLst>
          </p:cNvPr>
          <p:cNvSpPr txBox="1"/>
          <p:nvPr/>
        </p:nvSpPr>
        <p:spPr>
          <a:xfrm>
            <a:off x="3888187" y="5560249"/>
            <a:ext cx="3576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Real-time OS Scheduling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944E0E4-9B6B-40F4-AEC9-C6D9D89C5F88}"/>
              </a:ext>
            </a:extLst>
          </p:cNvPr>
          <p:cNvGrpSpPr/>
          <p:nvPr/>
        </p:nvGrpSpPr>
        <p:grpSpPr>
          <a:xfrm>
            <a:off x="3052675" y="2317750"/>
            <a:ext cx="4538830" cy="2222500"/>
            <a:chOff x="2925456" y="2430339"/>
            <a:chExt cx="4538830" cy="2222500"/>
          </a:xfrm>
        </p:grpSpPr>
        <p:sp>
          <p:nvSpPr>
            <p:cNvPr id="23" name="Line 2">
              <a:extLst>
                <a:ext uri="{FF2B5EF4-FFF2-40B4-BE49-F238E27FC236}">
                  <a16:creationId xmlns:a16="http://schemas.microsoft.com/office/drawing/2014/main" id="{2F190FDC-4243-4B11-A692-83C7BA604A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4252" y="3171999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4" name="Line 3">
              <a:extLst>
                <a:ext uri="{FF2B5EF4-FFF2-40B4-BE49-F238E27FC236}">
                  <a16:creationId xmlns:a16="http://schemas.microsoft.com/office/drawing/2014/main" id="{D4F4394B-3DC4-4657-9BD2-7114527DA0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4252" y="4243562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5" name="Line 4">
              <a:extLst>
                <a:ext uri="{FF2B5EF4-FFF2-40B4-BE49-F238E27FC236}">
                  <a16:creationId xmlns:a16="http://schemas.microsoft.com/office/drawing/2014/main" id="{DF3D37FF-4206-4597-8DD1-7654FC9706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4252" y="3529187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6" name="Line 5">
              <a:extLst>
                <a:ext uri="{FF2B5EF4-FFF2-40B4-BE49-F238E27FC236}">
                  <a16:creationId xmlns:a16="http://schemas.microsoft.com/office/drawing/2014/main" id="{B702C704-4968-42A5-95A8-4F31FE6E662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3594252" y="3885444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7" name="Line 6">
              <a:extLst>
                <a:ext uri="{FF2B5EF4-FFF2-40B4-BE49-F238E27FC236}">
                  <a16:creationId xmlns:a16="http://schemas.microsoft.com/office/drawing/2014/main" id="{F7F123F7-105F-47FF-8598-ACD66D0ED9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8666" y="3000847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8" name="Rectangle 9">
              <a:extLst>
                <a:ext uri="{FF2B5EF4-FFF2-40B4-BE49-F238E27FC236}">
                  <a16:creationId xmlns:a16="http://schemas.microsoft.com/office/drawing/2014/main" id="{F51604C3-7A3F-4BEE-850C-41579D626E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108" y="3171999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9" name="Rectangle 10">
              <a:extLst>
                <a:ext uri="{FF2B5EF4-FFF2-40B4-BE49-F238E27FC236}">
                  <a16:creationId xmlns:a16="http://schemas.microsoft.com/office/drawing/2014/main" id="{052A23DB-1410-4BC6-A324-4D7223417B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5619" y="3529187"/>
              <a:ext cx="372070" cy="357188"/>
            </a:xfrm>
            <a:prstGeom prst="rect">
              <a:avLst/>
            </a:prstGeom>
            <a:solidFill>
              <a:srgbClr val="D6881C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0" name="Rectangle 11">
              <a:extLst>
                <a:ext uri="{FF2B5EF4-FFF2-40B4-BE49-F238E27FC236}">
                  <a16:creationId xmlns:a16="http://schemas.microsoft.com/office/drawing/2014/main" id="{5DA01729-EB0C-4FA9-AFA0-33815F7CB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7690" y="3886374"/>
              <a:ext cx="759023" cy="357188"/>
            </a:xfrm>
            <a:prstGeom prst="rect">
              <a:avLst/>
            </a:prstGeom>
            <a:solidFill>
              <a:srgbClr val="EBD05D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1" name="Line 12">
              <a:extLst>
                <a:ext uri="{FF2B5EF4-FFF2-40B4-BE49-F238E27FC236}">
                  <a16:creationId xmlns:a16="http://schemas.microsoft.com/office/drawing/2014/main" id="{46FECFE7-A3A4-4703-B95B-727F4D2A89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7689" y="3000847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2" name="Line 13">
              <a:extLst>
                <a:ext uri="{FF2B5EF4-FFF2-40B4-BE49-F238E27FC236}">
                  <a16:creationId xmlns:a16="http://schemas.microsoft.com/office/drawing/2014/main" id="{81058634-D4F2-4E47-9016-938F9A9282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6713" y="3000847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3" name="Line 14">
              <a:extLst>
                <a:ext uri="{FF2B5EF4-FFF2-40B4-BE49-F238E27FC236}">
                  <a16:creationId xmlns:a16="http://schemas.microsoft.com/office/drawing/2014/main" id="{F3CC9EE5-2809-4E37-88FC-D011F2028F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5737" y="3000847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4" name="Line 15">
              <a:extLst>
                <a:ext uri="{FF2B5EF4-FFF2-40B4-BE49-F238E27FC236}">
                  <a16:creationId xmlns:a16="http://schemas.microsoft.com/office/drawing/2014/main" id="{941D0CD8-324D-442F-9462-A9C2CBC4A0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97319" y="3000847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5" name="Rectangle 16">
              <a:extLst>
                <a:ext uri="{FF2B5EF4-FFF2-40B4-BE49-F238E27FC236}">
                  <a16:creationId xmlns:a16="http://schemas.microsoft.com/office/drawing/2014/main" id="{953DBE7E-3B2A-421F-ABE9-8200BFEDF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7690" y="3171999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6" name="AutoShape 13">
              <a:extLst>
                <a:ext uri="{FF2B5EF4-FFF2-40B4-BE49-F238E27FC236}">
                  <a16:creationId xmlns:a16="http://schemas.microsoft.com/office/drawing/2014/main" id="{897D2FEC-A535-4D7A-9926-C08D60258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006" y="2430339"/>
              <a:ext cx="1968500" cy="439043"/>
            </a:xfrm>
            <a:prstGeom prst="wedgeEllipseCallout">
              <a:avLst>
                <a:gd name="adj1" fmla="val -33510"/>
                <a:gd name="adj2" fmla="val 158631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/>
              <a:r>
                <a:rPr lang="en-US" sz="1083" dirty="0">
                  <a:ea typeface="Gill Sans" charset="0"/>
                  <a:cs typeface="Gill Sans" charset="0"/>
                </a:rPr>
                <a:t>High &amp; low priority jobs arrived together</a:t>
              </a:r>
            </a:p>
          </p:txBody>
        </p:sp>
        <p:sp>
          <p:nvSpPr>
            <p:cNvPr id="37" name="AutoShape 13">
              <a:extLst>
                <a:ext uri="{FF2B5EF4-FFF2-40B4-BE49-F238E27FC236}">
                  <a16:creationId xmlns:a16="http://schemas.microsoft.com/office/drawing/2014/main" id="{2C9FDCA8-F785-4CAF-B218-3B5E05F617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006" y="2430339"/>
              <a:ext cx="1968500" cy="439043"/>
            </a:xfrm>
            <a:prstGeom prst="wedgeEllipseCallout">
              <a:avLst>
                <a:gd name="adj1" fmla="val -22366"/>
                <a:gd name="adj2" fmla="val 311153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/>
              <a:r>
                <a:rPr lang="en-US" sz="1083" dirty="0">
                  <a:ea typeface="Gill Sans" charset="0"/>
                  <a:cs typeface="Gill Sans" charset="0"/>
                </a:rPr>
                <a:t>High &amp; low priority jobs arrived together</a:t>
              </a:r>
            </a:p>
          </p:txBody>
        </p:sp>
        <p:sp>
          <p:nvSpPr>
            <p:cNvPr id="38" name="Rectangle 8">
              <a:extLst>
                <a:ext uri="{FF2B5EF4-FFF2-40B4-BE49-F238E27FC236}">
                  <a16:creationId xmlns:a16="http://schemas.microsoft.com/office/drawing/2014/main" id="{8D366741-50F2-48CA-870A-D7DD34A8E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5456" y="2684339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High Priority Task</a:t>
              </a:r>
            </a:p>
          </p:txBody>
        </p:sp>
        <p:sp>
          <p:nvSpPr>
            <p:cNvPr id="39" name="Rectangle 9">
              <a:extLst>
                <a:ext uri="{FF2B5EF4-FFF2-40B4-BE49-F238E27FC236}">
                  <a16:creationId xmlns:a16="http://schemas.microsoft.com/office/drawing/2014/main" id="{869413C7-A68C-4785-955D-32EFB2A554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291" y="4462091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Low Priority Task</a:t>
              </a:r>
            </a:p>
          </p:txBody>
        </p:sp>
        <p:sp>
          <p:nvSpPr>
            <p:cNvPr id="40" name="Rectangle 22">
              <a:extLst>
                <a:ext uri="{FF2B5EF4-FFF2-40B4-BE49-F238E27FC236}">
                  <a16:creationId xmlns:a16="http://schemas.microsoft.com/office/drawing/2014/main" id="{66508ED5-E7DC-42F5-8B6D-31A31E42D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498" y="4324921"/>
              <a:ext cx="662788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Time</a:t>
              </a:r>
              <a:endParaRPr lang="en-US" sz="1000" dirty="0">
                <a:ea typeface="Gill Sans" charset="0"/>
                <a:cs typeface="Gill S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81902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E2E7D-1F84-4DD2-A3B1-818E861A5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Real-time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54186-095E-4161-989B-ABA302922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72C02E-6B8E-46EC-9969-980801EC1723}"/>
              </a:ext>
            </a:extLst>
          </p:cNvPr>
          <p:cNvSpPr txBox="1"/>
          <p:nvPr/>
        </p:nvSpPr>
        <p:spPr>
          <a:xfrm>
            <a:off x="3888187" y="5560249"/>
            <a:ext cx="3576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Real-time OS Scheduling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C9220AD-6FEF-4D9B-8CB7-E1DD396FBECE}"/>
              </a:ext>
            </a:extLst>
          </p:cNvPr>
          <p:cNvGrpSpPr/>
          <p:nvPr/>
        </p:nvGrpSpPr>
        <p:grpSpPr>
          <a:xfrm>
            <a:off x="3063568" y="2263471"/>
            <a:ext cx="4538830" cy="2286000"/>
            <a:chOff x="3063568" y="2263471"/>
            <a:chExt cx="4538830" cy="2286000"/>
          </a:xfrm>
        </p:grpSpPr>
        <p:sp>
          <p:nvSpPr>
            <p:cNvPr id="23" name="Line 2">
              <a:extLst>
                <a:ext uri="{FF2B5EF4-FFF2-40B4-BE49-F238E27FC236}">
                  <a16:creationId xmlns:a16="http://schemas.microsoft.com/office/drawing/2014/main" id="{31D4A7F4-765F-4EAE-8F4B-3FA5A6CC5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2364" y="3068631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4" name="Line 3">
              <a:extLst>
                <a:ext uri="{FF2B5EF4-FFF2-40B4-BE49-F238E27FC236}">
                  <a16:creationId xmlns:a16="http://schemas.microsoft.com/office/drawing/2014/main" id="{76B0DAA7-931E-4C44-9F8A-5344E6B3DF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2364" y="4140194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5" name="Line 4">
              <a:extLst>
                <a:ext uri="{FF2B5EF4-FFF2-40B4-BE49-F238E27FC236}">
                  <a16:creationId xmlns:a16="http://schemas.microsoft.com/office/drawing/2014/main" id="{54924C25-3FED-4480-8712-D6B2689C83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2364" y="3425819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6" name="Line 5">
              <a:extLst>
                <a:ext uri="{FF2B5EF4-FFF2-40B4-BE49-F238E27FC236}">
                  <a16:creationId xmlns:a16="http://schemas.microsoft.com/office/drawing/2014/main" id="{C9EA1BDD-3CB5-4BFC-A9D4-1F78D6FF256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3732364" y="3782076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7" name="Line 6">
              <a:extLst>
                <a:ext uri="{FF2B5EF4-FFF2-40B4-BE49-F238E27FC236}">
                  <a16:creationId xmlns:a16="http://schemas.microsoft.com/office/drawing/2014/main" id="{FB0A1735-6313-48F1-BD80-4BE6BFB97D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6778" y="2897479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8" name="Rectangle 9">
              <a:extLst>
                <a:ext uri="{FF2B5EF4-FFF2-40B4-BE49-F238E27FC236}">
                  <a16:creationId xmlns:a16="http://schemas.microsoft.com/office/drawing/2014/main" id="{5520BDE2-2ED3-434C-A433-FEC8FC72E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4220" y="3068631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9" name="Rectangle 10">
              <a:extLst>
                <a:ext uri="{FF2B5EF4-FFF2-40B4-BE49-F238E27FC236}">
                  <a16:creationId xmlns:a16="http://schemas.microsoft.com/office/drawing/2014/main" id="{63017481-2BBC-4A32-B398-F2B1C7431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3731" y="3425819"/>
              <a:ext cx="372070" cy="357188"/>
            </a:xfrm>
            <a:prstGeom prst="rect">
              <a:avLst/>
            </a:prstGeom>
            <a:solidFill>
              <a:srgbClr val="D6881C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0" name="Line 11">
              <a:extLst>
                <a:ext uri="{FF2B5EF4-FFF2-40B4-BE49-F238E27FC236}">
                  <a16:creationId xmlns:a16="http://schemas.microsoft.com/office/drawing/2014/main" id="{2D6112DB-4772-43CC-A6E8-2FCD76FBF1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5801" y="2897479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1" name="Line 12">
              <a:extLst>
                <a:ext uri="{FF2B5EF4-FFF2-40B4-BE49-F238E27FC236}">
                  <a16:creationId xmlns:a16="http://schemas.microsoft.com/office/drawing/2014/main" id="{EDF8B559-4D19-457A-B15B-56744E3968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4825" y="2897479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2" name="Line 13">
              <a:extLst>
                <a:ext uri="{FF2B5EF4-FFF2-40B4-BE49-F238E27FC236}">
                  <a16:creationId xmlns:a16="http://schemas.microsoft.com/office/drawing/2014/main" id="{98EF3C25-907A-471C-9308-E99A4F4E9F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83849" y="2897479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3" name="Line 14">
              <a:extLst>
                <a:ext uri="{FF2B5EF4-FFF2-40B4-BE49-F238E27FC236}">
                  <a16:creationId xmlns:a16="http://schemas.microsoft.com/office/drawing/2014/main" id="{7A070337-23AD-49FF-8C46-E847C8ABE5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5431" y="2897479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4" name="Rectangle 15">
              <a:extLst>
                <a:ext uri="{FF2B5EF4-FFF2-40B4-BE49-F238E27FC236}">
                  <a16:creationId xmlns:a16="http://schemas.microsoft.com/office/drawing/2014/main" id="{794B43D7-17F5-48D1-BD13-5615E4486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5802" y="3068631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5" name="AutoShape 13">
              <a:extLst>
                <a:ext uri="{FF2B5EF4-FFF2-40B4-BE49-F238E27FC236}">
                  <a16:creationId xmlns:a16="http://schemas.microsoft.com/office/drawing/2014/main" id="{06B10BC9-8163-4531-8F95-2EC76AF8A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618" y="2263471"/>
              <a:ext cx="1968500" cy="439043"/>
            </a:xfrm>
            <a:prstGeom prst="wedgeEllipseCallout">
              <a:avLst>
                <a:gd name="adj1" fmla="val -37616"/>
                <a:gd name="adj2" fmla="val 150743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/>
              <a:r>
                <a:rPr lang="en-US" sz="1083" dirty="0">
                  <a:ea typeface="Gill Sans" charset="0"/>
                  <a:cs typeface="Gill Sans" charset="0"/>
                </a:rPr>
                <a:t>High priority job is executed first</a:t>
              </a:r>
            </a:p>
          </p:txBody>
        </p:sp>
        <p:sp>
          <p:nvSpPr>
            <p:cNvPr id="36" name="Rectangle 8">
              <a:extLst>
                <a:ext uri="{FF2B5EF4-FFF2-40B4-BE49-F238E27FC236}">
                  <a16:creationId xmlns:a16="http://schemas.microsoft.com/office/drawing/2014/main" id="{FDB1E6D4-CF09-469F-ACF9-B0357BFF7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568" y="2580971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High Priority Task</a:t>
              </a:r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6B6E469F-5BBA-4713-9187-C4F69F4F04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2403" y="4358723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Low Priority Task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0F4D16B-8010-4463-9F22-E2FE9D806F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9610" y="4221553"/>
              <a:ext cx="662788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Time</a:t>
              </a:r>
              <a:endParaRPr lang="en-US" sz="1000" dirty="0">
                <a:ea typeface="Gill Sans" charset="0"/>
                <a:cs typeface="Gill S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40522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E2E7D-1F84-4DD2-A3B1-818E861A5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Real-time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54186-095E-4161-989B-ABA302922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72C02E-6B8E-46EC-9969-980801EC1723}"/>
              </a:ext>
            </a:extLst>
          </p:cNvPr>
          <p:cNvSpPr txBox="1"/>
          <p:nvPr/>
        </p:nvSpPr>
        <p:spPr>
          <a:xfrm>
            <a:off x="3888187" y="5560249"/>
            <a:ext cx="3576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Real-time OS Scheduling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84F2A12-5557-4B06-9253-27A3006F31D0}"/>
              </a:ext>
            </a:extLst>
          </p:cNvPr>
          <p:cNvGrpSpPr/>
          <p:nvPr/>
        </p:nvGrpSpPr>
        <p:grpSpPr>
          <a:xfrm>
            <a:off x="3015860" y="2565069"/>
            <a:ext cx="4538830" cy="1968500"/>
            <a:chOff x="3015860" y="2565069"/>
            <a:chExt cx="4538830" cy="1968500"/>
          </a:xfrm>
        </p:grpSpPr>
        <p:sp>
          <p:nvSpPr>
            <p:cNvPr id="23" name="Line 2">
              <a:extLst>
                <a:ext uri="{FF2B5EF4-FFF2-40B4-BE49-F238E27FC236}">
                  <a16:creationId xmlns:a16="http://schemas.microsoft.com/office/drawing/2014/main" id="{3A885BA4-DD6E-4DCB-A86B-44CEEE5247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4656" y="3052729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4" name="Line 3">
              <a:extLst>
                <a:ext uri="{FF2B5EF4-FFF2-40B4-BE49-F238E27FC236}">
                  <a16:creationId xmlns:a16="http://schemas.microsoft.com/office/drawing/2014/main" id="{E3172EAD-0BDB-4CC4-8504-6D16F1576A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4656" y="4124292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5" name="Line 4">
              <a:extLst>
                <a:ext uri="{FF2B5EF4-FFF2-40B4-BE49-F238E27FC236}">
                  <a16:creationId xmlns:a16="http://schemas.microsoft.com/office/drawing/2014/main" id="{7EB3F83E-2650-4514-92A7-6395BCE38F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4656" y="3409917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6" name="Line 5">
              <a:extLst>
                <a:ext uri="{FF2B5EF4-FFF2-40B4-BE49-F238E27FC236}">
                  <a16:creationId xmlns:a16="http://schemas.microsoft.com/office/drawing/2014/main" id="{61B425D1-DB8E-4FC0-9450-8509855C0BD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3684656" y="3766174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7" name="Line 6">
              <a:extLst>
                <a:ext uri="{FF2B5EF4-FFF2-40B4-BE49-F238E27FC236}">
                  <a16:creationId xmlns:a16="http://schemas.microsoft.com/office/drawing/2014/main" id="{8DADB5EB-1669-48CB-A4C1-2C61D404FC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9070" y="2881577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8" name="Rectangle 9">
              <a:extLst>
                <a:ext uri="{FF2B5EF4-FFF2-40B4-BE49-F238E27FC236}">
                  <a16:creationId xmlns:a16="http://schemas.microsoft.com/office/drawing/2014/main" id="{A2D66800-98DA-432A-85FB-256E39F469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6512" y="3052729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9" name="Rectangle 10">
              <a:extLst>
                <a:ext uri="{FF2B5EF4-FFF2-40B4-BE49-F238E27FC236}">
                  <a16:creationId xmlns:a16="http://schemas.microsoft.com/office/drawing/2014/main" id="{7D337C0F-4389-44B7-B700-068FBDA6C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6023" y="3409917"/>
              <a:ext cx="372070" cy="357188"/>
            </a:xfrm>
            <a:prstGeom prst="rect">
              <a:avLst/>
            </a:prstGeom>
            <a:solidFill>
              <a:srgbClr val="D6881C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0" name="Line 11">
              <a:extLst>
                <a:ext uri="{FF2B5EF4-FFF2-40B4-BE49-F238E27FC236}">
                  <a16:creationId xmlns:a16="http://schemas.microsoft.com/office/drawing/2014/main" id="{EE28795E-18DF-4EC5-B03C-2C14059712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8093" y="2881577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1" name="Line 12">
              <a:extLst>
                <a:ext uri="{FF2B5EF4-FFF2-40B4-BE49-F238E27FC236}">
                  <a16:creationId xmlns:a16="http://schemas.microsoft.com/office/drawing/2014/main" id="{9110E903-4713-41CE-A4AB-AD5DE7646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7117" y="2881577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2" name="Line 13">
              <a:extLst>
                <a:ext uri="{FF2B5EF4-FFF2-40B4-BE49-F238E27FC236}">
                  <a16:creationId xmlns:a16="http://schemas.microsoft.com/office/drawing/2014/main" id="{7369176F-04BD-45CD-AF87-92017DE917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6141" y="2881577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3" name="Line 14">
              <a:extLst>
                <a:ext uri="{FF2B5EF4-FFF2-40B4-BE49-F238E27FC236}">
                  <a16:creationId xmlns:a16="http://schemas.microsoft.com/office/drawing/2014/main" id="{1E4D480A-41BD-49C4-8196-E264B323A0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7723" y="2881577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4" name="Rectangle 15">
              <a:extLst>
                <a:ext uri="{FF2B5EF4-FFF2-40B4-BE49-F238E27FC236}">
                  <a16:creationId xmlns:a16="http://schemas.microsoft.com/office/drawing/2014/main" id="{23544DE0-266A-49DA-A366-E5EC7E82B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094" y="3052729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5" name="Rectangle 17">
              <a:extLst>
                <a:ext uri="{FF2B5EF4-FFF2-40B4-BE49-F238E27FC236}">
                  <a16:creationId xmlns:a16="http://schemas.microsoft.com/office/drawing/2014/main" id="{D5DF4965-6AEC-4BEA-A5F5-B170DD149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4364" y="3767104"/>
              <a:ext cx="759023" cy="357188"/>
            </a:xfrm>
            <a:prstGeom prst="rect">
              <a:avLst/>
            </a:prstGeom>
            <a:solidFill>
              <a:srgbClr val="EBD05D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6" name="AutoShape 13">
              <a:extLst>
                <a:ext uri="{FF2B5EF4-FFF2-40B4-BE49-F238E27FC236}">
                  <a16:creationId xmlns:a16="http://schemas.microsoft.com/office/drawing/2014/main" id="{507A9F45-BD9C-41B6-A7FC-2140ED606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8910" y="3136569"/>
              <a:ext cx="1968500" cy="439043"/>
            </a:xfrm>
            <a:prstGeom prst="wedgeEllipseCallout">
              <a:avLst>
                <a:gd name="adj1" fmla="val -35269"/>
                <a:gd name="adj2" fmla="val 113927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/>
              <a:r>
                <a:rPr lang="en-US" sz="1083" dirty="0">
                  <a:ea typeface="Gill Sans" charset="0"/>
                  <a:cs typeface="Gill Sans" charset="0"/>
                </a:rPr>
                <a:t>Low priority job is executed later</a:t>
              </a:r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3C512ABC-8886-4906-9266-52375EB750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5860" y="2565069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High Priority Task</a:t>
              </a:r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66573344-1FA2-4F79-9F82-1CFCB6155D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695" y="4342821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Low Priority Task</a:t>
              </a:r>
            </a:p>
          </p:txBody>
        </p:sp>
        <p:sp>
          <p:nvSpPr>
            <p:cNvPr id="39" name="Rectangle 22">
              <a:extLst>
                <a:ext uri="{FF2B5EF4-FFF2-40B4-BE49-F238E27FC236}">
                  <a16:creationId xmlns:a16="http://schemas.microsoft.com/office/drawing/2014/main" id="{712F336D-B953-408F-B291-E6D2C7E770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1902" y="4205651"/>
              <a:ext cx="662788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Time</a:t>
              </a:r>
              <a:endParaRPr lang="en-US" sz="1000" dirty="0">
                <a:ea typeface="Gill Sans" charset="0"/>
                <a:cs typeface="Gill S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17642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3552E-3D9E-40ED-8B21-2DAF5E8F2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Real-time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952E3-5940-49AD-A38C-8541508F4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25</a:t>
            </a:fld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7E0773A-5C7E-45E8-A4BF-5016771F671B}"/>
              </a:ext>
            </a:extLst>
          </p:cNvPr>
          <p:cNvGrpSpPr/>
          <p:nvPr/>
        </p:nvGrpSpPr>
        <p:grpSpPr>
          <a:xfrm>
            <a:off x="3039714" y="2381250"/>
            <a:ext cx="4538830" cy="2095500"/>
            <a:chOff x="3596305" y="2795878"/>
            <a:chExt cx="4538830" cy="2095500"/>
          </a:xfrm>
        </p:grpSpPr>
        <p:sp>
          <p:nvSpPr>
            <p:cNvPr id="5" name="Line 2">
              <a:extLst>
                <a:ext uri="{FF2B5EF4-FFF2-40B4-BE49-F238E27FC236}">
                  <a16:creationId xmlns:a16="http://schemas.microsoft.com/office/drawing/2014/main" id="{1C1AFF2A-B4AD-4CB1-AFB3-F8409B080E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5101" y="3410538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6" name="Line 3">
              <a:extLst>
                <a:ext uri="{FF2B5EF4-FFF2-40B4-BE49-F238E27FC236}">
                  <a16:creationId xmlns:a16="http://schemas.microsoft.com/office/drawing/2014/main" id="{F0481725-1A39-4E8D-9651-061E8613A9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5101" y="4482101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EE44B9A8-9777-4382-A092-7CCAFCD8B9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5101" y="3767726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15F8AEA0-C262-4BE7-8B0F-4E6705632C2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4265101" y="4123983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1B89EE9E-C459-4C0C-BFA9-E6D1ED72FD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9515" y="3239386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82A4DB1-A763-4725-A2B5-9D8D9EE4A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6957" y="3410538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B8A3D7D-EAE5-46C0-89B6-2344B068D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6468" y="3767726"/>
              <a:ext cx="372070" cy="357188"/>
            </a:xfrm>
            <a:prstGeom prst="rect">
              <a:avLst/>
            </a:prstGeom>
            <a:solidFill>
              <a:srgbClr val="D6881C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0AB9D5A1-19A3-434D-9F01-C76AE78614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8538" y="3239386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B65A4A70-7257-441A-8413-E90EAB9BF1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57562" y="3239386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81E7F900-2C53-424D-BE00-27B718AC79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16586" y="3239386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C19D7C4C-59C6-4151-8A8D-5F6415DF65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68168" y="3239386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2DC0CE8-E71B-4E6E-87B5-84D8C28E26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8539" y="3410538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CFB3563-A7CA-46D9-99C4-92BBC4B2C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7563" y="3410538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01793276-34C0-4F39-A162-021A63A9D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4809" y="4124913"/>
              <a:ext cx="759023" cy="357188"/>
            </a:xfrm>
            <a:prstGeom prst="rect">
              <a:avLst/>
            </a:prstGeom>
            <a:solidFill>
              <a:srgbClr val="EBD05D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19" name="AutoShape 13">
              <a:extLst>
                <a:ext uri="{FF2B5EF4-FFF2-40B4-BE49-F238E27FC236}">
                  <a16:creationId xmlns:a16="http://schemas.microsoft.com/office/drawing/2014/main" id="{79F58B68-7E06-4AF3-9EBD-C5A4C9113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3355" y="2795878"/>
              <a:ext cx="1968500" cy="439043"/>
            </a:xfrm>
            <a:prstGeom prst="wedgeEllipseCallout">
              <a:avLst>
                <a:gd name="adj1" fmla="val -35269"/>
                <a:gd name="adj2" fmla="val 113927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/>
              <a:r>
                <a:rPr lang="en-US" sz="1083" dirty="0">
                  <a:ea typeface="Gill Sans" charset="0"/>
                  <a:cs typeface="Gill Sans" charset="0"/>
                </a:rPr>
                <a:t>High priority job arrived</a:t>
              </a:r>
            </a:p>
          </p:txBody>
        </p:sp>
        <p:sp>
          <p:nvSpPr>
            <p:cNvPr id="20" name="Rectangle 8">
              <a:extLst>
                <a:ext uri="{FF2B5EF4-FFF2-40B4-BE49-F238E27FC236}">
                  <a16:creationId xmlns:a16="http://schemas.microsoft.com/office/drawing/2014/main" id="{BBEDE1D2-319F-47CD-A8A4-F900475A7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6305" y="2922878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High Priority Task</a:t>
              </a:r>
            </a:p>
          </p:txBody>
        </p:sp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EFBD2F25-BFE8-49BD-BF64-7957CAD95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140" y="4700630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Low Priority Task</a:t>
              </a:r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319D6A0A-AA72-4851-873B-A40749444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2347" y="4563460"/>
              <a:ext cx="662788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Time</a:t>
              </a:r>
              <a:endParaRPr lang="en-US" sz="1000" dirty="0">
                <a:ea typeface="Gill Sans" charset="0"/>
                <a:cs typeface="Gill Sans" charset="0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66A006F0-E1F5-4EA3-B697-27F55CDEE37A}"/>
              </a:ext>
            </a:extLst>
          </p:cNvPr>
          <p:cNvSpPr txBox="1"/>
          <p:nvPr/>
        </p:nvSpPr>
        <p:spPr>
          <a:xfrm>
            <a:off x="3888187" y="5560249"/>
            <a:ext cx="3576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Real-time OS Scheduling</a:t>
            </a:r>
          </a:p>
        </p:txBody>
      </p:sp>
    </p:spTree>
    <p:extLst>
      <p:ext uri="{BB962C8B-B14F-4D97-AF65-F5344CB8AC3E}">
        <p14:creationId xmlns:p14="http://schemas.microsoft.com/office/powerpoint/2010/main" val="13844050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3552E-3D9E-40ED-8B21-2DAF5E8F2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Real-time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952E3-5940-49AD-A38C-8541508F4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26</a:t>
            </a:fld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A006F0-E1F5-4EA3-B697-27F55CDEE37A}"/>
              </a:ext>
            </a:extLst>
          </p:cNvPr>
          <p:cNvSpPr txBox="1"/>
          <p:nvPr/>
        </p:nvSpPr>
        <p:spPr>
          <a:xfrm>
            <a:off x="3888187" y="5560249"/>
            <a:ext cx="3576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Real-time OS Scheduling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E4BFE39-C02C-44EC-9A8A-9783B903249A}"/>
              </a:ext>
            </a:extLst>
          </p:cNvPr>
          <p:cNvGrpSpPr/>
          <p:nvPr/>
        </p:nvGrpSpPr>
        <p:grpSpPr>
          <a:xfrm>
            <a:off x="2813874" y="2444750"/>
            <a:ext cx="4764050" cy="1968500"/>
            <a:chOff x="3219391" y="2779754"/>
            <a:chExt cx="4764050" cy="1968500"/>
          </a:xfrm>
        </p:grpSpPr>
        <p:sp>
          <p:nvSpPr>
            <p:cNvPr id="24" name="Line 2">
              <a:extLst>
                <a:ext uri="{FF2B5EF4-FFF2-40B4-BE49-F238E27FC236}">
                  <a16:creationId xmlns:a16="http://schemas.microsoft.com/office/drawing/2014/main" id="{0DEF123A-333F-4118-8A06-9AF3DECD94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187" y="3267414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5" name="Line 3">
              <a:extLst>
                <a:ext uri="{FF2B5EF4-FFF2-40B4-BE49-F238E27FC236}">
                  <a16:creationId xmlns:a16="http://schemas.microsoft.com/office/drawing/2014/main" id="{EEBD3E0C-25C3-4F8F-987A-D980FE9E96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187" y="4338977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6" name="Line 4">
              <a:extLst>
                <a:ext uri="{FF2B5EF4-FFF2-40B4-BE49-F238E27FC236}">
                  <a16:creationId xmlns:a16="http://schemas.microsoft.com/office/drawing/2014/main" id="{A77F9BB4-F9BE-4BE2-BD13-D61A71977E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187" y="3624602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7" name="Line 5">
              <a:extLst>
                <a:ext uri="{FF2B5EF4-FFF2-40B4-BE49-F238E27FC236}">
                  <a16:creationId xmlns:a16="http://schemas.microsoft.com/office/drawing/2014/main" id="{AFAA3E41-1772-4129-8309-446D4029824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3888187" y="3980859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8" name="Line 6">
              <a:extLst>
                <a:ext uri="{FF2B5EF4-FFF2-40B4-BE49-F238E27FC236}">
                  <a16:creationId xmlns:a16="http://schemas.microsoft.com/office/drawing/2014/main" id="{8439BEC3-65AC-45CA-8ED4-BF5A596A91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601" y="3096262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9" name="Rectangle 9">
              <a:extLst>
                <a:ext uri="{FF2B5EF4-FFF2-40B4-BE49-F238E27FC236}">
                  <a16:creationId xmlns:a16="http://schemas.microsoft.com/office/drawing/2014/main" id="{C045FE7A-5F08-4FF1-A2BC-16DC614A3A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043" y="3267414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0" name="Rectangle 10">
              <a:extLst>
                <a:ext uri="{FF2B5EF4-FFF2-40B4-BE49-F238E27FC236}">
                  <a16:creationId xmlns:a16="http://schemas.microsoft.com/office/drawing/2014/main" id="{A7D034A7-504F-4786-A661-B1D11B1B4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554" y="3624602"/>
              <a:ext cx="372070" cy="357188"/>
            </a:xfrm>
            <a:prstGeom prst="rect">
              <a:avLst/>
            </a:prstGeom>
            <a:solidFill>
              <a:srgbClr val="D6881C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1" name="Line 11">
              <a:extLst>
                <a:ext uri="{FF2B5EF4-FFF2-40B4-BE49-F238E27FC236}">
                  <a16:creationId xmlns:a16="http://schemas.microsoft.com/office/drawing/2014/main" id="{509F5DCC-4F8B-4F91-B081-1473DDB54D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1624" y="3096262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2" name="Line 12">
              <a:extLst>
                <a:ext uri="{FF2B5EF4-FFF2-40B4-BE49-F238E27FC236}">
                  <a16:creationId xmlns:a16="http://schemas.microsoft.com/office/drawing/2014/main" id="{BD8CE1AB-223E-411A-BFEF-9EBD32309F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0648" y="3096262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3" name="Line 13">
              <a:extLst>
                <a:ext uri="{FF2B5EF4-FFF2-40B4-BE49-F238E27FC236}">
                  <a16:creationId xmlns:a16="http://schemas.microsoft.com/office/drawing/2014/main" id="{8D96257B-2E02-471B-A977-C90FF70E42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9672" y="3096262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4" name="Line 14">
              <a:extLst>
                <a:ext uri="{FF2B5EF4-FFF2-40B4-BE49-F238E27FC236}">
                  <a16:creationId xmlns:a16="http://schemas.microsoft.com/office/drawing/2014/main" id="{08F70E5F-14D9-4496-BF47-9CEC068A02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91254" y="3096262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10F20CBA-5A75-4AD8-8EDB-8BF88AC33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625" y="3267414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6" name="Rectangle 16">
              <a:extLst>
                <a:ext uri="{FF2B5EF4-FFF2-40B4-BE49-F238E27FC236}">
                  <a16:creationId xmlns:a16="http://schemas.microsoft.com/office/drawing/2014/main" id="{A740F6BB-A463-4597-8C44-1500303A2A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0649" y="3267414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7" name="Rectangle 18">
              <a:extLst>
                <a:ext uri="{FF2B5EF4-FFF2-40B4-BE49-F238E27FC236}">
                  <a16:creationId xmlns:a16="http://schemas.microsoft.com/office/drawing/2014/main" id="{A876CCE6-E118-438C-82FB-D2279CBD39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7895" y="3981789"/>
              <a:ext cx="602754" cy="357188"/>
            </a:xfrm>
            <a:prstGeom prst="rect">
              <a:avLst/>
            </a:prstGeom>
            <a:solidFill>
              <a:srgbClr val="EBD05D"/>
            </a:solidFill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8" name="Rectangle 19">
              <a:extLst>
                <a:ext uri="{FF2B5EF4-FFF2-40B4-BE49-F238E27FC236}">
                  <a16:creationId xmlns:a16="http://schemas.microsoft.com/office/drawing/2014/main" id="{5C7DFC6A-8690-468F-AB7E-E160ADB86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2035" y="3981789"/>
              <a:ext cx="133945" cy="357188"/>
            </a:xfrm>
            <a:prstGeom prst="rect">
              <a:avLst/>
            </a:prstGeom>
            <a:solidFill>
              <a:srgbClr val="EBD05D"/>
            </a:solidFill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9" name="AutoShape 13">
              <a:extLst>
                <a:ext uri="{FF2B5EF4-FFF2-40B4-BE49-F238E27FC236}">
                  <a16:creationId xmlns:a16="http://schemas.microsoft.com/office/drawing/2014/main" id="{CBCAD149-CBD0-4FD6-BF99-BF6F8C69C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4941" y="3605254"/>
              <a:ext cx="1968500" cy="439043"/>
            </a:xfrm>
            <a:prstGeom prst="wedgeEllipseCallout">
              <a:avLst>
                <a:gd name="adj1" fmla="val -67527"/>
                <a:gd name="adj2" fmla="val 58704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/>
              <a:r>
                <a:rPr lang="en-US" sz="1083" dirty="0">
                  <a:ea typeface="Gill Sans" charset="0"/>
                  <a:cs typeface="Gill Sans" charset="0"/>
                </a:rPr>
                <a:t>Lower priority job resumes later</a:t>
              </a:r>
            </a:p>
          </p:txBody>
        </p:sp>
        <p:sp>
          <p:nvSpPr>
            <p:cNvPr id="40" name="Rectangle 8">
              <a:extLst>
                <a:ext uri="{FF2B5EF4-FFF2-40B4-BE49-F238E27FC236}">
                  <a16:creationId xmlns:a16="http://schemas.microsoft.com/office/drawing/2014/main" id="{C58459D0-C4C4-44C6-B68C-64FE0E91F8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391" y="2779754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High Priority Task</a:t>
              </a:r>
            </a:p>
          </p:txBody>
        </p:sp>
        <p:sp>
          <p:nvSpPr>
            <p:cNvPr id="41" name="Rectangle 9">
              <a:extLst>
                <a:ext uri="{FF2B5EF4-FFF2-40B4-BE49-F238E27FC236}">
                  <a16:creationId xmlns:a16="http://schemas.microsoft.com/office/drawing/2014/main" id="{DDC7F58E-692E-4EC5-9120-FA8499A9F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8226" y="4557506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Low Priority Task</a:t>
              </a:r>
            </a:p>
          </p:txBody>
        </p:sp>
        <p:sp>
          <p:nvSpPr>
            <p:cNvPr id="42" name="Rectangle 22">
              <a:extLst>
                <a:ext uri="{FF2B5EF4-FFF2-40B4-BE49-F238E27FC236}">
                  <a16:creationId xmlns:a16="http://schemas.microsoft.com/office/drawing/2014/main" id="{0D0E8A9C-08EF-4872-B443-DBA1FEA8F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5433" y="4420336"/>
              <a:ext cx="662788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Time</a:t>
              </a:r>
              <a:endParaRPr lang="en-US" sz="1000" dirty="0">
                <a:ea typeface="Gill Sans" charset="0"/>
                <a:cs typeface="Gill S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22530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3552E-3D9E-40ED-8B21-2DAF5E8F2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Real-time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952E3-5940-49AD-A38C-8541508F4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27</a:t>
            </a:fld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A006F0-E1F5-4EA3-B697-27F55CDEE37A}"/>
              </a:ext>
            </a:extLst>
          </p:cNvPr>
          <p:cNvSpPr txBox="1"/>
          <p:nvPr/>
        </p:nvSpPr>
        <p:spPr>
          <a:xfrm>
            <a:off x="3888187" y="5560249"/>
            <a:ext cx="3576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Real-time OS Scheduling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1171465-626A-41CB-8A26-BEBE08B993FE}"/>
              </a:ext>
            </a:extLst>
          </p:cNvPr>
          <p:cNvGrpSpPr/>
          <p:nvPr/>
        </p:nvGrpSpPr>
        <p:grpSpPr>
          <a:xfrm>
            <a:off x="2837728" y="2444750"/>
            <a:ext cx="4538830" cy="1968500"/>
            <a:chOff x="3219391" y="2811559"/>
            <a:chExt cx="4538830" cy="1968500"/>
          </a:xfrm>
        </p:grpSpPr>
        <p:sp>
          <p:nvSpPr>
            <p:cNvPr id="24" name="Line 2">
              <a:extLst>
                <a:ext uri="{FF2B5EF4-FFF2-40B4-BE49-F238E27FC236}">
                  <a16:creationId xmlns:a16="http://schemas.microsoft.com/office/drawing/2014/main" id="{14719528-D778-4720-8276-8AE6755F93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187" y="3299219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5" name="Line 3">
              <a:extLst>
                <a:ext uri="{FF2B5EF4-FFF2-40B4-BE49-F238E27FC236}">
                  <a16:creationId xmlns:a16="http://schemas.microsoft.com/office/drawing/2014/main" id="{CFD4DD01-0E60-4222-ADF9-0F8A1ED0C2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187" y="4370782"/>
              <a:ext cx="3352353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6" name="Line 4">
              <a:extLst>
                <a:ext uri="{FF2B5EF4-FFF2-40B4-BE49-F238E27FC236}">
                  <a16:creationId xmlns:a16="http://schemas.microsoft.com/office/drawing/2014/main" id="{E833C870-8C08-4FAA-9C4A-24E130DAF6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187" y="3656407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7" name="Line 5">
              <a:extLst>
                <a:ext uri="{FF2B5EF4-FFF2-40B4-BE49-F238E27FC236}">
                  <a16:creationId xmlns:a16="http://schemas.microsoft.com/office/drawing/2014/main" id="{F32138C4-9EB0-4A59-914F-4E8DFF67F29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3888187" y="4012664"/>
              <a:ext cx="3352353" cy="0"/>
            </a:xfrm>
            <a:prstGeom prst="line">
              <a:avLst/>
            </a:prstGeom>
            <a:noFill/>
            <a:ln w="12700" cap="flat">
              <a:solidFill>
                <a:srgbClr val="CECECE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8" name="Line 6">
              <a:extLst>
                <a:ext uri="{FF2B5EF4-FFF2-40B4-BE49-F238E27FC236}">
                  <a16:creationId xmlns:a16="http://schemas.microsoft.com/office/drawing/2014/main" id="{C467B736-D758-47D3-9691-4FB51DEA85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601" y="3128067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29" name="Rectangle 9">
              <a:extLst>
                <a:ext uri="{FF2B5EF4-FFF2-40B4-BE49-F238E27FC236}">
                  <a16:creationId xmlns:a16="http://schemas.microsoft.com/office/drawing/2014/main" id="{2D793FE3-2957-41E3-801B-BA8554E43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043" y="3299219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0" name="Rectangle 10">
              <a:extLst>
                <a:ext uri="{FF2B5EF4-FFF2-40B4-BE49-F238E27FC236}">
                  <a16:creationId xmlns:a16="http://schemas.microsoft.com/office/drawing/2014/main" id="{4AE0655B-B0AF-4BAE-B301-6950749D5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554" y="3656407"/>
              <a:ext cx="372070" cy="357188"/>
            </a:xfrm>
            <a:prstGeom prst="rect">
              <a:avLst/>
            </a:prstGeom>
            <a:solidFill>
              <a:srgbClr val="D6881C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1" name="Line 11">
              <a:extLst>
                <a:ext uri="{FF2B5EF4-FFF2-40B4-BE49-F238E27FC236}">
                  <a16:creationId xmlns:a16="http://schemas.microsoft.com/office/drawing/2014/main" id="{81160617-F0F5-400A-9A42-0B78D4FAC4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1624" y="3128067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2" name="Line 12">
              <a:extLst>
                <a:ext uri="{FF2B5EF4-FFF2-40B4-BE49-F238E27FC236}">
                  <a16:creationId xmlns:a16="http://schemas.microsoft.com/office/drawing/2014/main" id="{CD8E6E33-5137-4B22-8834-4AB2E22DD4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0648" y="3128067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3" name="Line 13">
              <a:extLst>
                <a:ext uri="{FF2B5EF4-FFF2-40B4-BE49-F238E27FC236}">
                  <a16:creationId xmlns:a16="http://schemas.microsoft.com/office/drawing/2014/main" id="{C306210E-3015-47D0-9962-B94BFB5C4E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9672" y="3128067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4" name="Line 14">
              <a:extLst>
                <a:ext uri="{FF2B5EF4-FFF2-40B4-BE49-F238E27FC236}">
                  <a16:creationId xmlns:a16="http://schemas.microsoft.com/office/drawing/2014/main" id="{358A628E-A864-42C7-8267-B74DE7FE31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91254" y="3128067"/>
              <a:ext cx="0" cy="1413868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3B59F051-456A-44DA-B74D-93159E64AD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625" y="3299219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6" name="Rectangle 16">
              <a:extLst>
                <a:ext uri="{FF2B5EF4-FFF2-40B4-BE49-F238E27FC236}">
                  <a16:creationId xmlns:a16="http://schemas.microsoft.com/office/drawing/2014/main" id="{F336B494-24DE-4053-8872-5B55690B8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0649" y="3299219"/>
              <a:ext cx="133945" cy="357188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7" name="Rectangle 17">
              <a:extLst>
                <a:ext uri="{FF2B5EF4-FFF2-40B4-BE49-F238E27FC236}">
                  <a16:creationId xmlns:a16="http://schemas.microsoft.com/office/drawing/2014/main" id="{51669AF6-35DA-49D7-992E-4A93C614F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7601" y="3656407"/>
              <a:ext cx="372070" cy="357188"/>
            </a:xfrm>
            <a:prstGeom prst="rect">
              <a:avLst/>
            </a:prstGeom>
            <a:solidFill>
              <a:srgbClr val="D6881C"/>
            </a:solidFill>
            <a:ln w="127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8" name="Rectangle 19">
              <a:extLst>
                <a:ext uri="{FF2B5EF4-FFF2-40B4-BE49-F238E27FC236}">
                  <a16:creationId xmlns:a16="http://schemas.microsoft.com/office/drawing/2014/main" id="{2B6EEF2A-795C-4EED-962D-ED91F5A23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7895" y="4013594"/>
              <a:ext cx="602754" cy="357188"/>
            </a:xfrm>
            <a:prstGeom prst="rect">
              <a:avLst/>
            </a:prstGeom>
            <a:solidFill>
              <a:srgbClr val="EBD05D"/>
            </a:solidFill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39" name="Rectangle 20">
              <a:extLst>
                <a:ext uri="{FF2B5EF4-FFF2-40B4-BE49-F238E27FC236}">
                  <a16:creationId xmlns:a16="http://schemas.microsoft.com/office/drawing/2014/main" id="{3EF21F92-E33B-45F6-8F18-8AAD86E4D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2035" y="4013594"/>
              <a:ext cx="133945" cy="357188"/>
            </a:xfrm>
            <a:prstGeom prst="rect">
              <a:avLst/>
            </a:prstGeom>
            <a:solidFill>
              <a:srgbClr val="EBD05D"/>
            </a:solidFill>
            <a:ln w="12700" cap="flat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 sz="1500"/>
            </a:p>
          </p:txBody>
        </p:sp>
        <p:sp>
          <p:nvSpPr>
            <p:cNvPr id="40" name="Rectangle 8">
              <a:extLst>
                <a:ext uri="{FF2B5EF4-FFF2-40B4-BE49-F238E27FC236}">
                  <a16:creationId xmlns:a16="http://schemas.microsoft.com/office/drawing/2014/main" id="{0A4CC7AD-FAB0-4B48-9D22-CB0117AF7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391" y="2811559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High Priority Task</a:t>
              </a:r>
            </a:p>
          </p:txBody>
        </p:sp>
        <p:sp>
          <p:nvSpPr>
            <p:cNvPr id="41" name="Rectangle 9">
              <a:extLst>
                <a:ext uri="{FF2B5EF4-FFF2-40B4-BE49-F238E27FC236}">
                  <a16:creationId xmlns:a16="http://schemas.microsoft.com/office/drawing/2014/main" id="{CEB454E2-AF9A-40D6-8E0C-8C6CEF8DB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8226" y="4589311"/>
              <a:ext cx="1652550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Low Priority Task</a:t>
              </a:r>
            </a:p>
          </p:txBody>
        </p:sp>
        <p:sp>
          <p:nvSpPr>
            <p:cNvPr id="42" name="Rectangle 22">
              <a:extLst>
                <a:ext uri="{FF2B5EF4-FFF2-40B4-BE49-F238E27FC236}">
                  <a16:creationId xmlns:a16="http://schemas.microsoft.com/office/drawing/2014/main" id="{7E71D173-BF2D-461E-86A7-8E216001ABF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5433" y="4452141"/>
              <a:ext cx="662788" cy="190748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1333" dirty="0">
                  <a:ea typeface="Gill Sans" charset="0"/>
                  <a:cs typeface="Gill Sans" charset="0"/>
                </a:rPr>
                <a:t>Time</a:t>
              </a:r>
              <a:endParaRPr lang="en-US" sz="1000" dirty="0">
                <a:ea typeface="Gill Sans" charset="0"/>
                <a:cs typeface="Gill S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74928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3552E-3D9E-40ED-8B21-2DAF5E8F2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Real-time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952E3-5940-49AD-A38C-8541508F4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28</a:t>
            </a:fld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A006F0-E1F5-4EA3-B697-27F55CDEE37A}"/>
              </a:ext>
            </a:extLst>
          </p:cNvPr>
          <p:cNvSpPr txBox="1"/>
          <p:nvPr/>
        </p:nvSpPr>
        <p:spPr>
          <a:xfrm>
            <a:off x="3888187" y="5560249"/>
            <a:ext cx="3576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Real-time OS Scheduling</a:t>
            </a:r>
          </a:p>
        </p:txBody>
      </p:sp>
      <p:sp>
        <p:nvSpPr>
          <p:cNvPr id="24" name="Line 2">
            <a:extLst>
              <a:ext uri="{FF2B5EF4-FFF2-40B4-BE49-F238E27FC236}">
                <a16:creationId xmlns:a16="http://schemas.microsoft.com/office/drawing/2014/main" id="{E3F3375B-098D-4132-A883-D30B862DD8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0315" y="3386683"/>
            <a:ext cx="3352353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1500"/>
          </a:p>
        </p:txBody>
      </p:sp>
      <p:sp>
        <p:nvSpPr>
          <p:cNvPr id="25" name="Line 3">
            <a:extLst>
              <a:ext uri="{FF2B5EF4-FFF2-40B4-BE49-F238E27FC236}">
                <a16:creationId xmlns:a16="http://schemas.microsoft.com/office/drawing/2014/main" id="{7C3A9BEA-BA59-443B-8310-F998D64111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0315" y="4458246"/>
            <a:ext cx="3352353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1500"/>
          </a:p>
        </p:txBody>
      </p:sp>
      <p:sp>
        <p:nvSpPr>
          <p:cNvPr id="26" name="Line 4">
            <a:extLst>
              <a:ext uri="{FF2B5EF4-FFF2-40B4-BE49-F238E27FC236}">
                <a16:creationId xmlns:a16="http://schemas.microsoft.com/office/drawing/2014/main" id="{3B6D10AA-7318-4DFC-A504-38B45F2B4BC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0315" y="3743871"/>
            <a:ext cx="3352353" cy="0"/>
          </a:xfrm>
          <a:prstGeom prst="line">
            <a:avLst/>
          </a:prstGeom>
          <a:noFill/>
          <a:ln w="12700" cap="flat">
            <a:solidFill>
              <a:srgbClr val="CECECE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1500"/>
          </a:p>
        </p:txBody>
      </p:sp>
      <p:sp>
        <p:nvSpPr>
          <p:cNvPr id="27" name="Line 5">
            <a:extLst>
              <a:ext uri="{FF2B5EF4-FFF2-40B4-BE49-F238E27FC236}">
                <a16:creationId xmlns:a16="http://schemas.microsoft.com/office/drawing/2014/main" id="{CB0559C2-439C-419F-BFCC-8D9D25801EB4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3740315" y="4100128"/>
            <a:ext cx="3352353" cy="0"/>
          </a:xfrm>
          <a:prstGeom prst="line">
            <a:avLst/>
          </a:prstGeom>
          <a:noFill/>
          <a:ln w="12700" cap="flat">
            <a:solidFill>
              <a:srgbClr val="CECECE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1500"/>
          </a:p>
        </p:txBody>
      </p:sp>
      <p:sp>
        <p:nvSpPr>
          <p:cNvPr id="28" name="Line 6">
            <a:extLst>
              <a:ext uri="{FF2B5EF4-FFF2-40B4-BE49-F238E27FC236}">
                <a16:creationId xmlns:a16="http://schemas.microsoft.com/office/drawing/2014/main" id="{96C30640-BB75-47E5-808B-89C0AB881A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4729" y="3215531"/>
            <a:ext cx="0" cy="1413868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1500"/>
          </a:p>
        </p:txBody>
      </p:sp>
      <p:sp>
        <p:nvSpPr>
          <p:cNvPr id="29" name="Rectangle 9">
            <a:extLst>
              <a:ext uri="{FF2B5EF4-FFF2-40B4-BE49-F238E27FC236}">
                <a16:creationId xmlns:a16="http://schemas.microsoft.com/office/drawing/2014/main" id="{0A64001A-E096-41AF-9297-4608D8C70D49}"/>
              </a:ext>
            </a:extLst>
          </p:cNvPr>
          <p:cNvSpPr>
            <a:spLocks/>
          </p:cNvSpPr>
          <p:nvPr/>
        </p:nvSpPr>
        <p:spPr bwMode="auto">
          <a:xfrm>
            <a:off x="3822171" y="3386683"/>
            <a:ext cx="133945" cy="357188"/>
          </a:xfrm>
          <a:prstGeom prst="rect">
            <a:avLst/>
          </a:prstGeom>
          <a:solidFill>
            <a:schemeClr val="accent1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1500"/>
          </a:p>
        </p:txBody>
      </p:sp>
      <p:sp>
        <p:nvSpPr>
          <p:cNvPr id="30" name="Rectangle 10">
            <a:extLst>
              <a:ext uri="{FF2B5EF4-FFF2-40B4-BE49-F238E27FC236}">
                <a16:creationId xmlns:a16="http://schemas.microsoft.com/office/drawing/2014/main" id="{872365E7-DDEE-4E7C-8443-408D01D7326B}"/>
              </a:ext>
            </a:extLst>
          </p:cNvPr>
          <p:cNvSpPr>
            <a:spLocks/>
          </p:cNvSpPr>
          <p:nvPr/>
        </p:nvSpPr>
        <p:spPr bwMode="auto">
          <a:xfrm>
            <a:off x="4201682" y="3743871"/>
            <a:ext cx="372070" cy="357188"/>
          </a:xfrm>
          <a:prstGeom prst="rect">
            <a:avLst/>
          </a:prstGeom>
          <a:solidFill>
            <a:srgbClr val="D6881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1500"/>
          </a:p>
        </p:txBody>
      </p:sp>
      <p:sp>
        <p:nvSpPr>
          <p:cNvPr id="31" name="Line 11">
            <a:extLst>
              <a:ext uri="{FF2B5EF4-FFF2-40B4-BE49-F238E27FC236}">
                <a16:creationId xmlns:a16="http://schemas.microsoft.com/office/drawing/2014/main" id="{2B661654-EC1C-4ED6-921D-D83F03C2CEE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3752" y="3215531"/>
            <a:ext cx="0" cy="1413868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1500"/>
          </a:p>
        </p:txBody>
      </p:sp>
      <p:sp>
        <p:nvSpPr>
          <p:cNvPr id="32" name="Line 12">
            <a:extLst>
              <a:ext uri="{FF2B5EF4-FFF2-40B4-BE49-F238E27FC236}">
                <a16:creationId xmlns:a16="http://schemas.microsoft.com/office/drawing/2014/main" id="{7373E565-8BEF-42C5-A3D4-0CFC88284FE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2776" y="3215531"/>
            <a:ext cx="0" cy="1413868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1500"/>
          </a:p>
        </p:txBody>
      </p:sp>
      <p:sp>
        <p:nvSpPr>
          <p:cNvPr id="33" name="Line 13">
            <a:extLst>
              <a:ext uri="{FF2B5EF4-FFF2-40B4-BE49-F238E27FC236}">
                <a16:creationId xmlns:a16="http://schemas.microsoft.com/office/drawing/2014/main" id="{E665902F-609A-4003-97A6-3135B6A729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1800" y="3215531"/>
            <a:ext cx="0" cy="1413868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1500"/>
          </a:p>
        </p:txBody>
      </p:sp>
      <p:sp>
        <p:nvSpPr>
          <p:cNvPr id="34" name="Line 14">
            <a:extLst>
              <a:ext uri="{FF2B5EF4-FFF2-40B4-BE49-F238E27FC236}">
                <a16:creationId xmlns:a16="http://schemas.microsoft.com/office/drawing/2014/main" id="{4DC56623-CA09-458D-8E94-C4338FF9FC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3382" y="3215531"/>
            <a:ext cx="0" cy="1413868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1500"/>
          </a:p>
        </p:txBody>
      </p:sp>
      <p:sp>
        <p:nvSpPr>
          <p:cNvPr id="35" name="Rectangle 15">
            <a:extLst>
              <a:ext uri="{FF2B5EF4-FFF2-40B4-BE49-F238E27FC236}">
                <a16:creationId xmlns:a16="http://schemas.microsoft.com/office/drawing/2014/main" id="{9156F28B-48ED-4E09-9A81-9BE137C2B39A}"/>
              </a:ext>
            </a:extLst>
          </p:cNvPr>
          <p:cNvSpPr>
            <a:spLocks/>
          </p:cNvSpPr>
          <p:nvPr/>
        </p:nvSpPr>
        <p:spPr bwMode="auto">
          <a:xfrm>
            <a:off x="4573753" y="3386683"/>
            <a:ext cx="133945" cy="357188"/>
          </a:xfrm>
          <a:prstGeom prst="rect">
            <a:avLst/>
          </a:prstGeom>
          <a:solidFill>
            <a:schemeClr val="accent1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1500"/>
          </a:p>
        </p:txBody>
      </p:sp>
      <p:sp>
        <p:nvSpPr>
          <p:cNvPr id="36" name="Rectangle 16">
            <a:extLst>
              <a:ext uri="{FF2B5EF4-FFF2-40B4-BE49-F238E27FC236}">
                <a16:creationId xmlns:a16="http://schemas.microsoft.com/office/drawing/2014/main" id="{C6BA30A0-5B02-4A65-8267-1F8D9200A881}"/>
              </a:ext>
            </a:extLst>
          </p:cNvPr>
          <p:cNvSpPr>
            <a:spLocks/>
          </p:cNvSpPr>
          <p:nvPr/>
        </p:nvSpPr>
        <p:spPr bwMode="auto">
          <a:xfrm>
            <a:off x="5332777" y="3386683"/>
            <a:ext cx="133945" cy="357188"/>
          </a:xfrm>
          <a:prstGeom prst="rect">
            <a:avLst/>
          </a:prstGeom>
          <a:solidFill>
            <a:schemeClr val="accent1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1500"/>
          </a:p>
        </p:txBody>
      </p:sp>
      <p:sp>
        <p:nvSpPr>
          <p:cNvPr id="37" name="Rectangle 17">
            <a:extLst>
              <a:ext uri="{FF2B5EF4-FFF2-40B4-BE49-F238E27FC236}">
                <a16:creationId xmlns:a16="http://schemas.microsoft.com/office/drawing/2014/main" id="{FBDE2CE2-6343-4580-8E22-FCC06EF1D0F9}"/>
              </a:ext>
            </a:extLst>
          </p:cNvPr>
          <p:cNvSpPr>
            <a:spLocks/>
          </p:cNvSpPr>
          <p:nvPr/>
        </p:nvSpPr>
        <p:spPr bwMode="auto">
          <a:xfrm>
            <a:off x="6091800" y="3386683"/>
            <a:ext cx="133945" cy="357188"/>
          </a:xfrm>
          <a:prstGeom prst="rect">
            <a:avLst/>
          </a:prstGeom>
          <a:solidFill>
            <a:schemeClr val="accent1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1500"/>
          </a:p>
        </p:txBody>
      </p:sp>
      <p:sp>
        <p:nvSpPr>
          <p:cNvPr id="38" name="Rectangle 18">
            <a:extLst>
              <a:ext uri="{FF2B5EF4-FFF2-40B4-BE49-F238E27FC236}">
                <a16:creationId xmlns:a16="http://schemas.microsoft.com/office/drawing/2014/main" id="{9717DFE5-5D62-4546-BBEC-7CA45EBE7BEC}"/>
              </a:ext>
            </a:extLst>
          </p:cNvPr>
          <p:cNvSpPr>
            <a:spLocks/>
          </p:cNvSpPr>
          <p:nvPr/>
        </p:nvSpPr>
        <p:spPr bwMode="auto">
          <a:xfrm>
            <a:off x="5719729" y="3743871"/>
            <a:ext cx="372070" cy="357188"/>
          </a:xfrm>
          <a:prstGeom prst="rect">
            <a:avLst/>
          </a:prstGeom>
          <a:solidFill>
            <a:srgbClr val="D6881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1500"/>
          </a:p>
        </p:txBody>
      </p:sp>
      <p:sp>
        <p:nvSpPr>
          <p:cNvPr id="39" name="Rectangle 20">
            <a:extLst>
              <a:ext uri="{FF2B5EF4-FFF2-40B4-BE49-F238E27FC236}">
                <a16:creationId xmlns:a16="http://schemas.microsoft.com/office/drawing/2014/main" id="{83F277CB-EEB3-490E-8278-3624D863CA8B}"/>
              </a:ext>
            </a:extLst>
          </p:cNvPr>
          <p:cNvSpPr>
            <a:spLocks/>
          </p:cNvSpPr>
          <p:nvPr/>
        </p:nvSpPr>
        <p:spPr bwMode="auto">
          <a:xfrm>
            <a:off x="4730023" y="4101058"/>
            <a:ext cx="602754" cy="357188"/>
          </a:xfrm>
          <a:prstGeom prst="rect">
            <a:avLst/>
          </a:prstGeom>
          <a:solidFill>
            <a:srgbClr val="EBD05D"/>
          </a:solidFill>
          <a:ln w="12700" cap="flat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1500"/>
          </a:p>
        </p:txBody>
      </p:sp>
      <p:sp>
        <p:nvSpPr>
          <p:cNvPr id="40" name="Rectangle 21">
            <a:extLst>
              <a:ext uri="{FF2B5EF4-FFF2-40B4-BE49-F238E27FC236}">
                <a16:creationId xmlns:a16="http://schemas.microsoft.com/office/drawing/2014/main" id="{E366FDE9-D051-4398-9E82-E2A41C5CBF79}"/>
              </a:ext>
            </a:extLst>
          </p:cNvPr>
          <p:cNvSpPr>
            <a:spLocks/>
          </p:cNvSpPr>
          <p:nvPr/>
        </p:nvSpPr>
        <p:spPr bwMode="auto">
          <a:xfrm>
            <a:off x="5474163" y="4101058"/>
            <a:ext cx="133945" cy="357188"/>
          </a:xfrm>
          <a:prstGeom prst="rect">
            <a:avLst/>
          </a:prstGeom>
          <a:solidFill>
            <a:srgbClr val="EBD05D"/>
          </a:solidFill>
          <a:ln w="12700" cap="flat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1500"/>
          </a:p>
        </p:txBody>
      </p:sp>
      <p:sp>
        <p:nvSpPr>
          <p:cNvPr id="41" name="Rectangle 8">
            <a:extLst>
              <a:ext uri="{FF2B5EF4-FFF2-40B4-BE49-F238E27FC236}">
                <a16:creationId xmlns:a16="http://schemas.microsoft.com/office/drawing/2014/main" id="{8D4281E4-098F-4E6F-9724-50FB8D7E1231}"/>
              </a:ext>
            </a:extLst>
          </p:cNvPr>
          <p:cNvSpPr>
            <a:spLocks/>
          </p:cNvSpPr>
          <p:nvPr/>
        </p:nvSpPr>
        <p:spPr bwMode="auto">
          <a:xfrm>
            <a:off x="3071519" y="2899023"/>
            <a:ext cx="1652550" cy="19074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333" dirty="0">
                <a:ea typeface="Gill Sans" charset="0"/>
                <a:cs typeface="Gill Sans" charset="0"/>
              </a:rPr>
              <a:t>High Priority Task</a:t>
            </a:r>
          </a:p>
        </p:txBody>
      </p:sp>
      <p:sp>
        <p:nvSpPr>
          <p:cNvPr id="42" name="Rectangle 9">
            <a:extLst>
              <a:ext uri="{FF2B5EF4-FFF2-40B4-BE49-F238E27FC236}">
                <a16:creationId xmlns:a16="http://schemas.microsoft.com/office/drawing/2014/main" id="{4CA9ACEC-5AE4-44E5-8FB5-5DB07878F2B5}"/>
              </a:ext>
            </a:extLst>
          </p:cNvPr>
          <p:cNvSpPr>
            <a:spLocks/>
          </p:cNvSpPr>
          <p:nvPr/>
        </p:nvSpPr>
        <p:spPr bwMode="auto">
          <a:xfrm>
            <a:off x="3100354" y="4676775"/>
            <a:ext cx="1652550" cy="19074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333" dirty="0">
                <a:ea typeface="Gill Sans" charset="0"/>
                <a:cs typeface="Gill Sans" charset="0"/>
              </a:rPr>
              <a:t>Low Priority Task</a:t>
            </a:r>
          </a:p>
        </p:txBody>
      </p:sp>
      <p:sp>
        <p:nvSpPr>
          <p:cNvPr id="43" name="Rectangle 22">
            <a:extLst>
              <a:ext uri="{FF2B5EF4-FFF2-40B4-BE49-F238E27FC236}">
                <a16:creationId xmlns:a16="http://schemas.microsoft.com/office/drawing/2014/main" id="{106A1455-10E6-4692-97B0-0FB907BB59B7}"/>
              </a:ext>
            </a:extLst>
          </p:cNvPr>
          <p:cNvSpPr>
            <a:spLocks/>
          </p:cNvSpPr>
          <p:nvPr/>
        </p:nvSpPr>
        <p:spPr bwMode="auto">
          <a:xfrm>
            <a:off x="6947561" y="4539605"/>
            <a:ext cx="662788" cy="19074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333" dirty="0">
                <a:ea typeface="Gill Sans" charset="0"/>
                <a:cs typeface="Gill Sans" charset="0"/>
              </a:rPr>
              <a:t>Time</a:t>
            </a:r>
            <a:endParaRPr lang="en-US" sz="1000" dirty="0">
              <a:ea typeface="Gill Sans" charset="0"/>
              <a:cs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1638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3642D-8AA0-4846-8D64-BB6B16191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88D7D-A250-4C18-B798-1ABC171FF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611630"/>
            <a:ext cx="5797117" cy="4892040"/>
          </a:xfrm>
        </p:spPr>
        <p:txBody>
          <a:bodyPr>
            <a:normAutofit/>
          </a:bodyPr>
          <a:lstStyle/>
          <a:p>
            <a:r>
              <a:rPr lang="en-US" sz="2400" b="1" dirty="0"/>
              <a:t>The operating system </a:t>
            </a:r>
            <a:r>
              <a:rPr lang="en-US" sz="2400" dirty="0"/>
              <a:t>acts as</a:t>
            </a:r>
            <a:r>
              <a:rPr lang="en-US" sz="2400" b="1" dirty="0"/>
              <a:t> a bridge </a:t>
            </a:r>
            <a:r>
              <a:rPr lang="en-US" sz="2400" dirty="0"/>
              <a:t>between the user applications, tasks and the underlying system resources</a:t>
            </a:r>
          </a:p>
          <a:p>
            <a:r>
              <a:rPr lang="en-US" sz="2400" dirty="0"/>
              <a:t>The OS </a:t>
            </a:r>
            <a:r>
              <a:rPr lang="en-US" sz="2400" dirty="0">
                <a:solidFill>
                  <a:srgbClr val="0070C0"/>
                </a:solidFill>
              </a:rPr>
              <a:t>manages the system resources </a:t>
            </a:r>
            <a:r>
              <a:rPr lang="en-US" sz="2400" dirty="0"/>
              <a:t>and </a:t>
            </a:r>
            <a:r>
              <a:rPr lang="en-US" sz="2400" dirty="0">
                <a:solidFill>
                  <a:srgbClr val="0070C0"/>
                </a:solidFill>
              </a:rPr>
              <a:t>makes them available </a:t>
            </a:r>
            <a:r>
              <a:rPr lang="en-US" sz="2400" dirty="0"/>
              <a:t>to the user applications/tasks</a:t>
            </a:r>
          </a:p>
          <a:p>
            <a:r>
              <a:rPr lang="en-US" sz="2400" dirty="0"/>
              <a:t>Primary functions of an operating system:</a:t>
            </a:r>
          </a:p>
          <a:p>
            <a:pPr lvl="1"/>
            <a:r>
              <a:rPr lang="en-US" sz="2000" dirty="0"/>
              <a:t>Make the system convenient to use</a:t>
            </a:r>
          </a:p>
          <a:p>
            <a:pPr lvl="1"/>
            <a:r>
              <a:rPr lang="en-US" sz="2000" dirty="0"/>
              <a:t>Organize and manage the system resources efficiently and correctly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34655-28C6-4F0E-B8DE-5EB5222DD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293FB5-1290-49E6-BCAD-7C3497205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237" y="1565911"/>
            <a:ext cx="5452763" cy="323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452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7BA45-E93D-4F52-A8B2-6A961F6F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Operating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06661-1799-4F8C-9AEB-ED5621F9F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30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230EE5-0FCE-41D7-BC91-FAC4FA0FB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868" y="1763793"/>
            <a:ext cx="7572935" cy="43142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819596-9B02-41EE-A67D-474BE7B83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54" y="1649506"/>
            <a:ext cx="2119503" cy="10553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6E5553-A10E-47A3-A80E-A70D33F09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554" y="2850776"/>
            <a:ext cx="2177063" cy="957546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EF5BABFF-C845-4E61-9D7F-8CB7C5F55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992" y="4081929"/>
            <a:ext cx="1483711" cy="1309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572DE9-711B-4AA7-BEAD-E1AF06C178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3132" y="1681860"/>
            <a:ext cx="2352692" cy="9906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438599E-8D7D-4530-8FCE-3B99A44D08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6442" y="3023711"/>
            <a:ext cx="2109382" cy="10582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D94C44F-D4C5-40D7-B296-00375376F2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89029" y="4613740"/>
            <a:ext cx="2228866" cy="71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833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992E2-18B8-4E10-BDF2-58206681B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RTOS key components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9D27D-A5EF-48B3-BAC1-36146E5C1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31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051988-9E96-4337-8B38-008FF1E68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834" y="1657894"/>
            <a:ext cx="6485707" cy="472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775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992E2-18B8-4E10-BDF2-58206681B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RTOS key components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9D27D-A5EF-48B3-BAC1-36146E5C1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32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051988-9E96-4337-8B38-008FF1E68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183" y="164527"/>
            <a:ext cx="1984332" cy="1447103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14720A-5DF5-46EF-B97D-77389AD92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611630"/>
            <a:ext cx="10459543" cy="4892040"/>
          </a:xfrm>
        </p:spPr>
        <p:txBody>
          <a:bodyPr>
            <a:noAutofit/>
          </a:bodyPr>
          <a:lstStyle/>
          <a:p>
            <a:r>
              <a:rPr lang="en-US" sz="1800" b="1" dirty="0"/>
              <a:t>Kernel: </a:t>
            </a:r>
            <a:r>
              <a:rPr lang="en-US" sz="1800" dirty="0"/>
              <a:t>The core of the RTOS that handles task management, resource allocation, context switching, and interrupt processing, all while maintaining deterministic performance.</a:t>
            </a:r>
          </a:p>
          <a:p>
            <a:r>
              <a:rPr lang="en-US" sz="1800" b="1" dirty="0"/>
              <a:t>Scheduler</a:t>
            </a:r>
            <a:r>
              <a:rPr lang="en-US" sz="1800" dirty="0"/>
              <a:t>: Determines </a:t>
            </a:r>
            <a:r>
              <a:rPr lang="en-US" sz="1800" b="1" dirty="0"/>
              <a:t>which task runs and when</a:t>
            </a:r>
            <a:r>
              <a:rPr lang="en-US" sz="1800" dirty="0"/>
              <a:t>. Most RTOSs use preemptive or cooperative scheduling models, including priority-based and round-robin strategies. Advanced systems support deadline-driven scheduling for complex real-time needs.</a:t>
            </a:r>
          </a:p>
          <a:p>
            <a:r>
              <a:rPr lang="en-US" sz="1800" b="1" dirty="0"/>
              <a:t>Task Management</a:t>
            </a:r>
            <a:r>
              <a:rPr lang="en-US" sz="1800" dirty="0"/>
              <a:t>: Supports the creation, suspension, resumption, and deletion of tasks or threads, enabling modular, concurrent application designs.</a:t>
            </a:r>
          </a:p>
          <a:p>
            <a:r>
              <a:rPr lang="en-US" sz="1800" b="1" dirty="0"/>
              <a:t>Inter-Process Communication (IPC): </a:t>
            </a:r>
            <a:r>
              <a:rPr lang="en-US" sz="1800" dirty="0"/>
              <a:t>Includes mechanisms like message queues, semaphores, and mailboxes for safe and efficient data exchange between tasks, preventing race conditions and deadlocks.</a:t>
            </a:r>
          </a:p>
          <a:p>
            <a:r>
              <a:rPr lang="en-US" sz="1800" b="1" dirty="0"/>
              <a:t>Synchronization</a:t>
            </a:r>
            <a:r>
              <a:rPr lang="en-US" sz="1800" dirty="0"/>
              <a:t>: Provides tools such as mutexes, binary semaphores, and event flags to manage shared resources and ensure data integrity.</a:t>
            </a:r>
          </a:p>
          <a:p>
            <a:r>
              <a:rPr lang="en-US" sz="1800" b="1" dirty="0"/>
              <a:t>Timers and Delays</a:t>
            </a:r>
            <a:r>
              <a:rPr lang="en-US" sz="1800" dirty="0"/>
              <a:t>: Integrated support for software timers and precise delays enables time-triggered operations, task scheduling, and protocol timeouts.</a:t>
            </a:r>
          </a:p>
          <a:p>
            <a:r>
              <a:rPr lang="en-US" sz="1800" b="1" dirty="0"/>
              <a:t>Real-Time Constraints</a:t>
            </a:r>
            <a:r>
              <a:rPr lang="en-US" sz="1800" dirty="0"/>
              <a:t>: RTOSs support hard real-time systems, where missing a deadline leads to critical failure (e.g., pacemakers, automotive safety systems), and soft real-time systems, where timing is important but not fatal (e.g., media streaming devices).</a:t>
            </a:r>
          </a:p>
        </p:txBody>
      </p:sp>
    </p:spTree>
    <p:extLst>
      <p:ext uri="{BB962C8B-B14F-4D97-AF65-F5344CB8AC3E}">
        <p14:creationId xmlns:p14="http://schemas.microsoft.com/office/powerpoint/2010/main" val="32014831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4227E-C0AD-4DC8-8D47-BAB4DC854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E9DC8-C000-4072-9A01-AEEEEA830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832717"/>
            <a:ext cx="10058400" cy="4339483"/>
          </a:xfrm>
        </p:spPr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TimesNewRomanPSMT"/>
              </a:rPr>
              <a:t>Some real-time embedded systems are complex, implemented on high-performance hardware</a:t>
            </a:r>
          </a:p>
          <a:p>
            <a:pPr lvl="1"/>
            <a:r>
              <a:rPr lang="en-US" sz="2000" b="0" i="0" u="none" strike="noStrike" baseline="0" dirty="0">
                <a:latin typeface="TimesNewRomanPSMT"/>
              </a:rPr>
              <a:t> Industrial plant control</a:t>
            </a:r>
          </a:p>
          <a:p>
            <a:pPr lvl="1"/>
            <a:r>
              <a:rPr lang="en-US" sz="2000" b="0" i="0" u="none" strike="noStrike" baseline="0" dirty="0">
                <a:latin typeface="TimesNewRomanPSMT"/>
              </a:rPr>
              <a:t> Civilian flight control</a:t>
            </a:r>
          </a:p>
          <a:p>
            <a:pPr algn="l"/>
            <a:r>
              <a:rPr lang="en-US" sz="2400" b="0" i="0" u="none" strike="noStrike" baseline="0" dirty="0">
                <a:latin typeface="TimesNewRomanPSMT"/>
              </a:rPr>
              <a:t>Many must be implemented on hardware chosen to be low cost, low power, light-weight and robust; with performance a distant concern</a:t>
            </a:r>
          </a:p>
          <a:p>
            <a:pPr lvl="1"/>
            <a:r>
              <a:rPr lang="en-US" sz="2000" b="0" i="0" u="none" strike="noStrike" baseline="0" dirty="0">
                <a:latin typeface="TimesNewRomanPSMT"/>
              </a:rPr>
              <a:t>Military flight control, space craft control</a:t>
            </a:r>
          </a:p>
          <a:p>
            <a:pPr lvl="1"/>
            <a:r>
              <a:rPr lang="en-US" sz="2000" b="0" i="0" u="none" strike="noStrike" baseline="0" dirty="0">
                <a:latin typeface="TimesNewRomanPSMT"/>
              </a:rPr>
              <a:t>Consumer goods</a:t>
            </a:r>
          </a:p>
          <a:p>
            <a:pPr algn="l"/>
            <a:r>
              <a:rPr lang="en-US" sz="2400" b="0" i="0" u="none" strike="noStrike" baseline="0" dirty="0">
                <a:latin typeface="TimesNewRomanPSMT"/>
              </a:rPr>
              <a:t>Often-times implemented in C or assembler, fitting within a few kilobytes of memory</a:t>
            </a:r>
          </a:p>
          <a:p>
            <a:pPr lvl="1"/>
            <a:r>
              <a:rPr lang="en-US" sz="2000" b="0" i="0" u="none" strike="noStrike" baseline="0" dirty="0">
                <a:latin typeface="TimesNewRomanPSMT"/>
              </a:rPr>
              <a:t> Correctness a primary concern, efficiency a close second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65674-F946-4F34-AE18-D6DC85186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7193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253</TotalTime>
  <Words>1136</Words>
  <Application>Microsoft Office PowerPoint</Application>
  <PresentationFormat>Widescreen</PresentationFormat>
  <Paragraphs>230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acumin-pro</vt:lpstr>
      <vt:lpstr>Arial</vt:lpstr>
      <vt:lpstr>Calibri</vt:lpstr>
      <vt:lpstr>CIDFont+F1</vt:lpstr>
      <vt:lpstr>CIDFont+F3</vt:lpstr>
      <vt:lpstr>Rockwell</vt:lpstr>
      <vt:lpstr>Rockwell Condensed</vt:lpstr>
      <vt:lpstr>TimesNewRomanPSMT</vt:lpstr>
      <vt:lpstr>Wingdings</vt:lpstr>
      <vt:lpstr>Wood Type</vt:lpstr>
      <vt:lpstr>Introduction</vt:lpstr>
      <vt:lpstr>Course Objectives</vt:lpstr>
      <vt:lpstr>Course outline</vt:lpstr>
      <vt:lpstr>Course outline</vt:lpstr>
      <vt:lpstr>References</vt:lpstr>
      <vt:lpstr>Online Materials</vt:lpstr>
      <vt:lpstr>Assessments</vt:lpstr>
      <vt:lpstr>Review of Microcontroller</vt:lpstr>
      <vt:lpstr>Robot’s Control architecture</vt:lpstr>
      <vt:lpstr>Robot’s Control architecture</vt:lpstr>
      <vt:lpstr>Robot’s Control architecture</vt:lpstr>
      <vt:lpstr>Real-time system</vt:lpstr>
      <vt:lpstr>Real-time system</vt:lpstr>
      <vt:lpstr>Real-time system</vt:lpstr>
      <vt:lpstr>Task (Action)</vt:lpstr>
      <vt:lpstr>Implement Real-time system </vt:lpstr>
      <vt:lpstr>Implement Real-time system</vt:lpstr>
      <vt:lpstr>Implement Real-time system</vt:lpstr>
      <vt:lpstr>Implement Real-time system</vt:lpstr>
      <vt:lpstr>Implement Real-time system</vt:lpstr>
      <vt:lpstr>Implement Real-time system</vt:lpstr>
      <vt:lpstr>Implement Real-time system</vt:lpstr>
      <vt:lpstr>Implement Real-time system</vt:lpstr>
      <vt:lpstr>Implement Real-time system</vt:lpstr>
      <vt:lpstr>Implement Real-time system</vt:lpstr>
      <vt:lpstr>Implement Real-time system</vt:lpstr>
      <vt:lpstr>Implement Real-time system</vt:lpstr>
      <vt:lpstr>Implement Real-time system</vt:lpstr>
      <vt:lpstr>Operating system</vt:lpstr>
      <vt:lpstr>Types of Operating system</vt:lpstr>
      <vt:lpstr>RTOS key components</vt:lpstr>
      <vt:lpstr>RTOS key components</vt:lpstr>
      <vt:lpstr>Implementation considerations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duc b</dc:creator>
  <cp:lastModifiedBy>duc b</cp:lastModifiedBy>
  <cp:revision>27</cp:revision>
  <dcterms:created xsi:type="dcterms:W3CDTF">2025-10-20T03:05:03Z</dcterms:created>
  <dcterms:modified xsi:type="dcterms:W3CDTF">2025-11-02T09:25:13Z</dcterms:modified>
</cp:coreProperties>
</file>