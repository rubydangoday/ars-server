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sldIdLst>
    <p:sldId id="256" r:id="rId2"/>
    <p:sldId id="302" r:id="rId3"/>
    <p:sldId id="303" r:id="rId4"/>
    <p:sldId id="306" r:id="rId5"/>
    <p:sldId id="307" r:id="rId6"/>
    <p:sldId id="309" r:id="rId7"/>
    <p:sldId id="308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4" r:id="rId20"/>
    <p:sldId id="326" r:id="rId21"/>
    <p:sldId id="325" r:id="rId22"/>
    <p:sldId id="321" r:id="rId23"/>
    <p:sldId id="322" r:id="rId24"/>
    <p:sldId id="32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2596" autoAdjust="0"/>
  </p:normalViewPr>
  <p:slideViewPr>
    <p:cSldViewPr>
      <p:cViewPr>
        <p:scale>
          <a:sx n="57" d="100"/>
          <a:sy n="57" d="100"/>
        </p:scale>
        <p:origin x="54" y="4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50556A-9A9A-4D79-8FBF-4FFADB98F9DE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1AEC38A-7B9C-44DC-87A8-E34941BF96E4}">
      <dgm:prSet phldrT="[Text]" phldr="0"/>
      <dgm:spPr/>
      <dgm:t>
        <a:bodyPr/>
        <a:lstStyle/>
        <a:p>
          <a:r>
            <a:rPr lang="en-US" b="1" dirty="0" err="1"/>
            <a:t>Xác</a:t>
          </a:r>
          <a:r>
            <a:rPr lang="en-US" b="1" dirty="0"/>
            <a:t> </a:t>
          </a:r>
          <a:r>
            <a:rPr lang="en-US" b="1" dirty="0" err="1"/>
            <a:t>định</a:t>
          </a:r>
          <a:r>
            <a:rPr lang="en-US" b="1" dirty="0"/>
            <a:t> </a:t>
          </a:r>
          <a:r>
            <a:rPr lang="en-US" b="1" dirty="0" err="1"/>
            <a:t>thông</a:t>
          </a:r>
          <a:r>
            <a:rPr lang="en-US" b="1" dirty="0"/>
            <a:t> </a:t>
          </a:r>
          <a:r>
            <a:rPr lang="en-US" b="1" dirty="0" err="1"/>
            <a:t>số</a:t>
          </a:r>
          <a:r>
            <a:rPr lang="en-US" b="1" dirty="0"/>
            <a:t> </a:t>
          </a:r>
          <a:r>
            <a:rPr lang="en-US" b="1" dirty="0" err="1"/>
            <a:t>mục</a:t>
          </a:r>
          <a:r>
            <a:rPr lang="en-US" b="1" dirty="0"/>
            <a:t> </a:t>
          </a:r>
          <a:r>
            <a:rPr lang="en-US" b="1" dirty="0" err="1"/>
            <a:t>tiêu</a:t>
          </a:r>
          <a:endParaRPr lang="en-US" b="1" dirty="0"/>
        </a:p>
      </dgm:t>
    </dgm:pt>
    <dgm:pt modelId="{F1C9B794-1B83-415D-9C2C-C590FC2EB0A4}" type="parTrans" cxnId="{59031D4E-D248-48F0-809A-CA7D82ACBDF0}">
      <dgm:prSet/>
      <dgm:spPr/>
      <dgm:t>
        <a:bodyPr/>
        <a:lstStyle/>
        <a:p>
          <a:endParaRPr lang="en-US"/>
        </a:p>
      </dgm:t>
    </dgm:pt>
    <dgm:pt modelId="{9F3F78F4-8E4F-483C-B7B0-70AE566E9FE1}" type="sibTrans" cxnId="{59031D4E-D248-48F0-809A-CA7D82ACBDF0}">
      <dgm:prSet/>
      <dgm:spPr/>
      <dgm:t>
        <a:bodyPr/>
        <a:lstStyle/>
        <a:p>
          <a:endParaRPr lang="en-US"/>
        </a:p>
      </dgm:t>
    </dgm:pt>
    <dgm:pt modelId="{4A2D2BE2-3912-4364-B650-4D3B0B94710F}">
      <dgm:prSet phldrT="[Text]" phldr="0"/>
      <dgm:spPr/>
      <dgm:t>
        <a:bodyPr/>
        <a:lstStyle/>
        <a:p>
          <a:r>
            <a:rPr lang="en-US" b="1" dirty="0"/>
            <a:t>Xây </a:t>
          </a:r>
          <a:r>
            <a:rPr lang="en-US" b="1" dirty="0" err="1"/>
            <a:t>dựng</a:t>
          </a:r>
          <a:r>
            <a:rPr lang="en-US" b="1" dirty="0"/>
            <a:t> </a:t>
          </a:r>
          <a:r>
            <a:rPr lang="en-US" b="1" dirty="0" err="1"/>
            <a:t>phương</a:t>
          </a:r>
          <a:r>
            <a:rPr lang="en-US" b="1" dirty="0"/>
            <a:t> </a:t>
          </a:r>
          <a:r>
            <a:rPr lang="en-US" b="1" dirty="0" err="1"/>
            <a:t>án</a:t>
          </a:r>
          <a:r>
            <a:rPr lang="en-US" b="1" dirty="0"/>
            <a:t> </a:t>
          </a:r>
          <a:r>
            <a:rPr lang="en-US" b="1" dirty="0" err="1"/>
            <a:t>thiết</a:t>
          </a:r>
          <a:r>
            <a:rPr lang="en-US" b="1" dirty="0"/>
            <a:t> </a:t>
          </a:r>
          <a:r>
            <a:rPr lang="en-US" b="1" dirty="0" err="1"/>
            <a:t>kế</a:t>
          </a:r>
          <a:endParaRPr lang="en-US" b="1" dirty="0"/>
        </a:p>
      </dgm:t>
    </dgm:pt>
    <dgm:pt modelId="{913F6489-52C8-4B23-B749-01572B07C619}" type="parTrans" cxnId="{66CC363E-0393-44E3-B101-8ED363B213D6}">
      <dgm:prSet/>
      <dgm:spPr/>
      <dgm:t>
        <a:bodyPr/>
        <a:lstStyle/>
        <a:p>
          <a:endParaRPr lang="en-US"/>
        </a:p>
      </dgm:t>
    </dgm:pt>
    <dgm:pt modelId="{F8071382-7A01-4AC8-9EF1-D1C35A2135D1}" type="sibTrans" cxnId="{66CC363E-0393-44E3-B101-8ED363B213D6}">
      <dgm:prSet/>
      <dgm:spPr/>
      <dgm:t>
        <a:bodyPr/>
        <a:lstStyle/>
        <a:p>
          <a:endParaRPr lang="en-US"/>
        </a:p>
      </dgm:t>
    </dgm:pt>
    <dgm:pt modelId="{CD84F0B5-5497-4470-9304-4FEFB7F570AD}">
      <dgm:prSet phldrT="[Text]" phldr="0"/>
      <dgm:spPr/>
      <dgm:t>
        <a:bodyPr/>
        <a:lstStyle/>
        <a:p>
          <a:r>
            <a:rPr lang="en-US" b="1" dirty="0"/>
            <a:t>Thiết </a:t>
          </a:r>
          <a:r>
            <a:rPr lang="en-US" b="1" dirty="0" err="1"/>
            <a:t>kế</a:t>
          </a:r>
          <a:r>
            <a:rPr lang="en-US" b="1" dirty="0"/>
            <a:t> chi </a:t>
          </a:r>
          <a:r>
            <a:rPr lang="en-US" b="1" dirty="0" err="1"/>
            <a:t>tiết</a:t>
          </a:r>
          <a:r>
            <a:rPr lang="en-US" b="1" dirty="0"/>
            <a:t> 3D</a:t>
          </a:r>
        </a:p>
      </dgm:t>
    </dgm:pt>
    <dgm:pt modelId="{D534C309-3EFE-4394-A757-B2A382179B54}" type="parTrans" cxnId="{50FF949F-C219-4E2B-94DC-B962D4BC9381}">
      <dgm:prSet/>
      <dgm:spPr/>
      <dgm:t>
        <a:bodyPr/>
        <a:lstStyle/>
        <a:p>
          <a:endParaRPr lang="en-US"/>
        </a:p>
      </dgm:t>
    </dgm:pt>
    <dgm:pt modelId="{0F5AF32C-58AB-47EA-88BD-F4C871172213}" type="sibTrans" cxnId="{50FF949F-C219-4E2B-94DC-B962D4BC9381}">
      <dgm:prSet/>
      <dgm:spPr/>
      <dgm:t>
        <a:bodyPr/>
        <a:lstStyle/>
        <a:p>
          <a:endParaRPr lang="en-US"/>
        </a:p>
      </dgm:t>
    </dgm:pt>
    <dgm:pt modelId="{F6D6AE8B-BCA2-4864-8914-AE79CC41F96D}">
      <dgm:prSet phldrT="[Text]" phldr="0"/>
      <dgm:spPr/>
      <dgm:t>
        <a:bodyPr/>
        <a:lstStyle/>
        <a:p>
          <a:r>
            <a:rPr lang="en-US" b="1" dirty="0" err="1"/>
            <a:t>Mô</a:t>
          </a:r>
          <a:r>
            <a:rPr lang="en-US" b="1" dirty="0"/>
            <a:t> </a:t>
          </a:r>
          <a:r>
            <a:rPr lang="en-US" b="1" dirty="0" err="1"/>
            <a:t>phỏng</a:t>
          </a:r>
          <a:r>
            <a:rPr lang="en-US" b="1" dirty="0"/>
            <a:t> </a:t>
          </a:r>
          <a:r>
            <a:rPr lang="en-US" b="1" dirty="0" err="1"/>
            <a:t>và</a:t>
          </a:r>
          <a:r>
            <a:rPr lang="en-US" b="1" dirty="0"/>
            <a:t> </a:t>
          </a:r>
          <a:r>
            <a:rPr lang="en-US" b="1" dirty="0" err="1"/>
            <a:t>tính</a:t>
          </a:r>
          <a:r>
            <a:rPr lang="en-US" b="1" dirty="0"/>
            <a:t> </a:t>
          </a:r>
          <a:r>
            <a:rPr lang="en-US" b="1" dirty="0" err="1"/>
            <a:t>toán</a:t>
          </a:r>
          <a:r>
            <a:rPr lang="en-US" b="1" dirty="0"/>
            <a:t> </a:t>
          </a:r>
          <a:r>
            <a:rPr lang="en-US" b="1" dirty="0" err="1"/>
            <a:t>tối</a:t>
          </a:r>
          <a:r>
            <a:rPr lang="en-US" b="1" dirty="0"/>
            <a:t> </a:t>
          </a:r>
          <a:r>
            <a:rPr lang="en-US" b="1" dirty="0" err="1"/>
            <a:t>ưu</a:t>
          </a:r>
          <a:endParaRPr lang="en-US" b="1" dirty="0"/>
        </a:p>
      </dgm:t>
    </dgm:pt>
    <dgm:pt modelId="{258DE996-BF9A-4884-81FF-7A24B67E893F}" type="parTrans" cxnId="{0EFE9668-74CE-4115-9A49-F90493540106}">
      <dgm:prSet/>
      <dgm:spPr/>
      <dgm:t>
        <a:bodyPr/>
        <a:lstStyle/>
        <a:p>
          <a:endParaRPr lang="en-US"/>
        </a:p>
      </dgm:t>
    </dgm:pt>
    <dgm:pt modelId="{48D88FB0-AE5E-4E05-9856-2B89CE30BA34}" type="sibTrans" cxnId="{0EFE9668-74CE-4115-9A49-F90493540106}">
      <dgm:prSet/>
      <dgm:spPr/>
      <dgm:t>
        <a:bodyPr/>
        <a:lstStyle/>
        <a:p>
          <a:endParaRPr lang="en-US"/>
        </a:p>
      </dgm:t>
    </dgm:pt>
    <dgm:pt modelId="{45A70D16-5A34-4FB3-97DA-5E72F0F9182A}">
      <dgm:prSet phldrT="[Text]" phldr="0"/>
      <dgm:spPr/>
      <dgm:t>
        <a:bodyPr/>
        <a:lstStyle/>
        <a:p>
          <a:r>
            <a:rPr lang="en-US" b="1" dirty="0"/>
            <a:t>Chế </a:t>
          </a:r>
          <a:r>
            <a:rPr lang="en-US" b="1" dirty="0" err="1"/>
            <a:t>tạo</a:t>
          </a:r>
          <a:r>
            <a:rPr lang="en-US" b="1" dirty="0"/>
            <a:t> </a:t>
          </a:r>
          <a:r>
            <a:rPr lang="en-US" b="1" dirty="0" err="1"/>
            <a:t>mẫu</a:t>
          </a:r>
          <a:r>
            <a:rPr lang="en-US" b="1" dirty="0"/>
            <a:t> </a:t>
          </a:r>
          <a:r>
            <a:rPr lang="en-US" b="1" dirty="0" err="1"/>
            <a:t>thử</a:t>
          </a:r>
          <a:endParaRPr lang="en-US" b="1" dirty="0"/>
        </a:p>
      </dgm:t>
    </dgm:pt>
    <dgm:pt modelId="{C7AD2F1D-25FE-4E90-8797-701C8DEC5A9B}" type="parTrans" cxnId="{DF9DA99B-9265-4A63-AC92-C005D737A672}">
      <dgm:prSet/>
      <dgm:spPr/>
      <dgm:t>
        <a:bodyPr/>
        <a:lstStyle/>
        <a:p>
          <a:endParaRPr lang="en-US"/>
        </a:p>
      </dgm:t>
    </dgm:pt>
    <dgm:pt modelId="{35D766B1-6A95-4C95-BF1A-7029132DB420}" type="sibTrans" cxnId="{DF9DA99B-9265-4A63-AC92-C005D737A672}">
      <dgm:prSet/>
      <dgm:spPr/>
      <dgm:t>
        <a:bodyPr/>
        <a:lstStyle/>
        <a:p>
          <a:endParaRPr lang="en-US"/>
        </a:p>
      </dgm:t>
    </dgm:pt>
    <dgm:pt modelId="{EFC3F480-978A-405E-A28E-806808DD754A}">
      <dgm:prSet phldrT="[Text]" phldr="0"/>
      <dgm:spPr/>
      <dgm:t>
        <a:bodyPr/>
        <a:lstStyle/>
        <a:p>
          <a:r>
            <a:rPr lang="en-US" b="1" dirty="0" err="1"/>
            <a:t>Thử</a:t>
          </a:r>
          <a:r>
            <a:rPr lang="en-US" b="1" dirty="0"/>
            <a:t> </a:t>
          </a:r>
          <a:r>
            <a:rPr lang="en-US" b="1" dirty="0" err="1"/>
            <a:t>nghiệm</a:t>
          </a:r>
          <a:r>
            <a:rPr lang="en-US" b="1" dirty="0"/>
            <a:t> </a:t>
          </a:r>
          <a:r>
            <a:rPr lang="en-US" b="1" dirty="0" err="1"/>
            <a:t>và</a:t>
          </a:r>
          <a:r>
            <a:rPr lang="en-US" b="1" dirty="0"/>
            <a:t> </a:t>
          </a:r>
          <a:r>
            <a:rPr lang="en-US" b="1" dirty="0" err="1"/>
            <a:t>cải</a:t>
          </a:r>
          <a:r>
            <a:rPr lang="en-US" b="1" dirty="0"/>
            <a:t> </a:t>
          </a:r>
          <a:r>
            <a:rPr lang="en-US" b="1" dirty="0" err="1"/>
            <a:t>tiến</a:t>
          </a:r>
          <a:endParaRPr lang="en-US" b="1" dirty="0"/>
        </a:p>
      </dgm:t>
    </dgm:pt>
    <dgm:pt modelId="{8B2703D8-291A-4615-847C-58ADCB244079}" type="parTrans" cxnId="{25820498-74F8-4F79-80AC-19F566EDC2BF}">
      <dgm:prSet/>
      <dgm:spPr/>
      <dgm:t>
        <a:bodyPr/>
        <a:lstStyle/>
        <a:p>
          <a:endParaRPr lang="en-US"/>
        </a:p>
      </dgm:t>
    </dgm:pt>
    <dgm:pt modelId="{DD79D47E-9B28-4A91-9F4C-CD59E7D39071}" type="sibTrans" cxnId="{25820498-74F8-4F79-80AC-19F566EDC2BF}">
      <dgm:prSet/>
      <dgm:spPr/>
      <dgm:t>
        <a:bodyPr/>
        <a:lstStyle/>
        <a:p>
          <a:endParaRPr lang="en-US"/>
        </a:p>
      </dgm:t>
    </dgm:pt>
    <dgm:pt modelId="{256EEC70-9EE7-4E9F-B512-DB4C96A8A6BF}" type="pres">
      <dgm:prSet presAssocID="{8150556A-9A9A-4D79-8FBF-4FFADB98F9DE}" presName="cycle" presStyleCnt="0">
        <dgm:presLayoutVars>
          <dgm:dir/>
          <dgm:resizeHandles val="exact"/>
        </dgm:presLayoutVars>
      </dgm:prSet>
      <dgm:spPr/>
    </dgm:pt>
    <dgm:pt modelId="{F86E1CA8-51A0-460F-9155-C2982470D759}" type="pres">
      <dgm:prSet presAssocID="{11AEC38A-7B9C-44DC-87A8-E34941BF96E4}" presName="node" presStyleLbl="node1" presStyleIdx="0" presStyleCnt="6">
        <dgm:presLayoutVars>
          <dgm:bulletEnabled val="1"/>
        </dgm:presLayoutVars>
      </dgm:prSet>
      <dgm:spPr/>
    </dgm:pt>
    <dgm:pt modelId="{CA8EDD68-3B80-4F30-8080-556C2F1ECE8A}" type="pres">
      <dgm:prSet presAssocID="{9F3F78F4-8E4F-483C-B7B0-70AE566E9FE1}" presName="sibTrans" presStyleLbl="sibTrans2D1" presStyleIdx="0" presStyleCnt="6"/>
      <dgm:spPr/>
    </dgm:pt>
    <dgm:pt modelId="{5A41F6B1-7561-4F1F-AE82-99886AFF9D53}" type="pres">
      <dgm:prSet presAssocID="{9F3F78F4-8E4F-483C-B7B0-70AE566E9FE1}" presName="connectorText" presStyleLbl="sibTrans2D1" presStyleIdx="0" presStyleCnt="6"/>
      <dgm:spPr/>
    </dgm:pt>
    <dgm:pt modelId="{76F8CAEE-AE04-4E7F-8BD1-E22E339E7D8B}" type="pres">
      <dgm:prSet presAssocID="{4A2D2BE2-3912-4364-B650-4D3B0B94710F}" presName="node" presStyleLbl="node1" presStyleIdx="1" presStyleCnt="6">
        <dgm:presLayoutVars>
          <dgm:bulletEnabled val="1"/>
        </dgm:presLayoutVars>
      </dgm:prSet>
      <dgm:spPr/>
    </dgm:pt>
    <dgm:pt modelId="{D4859258-D59B-4C59-ABAC-733547D6D062}" type="pres">
      <dgm:prSet presAssocID="{F8071382-7A01-4AC8-9EF1-D1C35A2135D1}" presName="sibTrans" presStyleLbl="sibTrans2D1" presStyleIdx="1" presStyleCnt="6"/>
      <dgm:spPr/>
    </dgm:pt>
    <dgm:pt modelId="{7A59EB78-F8FB-4449-92A0-1529FA6AEC4B}" type="pres">
      <dgm:prSet presAssocID="{F8071382-7A01-4AC8-9EF1-D1C35A2135D1}" presName="connectorText" presStyleLbl="sibTrans2D1" presStyleIdx="1" presStyleCnt="6"/>
      <dgm:spPr/>
    </dgm:pt>
    <dgm:pt modelId="{1CFE7AE0-D11C-4E37-A8BA-F2873703EF4E}" type="pres">
      <dgm:prSet presAssocID="{CD84F0B5-5497-4470-9304-4FEFB7F570AD}" presName="node" presStyleLbl="node1" presStyleIdx="2" presStyleCnt="6">
        <dgm:presLayoutVars>
          <dgm:bulletEnabled val="1"/>
        </dgm:presLayoutVars>
      </dgm:prSet>
      <dgm:spPr/>
    </dgm:pt>
    <dgm:pt modelId="{85778837-7B02-47C5-9BD6-30E409B2EEC6}" type="pres">
      <dgm:prSet presAssocID="{0F5AF32C-58AB-47EA-88BD-F4C871172213}" presName="sibTrans" presStyleLbl="sibTrans2D1" presStyleIdx="2" presStyleCnt="6"/>
      <dgm:spPr/>
    </dgm:pt>
    <dgm:pt modelId="{EEB19E28-2EC4-4382-8703-3D88C1009E85}" type="pres">
      <dgm:prSet presAssocID="{0F5AF32C-58AB-47EA-88BD-F4C871172213}" presName="connectorText" presStyleLbl="sibTrans2D1" presStyleIdx="2" presStyleCnt="6"/>
      <dgm:spPr/>
    </dgm:pt>
    <dgm:pt modelId="{040D1283-60B7-4326-AA8A-A15382763534}" type="pres">
      <dgm:prSet presAssocID="{F6D6AE8B-BCA2-4864-8914-AE79CC41F96D}" presName="node" presStyleLbl="node1" presStyleIdx="3" presStyleCnt="6">
        <dgm:presLayoutVars>
          <dgm:bulletEnabled val="1"/>
        </dgm:presLayoutVars>
      </dgm:prSet>
      <dgm:spPr/>
    </dgm:pt>
    <dgm:pt modelId="{73A40D5A-73A5-4AC8-809C-E8188A1F667B}" type="pres">
      <dgm:prSet presAssocID="{48D88FB0-AE5E-4E05-9856-2B89CE30BA34}" presName="sibTrans" presStyleLbl="sibTrans2D1" presStyleIdx="3" presStyleCnt="6"/>
      <dgm:spPr/>
    </dgm:pt>
    <dgm:pt modelId="{80FB30CA-5D89-4328-957E-713279FEEC2D}" type="pres">
      <dgm:prSet presAssocID="{48D88FB0-AE5E-4E05-9856-2B89CE30BA34}" presName="connectorText" presStyleLbl="sibTrans2D1" presStyleIdx="3" presStyleCnt="6"/>
      <dgm:spPr/>
    </dgm:pt>
    <dgm:pt modelId="{E2D175B1-1375-45B8-9560-9B2A9B085952}" type="pres">
      <dgm:prSet presAssocID="{45A70D16-5A34-4FB3-97DA-5E72F0F9182A}" presName="node" presStyleLbl="node1" presStyleIdx="4" presStyleCnt="6">
        <dgm:presLayoutVars>
          <dgm:bulletEnabled val="1"/>
        </dgm:presLayoutVars>
      </dgm:prSet>
      <dgm:spPr/>
    </dgm:pt>
    <dgm:pt modelId="{E503CC2E-9BCD-4F97-AFA3-69855511795A}" type="pres">
      <dgm:prSet presAssocID="{35D766B1-6A95-4C95-BF1A-7029132DB420}" presName="sibTrans" presStyleLbl="sibTrans2D1" presStyleIdx="4" presStyleCnt="6"/>
      <dgm:spPr/>
    </dgm:pt>
    <dgm:pt modelId="{593924B5-22FD-4DBD-8031-2457FC2A295E}" type="pres">
      <dgm:prSet presAssocID="{35D766B1-6A95-4C95-BF1A-7029132DB420}" presName="connectorText" presStyleLbl="sibTrans2D1" presStyleIdx="4" presStyleCnt="6"/>
      <dgm:spPr/>
    </dgm:pt>
    <dgm:pt modelId="{3D4BD281-2757-440D-9C96-914E4E4454C7}" type="pres">
      <dgm:prSet presAssocID="{EFC3F480-978A-405E-A28E-806808DD754A}" presName="node" presStyleLbl="node1" presStyleIdx="5" presStyleCnt="6">
        <dgm:presLayoutVars>
          <dgm:bulletEnabled val="1"/>
        </dgm:presLayoutVars>
      </dgm:prSet>
      <dgm:spPr/>
    </dgm:pt>
    <dgm:pt modelId="{7251402B-EB67-4B3A-A73E-022FC7F3DD71}" type="pres">
      <dgm:prSet presAssocID="{DD79D47E-9B28-4A91-9F4C-CD59E7D39071}" presName="sibTrans" presStyleLbl="sibTrans2D1" presStyleIdx="5" presStyleCnt="6"/>
      <dgm:spPr/>
    </dgm:pt>
    <dgm:pt modelId="{ACFBDA63-3422-461D-B4EE-2B0FA44820F3}" type="pres">
      <dgm:prSet presAssocID="{DD79D47E-9B28-4A91-9F4C-CD59E7D39071}" presName="connectorText" presStyleLbl="sibTrans2D1" presStyleIdx="5" presStyleCnt="6"/>
      <dgm:spPr/>
    </dgm:pt>
  </dgm:ptLst>
  <dgm:cxnLst>
    <dgm:cxn modelId="{6A558700-8AD5-47D3-ABBF-B6129538C08C}" type="presOf" srcId="{EFC3F480-978A-405E-A28E-806808DD754A}" destId="{3D4BD281-2757-440D-9C96-914E4E4454C7}" srcOrd="0" destOrd="0" presId="urn:microsoft.com/office/officeart/2005/8/layout/cycle2"/>
    <dgm:cxn modelId="{94BA7902-36F4-4CA4-8731-C87F84F88E9F}" type="presOf" srcId="{9F3F78F4-8E4F-483C-B7B0-70AE566E9FE1}" destId="{CA8EDD68-3B80-4F30-8080-556C2F1ECE8A}" srcOrd="0" destOrd="0" presId="urn:microsoft.com/office/officeart/2005/8/layout/cycle2"/>
    <dgm:cxn modelId="{AC1A5118-359E-421A-AFF4-2568DF59FD1E}" type="presOf" srcId="{9F3F78F4-8E4F-483C-B7B0-70AE566E9FE1}" destId="{5A41F6B1-7561-4F1F-AE82-99886AFF9D53}" srcOrd="1" destOrd="0" presId="urn:microsoft.com/office/officeart/2005/8/layout/cycle2"/>
    <dgm:cxn modelId="{29B4BC21-55E9-4FAE-A67C-CCBD0C32CBAA}" type="presOf" srcId="{11AEC38A-7B9C-44DC-87A8-E34941BF96E4}" destId="{F86E1CA8-51A0-460F-9155-C2982470D759}" srcOrd="0" destOrd="0" presId="urn:microsoft.com/office/officeart/2005/8/layout/cycle2"/>
    <dgm:cxn modelId="{1033672D-5712-4808-9151-C10D80F54FA1}" type="presOf" srcId="{F6D6AE8B-BCA2-4864-8914-AE79CC41F96D}" destId="{040D1283-60B7-4326-AA8A-A15382763534}" srcOrd="0" destOrd="0" presId="urn:microsoft.com/office/officeart/2005/8/layout/cycle2"/>
    <dgm:cxn modelId="{29E20B2F-FCE7-455D-9B5C-9976FEDABEF9}" type="presOf" srcId="{8150556A-9A9A-4D79-8FBF-4FFADB98F9DE}" destId="{256EEC70-9EE7-4E9F-B512-DB4C96A8A6BF}" srcOrd="0" destOrd="0" presId="urn:microsoft.com/office/officeart/2005/8/layout/cycle2"/>
    <dgm:cxn modelId="{66CC363E-0393-44E3-B101-8ED363B213D6}" srcId="{8150556A-9A9A-4D79-8FBF-4FFADB98F9DE}" destId="{4A2D2BE2-3912-4364-B650-4D3B0B94710F}" srcOrd="1" destOrd="0" parTransId="{913F6489-52C8-4B23-B749-01572B07C619}" sibTransId="{F8071382-7A01-4AC8-9EF1-D1C35A2135D1}"/>
    <dgm:cxn modelId="{82A6B847-878D-4516-92E5-DBCFFF455EB9}" type="presOf" srcId="{F8071382-7A01-4AC8-9EF1-D1C35A2135D1}" destId="{7A59EB78-F8FB-4449-92A0-1529FA6AEC4B}" srcOrd="1" destOrd="0" presId="urn:microsoft.com/office/officeart/2005/8/layout/cycle2"/>
    <dgm:cxn modelId="{0EFE9668-74CE-4115-9A49-F90493540106}" srcId="{8150556A-9A9A-4D79-8FBF-4FFADB98F9DE}" destId="{F6D6AE8B-BCA2-4864-8914-AE79CC41F96D}" srcOrd="3" destOrd="0" parTransId="{258DE996-BF9A-4884-81FF-7A24B67E893F}" sibTransId="{48D88FB0-AE5E-4E05-9856-2B89CE30BA34}"/>
    <dgm:cxn modelId="{BF1C914A-45E5-4C84-B9C4-C6535B44E480}" type="presOf" srcId="{35D766B1-6A95-4C95-BF1A-7029132DB420}" destId="{593924B5-22FD-4DBD-8031-2457FC2A295E}" srcOrd="1" destOrd="0" presId="urn:microsoft.com/office/officeart/2005/8/layout/cycle2"/>
    <dgm:cxn modelId="{59031D4E-D248-48F0-809A-CA7D82ACBDF0}" srcId="{8150556A-9A9A-4D79-8FBF-4FFADB98F9DE}" destId="{11AEC38A-7B9C-44DC-87A8-E34941BF96E4}" srcOrd="0" destOrd="0" parTransId="{F1C9B794-1B83-415D-9C2C-C590FC2EB0A4}" sibTransId="{9F3F78F4-8E4F-483C-B7B0-70AE566E9FE1}"/>
    <dgm:cxn modelId="{BA2D2475-6700-4156-98F4-78BF8E7C8F94}" type="presOf" srcId="{0F5AF32C-58AB-47EA-88BD-F4C871172213}" destId="{85778837-7B02-47C5-9BD6-30E409B2EEC6}" srcOrd="0" destOrd="0" presId="urn:microsoft.com/office/officeart/2005/8/layout/cycle2"/>
    <dgm:cxn modelId="{A450517C-8B22-4784-893F-7C63B8CAC6DE}" type="presOf" srcId="{F8071382-7A01-4AC8-9EF1-D1C35A2135D1}" destId="{D4859258-D59B-4C59-ABAC-733547D6D062}" srcOrd="0" destOrd="0" presId="urn:microsoft.com/office/officeart/2005/8/layout/cycle2"/>
    <dgm:cxn modelId="{9016AF86-B80D-43F2-8899-9C967F5AD91B}" type="presOf" srcId="{DD79D47E-9B28-4A91-9F4C-CD59E7D39071}" destId="{7251402B-EB67-4B3A-A73E-022FC7F3DD71}" srcOrd="0" destOrd="0" presId="urn:microsoft.com/office/officeart/2005/8/layout/cycle2"/>
    <dgm:cxn modelId="{C9D4058E-0F17-4506-AC7B-B44DCFE4EA90}" type="presOf" srcId="{4A2D2BE2-3912-4364-B650-4D3B0B94710F}" destId="{76F8CAEE-AE04-4E7F-8BD1-E22E339E7D8B}" srcOrd="0" destOrd="0" presId="urn:microsoft.com/office/officeart/2005/8/layout/cycle2"/>
    <dgm:cxn modelId="{D8025B8F-4669-43FC-9AA1-3A60B032CDC8}" type="presOf" srcId="{0F5AF32C-58AB-47EA-88BD-F4C871172213}" destId="{EEB19E28-2EC4-4382-8703-3D88C1009E85}" srcOrd="1" destOrd="0" presId="urn:microsoft.com/office/officeart/2005/8/layout/cycle2"/>
    <dgm:cxn modelId="{5BEBC094-4A35-4D83-93B0-9D30F0F9F787}" type="presOf" srcId="{48D88FB0-AE5E-4E05-9856-2B89CE30BA34}" destId="{73A40D5A-73A5-4AC8-809C-E8188A1F667B}" srcOrd="0" destOrd="0" presId="urn:microsoft.com/office/officeart/2005/8/layout/cycle2"/>
    <dgm:cxn modelId="{25820498-74F8-4F79-80AC-19F566EDC2BF}" srcId="{8150556A-9A9A-4D79-8FBF-4FFADB98F9DE}" destId="{EFC3F480-978A-405E-A28E-806808DD754A}" srcOrd="5" destOrd="0" parTransId="{8B2703D8-291A-4615-847C-58ADCB244079}" sibTransId="{DD79D47E-9B28-4A91-9F4C-CD59E7D39071}"/>
    <dgm:cxn modelId="{DF9DA99B-9265-4A63-AC92-C005D737A672}" srcId="{8150556A-9A9A-4D79-8FBF-4FFADB98F9DE}" destId="{45A70D16-5A34-4FB3-97DA-5E72F0F9182A}" srcOrd="4" destOrd="0" parTransId="{C7AD2F1D-25FE-4E90-8797-701C8DEC5A9B}" sibTransId="{35D766B1-6A95-4C95-BF1A-7029132DB420}"/>
    <dgm:cxn modelId="{DE68AC9D-685C-4B78-B5B8-2BE60E2D0A4C}" type="presOf" srcId="{35D766B1-6A95-4C95-BF1A-7029132DB420}" destId="{E503CC2E-9BCD-4F97-AFA3-69855511795A}" srcOrd="0" destOrd="0" presId="urn:microsoft.com/office/officeart/2005/8/layout/cycle2"/>
    <dgm:cxn modelId="{50FF949F-C219-4E2B-94DC-B962D4BC9381}" srcId="{8150556A-9A9A-4D79-8FBF-4FFADB98F9DE}" destId="{CD84F0B5-5497-4470-9304-4FEFB7F570AD}" srcOrd="2" destOrd="0" parTransId="{D534C309-3EFE-4394-A757-B2A382179B54}" sibTransId="{0F5AF32C-58AB-47EA-88BD-F4C871172213}"/>
    <dgm:cxn modelId="{A5107FB5-3012-439F-B106-756C93A23905}" type="presOf" srcId="{DD79D47E-9B28-4A91-9F4C-CD59E7D39071}" destId="{ACFBDA63-3422-461D-B4EE-2B0FA44820F3}" srcOrd="1" destOrd="0" presId="urn:microsoft.com/office/officeart/2005/8/layout/cycle2"/>
    <dgm:cxn modelId="{58B32EC3-359E-427A-9C5C-B06989152FDA}" type="presOf" srcId="{CD84F0B5-5497-4470-9304-4FEFB7F570AD}" destId="{1CFE7AE0-D11C-4E37-A8BA-F2873703EF4E}" srcOrd="0" destOrd="0" presId="urn:microsoft.com/office/officeart/2005/8/layout/cycle2"/>
    <dgm:cxn modelId="{4D40D3C8-CBFF-4393-8ACF-DE6797BA40A3}" type="presOf" srcId="{45A70D16-5A34-4FB3-97DA-5E72F0F9182A}" destId="{E2D175B1-1375-45B8-9560-9B2A9B085952}" srcOrd="0" destOrd="0" presId="urn:microsoft.com/office/officeart/2005/8/layout/cycle2"/>
    <dgm:cxn modelId="{16EB36E4-30B5-4A56-8380-FE5C3F32DB6E}" type="presOf" srcId="{48D88FB0-AE5E-4E05-9856-2B89CE30BA34}" destId="{80FB30CA-5D89-4328-957E-713279FEEC2D}" srcOrd="1" destOrd="0" presId="urn:microsoft.com/office/officeart/2005/8/layout/cycle2"/>
    <dgm:cxn modelId="{7F445FBF-EC0B-4C44-BB37-3587778EF39B}" type="presParOf" srcId="{256EEC70-9EE7-4E9F-B512-DB4C96A8A6BF}" destId="{F86E1CA8-51A0-460F-9155-C2982470D759}" srcOrd="0" destOrd="0" presId="urn:microsoft.com/office/officeart/2005/8/layout/cycle2"/>
    <dgm:cxn modelId="{2A7D6B3C-52E0-4B9F-9DEE-77D7ACBE5DEA}" type="presParOf" srcId="{256EEC70-9EE7-4E9F-B512-DB4C96A8A6BF}" destId="{CA8EDD68-3B80-4F30-8080-556C2F1ECE8A}" srcOrd="1" destOrd="0" presId="urn:microsoft.com/office/officeart/2005/8/layout/cycle2"/>
    <dgm:cxn modelId="{DBF8EF8F-4E44-4D93-B507-C22A5127B58B}" type="presParOf" srcId="{CA8EDD68-3B80-4F30-8080-556C2F1ECE8A}" destId="{5A41F6B1-7561-4F1F-AE82-99886AFF9D53}" srcOrd="0" destOrd="0" presId="urn:microsoft.com/office/officeart/2005/8/layout/cycle2"/>
    <dgm:cxn modelId="{A4C76850-862A-4079-9FA9-3AC20D437C7A}" type="presParOf" srcId="{256EEC70-9EE7-4E9F-B512-DB4C96A8A6BF}" destId="{76F8CAEE-AE04-4E7F-8BD1-E22E339E7D8B}" srcOrd="2" destOrd="0" presId="urn:microsoft.com/office/officeart/2005/8/layout/cycle2"/>
    <dgm:cxn modelId="{30F17884-C009-42DE-9660-815085CBA720}" type="presParOf" srcId="{256EEC70-9EE7-4E9F-B512-DB4C96A8A6BF}" destId="{D4859258-D59B-4C59-ABAC-733547D6D062}" srcOrd="3" destOrd="0" presId="urn:microsoft.com/office/officeart/2005/8/layout/cycle2"/>
    <dgm:cxn modelId="{BFA0819F-F5CE-49A4-B6A5-27490897E231}" type="presParOf" srcId="{D4859258-D59B-4C59-ABAC-733547D6D062}" destId="{7A59EB78-F8FB-4449-92A0-1529FA6AEC4B}" srcOrd="0" destOrd="0" presId="urn:microsoft.com/office/officeart/2005/8/layout/cycle2"/>
    <dgm:cxn modelId="{69505BE5-276A-4759-8813-E36C5A74A6C2}" type="presParOf" srcId="{256EEC70-9EE7-4E9F-B512-DB4C96A8A6BF}" destId="{1CFE7AE0-D11C-4E37-A8BA-F2873703EF4E}" srcOrd="4" destOrd="0" presId="urn:microsoft.com/office/officeart/2005/8/layout/cycle2"/>
    <dgm:cxn modelId="{F3695A47-BC45-44F5-BD93-D072BE7AD42A}" type="presParOf" srcId="{256EEC70-9EE7-4E9F-B512-DB4C96A8A6BF}" destId="{85778837-7B02-47C5-9BD6-30E409B2EEC6}" srcOrd="5" destOrd="0" presId="urn:microsoft.com/office/officeart/2005/8/layout/cycle2"/>
    <dgm:cxn modelId="{4C0C706F-0B0E-4634-B9C2-FC95E81D426E}" type="presParOf" srcId="{85778837-7B02-47C5-9BD6-30E409B2EEC6}" destId="{EEB19E28-2EC4-4382-8703-3D88C1009E85}" srcOrd="0" destOrd="0" presId="urn:microsoft.com/office/officeart/2005/8/layout/cycle2"/>
    <dgm:cxn modelId="{FBEDD37C-3AB0-4D4B-B60A-5D2DBAC919DB}" type="presParOf" srcId="{256EEC70-9EE7-4E9F-B512-DB4C96A8A6BF}" destId="{040D1283-60B7-4326-AA8A-A15382763534}" srcOrd="6" destOrd="0" presId="urn:microsoft.com/office/officeart/2005/8/layout/cycle2"/>
    <dgm:cxn modelId="{A3594DB4-1888-407C-9A84-7111428CF35A}" type="presParOf" srcId="{256EEC70-9EE7-4E9F-B512-DB4C96A8A6BF}" destId="{73A40D5A-73A5-4AC8-809C-E8188A1F667B}" srcOrd="7" destOrd="0" presId="urn:microsoft.com/office/officeart/2005/8/layout/cycle2"/>
    <dgm:cxn modelId="{4439D3C6-4DB2-44AD-A52B-5972F130464A}" type="presParOf" srcId="{73A40D5A-73A5-4AC8-809C-E8188A1F667B}" destId="{80FB30CA-5D89-4328-957E-713279FEEC2D}" srcOrd="0" destOrd="0" presId="urn:microsoft.com/office/officeart/2005/8/layout/cycle2"/>
    <dgm:cxn modelId="{8D72AEF4-7D81-45F6-8F11-885C14217EB6}" type="presParOf" srcId="{256EEC70-9EE7-4E9F-B512-DB4C96A8A6BF}" destId="{E2D175B1-1375-45B8-9560-9B2A9B085952}" srcOrd="8" destOrd="0" presId="urn:microsoft.com/office/officeart/2005/8/layout/cycle2"/>
    <dgm:cxn modelId="{9938C8DE-3C1C-4731-BE8E-7A6E5FC05ECD}" type="presParOf" srcId="{256EEC70-9EE7-4E9F-B512-DB4C96A8A6BF}" destId="{E503CC2E-9BCD-4F97-AFA3-69855511795A}" srcOrd="9" destOrd="0" presId="urn:microsoft.com/office/officeart/2005/8/layout/cycle2"/>
    <dgm:cxn modelId="{5B5CE23F-20BF-4C0F-9AFC-7D0F2784FAAE}" type="presParOf" srcId="{E503CC2E-9BCD-4F97-AFA3-69855511795A}" destId="{593924B5-22FD-4DBD-8031-2457FC2A295E}" srcOrd="0" destOrd="0" presId="urn:microsoft.com/office/officeart/2005/8/layout/cycle2"/>
    <dgm:cxn modelId="{938D0C8F-A4A0-44BB-8F6A-26EFA1CF7696}" type="presParOf" srcId="{256EEC70-9EE7-4E9F-B512-DB4C96A8A6BF}" destId="{3D4BD281-2757-440D-9C96-914E4E4454C7}" srcOrd="10" destOrd="0" presId="urn:microsoft.com/office/officeart/2005/8/layout/cycle2"/>
    <dgm:cxn modelId="{F6140282-AE4C-461B-A232-DCE66AF62C01}" type="presParOf" srcId="{256EEC70-9EE7-4E9F-B512-DB4C96A8A6BF}" destId="{7251402B-EB67-4B3A-A73E-022FC7F3DD71}" srcOrd="11" destOrd="0" presId="urn:microsoft.com/office/officeart/2005/8/layout/cycle2"/>
    <dgm:cxn modelId="{548254A7-22FE-4F4B-85CD-745E4EF7EF05}" type="presParOf" srcId="{7251402B-EB67-4B3A-A73E-022FC7F3DD71}" destId="{ACFBDA63-3422-461D-B4EE-2B0FA44820F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E1CA8-51A0-460F-9155-C2982470D759}">
      <dsp:nvSpPr>
        <dsp:cNvPr id="0" name=""/>
        <dsp:cNvSpPr/>
      </dsp:nvSpPr>
      <dsp:spPr>
        <a:xfrm>
          <a:off x="4877618" y="1385"/>
          <a:ext cx="1217562" cy="1217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Xác</a:t>
          </a:r>
          <a:r>
            <a:rPr lang="en-US" sz="1400" b="1" kern="1200" dirty="0"/>
            <a:t> </a:t>
          </a:r>
          <a:r>
            <a:rPr lang="en-US" sz="1400" b="1" kern="1200" dirty="0" err="1"/>
            <a:t>định</a:t>
          </a:r>
          <a:r>
            <a:rPr lang="en-US" sz="1400" b="1" kern="1200" dirty="0"/>
            <a:t> </a:t>
          </a:r>
          <a:r>
            <a:rPr lang="en-US" sz="1400" b="1" kern="1200" dirty="0" err="1"/>
            <a:t>thông</a:t>
          </a:r>
          <a:r>
            <a:rPr lang="en-US" sz="1400" b="1" kern="1200" dirty="0"/>
            <a:t> </a:t>
          </a:r>
          <a:r>
            <a:rPr lang="en-US" sz="1400" b="1" kern="1200" dirty="0" err="1"/>
            <a:t>số</a:t>
          </a:r>
          <a:r>
            <a:rPr lang="en-US" sz="1400" b="1" kern="1200" dirty="0"/>
            <a:t> </a:t>
          </a:r>
          <a:r>
            <a:rPr lang="en-US" sz="1400" b="1" kern="1200" dirty="0" err="1"/>
            <a:t>mục</a:t>
          </a:r>
          <a:r>
            <a:rPr lang="en-US" sz="1400" b="1" kern="1200" dirty="0"/>
            <a:t> </a:t>
          </a:r>
          <a:r>
            <a:rPr lang="en-US" sz="1400" b="1" kern="1200" dirty="0" err="1"/>
            <a:t>tiêu</a:t>
          </a:r>
          <a:endParaRPr lang="en-US" sz="1400" b="1" kern="1200" dirty="0"/>
        </a:p>
      </dsp:txBody>
      <dsp:txXfrm>
        <a:off x="5055926" y="179693"/>
        <a:ext cx="860946" cy="860946"/>
      </dsp:txXfrm>
    </dsp:sp>
    <dsp:sp modelId="{CA8EDD68-3B80-4F30-8080-556C2F1ECE8A}">
      <dsp:nvSpPr>
        <dsp:cNvPr id="0" name=""/>
        <dsp:cNvSpPr/>
      </dsp:nvSpPr>
      <dsp:spPr>
        <a:xfrm rot="1800000">
          <a:off x="6108287" y="857181"/>
          <a:ext cx="323655" cy="410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114791" y="915092"/>
        <a:ext cx="226559" cy="246557"/>
      </dsp:txXfrm>
    </dsp:sp>
    <dsp:sp modelId="{76F8CAEE-AE04-4E7F-8BD1-E22E339E7D8B}">
      <dsp:nvSpPr>
        <dsp:cNvPr id="0" name=""/>
        <dsp:cNvSpPr/>
      </dsp:nvSpPr>
      <dsp:spPr>
        <a:xfrm>
          <a:off x="6460914" y="915501"/>
          <a:ext cx="1217562" cy="1217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Xây </a:t>
          </a:r>
          <a:r>
            <a:rPr lang="en-US" sz="1400" b="1" kern="1200" dirty="0" err="1"/>
            <a:t>dựng</a:t>
          </a:r>
          <a:r>
            <a:rPr lang="en-US" sz="1400" b="1" kern="1200" dirty="0"/>
            <a:t> </a:t>
          </a:r>
          <a:r>
            <a:rPr lang="en-US" sz="1400" b="1" kern="1200" dirty="0" err="1"/>
            <a:t>phương</a:t>
          </a:r>
          <a:r>
            <a:rPr lang="en-US" sz="1400" b="1" kern="1200" dirty="0"/>
            <a:t> </a:t>
          </a:r>
          <a:r>
            <a:rPr lang="en-US" sz="1400" b="1" kern="1200" dirty="0" err="1"/>
            <a:t>án</a:t>
          </a:r>
          <a:r>
            <a:rPr lang="en-US" sz="1400" b="1" kern="1200" dirty="0"/>
            <a:t> </a:t>
          </a:r>
          <a:r>
            <a:rPr lang="en-US" sz="1400" b="1" kern="1200" dirty="0" err="1"/>
            <a:t>thiết</a:t>
          </a:r>
          <a:r>
            <a:rPr lang="en-US" sz="1400" b="1" kern="1200" dirty="0"/>
            <a:t> </a:t>
          </a:r>
          <a:r>
            <a:rPr lang="en-US" sz="1400" b="1" kern="1200" dirty="0" err="1"/>
            <a:t>kế</a:t>
          </a:r>
          <a:endParaRPr lang="en-US" sz="1400" b="1" kern="1200" dirty="0"/>
        </a:p>
      </dsp:txBody>
      <dsp:txXfrm>
        <a:off x="6639222" y="1093809"/>
        <a:ext cx="860946" cy="860946"/>
      </dsp:txXfrm>
    </dsp:sp>
    <dsp:sp modelId="{D4859258-D59B-4C59-ABAC-733547D6D062}">
      <dsp:nvSpPr>
        <dsp:cNvPr id="0" name=""/>
        <dsp:cNvSpPr/>
      </dsp:nvSpPr>
      <dsp:spPr>
        <a:xfrm rot="5400000">
          <a:off x="6907868" y="2223776"/>
          <a:ext cx="323655" cy="410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956416" y="2257413"/>
        <a:ext cx="226559" cy="246557"/>
      </dsp:txXfrm>
    </dsp:sp>
    <dsp:sp modelId="{1CFE7AE0-D11C-4E37-A8BA-F2873703EF4E}">
      <dsp:nvSpPr>
        <dsp:cNvPr id="0" name=""/>
        <dsp:cNvSpPr/>
      </dsp:nvSpPr>
      <dsp:spPr>
        <a:xfrm>
          <a:off x="6460914" y="2743735"/>
          <a:ext cx="1217562" cy="1217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Thiết </a:t>
          </a:r>
          <a:r>
            <a:rPr lang="en-US" sz="1400" b="1" kern="1200" dirty="0" err="1"/>
            <a:t>kế</a:t>
          </a:r>
          <a:r>
            <a:rPr lang="en-US" sz="1400" b="1" kern="1200" dirty="0"/>
            <a:t> chi </a:t>
          </a:r>
          <a:r>
            <a:rPr lang="en-US" sz="1400" b="1" kern="1200" dirty="0" err="1"/>
            <a:t>tiết</a:t>
          </a:r>
          <a:r>
            <a:rPr lang="en-US" sz="1400" b="1" kern="1200" dirty="0"/>
            <a:t> 3D</a:t>
          </a:r>
        </a:p>
      </dsp:txBody>
      <dsp:txXfrm>
        <a:off x="6639222" y="2922043"/>
        <a:ext cx="860946" cy="860946"/>
      </dsp:txXfrm>
    </dsp:sp>
    <dsp:sp modelId="{85778837-7B02-47C5-9BD6-30E409B2EEC6}">
      <dsp:nvSpPr>
        <dsp:cNvPr id="0" name=""/>
        <dsp:cNvSpPr/>
      </dsp:nvSpPr>
      <dsp:spPr>
        <a:xfrm rot="9000000">
          <a:off x="6124153" y="3599531"/>
          <a:ext cx="323655" cy="410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6214745" y="3657442"/>
        <a:ext cx="226559" cy="246557"/>
      </dsp:txXfrm>
    </dsp:sp>
    <dsp:sp modelId="{040D1283-60B7-4326-AA8A-A15382763534}">
      <dsp:nvSpPr>
        <dsp:cNvPr id="0" name=""/>
        <dsp:cNvSpPr/>
      </dsp:nvSpPr>
      <dsp:spPr>
        <a:xfrm>
          <a:off x="4877618" y="3657851"/>
          <a:ext cx="1217562" cy="121756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Mô</a:t>
          </a:r>
          <a:r>
            <a:rPr lang="en-US" sz="1400" b="1" kern="1200" dirty="0"/>
            <a:t> </a:t>
          </a:r>
          <a:r>
            <a:rPr lang="en-US" sz="1400" b="1" kern="1200" dirty="0" err="1"/>
            <a:t>phỏng</a:t>
          </a:r>
          <a:r>
            <a:rPr lang="en-US" sz="1400" b="1" kern="1200" dirty="0"/>
            <a:t> </a:t>
          </a:r>
          <a:r>
            <a:rPr lang="en-US" sz="1400" b="1" kern="1200" dirty="0" err="1"/>
            <a:t>và</a:t>
          </a:r>
          <a:r>
            <a:rPr lang="en-US" sz="1400" b="1" kern="1200" dirty="0"/>
            <a:t> </a:t>
          </a:r>
          <a:r>
            <a:rPr lang="en-US" sz="1400" b="1" kern="1200" dirty="0" err="1"/>
            <a:t>tính</a:t>
          </a:r>
          <a:r>
            <a:rPr lang="en-US" sz="1400" b="1" kern="1200" dirty="0"/>
            <a:t> </a:t>
          </a:r>
          <a:r>
            <a:rPr lang="en-US" sz="1400" b="1" kern="1200" dirty="0" err="1"/>
            <a:t>toán</a:t>
          </a:r>
          <a:r>
            <a:rPr lang="en-US" sz="1400" b="1" kern="1200" dirty="0"/>
            <a:t> </a:t>
          </a:r>
          <a:r>
            <a:rPr lang="en-US" sz="1400" b="1" kern="1200" dirty="0" err="1"/>
            <a:t>tối</a:t>
          </a:r>
          <a:r>
            <a:rPr lang="en-US" sz="1400" b="1" kern="1200" dirty="0"/>
            <a:t> </a:t>
          </a:r>
          <a:r>
            <a:rPr lang="en-US" sz="1400" b="1" kern="1200" dirty="0" err="1"/>
            <a:t>ưu</a:t>
          </a:r>
          <a:endParaRPr lang="en-US" sz="1400" b="1" kern="1200" dirty="0"/>
        </a:p>
      </dsp:txBody>
      <dsp:txXfrm>
        <a:off x="5055926" y="3836159"/>
        <a:ext cx="860946" cy="860946"/>
      </dsp:txXfrm>
    </dsp:sp>
    <dsp:sp modelId="{73A40D5A-73A5-4AC8-809C-E8188A1F667B}">
      <dsp:nvSpPr>
        <dsp:cNvPr id="0" name=""/>
        <dsp:cNvSpPr/>
      </dsp:nvSpPr>
      <dsp:spPr>
        <a:xfrm rot="12600000">
          <a:off x="4540856" y="3608691"/>
          <a:ext cx="323655" cy="410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631448" y="3715150"/>
        <a:ext cx="226559" cy="246557"/>
      </dsp:txXfrm>
    </dsp:sp>
    <dsp:sp modelId="{E2D175B1-1375-45B8-9560-9B2A9B085952}">
      <dsp:nvSpPr>
        <dsp:cNvPr id="0" name=""/>
        <dsp:cNvSpPr/>
      </dsp:nvSpPr>
      <dsp:spPr>
        <a:xfrm>
          <a:off x="3294322" y="2743735"/>
          <a:ext cx="1217562" cy="12175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Chế </a:t>
          </a:r>
          <a:r>
            <a:rPr lang="en-US" sz="1400" b="1" kern="1200" dirty="0" err="1"/>
            <a:t>tạo</a:t>
          </a:r>
          <a:r>
            <a:rPr lang="en-US" sz="1400" b="1" kern="1200" dirty="0"/>
            <a:t> </a:t>
          </a:r>
          <a:r>
            <a:rPr lang="en-US" sz="1400" b="1" kern="1200" dirty="0" err="1"/>
            <a:t>mẫu</a:t>
          </a:r>
          <a:r>
            <a:rPr lang="en-US" sz="1400" b="1" kern="1200" dirty="0"/>
            <a:t> </a:t>
          </a:r>
          <a:r>
            <a:rPr lang="en-US" sz="1400" b="1" kern="1200" dirty="0" err="1"/>
            <a:t>thử</a:t>
          </a:r>
          <a:endParaRPr lang="en-US" sz="1400" b="1" kern="1200" dirty="0"/>
        </a:p>
      </dsp:txBody>
      <dsp:txXfrm>
        <a:off x="3472630" y="2922043"/>
        <a:ext cx="860946" cy="860946"/>
      </dsp:txXfrm>
    </dsp:sp>
    <dsp:sp modelId="{E503CC2E-9BCD-4F97-AFA3-69855511795A}">
      <dsp:nvSpPr>
        <dsp:cNvPr id="0" name=""/>
        <dsp:cNvSpPr/>
      </dsp:nvSpPr>
      <dsp:spPr>
        <a:xfrm rot="16200000">
          <a:off x="3741275" y="2242096"/>
          <a:ext cx="323655" cy="410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789823" y="2372829"/>
        <a:ext cx="226559" cy="246557"/>
      </dsp:txXfrm>
    </dsp:sp>
    <dsp:sp modelId="{3D4BD281-2757-440D-9C96-914E4E4454C7}">
      <dsp:nvSpPr>
        <dsp:cNvPr id="0" name=""/>
        <dsp:cNvSpPr/>
      </dsp:nvSpPr>
      <dsp:spPr>
        <a:xfrm>
          <a:off x="3294322" y="915501"/>
          <a:ext cx="1217562" cy="1217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Thử</a:t>
          </a:r>
          <a:r>
            <a:rPr lang="en-US" sz="1400" b="1" kern="1200" dirty="0"/>
            <a:t> </a:t>
          </a:r>
          <a:r>
            <a:rPr lang="en-US" sz="1400" b="1" kern="1200" dirty="0" err="1"/>
            <a:t>nghiệm</a:t>
          </a:r>
          <a:r>
            <a:rPr lang="en-US" sz="1400" b="1" kern="1200" dirty="0"/>
            <a:t> </a:t>
          </a:r>
          <a:r>
            <a:rPr lang="en-US" sz="1400" b="1" kern="1200" dirty="0" err="1"/>
            <a:t>và</a:t>
          </a:r>
          <a:r>
            <a:rPr lang="en-US" sz="1400" b="1" kern="1200" dirty="0"/>
            <a:t> </a:t>
          </a:r>
          <a:r>
            <a:rPr lang="en-US" sz="1400" b="1" kern="1200" dirty="0" err="1"/>
            <a:t>cải</a:t>
          </a:r>
          <a:r>
            <a:rPr lang="en-US" sz="1400" b="1" kern="1200" dirty="0"/>
            <a:t> </a:t>
          </a:r>
          <a:r>
            <a:rPr lang="en-US" sz="1400" b="1" kern="1200" dirty="0" err="1"/>
            <a:t>tiến</a:t>
          </a:r>
          <a:endParaRPr lang="en-US" sz="1400" b="1" kern="1200" dirty="0"/>
        </a:p>
      </dsp:txBody>
      <dsp:txXfrm>
        <a:off x="3472630" y="1093809"/>
        <a:ext cx="860946" cy="860946"/>
      </dsp:txXfrm>
    </dsp:sp>
    <dsp:sp modelId="{7251402B-EB67-4B3A-A73E-022FC7F3DD71}">
      <dsp:nvSpPr>
        <dsp:cNvPr id="0" name=""/>
        <dsp:cNvSpPr/>
      </dsp:nvSpPr>
      <dsp:spPr>
        <a:xfrm rot="19800000">
          <a:off x="4524991" y="866341"/>
          <a:ext cx="323655" cy="410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31495" y="972800"/>
        <a:ext cx="226559" cy="246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axongroup.com/hc/en-us/articles/360000270554-The-perfect-motor-size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The perfect motor size – </a:t>
            </a:r>
            <a:r>
              <a:rPr lang="en-US" dirty="0" err="1">
                <a:hlinkClick r:id="rId3"/>
              </a:rPr>
              <a:t>maxon</a:t>
            </a:r>
            <a:r>
              <a:rPr lang="en-US" dirty="0">
                <a:hlinkClick r:id="rId3"/>
              </a:rPr>
              <a:t>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0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orientalmotor.com/motor-sizing-basics-part-1-load-torque?hsCtaTracking=6e649eca-ef0b-4be6-b700-964dcd9409ca%7C29f9d0cf-31a4-4208-888f-afa84f6535ce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robot</a:t>
            </a:r>
            <a:br>
              <a:rPr lang="en-US" b="1" dirty="0"/>
            </a:br>
            <a:r>
              <a:rPr lang="en-US" b="1" dirty="0" err="1">
                <a:solidFill>
                  <a:srgbClr val="0070C0"/>
                </a:solidFill>
              </a:rPr>
              <a:t>Thiết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kế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phần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cơ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khí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B802-121A-A62C-6434-4F830B5B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Quy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khí</a:t>
            </a:r>
            <a:r>
              <a:rPr lang="en-US" b="1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B8500-5B1C-0E6B-A076-A53AB787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F2384327-FE6C-F4FD-5241-9F81CB053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64410"/>
              </p:ext>
            </p:extLst>
          </p:nvPr>
        </p:nvGraphicFramePr>
        <p:xfrm>
          <a:off x="609600" y="1600200"/>
          <a:ext cx="10972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511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5F17-6722-3347-0DEC-EE87799F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Xây dựng phương án thiết kế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0052-504A-62A3-EB9A-BE178E6B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Đây là giai đoạn "động não" để đưa ra các giải pháp sơ bộ</a:t>
            </a:r>
            <a:endParaRPr lang="en-US" dirty="0"/>
          </a:p>
          <a:p>
            <a:r>
              <a:rPr lang="en-US" dirty="0"/>
              <a:t>Các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Phân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  <a:p>
            <a:pPr lvl="1"/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lvl="1"/>
            <a:r>
              <a:rPr lang="vi-VN" dirty="0"/>
              <a:t>Phác thảo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1"/>
            <a:r>
              <a:rPr lang="en-US" dirty="0"/>
              <a:t>Xác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endParaRPr lang="en-US" dirty="0"/>
          </a:p>
          <a:p>
            <a:pPr lvl="1"/>
            <a:r>
              <a:rPr lang="vi-VN" dirty="0"/>
              <a:t>Lựa chọn vật liệu chính (nhôm, thép, nhựa in 3D hay carbon).</a:t>
            </a:r>
            <a:endParaRPr lang="en-US" dirty="0"/>
          </a:p>
          <a:p>
            <a:pPr lvl="1"/>
            <a:r>
              <a:rPr lang="en-US" dirty="0"/>
              <a:t>Xây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lvl="1"/>
            <a:r>
              <a:rPr lang="vi-VN" dirty="0"/>
              <a:t>Đánh giá ưu nhược điểm của từng phương án để chọn ra hướng đi khả thi nhất.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4F78E-016D-E053-B73C-6BCC7573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3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0D0F-D9B0-E8CA-0583-8754854E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Xây dựng phương án thiết kế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0E1AD-020B-613D-F8D7-B60BEF04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Kinematic model of the human arm | Download Scientific Diagram">
            <a:extLst>
              <a:ext uri="{FF2B5EF4-FFF2-40B4-BE49-F238E27FC236}">
                <a16:creationId xmlns:a16="http://schemas.microsoft.com/office/drawing/2014/main" id="{1DC980B9-351B-522B-11EC-516600A6F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1752600"/>
            <a:ext cx="3003382" cy="35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e 2 from An experimental characterization of human arm motion |  Semantic Scholar">
            <a:extLst>
              <a:ext uri="{FF2B5EF4-FFF2-40B4-BE49-F238E27FC236}">
                <a16:creationId xmlns:a16="http://schemas.microsoft.com/office/drawing/2014/main" id="{B067052A-774A-ACE8-CF80-9D81F7215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999" y="2352004"/>
            <a:ext cx="3800601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EC6829F7-F85E-14FF-0CC2-E14F79100779}"/>
              </a:ext>
            </a:extLst>
          </p:cNvPr>
          <p:cNvSpPr/>
          <p:nvPr/>
        </p:nvSpPr>
        <p:spPr>
          <a:xfrm>
            <a:off x="7543800" y="3429000"/>
            <a:ext cx="685800" cy="685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Unlocking the Wonders Within: A Journey Through the Intricacies of the  Human Body | Watchdoq: Trusted Healthcare Blog">
            <a:extLst>
              <a:ext uri="{FF2B5EF4-FFF2-40B4-BE49-F238E27FC236}">
                <a16:creationId xmlns:a16="http://schemas.microsoft.com/office/drawing/2014/main" id="{6B3727DE-F06B-1ECD-B7AD-03BC2F927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78"/>
          <a:stretch>
            <a:fillRect/>
          </a:stretch>
        </p:blipFill>
        <p:spPr bwMode="auto">
          <a:xfrm>
            <a:off x="188542" y="1905000"/>
            <a:ext cx="24003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E2B3738-944D-0DFE-5AEF-10AB703598AB}"/>
              </a:ext>
            </a:extLst>
          </p:cNvPr>
          <p:cNvSpPr/>
          <p:nvPr/>
        </p:nvSpPr>
        <p:spPr>
          <a:xfrm>
            <a:off x="2791549" y="3429000"/>
            <a:ext cx="685800" cy="685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8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2129-1FCB-C780-1476-FDB81F77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Phác thảo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– Kinematic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2DF1-0FE6-8CC6-0D1D-05AF3ABF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ISO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Grubler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11805-1E30-879C-53E3-17C4442C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2" descr="Kinematic model of the human arm | Download Scientific Diagram">
            <a:extLst>
              <a:ext uri="{FF2B5EF4-FFF2-40B4-BE49-F238E27FC236}">
                <a16:creationId xmlns:a16="http://schemas.microsoft.com/office/drawing/2014/main" id="{477A5C83-0E85-B5C9-7E7E-ADDC1C9E0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1653257"/>
            <a:ext cx="3003382" cy="35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10E62-10B7-CF79-C085-D1F97380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135905"/>
            <a:ext cx="4178515" cy="2902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7DBFBA-5DD8-5666-D4DB-ACC89D705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605711"/>
            <a:ext cx="3187864" cy="895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95F1EB-2ABD-83FB-90E1-A50ED8C71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837" y="5728011"/>
            <a:ext cx="3490363" cy="10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1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9E30-10D6-9FD3-21D1-C26DE402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CFD4A-ACCC-143F-4DB7-AB3EC787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Phác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robot </a:t>
            </a:r>
            <a:r>
              <a:rPr lang="en-US" dirty="0" err="1"/>
              <a:t>sau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BD02-1920-9E3D-7FD9-FB8E1BAE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Kinematics in Robotics">
            <a:extLst>
              <a:ext uri="{FF2B5EF4-FFF2-40B4-BE49-F238E27FC236}">
                <a16:creationId xmlns:a16="http://schemas.microsoft.com/office/drawing/2014/main" id="{D06703C4-D888-6CDA-2315-A84DB551A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18"/>
          <a:stretch>
            <a:fillRect/>
          </a:stretch>
        </p:blipFill>
        <p:spPr bwMode="auto">
          <a:xfrm>
            <a:off x="2971801" y="2120965"/>
            <a:ext cx="2666999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96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4443-CDDC-F0AE-DAAF-2602A21F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Hoạt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nhóm</a:t>
            </a:r>
            <a:endParaRPr lang="en-US" b="1" dirty="0"/>
          </a:p>
        </p:txBody>
      </p:sp>
      <p:pic>
        <p:nvPicPr>
          <p:cNvPr id="5" name="20260505-1433-19.7317482">
            <a:hlinkClick r:id="" action="ppaction://media"/>
            <a:extLst>
              <a:ext uri="{FF2B5EF4-FFF2-40B4-BE49-F238E27FC236}">
                <a16:creationId xmlns:a16="http://schemas.microsoft.com/office/drawing/2014/main" id="{8C9E1E13-0864-3F94-77C0-B6A1F9120AD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67600" y="1981200"/>
            <a:ext cx="3686324" cy="3886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12FC7-1A47-3CB5-9615-F707FC69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04981B-E94B-8FA8-FAF7-7CB03BD88CCA}"/>
              </a:ext>
            </a:extLst>
          </p:cNvPr>
          <p:cNvSpPr txBox="1">
            <a:spLocks/>
          </p:cNvSpPr>
          <p:nvPr/>
        </p:nvSpPr>
        <p:spPr>
          <a:xfrm>
            <a:off x="609600" y="1600200"/>
            <a:ext cx="57150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Phân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chó</a:t>
            </a:r>
            <a:r>
              <a:rPr lang="en-US" dirty="0"/>
              <a:t>,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9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15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ECDCA-3CDA-3399-B945-E5E25D30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8E197-05E2-FA30-6D3B-ECB67FE8C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63" y="526742"/>
            <a:ext cx="10192274" cy="18352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7B3E14-826F-5A21-FCE4-76698DD02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62" y="2416123"/>
            <a:ext cx="10217675" cy="2025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6E1415-A259-74AD-BB3B-6E95FB51B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87" y="4495800"/>
            <a:ext cx="10198624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8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D388-B670-08E7-0D1D-2892BF40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Phác thảo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 Robot </a:t>
            </a:r>
            <a:r>
              <a:rPr lang="en-US" b="1" dirty="0" err="1"/>
              <a:t>chó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079EF-9A75-A4AB-3FAE-FAE6EAEE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Thông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: </a:t>
            </a:r>
          </a:p>
          <a:p>
            <a:r>
              <a:rPr lang="en-US" i="1" dirty="0"/>
              <a:t>Thông </a:t>
            </a:r>
            <a:r>
              <a:rPr lang="en-US" i="1" dirty="0" err="1"/>
              <a:t>số</a:t>
            </a:r>
            <a:r>
              <a:rPr lang="en-US" i="1" dirty="0"/>
              <a:t> </a:t>
            </a:r>
            <a:r>
              <a:rPr lang="en-US" i="1" dirty="0" err="1"/>
              <a:t>hình</a:t>
            </a:r>
            <a:r>
              <a:rPr lang="en-US" i="1" dirty="0"/>
              <a:t> </a:t>
            </a:r>
            <a:r>
              <a:rPr lang="en-US" i="1" dirty="0" err="1"/>
              <a:t>học</a:t>
            </a:r>
            <a:endParaRPr lang="en-US" i="1" dirty="0"/>
          </a:p>
          <a:p>
            <a:pPr lvl="1"/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: 50 cm</a:t>
            </a:r>
          </a:p>
          <a:p>
            <a:pPr lvl="1"/>
            <a:r>
              <a:rPr lang="en-US" dirty="0"/>
              <a:t>Chiều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: 20-25 cm</a:t>
            </a:r>
          </a:p>
          <a:p>
            <a:pPr lvl="1"/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: 35 cm</a:t>
            </a:r>
          </a:p>
          <a:p>
            <a:r>
              <a:rPr lang="en-US" i="1" dirty="0"/>
              <a:t>Thông </a:t>
            </a:r>
            <a:r>
              <a:rPr lang="en-US" i="1" dirty="0" err="1"/>
              <a:t>số</a:t>
            </a:r>
            <a:r>
              <a:rPr lang="en-US" i="1" dirty="0"/>
              <a:t> </a:t>
            </a:r>
            <a:r>
              <a:rPr lang="en-US" i="1" dirty="0" err="1"/>
              <a:t>động</a:t>
            </a:r>
            <a:r>
              <a:rPr lang="en-US" i="1" dirty="0"/>
              <a:t> </a:t>
            </a:r>
            <a:r>
              <a:rPr lang="en-US" i="1" dirty="0" err="1"/>
              <a:t>lực</a:t>
            </a:r>
            <a:r>
              <a:rPr lang="en-US" i="1" dirty="0"/>
              <a:t> </a:t>
            </a:r>
            <a:r>
              <a:rPr lang="en-US" i="1" dirty="0" err="1"/>
              <a:t>học</a:t>
            </a:r>
            <a:r>
              <a:rPr lang="en-US" i="1" dirty="0"/>
              <a:t>:</a:t>
            </a:r>
          </a:p>
          <a:p>
            <a:pPr lvl="1"/>
            <a:r>
              <a:rPr lang="vi-VN" dirty="0"/>
              <a:t>Trọng lượng: 1</a:t>
            </a:r>
            <a:r>
              <a:rPr lang="en-US" dirty="0"/>
              <a:t>1</a:t>
            </a:r>
            <a:r>
              <a:rPr lang="vi-VN" dirty="0"/>
              <a:t>kg</a:t>
            </a:r>
          </a:p>
          <a:p>
            <a:pPr lvl="1"/>
            <a:r>
              <a:rPr lang="en-US" dirty="0"/>
              <a:t>Vận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: 1 m/s</a:t>
            </a:r>
          </a:p>
          <a:p>
            <a:pPr lvl="1"/>
            <a:r>
              <a:rPr lang="en-US" dirty="0"/>
              <a:t>Gia </a:t>
            </a:r>
            <a:r>
              <a:rPr lang="en-US" dirty="0" err="1"/>
              <a:t>tốc</a:t>
            </a:r>
            <a:r>
              <a:rPr lang="en-US" dirty="0"/>
              <a:t>: 1 m/s</a:t>
            </a:r>
            <a:r>
              <a:rPr lang="en-US" baseline="30000" dirty="0"/>
              <a:t>2</a:t>
            </a:r>
          </a:p>
          <a:p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: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ngã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88FDC-E1FA-13E1-105A-196BE5DC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EF423-59E5-7704-4677-04DEB35F7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600200"/>
            <a:ext cx="4235668" cy="3416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199951-E543-062B-D6CF-F7DB202AF5F6}"/>
              </a:ext>
            </a:extLst>
          </p:cNvPr>
          <p:cNvSpPr txBox="1"/>
          <p:nvPr/>
        </p:nvSpPr>
        <p:spPr>
          <a:xfrm>
            <a:off x="7947134" y="5091396"/>
            <a:ext cx="327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Danish Swedish </a:t>
            </a:r>
            <a:r>
              <a:rPr lang="en-US" sz="2000" b="1" dirty="0" err="1"/>
              <a:t>farmdog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0206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574B-61B2-B001-173F-D486BB00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Phác thảo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 Robot </a:t>
            </a:r>
            <a:r>
              <a:rPr lang="en-US" b="1" dirty="0" err="1"/>
              <a:t>chó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64BB-2C9D-D1E1-19EB-D13F78E00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Phương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4FD9E-E6D2-D589-08FD-905CA8A6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C33A1-37F6-E3EC-CCED-376B4E97D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373086"/>
            <a:ext cx="5486400" cy="395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48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D379-57D3-4BE5-C9DA-CB27490E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Phác thảo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 Robot </a:t>
            </a:r>
            <a:r>
              <a:rPr lang="en-US" b="1" dirty="0" err="1"/>
              <a:t>chó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5A7A-4981-33FA-1A9C-E4A6AD453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Thân robot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2AA23-03A5-1CA6-ADBF-4AF533CE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554E0-1F4F-7683-EF16-843F89857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69281"/>
            <a:ext cx="7374769" cy="4064197"/>
          </a:xfrm>
          <a:prstGeom prst="rect">
            <a:avLst/>
          </a:prstGeom>
        </p:spPr>
      </p:pic>
      <p:pic>
        <p:nvPicPr>
          <p:cNvPr id="1026" name="Picture 2" descr="Bobcat, a quadruped robot with flexible spine. Robot is actuated by 9... |  Download Scientific Diagram">
            <a:extLst>
              <a:ext uri="{FF2B5EF4-FFF2-40B4-BE49-F238E27FC236}">
                <a16:creationId xmlns:a16="http://schemas.microsoft.com/office/drawing/2014/main" id="{2A3626BA-E59E-55CB-3B72-6FF7FED4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1321543"/>
            <a:ext cx="2529413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63B116-8813-2A0F-528F-1CA0DBF66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53" y="4953000"/>
            <a:ext cx="1976747" cy="1163931"/>
          </a:xfrm>
          <a:prstGeom prst="rect">
            <a:avLst/>
          </a:prstGeom>
        </p:spPr>
      </p:pic>
      <p:pic>
        <p:nvPicPr>
          <p:cNvPr id="1028" name="Picture 4" descr="robotic rat with high movement agility ...">
            <a:extLst>
              <a:ext uri="{FF2B5EF4-FFF2-40B4-BE49-F238E27FC236}">
                <a16:creationId xmlns:a16="http://schemas.microsoft.com/office/drawing/2014/main" id="{A2E0BFB3-64A4-A08C-9420-9D4BD80EE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417" y="4953000"/>
            <a:ext cx="2561570" cy="117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oston Dynamics' Robot Dog Price and Availability - IEEE Spectrum">
            <a:extLst>
              <a:ext uri="{FF2B5EF4-FFF2-40B4-BE49-F238E27FC236}">
                <a16:creationId xmlns:a16="http://schemas.microsoft.com/office/drawing/2014/main" id="{7DC4948D-27F9-1E53-84EA-39FA60958E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8" t="7870" b="6559"/>
          <a:stretch>
            <a:fillRect/>
          </a:stretch>
        </p:blipFill>
        <p:spPr bwMode="auto">
          <a:xfrm>
            <a:off x="139462" y="2218974"/>
            <a:ext cx="2284893" cy="17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07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4BB8-422C-BBFB-FBB3-7067ED09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5F6D-1EE1-5754-47BF-E7356F57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Phác thảo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 Robot </a:t>
            </a:r>
            <a:r>
              <a:rPr lang="en-US" b="1" dirty="0" err="1"/>
              <a:t>chó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20B63-A848-E702-E2C4-0FF6505C6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chân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152DC-5FCF-52B7-78D6-4560B18E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4B0D60-0860-782A-3814-09362294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53" y="2514504"/>
            <a:ext cx="3676839" cy="1244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7FD34A-E2ED-145F-EFA9-C0B44D4B0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53" y="4419600"/>
            <a:ext cx="3778444" cy="14732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2FB911-2492-3523-F993-DE9FC6399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916" y="1877454"/>
            <a:ext cx="7493385" cy="21781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829A97-FFD0-CA9F-E421-479F2FA32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020845"/>
            <a:ext cx="7220321" cy="224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02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3A9F-511D-A86E-31DB-14C2E3C26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Phác thảo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 Robot </a:t>
            </a:r>
            <a:r>
              <a:rPr lang="en-US" b="1" dirty="0" err="1"/>
              <a:t>chó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ABD1-06D3-C085-F5AB-B2387A180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75A8-6F96-17A9-BAF1-A7BFFE69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8A381-E3F6-AE1E-BF52-94E71FE1F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895306"/>
            <a:ext cx="6255529" cy="465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489D-7252-4592-862D-8EB816D8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thước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4FD2D-DF56-454E-BF2C-841770A6E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9C30A-4E53-4038-929E-725D449495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651" t="13295" b="26175"/>
          <a:stretch/>
        </p:blipFill>
        <p:spPr>
          <a:xfrm>
            <a:off x="1215635" y="2438400"/>
            <a:ext cx="1835929" cy="281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8C1F1-058B-47B9-B047-6F7037140B23}"/>
              </a:ext>
            </a:extLst>
          </p:cNvPr>
          <p:cNvSpPr txBox="1"/>
          <p:nvPr/>
        </p:nvSpPr>
        <p:spPr>
          <a:xfrm>
            <a:off x="1981200" y="274320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</a:t>
            </a:r>
            <a:r>
              <a:rPr lang="en-US" b="1" baseline="-25000" dirty="0">
                <a:cs typeface="Times New Roman" panose="02020603050405020304" pitchFamily="18" charset="0"/>
              </a:rPr>
              <a:t>1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94C9D-B74E-405C-BA04-E2CB83CD7E11}"/>
              </a:ext>
            </a:extLst>
          </p:cNvPr>
          <p:cNvSpPr txBox="1"/>
          <p:nvPr/>
        </p:nvSpPr>
        <p:spPr>
          <a:xfrm>
            <a:off x="2371846" y="344085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</a:t>
            </a:r>
            <a:r>
              <a:rPr lang="en-US" b="1" baseline="-25000" dirty="0">
                <a:cs typeface="Times New Roman" panose="02020603050405020304" pitchFamily="18" charset="0"/>
              </a:rPr>
              <a:t>2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1E5AB-8B21-4BF4-9132-356F063C72B5}"/>
              </a:ext>
            </a:extLst>
          </p:cNvPr>
          <p:cNvSpPr txBox="1"/>
          <p:nvPr/>
        </p:nvSpPr>
        <p:spPr>
          <a:xfrm>
            <a:off x="2286000" y="436531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</a:t>
            </a:r>
            <a:r>
              <a:rPr lang="en-US" b="1" baseline="-25000" dirty="0">
                <a:cs typeface="Times New Roman" panose="02020603050405020304" pitchFamily="18" charset="0"/>
              </a:rPr>
              <a:t>3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C1E40E-E531-42FC-AC72-569A45767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900" y="1600200"/>
            <a:ext cx="7729499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khâu</a:t>
            </a:r>
            <a:r>
              <a:rPr lang="en-US" dirty="0"/>
              <a:t> robot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:</a:t>
            </a:r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(Workspace Volume)</a:t>
            </a:r>
          </a:p>
          <a:p>
            <a:pPr lvl="1"/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endParaRPr lang="en-US" dirty="0"/>
          </a:p>
          <a:p>
            <a:pPr lvl="1"/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gầm</a:t>
            </a:r>
            <a:endParaRPr lang="en-US" dirty="0"/>
          </a:p>
          <a:p>
            <a:pPr lvl="1"/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r>
              <a:rPr lang="en-US" dirty="0" err="1"/>
              <a:t>Lực</a:t>
            </a:r>
            <a:r>
              <a:rPr lang="en-US" dirty="0"/>
              <a:t> / Moment </a:t>
            </a:r>
          </a:p>
          <a:p>
            <a:pPr lvl="1"/>
            <a:r>
              <a:rPr lang="en-US" dirty="0" err="1"/>
              <a:t>Giảm</a:t>
            </a:r>
            <a:r>
              <a:rPr lang="en-US" dirty="0"/>
              <a:t> moment </a:t>
            </a:r>
            <a:r>
              <a:rPr lang="en-US" dirty="0" err="1"/>
              <a:t>xoắn</a:t>
            </a:r>
            <a:r>
              <a:rPr lang="en-US" dirty="0"/>
              <a:t> -&gt;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cơ</a:t>
            </a:r>
            <a:endParaRPr lang="en-US" dirty="0"/>
          </a:p>
          <a:p>
            <a:pPr lvl="1"/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quán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chân</a:t>
            </a:r>
            <a:endParaRPr lang="en-US" dirty="0"/>
          </a:p>
          <a:p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(Energy efficiency) </a:t>
            </a:r>
          </a:p>
          <a:p>
            <a:pPr lvl="1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di </a:t>
            </a:r>
            <a:r>
              <a:rPr lang="en-US" dirty="0" err="1"/>
              <a:t>chuyển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8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489D-7252-4592-862D-8EB816D8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thước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4FD2D-DF56-454E-BF2C-841770A6E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9C30A-4E53-4038-929E-725D449495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651" t="13295" b="26175"/>
          <a:stretch/>
        </p:blipFill>
        <p:spPr>
          <a:xfrm>
            <a:off x="1215635" y="2438400"/>
            <a:ext cx="1835929" cy="281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8C1F1-058B-47B9-B047-6F7037140B23}"/>
              </a:ext>
            </a:extLst>
          </p:cNvPr>
          <p:cNvSpPr txBox="1"/>
          <p:nvPr/>
        </p:nvSpPr>
        <p:spPr>
          <a:xfrm>
            <a:off x="1981200" y="274320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</a:t>
            </a:r>
            <a:r>
              <a:rPr lang="en-US" b="1" baseline="-25000" dirty="0">
                <a:cs typeface="Times New Roman" panose="02020603050405020304" pitchFamily="18" charset="0"/>
              </a:rPr>
              <a:t>1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94C9D-B74E-405C-BA04-E2CB83CD7E11}"/>
              </a:ext>
            </a:extLst>
          </p:cNvPr>
          <p:cNvSpPr txBox="1"/>
          <p:nvPr/>
        </p:nvSpPr>
        <p:spPr>
          <a:xfrm>
            <a:off x="2371846" y="344085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</a:t>
            </a:r>
            <a:r>
              <a:rPr lang="en-US" b="1" baseline="-25000" dirty="0">
                <a:cs typeface="Times New Roman" panose="02020603050405020304" pitchFamily="18" charset="0"/>
              </a:rPr>
              <a:t>2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1E5AB-8B21-4BF4-9132-356F063C72B5}"/>
              </a:ext>
            </a:extLst>
          </p:cNvPr>
          <p:cNvSpPr txBox="1"/>
          <p:nvPr/>
        </p:nvSpPr>
        <p:spPr>
          <a:xfrm>
            <a:off x="2286000" y="436531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</a:t>
            </a:r>
            <a:r>
              <a:rPr lang="en-US" b="1" baseline="-25000" dirty="0">
                <a:cs typeface="Times New Roman" panose="02020603050405020304" pitchFamily="18" charset="0"/>
              </a:rPr>
              <a:t>3</a:t>
            </a:r>
            <a:endParaRPr lang="en-US" b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5C1E40E-E531-42FC-AC72-569A45767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62256" y="1600200"/>
                <a:ext cx="8120144" cy="4876800"/>
              </a:xfrm>
            </p:spPr>
            <p:txBody>
              <a:bodyPr/>
              <a:lstStyle/>
              <a:p>
                <a:r>
                  <a:rPr lang="en-US" b="1"/>
                  <a:t>L</a:t>
                </a:r>
                <a:r>
                  <a:rPr lang="en-US" b="1" baseline="-25000"/>
                  <a:t>1</a:t>
                </a:r>
                <a:r>
                  <a:rPr lang="en-US"/>
                  <a:t> </a:t>
                </a:r>
                <a:r>
                  <a:rPr lang="en-US" dirty="0"/>
                  <a:t>(Hip-Abduction-Adduction): </a:t>
                </a:r>
                <a:r>
                  <a:rPr lang="en-US" dirty="0" err="1"/>
                  <a:t>giúp</a:t>
                </a:r>
                <a:r>
                  <a:rPr lang="en-US" dirty="0"/>
                  <a:t> </a:t>
                </a:r>
                <a:r>
                  <a:rPr lang="en-US" dirty="0" err="1"/>
                  <a:t>chân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va</a:t>
                </a:r>
                <a:r>
                  <a:rPr lang="en-US" dirty="0"/>
                  <a:t> </a:t>
                </a:r>
                <a:r>
                  <a:rPr lang="en-US" dirty="0" err="1"/>
                  <a:t>chạm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thân</a:t>
                </a:r>
                <a:r>
                  <a:rPr lang="en-US" dirty="0"/>
                  <a:t> robot.</a:t>
                </a:r>
              </a:p>
              <a:p>
                <a:pPr lvl="1"/>
                <a:r>
                  <a:rPr lang="en-US" dirty="0"/>
                  <a:t>L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dirty="0" err="1"/>
                  <a:t>càng</a:t>
                </a:r>
                <a:r>
                  <a:rPr lang="en-US" dirty="0"/>
                  <a:t> </a:t>
                </a:r>
                <a:r>
                  <a:rPr lang="en-US" dirty="0" err="1"/>
                  <a:t>ngắn</a:t>
                </a:r>
                <a:r>
                  <a:rPr lang="en-US" dirty="0"/>
                  <a:t> </a:t>
                </a:r>
                <a:r>
                  <a:rPr lang="en-US" dirty="0" err="1"/>
                  <a:t>càng</a:t>
                </a:r>
                <a:r>
                  <a:rPr lang="en-US" dirty="0"/>
                  <a:t> </a:t>
                </a:r>
                <a:r>
                  <a:rPr lang="en-US" dirty="0" err="1"/>
                  <a:t>tốt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L</a:t>
                </a:r>
                <a:r>
                  <a:rPr lang="en-US" b="1" baseline="-25000" dirty="0"/>
                  <a:t>2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b="1" dirty="0"/>
                  <a:t>L</a:t>
                </a:r>
                <a:r>
                  <a:rPr lang="en-US" b="1" baseline="-25000" dirty="0"/>
                  <a:t>3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5C1E40E-E531-42FC-AC72-569A45767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62256" y="1600200"/>
                <a:ext cx="8120144" cy="4876800"/>
              </a:xfrm>
              <a:blipFill>
                <a:blip r:embed="rId3"/>
                <a:stretch>
                  <a:fillRect l="-676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590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08F5-D60B-82A7-2420-255DC557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thước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04AB7-F1EF-CE82-1B87-B7F967F03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8153400" cy="4876800"/>
              </a:xfrm>
            </p:spPr>
            <p:txBody>
              <a:bodyPr/>
              <a:lstStyle/>
              <a:p>
                <a:r>
                  <a:rPr lang="en-US" dirty="0"/>
                  <a:t>Gọi </a:t>
                </a:r>
                <a:r>
                  <a:rPr lang="en-US" dirty="0" err="1"/>
                  <a:t>góc</a:t>
                </a:r>
                <a:r>
                  <a:rPr lang="en-US" dirty="0"/>
                  <a:t> quay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khớp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góc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khớp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bàn</a:t>
                </a:r>
                <a:r>
                  <a:rPr lang="en-US" dirty="0"/>
                  <a:t> </a:t>
                </a:r>
                <a:r>
                  <a:rPr lang="en-US" dirty="0" err="1"/>
                  <a:t>chân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 </a:t>
                </a:r>
                <a:r>
                  <a:rPr lang="en-US" dirty="0" err="1"/>
                  <a:t>thuận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chân</a:t>
                </a:r>
                <a:r>
                  <a:rPr lang="en-US" dirty="0"/>
                  <a:t> robot 3-DOF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04AB7-F1EF-CE82-1B87-B7F967F03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8153400" cy="4876800"/>
              </a:xfrm>
              <a:blipFill>
                <a:blip r:embed="rId2"/>
                <a:stretch>
                  <a:fillRect l="-67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A8372-1494-7995-871F-041EF11A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4D2837-8FC9-25C3-9BCF-B231BC2B9B4C}"/>
              </a:ext>
            </a:extLst>
          </p:cNvPr>
          <p:cNvGrpSpPr/>
          <p:nvPr/>
        </p:nvGrpSpPr>
        <p:grpSpPr>
          <a:xfrm>
            <a:off x="8458200" y="1600200"/>
            <a:ext cx="3050010" cy="4343400"/>
            <a:chOff x="1215635" y="2438400"/>
            <a:chExt cx="1835929" cy="28194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E7ADE2E-4CC7-B199-1F0F-B26175C55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0651" t="13295" b="26175"/>
            <a:stretch/>
          </p:blipFill>
          <p:spPr>
            <a:xfrm>
              <a:off x="1215635" y="2438400"/>
              <a:ext cx="1835929" cy="2819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2E6CB4-B0AD-626D-0DB0-5B287B7DFF32}"/>
                </a:ext>
              </a:extLst>
            </p:cNvPr>
            <p:cNvSpPr txBox="1"/>
            <p:nvPr/>
          </p:nvSpPr>
          <p:spPr>
            <a:xfrm>
              <a:off x="1981200" y="2743200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cs typeface="Times New Roman" panose="02020603050405020304" pitchFamily="18" charset="0"/>
                </a:rPr>
                <a:t>L</a:t>
              </a:r>
              <a:r>
                <a:rPr lang="en-US" b="1" baseline="-25000" dirty="0">
                  <a:cs typeface="Times New Roman" panose="02020603050405020304" pitchFamily="18" charset="0"/>
                </a:rPr>
                <a:t>1</a:t>
              </a:r>
              <a:endParaRPr lang="en-US" b="1" dirty="0"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441707-3D2E-4CEC-E702-21646A62DEB1}"/>
                </a:ext>
              </a:extLst>
            </p:cNvPr>
            <p:cNvSpPr txBox="1"/>
            <p:nvPr/>
          </p:nvSpPr>
          <p:spPr>
            <a:xfrm>
              <a:off x="2371846" y="3440859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cs typeface="Times New Roman" panose="02020603050405020304" pitchFamily="18" charset="0"/>
                </a:rPr>
                <a:t>L</a:t>
              </a:r>
              <a:r>
                <a:rPr lang="en-US" b="1" baseline="-25000" dirty="0">
                  <a:cs typeface="Times New Roman" panose="02020603050405020304" pitchFamily="18" charset="0"/>
                </a:rPr>
                <a:t>2</a:t>
              </a:r>
              <a:endParaRPr lang="en-US" b="1" dirty="0"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989B1B-0966-0590-D7C1-8AD1EEC9E6FB}"/>
                </a:ext>
              </a:extLst>
            </p:cNvPr>
            <p:cNvSpPr txBox="1"/>
            <p:nvPr/>
          </p:nvSpPr>
          <p:spPr>
            <a:xfrm>
              <a:off x="2286000" y="4365316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cs typeface="Times New Roman" panose="02020603050405020304" pitchFamily="18" charset="0"/>
                </a:rPr>
                <a:t>L</a:t>
              </a:r>
              <a:r>
                <a:rPr lang="en-US" b="1" baseline="-25000" dirty="0">
                  <a:cs typeface="Times New Roman" panose="02020603050405020304" pitchFamily="18" charset="0"/>
                </a:rPr>
                <a:t>3</a:t>
              </a:r>
              <a:endParaRPr lang="en-US" b="1" dirty="0">
                <a:cs typeface="Times New Roman" panose="02020603050405020304" pitchFamily="18" charset="0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13A4D946-2B75-A62E-4800-94342C43C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608420"/>
            <a:ext cx="4724400" cy="1329100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6127E34C-FD0B-6B51-B2E2-6C9E3B8CE830}"/>
              </a:ext>
            </a:extLst>
          </p:cNvPr>
          <p:cNvSpPr/>
          <p:nvPr/>
        </p:nvSpPr>
        <p:spPr>
          <a:xfrm>
            <a:off x="838200" y="5562600"/>
            <a:ext cx="533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407CE36-9A67-2FA3-2340-57916357E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790" y="5116939"/>
            <a:ext cx="2973809" cy="152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43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AD70-8940-E91D-8FAD-1B18CD96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thước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C0D86-2119-B902-EF1F-0C97D578AF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5486400" cy="4876800"/>
              </a:xfrm>
            </p:spPr>
            <p:txBody>
              <a:bodyPr/>
              <a:lstStyle/>
              <a:p>
                <a:r>
                  <a:rPr lang="en-US" dirty="0"/>
                  <a:t>Vận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bàn</a:t>
                </a:r>
                <a:r>
                  <a:rPr lang="en-US" dirty="0"/>
                  <a:t> </a:t>
                </a:r>
                <a:r>
                  <a:rPr lang="en-US" dirty="0" err="1"/>
                  <a:t>chân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Chuẩn</a:t>
                </a:r>
                <a:r>
                  <a:rPr lang="en-US" dirty="0"/>
                  <a:t> </a:t>
                </a:r>
                <a:r>
                  <a:rPr lang="en-US" dirty="0" err="1"/>
                  <a:t>hóa</a:t>
                </a:r>
                <a:r>
                  <a:rPr lang="en-US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cơ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đơn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khớp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Manipulability Ellipsoid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bàn</a:t>
                </a:r>
                <a:r>
                  <a:rPr lang="en-US" dirty="0"/>
                  <a:t> </a:t>
                </a:r>
                <a:r>
                  <a:rPr lang="en-US" dirty="0" err="1"/>
                  <a:t>chân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C0D86-2119-B902-EF1F-0C97D578AF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5486400" cy="4876800"/>
              </a:xfrm>
              <a:blipFill>
                <a:blip r:embed="rId2"/>
                <a:stretch>
                  <a:fillRect l="-1000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D6693-B89C-348D-4967-57770755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D37DF-D20C-74E9-DF11-9ADCA1553B07}"/>
              </a:ext>
            </a:extLst>
          </p:cNvPr>
          <p:cNvSpPr txBox="1"/>
          <p:nvPr/>
        </p:nvSpPr>
        <p:spPr>
          <a:xfrm>
            <a:off x="8153400" y="56388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Manipulability Ellipsoid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C89B02-68D5-23A8-2322-942F90760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2895600"/>
            <a:ext cx="2850354" cy="2054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8D4FCA-0144-CF47-069E-989A62545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236" y="445285"/>
            <a:ext cx="2914215" cy="2046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12DDF6-1E4F-BEAD-28D0-A298AD4FB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823" y="2903206"/>
            <a:ext cx="2880844" cy="20465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E4440A-B3F1-03E6-93F7-352EDA34E36E}"/>
              </a:ext>
            </a:extLst>
          </p:cNvPr>
          <p:cNvSpPr txBox="1"/>
          <p:nvPr/>
        </p:nvSpPr>
        <p:spPr>
          <a:xfrm>
            <a:off x="6851018" y="2472824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=0.2 m, L</a:t>
            </a:r>
            <a:r>
              <a:rPr lang="en-US" baseline="-25000" dirty="0"/>
              <a:t>3</a:t>
            </a:r>
            <a:r>
              <a:rPr lang="en-US" dirty="0"/>
              <a:t>=0.2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4751C6-1695-D8DE-A08A-21C9ADE6227B}"/>
              </a:ext>
            </a:extLst>
          </p:cNvPr>
          <p:cNvSpPr txBox="1"/>
          <p:nvPr/>
        </p:nvSpPr>
        <p:spPr>
          <a:xfrm>
            <a:off x="9601200" y="2472824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=0.28 m, L</a:t>
            </a:r>
            <a:r>
              <a:rPr lang="en-US" baseline="-25000" dirty="0"/>
              <a:t>3</a:t>
            </a:r>
            <a:r>
              <a:rPr lang="en-US" dirty="0"/>
              <a:t>=0.107 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8CC04-47CC-6F15-89A4-948883F39B32}"/>
              </a:ext>
            </a:extLst>
          </p:cNvPr>
          <p:cNvSpPr txBox="1"/>
          <p:nvPr/>
        </p:nvSpPr>
        <p:spPr>
          <a:xfrm>
            <a:off x="6724175" y="4919137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=0.107 m, L</a:t>
            </a:r>
            <a:r>
              <a:rPr lang="en-US" baseline="-25000" dirty="0"/>
              <a:t>3</a:t>
            </a:r>
            <a:r>
              <a:rPr lang="en-US" dirty="0"/>
              <a:t>=0.28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8BE4AC-61C5-F5A4-592A-D99E5DCA4081}"/>
              </a:ext>
            </a:extLst>
          </p:cNvPr>
          <p:cNvSpPr txBox="1"/>
          <p:nvPr/>
        </p:nvSpPr>
        <p:spPr>
          <a:xfrm>
            <a:off x="9525000" y="4945445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=0.15 m, L</a:t>
            </a:r>
            <a:r>
              <a:rPr lang="en-US" baseline="-25000" dirty="0"/>
              <a:t>3</a:t>
            </a:r>
            <a:r>
              <a:rPr lang="en-US" dirty="0"/>
              <a:t>=0.15 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EA780D-875A-18E1-9B3F-F11C45939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155" y="399071"/>
            <a:ext cx="2914712" cy="20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3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8FC4-DF01-1A46-A939-A3EF6427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thước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C54CD-6CC7-AA47-461E-9B380361A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ellipsoid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càng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lớn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tốt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vi-VN" dirty="0">
                <a:sym typeface="Wingdings" panose="05000000000000000000" pitchFamily="2" charset="2"/>
              </a:rPr>
              <a:t>Cạnh dài của Ellipsoid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vi-VN" dirty="0">
                <a:sym typeface="Wingdings" panose="05000000000000000000" pitchFamily="2" charset="2"/>
              </a:rPr>
              <a:t>hướng mà bàn chân có thể di chuyển nhanh nhất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vi-VN" dirty="0">
                <a:sym typeface="Wingdings" panose="05000000000000000000" pitchFamily="2" charset="2"/>
              </a:rPr>
              <a:t>với cùng một </a:t>
            </a:r>
            <a:r>
              <a:rPr lang="en-US" dirty="0" err="1">
                <a:sym typeface="Wingdings" panose="05000000000000000000" pitchFamily="2" charset="2"/>
              </a:rPr>
              <a:t>góc</a:t>
            </a:r>
            <a:r>
              <a:rPr lang="en-US" dirty="0">
                <a:sym typeface="Wingdings" panose="05000000000000000000" pitchFamily="2" charset="2"/>
              </a:rPr>
              <a:t> quay </a:t>
            </a:r>
            <a:r>
              <a:rPr lang="vi-VN" dirty="0">
                <a:sym typeface="Wingdings" panose="05000000000000000000" pitchFamily="2" charset="2"/>
              </a:rPr>
              <a:t>từ động cơ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Hướng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đẩy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kém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nhất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Cạnh </a:t>
            </a:r>
            <a:r>
              <a:rPr lang="en-US" dirty="0" err="1">
                <a:sym typeface="Wingdings" panose="05000000000000000000" pitchFamily="2" charset="2"/>
              </a:rPr>
              <a:t>ngắn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Ellipsoid </a:t>
            </a:r>
          </a:p>
          <a:p>
            <a:pPr lvl="1"/>
            <a:r>
              <a:rPr lang="vi-VN" dirty="0">
                <a:sym typeface="Wingdings" panose="05000000000000000000" pitchFamily="2" charset="2"/>
              </a:rPr>
              <a:t>hướng mà bàn chân di chuyển chậm nhất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Hướng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đẩy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tốt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>
                <a:sym typeface="Wingdings" panose="05000000000000000000" pitchFamily="2" charset="2"/>
              </a:rPr>
              <a:t>nhất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Độ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tròn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 err="1">
                <a:sym typeface="Wingdings" panose="05000000000000000000" pitchFamily="2" charset="2"/>
              </a:rPr>
              <a:t>khả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năng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vi-VN" dirty="0"/>
              <a:t>robot có thể di chuyển bàn chân hoặc tạo lực theo bất kỳ hướng nào</a:t>
            </a:r>
            <a:r>
              <a:rPr lang="en-US" dirty="0"/>
              <a:t> </a:t>
            </a:r>
            <a:r>
              <a:rPr lang="vi-VN" dirty="0"/>
              <a:t>với cùng một độ chính xác và lực</a:t>
            </a:r>
            <a:r>
              <a:rPr lang="en-US" dirty="0"/>
              <a:t>/moment</a:t>
            </a:r>
            <a:r>
              <a:rPr lang="vi-VN" dirty="0"/>
              <a:t> như nhau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càng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tròn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tốt</a:t>
            </a:r>
            <a:endParaRPr lang="en-US" dirty="0"/>
          </a:p>
          <a:p>
            <a:pPr lvl="1"/>
            <a:r>
              <a:rPr lang="en-US" dirty="0"/>
              <a:t>Ellipsoid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tròn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hảo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dễ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điều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khiển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Ellipsoid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dẹp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vi-VN" dirty="0">
                <a:sym typeface="Wingdings" panose="05000000000000000000" pitchFamily="2" charset="2"/>
              </a:rPr>
              <a:t>các khớp đã gần như duỗi thẳng hoặc gập hết cỡ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mất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bậc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tự</a:t>
            </a:r>
            <a:r>
              <a:rPr lang="en-US" dirty="0">
                <a:sym typeface="Wingdings" panose="05000000000000000000" pitchFamily="2" charset="2"/>
              </a:rPr>
              <a:t> do, </a:t>
            </a:r>
            <a:r>
              <a:rPr lang="en-US" dirty="0" err="1">
                <a:sym typeface="Wingdings" panose="05000000000000000000" pitchFamily="2" charset="2"/>
              </a:rPr>
              <a:t>khó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trình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2F9C4-4763-A06B-7FD7-5665D059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8C23A-2D83-4469-2D6F-799E7F29E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186" y="380900"/>
            <a:ext cx="2686112" cy="1933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F3E4F3-BC2F-3012-8A88-DC6408AEE404}"/>
              </a:ext>
            </a:extLst>
          </p:cNvPr>
          <p:cNvSpPr txBox="1"/>
          <p:nvPr/>
        </p:nvSpPr>
        <p:spPr>
          <a:xfrm>
            <a:off x="8022985" y="47193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</a:t>
            </a:r>
            <a:r>
              <a:rPr lang="en-US" b="1" baseline="-25000" dirty="0"/>
              <a:t>3 </a:t>
            </a:r>
            <a:r>
              <a:rPr lang="en-US" b="1" dirty="0"/>
              <a:t>= 90</a:t>
            </a:r>
            <a:r>
              <a:rPr lang="en-US" b="1" baseline="30000" dirty="0"/>
              <a:t>o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A1C22-4D49-5383-F521-90C5B9F17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86" y="2438400"/>
            <a:ext cx="2720954" cy="1901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7C1C4E-10D2-8EAB-E132-F5BB49FA8BB1}"/>
              </a:ext>
            </a:extLst>
          </p:cNvPr>
          <p:cNvSpPr txBox="1"/>
          <p:nvPr/>
        </p:nvSpPr>
        <p:spPr>
          <a:xfrm>
            <a:off x="7958864" y="3244334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</a:t>
            </a:r>
            <a:r>
              <a:rPr lang="en-US" b="1" baseline="-25000" dirty="0"/>
              <a:t>3 </a:t>
            </a:r>
            <a:r>
              <a:rPr lang="en-US" b="1" dirty="0"/>
              <a:t>= 120</a:t>
            </a:r>
            <a:r>
              <a:rPr lang="en-US" b="1" baseline="30000" dirty="0"/>
              <a:t>o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8E1CF1-4D5E-0BCC-C114-247DFCD50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719" y="4441542"/>
            <a:ext cx="2632244" cy="18386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6E947B-A6D9-64CC-AA2B-DC7B16486629}"/>
              </a:ext>
            </a:extLst>
          </p:cNvPr>
          <p:cNvSpPr txBox="1"/>
          <p:nvPr/>
        </p:nvSpPr>
        <p:spPr>
          <a:xfrm>
            <a:off x="10871200" y="6280144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</a:t>
            </a:r>
            <a:r>
              <a:rPr lang="en-US" b="1" baseline="-25000" dirty="0"/>
              <a:t>3 </a:t>
            </a:r>
            <a:r>
              <a:rPr lang="en-US" b="1" dirty="0"/>
              <a:t>= 30</a:t>
            </a:r>
            <a:r>
              <a:rPr lang="en-US" b="1" baseline="30000" dirty="0"/>
              <a:t>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4952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8DC1-8C74-49CF-BD66-99966B09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chi </a:t>
            </a:r>
            <a:r>
              <a:rPr lang="en-US" b="1" dirty="0" err="1"/>
              <a:t>tiết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9B75-3E49-4F2B-B264-48F5DFBDC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8382000" cy="4876800"/>
          </a:xfrm>
        </p:spPr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vẽ</a:t>
            </a:r>
            <a:r>
              <a:rPr lang="en-US" dirty="0">
                <a:sym typeface="Wingdings" panose="05000000000000000000" pitchFamily="2" charset="2"/>
              </a:rPr>
              <a:t> 3D/2D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545FA-DDB4-4C4D-82B2-593ADE86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58C1F-3C8A-400E-9988-673C44CAB557}"/>
              </a:ext>
            </a:extLst>
          </p:cNvPr>
          <p:cNvGrpSpPr/>
          <p:nvPr/>
        </p:nvGrpSpPr>
        <p:grpSpPr>
          <a:xfrm>
            <a:off x="2156084" y="2133600"/>
            <a:ext cx="3050010" cy="4343400"/>
            <a:chOff x="1215635" y="2438400"/>
            <a:chExt cx="1835929" cy="2819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591BCC-7BF3-4ADF-B79A-91D3F4AFC6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0651" t="13295" b="26175"/>
            <a:stretch/>
          </p:blipFill>
          <p:spPr>
            <a:xfrm>
              <a:off x="1215635" y="2438400"/>
              <a:ext cx="1835929" cy="28194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07F6E5-BF07-4904-AA17-13C84B13F683}"/>
                </a:ext>
              </a:extLst>
            </p:cNvPr>
            <p:cNvSpPr txBox="1"/>
            <p:nvPr/>
          </p:nvSpPr>
          <p:spPr>
            <a:xfrm>
              <a:off x="1981200" y="2743200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cs typeface="Times New Roman" panose="02020603050405020304" pitchFamily="18" charset="0"/>
                </a:rPr>
                <a:t>L</a:t>
              </a:r>
              <a:r>
                <a:rPr lang="en-US" b="1" baseline="-25000" dirty="0">
                  <a:cs typeface="Times New Roman" panose="02020603050405020304" pitchFamily="18" charset="0"/>
                </a:rPr>
                <a:t>1</a:t>
              </a:r>
              <a:endParaRPr lang="en-US" b="1" dirty="0"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B3F855-73CE-4D9E-824D-1F96BA50B32E}"/>
                </a:ext>
              </a:extLst>
            </p:cNvPr>
            <p:cNvSpPr txBox="1"/>
            <p:nvPr/>
          </p:nvSpPr>
          <p:spPr>
            <a:xfrm>
              <a:off x="2371846" y="3440859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cs typeface="Times New Roman" panose="02020603050405020304" pitchFamily="18" charset="0"/>
                </a:rPr>
                <a:t>L</a:t>
              </a:r>
              <a:r>
                <a:rPr lang="en-US" b="1" baseline="-25000" dirty="0">
                  <a:cs typeface="Times New Roman" panose="02020603050405020304" pitchFamily="18" charset="0"/>
                </a:rPr>
                <a:t>2</a:t>
              </a:r>
              <a:endParaRPr lang="en-US" b="1" dirty="0"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52CCEC-1D02-4F5F-92B1-23F3060B4BCC}"/>
                </a:ext>
              </a:extLst>
            </p:cNvPr>
            <p:cNvSpPr txBox="1"/>
            <p:nvPr/>
          </p:nvSpPr>
          <p:spPr>
            <a:xfrm>
              <a:off x="2286000" y="4365316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cs typeface="Times New Roman" panose="02020603050405020304" pitchFamily="18" charset="0"/>
                </a:rPr>
                <a:t>L</a:t>
              </a:r>
              <a:r>
                <a:rPr lang="en-US" b="1" baseline="-25000" dirty="0">
                  <a:cs typeface="Times New Roman" panose="02020603050405020304" pitchFamily="18" charset="0"/>
                </a:rPr>
                <a:t>3</a:t>
              </a:r>
              <a:endParaRPr lang="en-US" b="1" dirty="0"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20D5792-CEF1-4150-B545-7B2B6D25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37684" y="2133600"/>
            <a:ext cx="3330316" cy="421588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2A1D4706-AE11-456C-8E73-EB20FF7CB247}"/>
              </a:ext>
            </a:extLst>
          </p:cNvPr>
          <p:cNvSpPr/>
          <p:nvPr/>
        </p:nvSpPr>
        <p:spPr>
          <a:xfrm>
            <a:off x="5699383" y="3908805"/>
            <a:ext cx="1219202" cy="665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55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F69A6-939B-AC64-8AF1-C93449B0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3E03-0E4D-19B4-A8B4-50CE04DFF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chi </a:t>
            </a:r>
            <a:r>
              <a:rPr lang="en-US" b="1" dirty="0" err="1"/>
              <a:t>tiết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195ED-761A-CEE2-8421-29E0ECFE15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2600" dirty="0"/>
                  <a:t>Trình </a:t>
                </a:r>
                <a:r>
                  <a:rPr lang="en-US" sz="2600" dirty="0" err="1"/>
                  <a:t>tự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thiết</a:t>
                </a:r>
                <a:r>
                  <a:rPr lang="en-US" sz="2600" dirty="0"/>
                  <a:t> </a:t>
                </a:r>
                <a:r>
                  <a:rPr lang="en-US" sz="2600" dirty="0" err="1"/>
                  <a:t>kế</a:t>
                </a:r>
                <a:r>
                  <a:rPr lang="en-US" sz="2600" dirty="0"/>
                  <a:t>: </a:t>
                </a:r>
                <a:r>
                  <a:rPr lang="en-US" sz="2600" dirty="0" err="1"/>
                  <a:t>khớp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đơn</a:t>
                </a:r>
                <a:r>
                  <a:rPr lang="en-US" sz="2600" dirty="0"/>
                  <a:t> </a:t>
                </a:r>
                <a:r>
                  <a:rPr lang="en-US" sz="2600" dirty="0" err="1"/>
                  <a:t>giản</a:t>
                </a:r>
                <a:r>
                  <a:rPr lang="en-US" sz="2600" dirty="0"/>
                  <a:t> </a:t>
                </a:r>
                <a:r>
                  <a:rPr lang="en-US" sz="2600" dirty="0">
                    <a:sym typeface="Wingdings" panose="05000000000000000000" pitchFamily="2" charset="2"/>
                  </a:rPr>
                  <a:t> </a:t>
                </a:r>
                <a:r>
                  <a:rPr lang="en-US" sz="2600" dirty="0" err="1">
                    <a:sym typeface="Wingdings" panose="05000000000000000000" pitchFamily="2" charset="2"/>
                  </a:rPr>
                  <a:t>Khớp</a:t>
                </a:r>
                <a:r>
                  <a:rPr lang="en-US" sz="2600" dirty="0">
                    <a:sym typeface="Wingdings" panose="05000000000000000000" pitchFamily="2" charset="2"/>
                  </a:rPr>
                  <a:t> </a:t>
                </a:r>
                <a:r>
                  <a:rPr lang="en-US" sz="2600" dirty="0" err="1">
                    <a:sym typeface="Wingdings" panose="05000000000000000000" pitchFamily="2" charset="2"/>
                  </a:rPr>
                  <a:t>phức</a:t>
                </a:r>
                <a:r>
                  <a:rPr lang="en-US" sz="2600" dirty="0">
                    <a:sym typeface="Wingdings" panose="05000000000000000000" pitchFamily="2" charset="2"/>
                  </a:rPr>
                  <a:t> </a:t>
                </a:r>
                <a:r>
                  <a:rPr lang="en-US" sz="2600" dirty="0" err="1">
                    <a:sym typeface="Wingdings" panose="05000000000000000000" pitchFamily="2" charset="2"/>
                  </a:rPr>
                  <a:t>tạp</a:t>
                </a:r>
                <a:endParaRPr lang="en-US" sz="26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        </a:t>
                </a:r>
                <a:r>
                  <a:rPr lang="en-US" sz="2600" dirty="0" err="1"/>
                  <a:t>Khớp</a:t>
                </a:r>
                <a:r>
                  <a:rPr lang="en-US" sz="2600" dirty="0"/>
                  <a:t> </a:t>
                </a:r>
                <a:r>
                  <a:rPr lang="en-US" sz="2600" dirty="0" err="1"/>
                  <a:t>gối</a:t>
                </a:r>
                <a:r>
                  <a:rPr lang="en-US" sz="2600" dirty="0"/>
                  <a:t> </a:t>
                </a:r>
                <a:r>
                  <a:rPr lang="en-US" sz="2600" dirty="0">
                    <a:sym typeface="Wingdings" panose="05000000000000000000" pitchFamily="2" charset="2"/>
                  </a:rPr>
                  <a:t> </a:t>
                </a:r>
                <a:r>
                  <a:rPr lang="en-US" sz="2600" dirty="0" err="1">
                    <a:sym typeface="Wingdings" panose="05000000000000000000" pitchFamily="2" charset="2"/>
                  </a:rPr>
                  <a:t>Khớp</a:t>
                </a:r>
                <a:r>
                  <a:rPr lang="en-US" sz="2600" dirty="0">
                    <a:sym typeface="Wingdings" panose="05000000000000000000" pitchFamily="2" charset="2"/>
                  </a:rPr>
                  <a:t> </a:t>
                </a:r>
                <a:r>
                  <a:rPr lang="en-US" sz="2600" dirty="0" err="1">
                    <a:sym typeface="Wingdings" panose="05000000000000000000" pitchFamily="2" charset="2"/>
                  </a:rPr>
                  <a:t>đùi</a:t>
                </a:r>
                <a:r>
                  <a:rPr lang="en-US" sz="2600" dirty="0">
                    <a:sym typeface="Wingdings" panose="05000000000000000000" pitchFamily="2" charset="2"/>
                  </a:rPr>
                  <a:t>  </a:t>
                </a:r>
                <a:r>
                  <a:rPr lang="en-US" sz="2600" dirty="0" err="1">
                    <a:sym typeface="Wingdings" panose="05000000000000000000" pitchFamily="2" charset="2"/>
                  </a:rPr>
                  <a:t>Khớp</a:t>
                </a:r>
                <a:r>
                  <a:rPr lang="en-US" sz="2600" dirty="0">
                    <a:sym typeface="Wingdings" panose="05000000000000000000" pitchFamily="2" charset="2"/>
                  </a:rPr>
                  <a:t> </a:t>
                </a:r>
                <a:r>
                  <a:rPr lang="en-US" sz="2600" dirty="0" err="1">
                    <a:sym typeface="Wingdings" panose="05000000000000000000" pitchFamily="2" charset="2"/>
                  </a:rPr>
                  <a:t>hông</a:t>
                </a:r>
                <a:endParaRPr lang="en-US" sz="2600" dirty="0">
                  <a:sym typeface="Wingdings" panose="05000000000000000000" pitchFamily="2" charset="2"/>
                </a:endParaRPr>
              </a:p>
              <a:p>
                <a:r>
                  <a:rPr lang="en-US" sz="2600" dirty="0" err="1"/>
                  <a:t>Xác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định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các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thông</a:t>
                </a:r>
                <a:r>
                  <a:rPr lang="en-US" sz="2600" dirty="0"/>
                  <a:t> </a:t>
                </a:r>
                <a:r>
                  <a:rPr lang="en-US" sz="2600" dirty="0" err="1"/>
                  <a:t>số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thiết</a:t>
                </a:r>
                <a:r>
                  <a:rPr lang="en-US" sz="2600" dirty="0"/>
                  <a:t> </a:t>
                </a:r>
                <a:r>
                  <a:rPr lang="en-US" sz="2600" dirty="0" err="1"/>
                  <a:t>kế</a:t>
                </a:r>
                <a:r>
                  <a:rPr lang="en-US" sz="2600" dirty="0"/>
                  <a:t>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:r>
                  <a:rPr lang="en-US" sz="2600" dirty="0" err="1"/>
                  <a:t>Tần</a:t>
                </a:r>
                <a:r>
                  <a:rPr lang="en-US" sz="2600" dirty="0"/>
                  <a:t> </a:t>
                </a:r>
                <a:r>
                  <a:rPr lang="en-US" sz="2600" dirty="0" err="1"/>
                  <a:t>số</a:t>
                </a:r>
                <a:r>
                  <a:rPr lang="en-US" sz="2600" dirty="0"/>
                  <a:t> </a:t>
                </a:r>
                <a:r>
                  <a:rPr lang="en-US" sz="2600" dirty="0" err="1"/>
                  <a:t>bước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chân</a:t>
                </a:r>
                <a:r>
                  <a:rPr lang="en-US" sz="2600" dirty="0"/>
                  <a:t>:   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en-US" sz="2600" dirty="0"/>
                  <a:t>  </a:t>
                </a:r>
              </a:p>
              <a:p>
                <a:pPr marL="0" indent="0">
                  <a:buNone/>
                </a:pPr>
                <a:r>
                  <a:rPr lang="en-US" sz="2600" dirty="0"/>
                  <a:t>  </a:t>
                </a:r>
                <a:r>
                  <a:rPr lang="en-US" sz="2600" dirty="0" err="1"/>
                  <a:t>Tải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trọng</a:t>
                </a:r>
                <a:r>
                  <a:rPr lang="en-US" sz="2600" dirty="0"/>
                  <a:t>: m = 11kg</a:t>
                </a:r>
              </a:p>
              <a:p>
                <a:pPr marL="0" indent="0">
                  <a:buNone/>
                </a:pPr>
                <a:r>
                  <a:rPr lang="en-US" sz="2600" dirty="0"/>
                  <a:t>  </a:t>
                </a:r>
                <a:r>
                  <a:rPr lang="en-US" sz="2600" dirty="0" err="1"/>
                  <a:t>Số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chân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chạm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đất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cùng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thời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điểm</a:t>
                </a:r>
                <a:r>
                  <a:rPr lang="en-US" sz="2600" dirty="0"/>
                  <a:t>: </a:t>
                </a:r>
              </a:p>
              <a:p>
                <a:pPr lvl="1"/>
                <a:r>
                  <a:rPr lang="en-US" sz="2200" dirty="0"/>
                  <a:t>Khi </a:t>
                </a:r>
                <a:r>
                  <a:rPr lang="en-US" sz="2200" dirty="0" err="1"/>
                  <a:t>đi</a:t>
                </a:r>
                <a:r>
                  <a:rPr lang="en-US" sz="2200" dirty="0"/>
                  <a:t>: 2</a:t>
                </a:r>
              </a:p>
              <a:p>
                <a:pPr lvl="1"/>
                <a:r>
                  <a:rPr lang="en-US" sz="2200" dirty="0"/>
                  <a:t>Khi </a:t>
                </a:r>
                <a:r>
                  <a:rPr lang="en-US" sz="2200" dirty="0" err="1"/>
                  <a:t>khụy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chân</a:t>
                </a:r>
                <a:r>
                  <a:rPr lang="en-US" sz="2200" dirty="0"/>
                  <a:t>: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195ED-761A-CEE2-8421-29E0ECFE1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1625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84F1D-583A-9DE8-5099-8BDCF7EC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B35F6-4616-99A8-3CD7-8D6E122D224C}"/>
              </a:ext>
            </a:extLst>
          </p:cNvPr>
          <p:cNvSpPr txBox="1"/>
          <p:nvPr/>
        </p:nvSpPr>
        <p:spPr>
          <a:xfrm>
            <a:off x="838200" y="3198167"/>
            <a:ext cx="273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Vận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: v = 1m/s 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48B58-EC0C-3B3C-54F8-03EBC4A7FC1F}"/>
              </a:ext>
            </a:extLst>
          </p:cNvPr>
          <p:cNvSpPr txBox="1"/>
          <p:nvPr/>
        </p:nvSpPr>
        <p:spPr>
          <a:xfrm>
            <a:off x="4343400" y="3198166"/>
            <a:ext cx="63081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Sải</a:t>
            </a:r>
            <a:r>
              <a:rPr lang="en-US" sz="2400" dirty="0"/>
              <a:t> </a:t>
            </a:r>
            <a:r>
              <a:rPr lang="en-US" sz="2400" dirty="0" err="1"/>
              <a:t>bước</a:t>
            </a:r>
            <a:r>
              <a:rPr lang="en-US" sz="2400" dirty="0"/>
              <a:t>: L</a:t>
            </a:r>
            <a:r>
              <a:rPr lang="en-US" sz="2400" baseline="-25000" dirty="0"/>
              <a:t>S</a:t>
            </a:r>
            <a:r>
              <a:rPr lang="en-US" sz="2400" dirty="0"/>
              <a:t> = 1 ~ 1.5 x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dài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thân</a:t>
            </a:r>
            <a:endParaRPr lang="en-US" sz="2400" dirty="0"/>
          </a:p>
          <a:p>
            <a:r>
              <a:rPr lang="en-US" sz="2400" dirty="0"/>
              <a:t>                =  0.5 ~ 0.75 m</a:t>
            </a:r>
          </a:p>
        </p:txBody>
      </p:sp>
    </p:spTree>
    <p:extLst>
      <p:ext uri="{BB962C8B-B14F-4D97-AF65-F5344CB8AC3E}">
        <p14:creationId xmlns:p14="http://schemas.microsoft.com/office/powerpoint/2010/main" val="816729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92316-2155-4059-9EA0-01EDE53A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chi </a:t>
            </a:r>
            <a:r>
              <a:rPr lang="en-US" b="1" dirty="0" err="1"/>
              <a:t>tiết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9D88-1021-40CD-A460-894CB1866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gối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(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khụy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): 35</a:t>
            </a:r>
            <a:r>
              <a:rPr lang="en-US" baseline="30000" dirty="0"/>
              <a:t>o</a:t>
            </a:r>
          </a:p>
          <a:p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gối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: 60</a:t>
            </a:r>
            <a:r>
              <a:rPr lang="en-US" baseline="30000" dirty="0"/>
              <a:t>o</a:t>
            </a:r>
            <a:endParaRPr lang="en-US" dirty="0"/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men </a:t>
            </a:r>
            <a:r>
              <a:rPr lang="en-US" dirty="0" err="1"/>
              <a:t>xoắn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?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860D8-B69E-4590-A1B5-07E1583A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027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A9E4-73A7-4DB8-AA6D-874D7442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9F8D-5726-41D4-BFC1-47C598D81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3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Mô</a:t>
            </a:r>
            <a:r>
              <a:rPr lang="en-US" dirty="0"/>
              <a:t> men </a:t>
            </a:r>
            <a:r>
              <a:rPr lang="en-US" dirty="0" err="1"/>
              <a:t>xoắn</a:t>
            </a:r>
            <a:r>
              <a:rPr lang="en-US" dirty="0"/>
              <a:t> (Torque)</a:t>
            </a:r>
          </a:p>
          <a:p>
            <a:pPr lvl="1"/>
            <a:r>
              <a:rPr lang="en-US" dirty="0" err="1"/>
              <a:t>Quán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(Load inertia)</a:t>
            </a:r>
          </a:p>
          <a:p>
            <a:pPr lvl="1"/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(speed)</a:t>
            </a:r>
          </a:p>
          <a:p>
            <a:r>
              <a:rPr lang="en-US" dirty="0" err="1"/>
              <a:t>Mô</a:t>
            </a:r>
            <a:r>
              <a:rPr lang="en-US" dirty="0"/>
              <a:t> men </a:t>
            </a:r>
            <a:r>
              <a:rPr lang="en-US" dirty="0" err="1"/>
              <a:t>xoắn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2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Mô</a:t>
            </a:r>
            <a:r>
              <a:rPr lang="en-US" dirty="0"/>
              <a:t> men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di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(load torque)</a:t>
            </a:r>
          </a:p>
          <a:p>
            <a:pPr lvl="1"/>
            <a:r>
              <a:rPr lang="en-US" dirty="0" err="1"/>
              <a:t>Mô</a:t>
            </a:r>
            <a:r>
              <a:rPr lang="en-US" dirty="0"/>
              <a:t> men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(acceleration torque)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load torque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413D4-906D-4DBD-8800-294D0804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FE5AB-77A2-4AFC-900A-F2226723F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780" y="3459223"/>
            <a:ext cx="1876439" cy="2609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4BDBE7-22B5-4602-8768-B6A80BE0E2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158" y="663118"/>
            <a:ext cx="3799682" cy="27199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4EED39-22E2-46F3-991F-5B931201D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946577"/>
            <a:ext cx="3200400" cy="14184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AA3FA9-CB58-44D4-A187-3B842410A12C}"/>
              </a:ext>
            </a:extLst>
          </p:cNvPr>
          <p:cNvSpPr txBox="1"/>
          <p:nvPr/>
        </p:nvSpPr>
        <p:spPr>
          <a:xfrm>
            <a:off x="9011840" y="58844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Motor Sizing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26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FC0B-B966-4A27-9994-0DEB1407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en-US" b="1" dirty="0" err="1"/>
              <a:t>khớp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0B74-19E3-4ACA-88A7-EE1D97074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robot</a:t>
            </a:r>
          </a:p>
          <a:p>
            <a:pPr lvl="1"/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xoay</a:t>
            </a:r>
            <a:r>
              <a:rPr lang="en-US" dirty="0"/>
              <a:t> (revolute joints)</a:t>
            </a:r>
          </a:p>
          <a:p>
            <a:pPr lvl="1"/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tịnh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(prismatic joint)</a:t>
            </a:r>
          </a:p>
          <a:p>
            <a:pPr lvl="1"/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(spherical joint)</a:t>
            </a:r>
          </a:p>
          <a:p>
            <a:r>
              <a:rPr lang="en-US" dirty="0"/>
              <a:t>Khi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ý: </a:t>
            </a:r>
          </a:p>
          <a:p>
            <a:pPr lvl="1"/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lvl="1"/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endParaRPr lang="en-US" dirty="0"/>
          </a:p>
          <a:p>
            <a:pPr lvl="1"/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endParaRPr lang="en-US" dirty="0"/>
          </a:p>
          <a:p>
            <a:pPr lvl="1"/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A9DFE-0E39-4A11-B793-C2ED38C2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349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F42D-0F76-47E9-9DE4-236EBADA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en-US" b="1" dirty="0" err="1"/>
              <a:t>khớp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7273B-58EA-4AD4-9F68-4DA72A033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019800" cy="4876800"/>
          </a:xfrm>
        </p:spPr>
        <p:txBody>
          <a:bodyPr/>
          <a:lstStyle/>
          <a:p>
            <a:r>
              <a:rPr lang="en-US" b="1" dirty="0" err="1"/>
              <a:t>Khớp</a:t>
            </a:r>
            <a:r>
              <a:rPr lang="en-US" b="1" dirty="0"/>
              <a:t> </a:t>
            </a:r>
            <a:r>
              <a:rPr lang="en-US" b="1" dirty="0" err="1"/>
              <a:t>xoay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47440-20A7-4E1B-AAAB-E05E3EFF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80E3D-1B61-4500-920F-621BD1512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009632"/>
            <a:ext cx="4248181" cy="4838735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ED847FB-A5BF-4BD9-ADE2-A60168E4A886}"/>
              </a:ext>
            </a:extLst>
          </p:cNvPr>
          <p:cNvGraphicFramePr>
            <a:graphicFrameLocks noGrp="1"/>
          </p:cNvGraphicFramePr>
          <p:nvPr/>
        </p:nvGraphicFramePr>
        <p:xfrm>
          <a:off x="831849" y="2133600"/>
          <a:ext cx="58166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867">
                  <a:extLst>
                    <a:ext uri="{9D8B030D-6E8A-4147-A177-3AD203B41FA5}">
                      <a16:colId xmlns:a16="http://schemas.microsoft.com/office/drawing/2014/main" val="1901263236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253920667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1036677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Ổ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lót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3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Tốc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200-100k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&lt;200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31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Tải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tối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50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300 </a:t>
                      </a:r>
                      <a:r>
                        <a:rPr lang="en-US" dirty="0" err="1"/>
                        <a:t>Mpa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76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 ma </a:t>
                      </a:r>
                      <a:r>
                        <a:rPr lang="en-US" dirty="0" err="1"/>
                        <a:t>sát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 – 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75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836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5890</TotalTime>
  <Words>1078</Words>
  <Application>Microsoft Office PowerPoint</Application>
  <PresentationFormat>Widescreen</PresentationFormat>
  <Paragraphs>197</Paragraphs>
  <Slides>24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Clarity</vt:lpstr>
      <vt:lpstr>  Thiết kế robot Thiết kế phần cơ khí</vt:lpstr>
      <vt:lpstr>Quy trình thiết kế cơ khí </vt:lpstr>
      <vt:lpstr>Xây dựng phương án thiết kế</vt:lpstr>
      <vt:lpstr>Xây dựng phương án thiết kế</vt:lpstr>
      <vt:lpstr>Phác thảo động học – Kinematic diagrams</vt:lpstr>
      <vt:lpstr>Bài tập</vt:lpstr>
      <vt:lpstr>Hoạt động nhóm</vt:lpstr>
      <vt:lpstr>PowerPoint Presentation</vt:lpstr>
      <vt:lpstr>Phác thảo động học: Robot chó</vt:lpstr>
      <vt:lpstr>Phác thảo động học: Robot chó</vt:lpstr>
      <vt:lpstr>Phác thảo động học: Robot chó</vt:lpstr>
      <vt:lpstr>Phác thảo động học: Robot chó</vt:lpstr>
      <vt:lpstr>Phác thảo động học: Robot chó</vt:lpstr>
      <vt:lpstr>Xác định kích thước</vt:lpstr>
      <vt:lpstr>Xác định kích thước</vt:lpstr>
      <vt:lpstr>Xác định kích thước</vt:lpstr>
      <vt:lpstr>Xác định kích thước</vt:lpstr>
      <vt:lpstr>Xác định kích thước</vt:lpstr>
      <vt:lpstr>Thiết kế chi tiết</vt:lpstr>
      <vt:lpstr>Thiết kế chi tiết</vt:lpstr>
      <vt:lpstr>Thiết kế chi tiết</vt:lpstr>
      <vt:lpstr>Lựa chọn động cơ</vt:lpstr>
      <vt:lpstr>Lựa chọn khớp nối</vt:lpstr>
      <vt:lpstr>Lựa chọn khớp nối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626</cp:revision>
  <dcterms:created xsi:type="dcterms:W3CDTF">2015-08-30T01:38:28Z</dcterms:created>
  <dcterms:modified xsi:type="dcterms:W3CDTF">2026-05-25T00:40:29Z</dcterms:modified>
</cp:coreProperties>
</file>