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9"/>
  </p:notesMasterIdLst>
  <p:sldIdLst>
    <p:sldId id="256" r:id="rId2"/>
    <p:sldId id="302" r:id="rId3"/>
    <p:sldId id="303" r:id="rId4"/>
    <p:sldId id="304" r:id="rId5"/>
    <p:sldId id="305" r:id="rId6"/>
    <p:sldId id="306" r:id="rId7"/>
    <p:sldId id="307" r:id="rId8"/>
    <p:sldId id="308" r:id="rId9"/>
    <p:sldId id="309" r:id="rId10"/>
    <p:sldId id="310" r:id="rId11"/>
    <p:sldId id="311" r:id="rId12"/>
    <p:sldId id="312" r:id="rId13"/>
    <p:sldId id="313" r:id="rId14"/>
    <p:sldId id="314" r:id="rId15"/>
    <p:sldId id="315" r:id="rId16"/>
    <p:sldId id="316" r:id="rId17"/>
    <p:sldId id="317" r:id="rId18"/>
    <p:sldId id="414" r:id="rId19"/>
    <p:sldId id="416" r:id="rId20"/>
    <p:sldId id="415" r:id="rId21"/>
    <p:sldId id="318" r:id="rId22"/>
    <p:sldId id="259" r:id="rId23"/>
    <p:sldId id="260" r:id="rId24"/>
    <p:sldId id="417" r:id="rId25"/>
    <p:sldId id="265" r:id="rId26"/>
    <p:sldId id="266" r:id="rId27"/>
    <p:sldId id="419" r:id="rId28"/>
    <p:sldId id="420" r:id="rId29"/>
    <p:sldId id="421" r:id="rId30"/>
    <p:sldId id="299" r:id="rId31"/>
    <p:sldId id="332" r:id="rId32"/>
    <p:sldId id="270" r:id="rId33"/>
    <p:sldId id="348" r:id="rId34"/>
    <p:sldId id="333" r:id="rId35"/>
    <p:sldId id="349" r:id="rId36"/>
    <p:sldId id="350" r:id="rId37"/>
    <p:sldId id="351" r:id="rId38"/>
    <p:sldId id="423" r:id="rId39"/>
    <p:sldId id="319" r:id="rId40"/>
    <p:sldId id="320" r:id="rId41"/>
    <p:sldId id="424" r:id="rId42"/>
    <p:sldId id="321" r:id="rId43"/>
    <p:sldId id="279" r:id="rId44"/>
    <p:sldId id="280" r:id="rId45"/>
    <p:sldId id="281" r:id="rId46"/>
    <p:sldId id="434" r:id="rId47"/>
    <p:sldId id="435" r:id="rId48"/>
    <p:sldId id="436" r:id="rId49"/>
    <p:sldId id="261" r:id="rId50"/>
    <p:sldId id="425" r:id="rId51"/>
    <p:sldId id="426" r:id="rId52"/>
    <p:sldId id="269" r:id="rId53"/>
    <p:sldId id="428" r:id="rId54"/>
    <p:sldId id="257" r:id="rId55"/>
    <p:sldId id="258" r:id="rId56"/>
    <p:sldId id="429" r:id="rId57"/>
    <p:sldId id="430" r:id="rId58"/>
    <p:sldId id="271" r:id="rId59"/>
    <p:sldId id="272" r:id="rId60"/>
    <p:sldId id="273" r:id="rId61"/>
    <p:sldId id="263" r:id="rId62"/>
    <p:sldId id="431" r:id="rId63"/>
    <p:sldId id="432" r:id="rId64"/>
    <p:sldId id="267" r:id="rId65"/>
    <p:sldId id="264" r:id="rId66"/>
    <p:sldId id="274" r:id="rId67"/>
    <p:sldId id="275"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FF5F33"/>
    <a:srgbClr val="FF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92596" autoAdjust="0"/>
  </p:normalViewPr>
  <p:slideViewPr>
    <p:cSldViewPr>
      <p:cViewPr varScale="1">
        <p:scale>
          <a:sx n="104" d="100"/>
          <a:sy n="104" d="100"/>
        </p:scale>
        <p:origin x="201" y="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50556A-9A9A-4D79-8FBF-4FFADB98F9DE}" type="doc">
      <dgm:prSet loTypeId="urn:microsoft.com/office/officeart/2005/8/layout/cycle2" loCatId="cycle" qsTypeId="urn:microsoft.com/office/officeart/2005/8/quickstyle/simple1" qsCatId="simple" csTypeId="urn:microsoft.com/office/officeart/2005/8/colors/colorful1" csCatId="colorful" phldr="1"/>
      <dgm:spPr/>
      <dgm:t>
        <a:bodyPr/>
        <a:lstStyle/>
        <a:p>
          <a:endParaRPr lang="en-US"/>
        </a:p>
      </dgm:t>
    </dgm:pt>
    <dgm:pt modelId="{11AEC38A-7B9C-44DC-87A8-E34941BF96E4}">
      <dgm:prSet phldrT="[Text]" phldr="0"/>
      <dgm:spPr/>
      <dgm:t>
        <a:bodyPr/>
        <a:lstStyle/>
        <a:p>
          <a:r>
            <a:rPr lang="en-US" b="1" dirty="0" err="1"/>
            <a:t>Xác</a:t>
          </a:r>
          <a:r>
            <a:rPr lang="en-US" b="1" dirty="0"/>
            <a:t> </a:t>
          </a:r>
          <a:r>
            <a:rPr lang="en-US" b="1" dirty="0" err="1"/>
            <a:t>định</a:t>
          </a:r>
          <a:r>
            <a:rPr lang="en-US" b="1" dirty="0"/>
            <a:t> </a:t>
          </a:r>
          <a:r>
            <a:rPr lang="en-US" b="1" dirty="0" err="1"/>
            <a:t>thông</a:t>
          </a:r>
          <a:r>
            <a:rPr lang="en-US" b="1" dirty="0"/>
            <a:t> </a:t>
          </a:r>
          <a:r>
            <a:rPr lang="en-US" b="1" dirty="0" err="1"/>
            <a:t>số</a:t>
          </a:r>
          <a:r>
            <a:rPr lang="en-US" b="1" dirty="0"/>
            <a:t> </a:t>
          </a:r>
          <a:r>
            <a:rPr lang="en-US" b="1" dirty="0" err="1"/>
            <a:t>mục</a:t>
          </a:r>
          <a:r>
            <a:rPr lang="en-US" b="1" dirty="0"/>
            <a:t> </a:t>
          </a:r>
          <a:r>
            <a:rPr lang="en-US" b="1" dirty="0" err="1"/>
            <a:t>tiêu</a:t>
          </a:r>
          <a:endParaRPr lang="en-US" b="1" dirty="0"/>
        </a:p>
      </dgm:t>
    </dgm:pt>
    <dgm:pt modelId="{F1C9B794-1B83-415D-9C2C-C590FC2EB0A4}" type="parTrans" cxnId="{59031D4E-D248-48F0-809A-CA7D82ACBDF0}">
      <dgm:prSet/>
      <dgm:spPr/>
      <dgm:t>
        <a:bodyPr/>
        <a:lstStyle/>
        <a:p>
          <a:endParaRPr lang="en-US"/>
        </a:p>
      </dgm:t>
    </dgm:pt>
    <dgm:pt modelId="{9F3F78F4-8E4F-483C-B7B0-70AE566E9FE1}" type="sibTrans" cxnId="{59031D4E-D248-48F0-809A-CA7D82ACBDF0}">
      <dgm:prSet/>
      <dgm:spPr/>
      <dgm:t>
        <a:bodyPr/>
        <a:lstStyle/>
        <a:p>
          <a:endParaRPr lang="en-US"/>
        </a:p>
      </dgm:t>
    </dgm:pt>
    <dgm:pt modelId="{4A2D2BE2-3912-4364-B650-4D3B0B94710F}">
      <dgm:prSet phldrT="[Text]" phldr="0"/>
      <dgm:spPr/>
      <dgm:t>
        <a:bodyPr/>
        <a:lstStyle/>
        <a:p>
          <a:r>
            <a:rPr lang="en-US" b="1" dirty="0"/>
            <a:t>Xây </a:t>
          </a:r>
          <a:r>
            <a:rPr lang="en-US" b="1" dirty="0" err="1"/>
            <a:t>dựng</a:t>
          </a:r>
          <a:r>
            <a:rPr lang="en-US" b="1" dirty="0"/>
            <a:t> </a:t>
          </a:r>
          <a:r>
            <a:rPr lang="en-US" b="1" dirty="0" err="1"/>
            <a:t>phương</a:t>
          </a:r>
          <a:r>
            <a:rPr lang="en-US" b="1" dirty="0"/>
            <a:t> </a:t>
          </a:r>
          <a:r>
            <a:rPr lang="en-US" b="1" dirty="0" err="1"/>
            <a:t>án</a:t>
          </a:r>
          <a:r>
            <a:rPr lang="en-US" b="1" dirty="0"/>
            <a:t> </a:t>
          </a:r>
          <a:r>
            <a:rPr lang="en-US" b="1" dirty="0" err="1"/>
            <a:t>thiết</a:t>
          </a:r>
          <a:r>
            <a:rPr lang="en-US" b="1" dirty="0"/>
            <a:t> </a:t>
          </a:r>
          <a:r>
            <a:rPr lang="en-US" b="1" dirty="0" err="1"/>
            <a:t>kế</a:t>
          </a:r>
          <a:endParaRPr lang="en-US" b="1" dirty="0"/>
        </a:p>
      </dgm:t>
    </dgm:pt>
    <dgm:pt modelId="{913F6489-52C8-4B23-B749-01572B07C619}" type="parTrans" cxnId="{66CC363E-0393-44E3-B101-8ED363B213D6}">
      <dgm:prSet/>
      <dgm:spPr/>
      <dgm:t>
        <a:bodyPr/>
        <a:lstStyle/>
        <a:p>
          <a:endParaRPr lang="en-US"/>
        </a:p>
      </dgm:t>
    </dgm:pt>
    <dgm:pt modelId="{F8071382-7A01-4AC8-9EF1-D1C35A2135D1}" type="sibTrans" cxnId="{66CC363E-0393-44E3-B101-8ED363B213D6}">
      <dgm:prSet/>
      <dgm:spPr/>
      <dgm:t>
        <a:bodyPr/>
        <a:lstStyle/>
        <a:p>
          <a:endParaRPr lang="en-US"/>
        </a:p>
      </dgm:t>
    </dgm:pt>
    <dgm:pt modelId="{CD84F0B5-5497-4470-9304-4FEFB7F570AD}">
      <dgm:prSet phldrT="[Text]" phldr="0"/>
      <dgm:spPr/>
      <dgm:t>
        <a:bodyPr/>
        <a:lstStyle/>
        <a:p>
          <a:r>
            <a:rPr lang="en-US" b="1" dirty="0"/>
            <a:t>Thiết </a:t>
          </a:r>
          <a:r>
            <a:rPr lang="en-US" b="1" dirty="0" err="1"/>
            <a:t>kế</a:t>
          </a:r>
          <a:r>
            <a:rPr lang="en-US" b="1" dirty="0"/>
            <a:t> PCB, </a:t>
          </a:r>
          <a:r>
            <a:rPr lang="en-US" b="1" dirty="0" err="1"/>
            <a:t>tủ</a:t>
          </a:r>
          <a:r>
            <a:rPr lang="en-US" b="1" dirty="0"/>
            <a:t> </a:t>
          </a:r>
          <a:r>
            <a:rPr lang="en-US" b="1" dirty="0" err="1"/>
            <a:t>điện</a:t>
          </a:r>
          <a:endParaRPr lang="en-US" b="1" dirty="0"/>
        </a:p>
      </dgm:t>
    </dgm:pt>
    <dgm:pt modelId="{D534C309-3EFE-4394-A757-B2A382179B54}" type="parTrans" cxnId="{50FF949F-C219-4E2B-94DC-B962D4BC9381}">
      <dgm:prSet/>
      <dgm:spPr/>
      <dgm:t>
        <a:bodyPr/>
        <a:lstStyle/>
        <a:p>
          <a:endParaRPr lang="en-US"/>
        </a:p>
      </dgm:t>
    </dgm:pt>
    <dgm:pt modelId="{0F5AF32C-58AB-47EA-88BD-F4C871172213}" type="sibTrans" cxnId="{50FF949F-C219-4E2B-94DC-B962D4BC9381}">
      <dgm:prSet/>
      <dgm:spPr/>
      <dgm:t>
        <a:bodyPr/>
        <a:lstStyle/>
        <a:p>
          <a:endParaRPr lang="en-US"/>
        </a:p>
      </dgm:t>
    </dgm:pt>
    <dgm:pt modelId="{F6D6AE8B-BCA2-4864-8914-AE79CC41F96D}">
      <dgm:prSet phldrT="[Text]" phldr="0"/>
      <dgm:spPr/>
      <dgm:t>
        <a:bodyPr/>
        <a:lstStyle/>
        <a:p>
          <a:r>
            <a:rPr lang="en-US" b="1" dirty="0" err="1"/>
            <a:t>Mô</a:t>
          </a:r>
          <a:r>
            <a:rPr lang="en-US" b="1" dirty="0"/>
            <a:t> </a:t>
          </a:r>
          <a:r>
            <a:rPr lang="en-US" b="1" dirty="0" err="1"/>
            <a:t>phỏng</a:t>
          </a:r>
          <a:r>
            <a:rPr lang="en-US" b="1" dirty="0"/>
            <a:t> </a:t>
          </a:r>
          <a:r>
            <a:rPr lang="en-US" b="1" dirty="0" err="1"/>
            <a:t>và</a:t>
          </a:r>
          <a:r>
            <a:rPr lang="en-US" b="1" dirty="0"/>
            <a:t> </a:t>
          </a:r>
          <a:r>
            <a:rPr lang="en-US" b="1" dirty="0" err="1"/>
            <a:t>tính</a:t>
          </a:r>
          <a:r>
            <a:rPr lang="en-US" b="1" dirty="0"/>
            <a:t> </a:t>
          </a:r>
          <a:r>
            <a:rPr lang="en-US" b="1" dirty="0" err="1"/>
            <a:t>toán</a:t>
          </a:r>
          <a:r>
            <a:rPr lang="en-US" b="1" dirty="0"/>
            <a:t> </a:t>
          </a:r>
          <a:r>
            <a:rPr lang="en-US" b="1" dirty="0" err="1"/>
            <a:t>tối</a:t>
          </a:r>
          <a:r>
            <a:rPr lang="en-US" b="1" dirty="0"/>
            <a:t> </a:t>
          </a:r>
          <a:r>
            <a:rPr lang="en-US" b="1" dirty="0" err="1"/>
            <a:t>ưu</a:t>
          </a:r>
          <a:endParaRPr lang="en-US" b="1" dirty="0"/>
        </a:p>
      </dgm:t>
    </dgm:pt>
    <dgm:pt modelId="{258DE996-BF9A-4884-81FF-7A24B67E893F}" type="parTrans" cxnId="{0EFE9668-74CE-4115-9A49-F90493540106}">
      <dgm:prSet/>
      <dgm:spPr/>
      <dgm:t>
        <a:bodyPr/>
        <a:lstStyle/>
        <a:p>
          <a:endParaRPr lang="en-US"/>
        </a:p>
      </dgm:t>
    </dgm:pt>
    <dgm:pt modelId="{48D88FB0-AE5E-4E05-9856-2B89CE30BA34}" type="sibTrans" cxnId="{0EFE9668-74CE-4115-9A49-F90493540106}">
      <dgm:prSet/>
      <dgm:spPr/>
      <dgm:t>
        <a:bodyPr/>
        <a:lstStyle/>
        <a:p>
          <a:endParaRPr lang="en-US"/>
        </a:p>
      </dgm:t>
    </dgm:pt>
    <dgm:pt modelId="{45A70D16-5A34-4FB3-97DA-5E72F0F9182A}">
      <dgm:prSet phldrT="[Text]" phldr="0"/>
      <dgm:spPr/>
      <dgm:t>
        <a:bodyPr/>
        <a:lstStyle/>
        <a:p>
          <a:r>
            <a:rPr lang="en-US" b="1" dirty="0"/>
            <a:t>Chế </a:t>
          </a:r>
          <a:r>
            <a:rPr lang="en-US" b="1" dirty="0" err="1"/>
            <a:t>tạo</a:t>
          </a:r>
          <a:r>
            <a:rPr lang="en-US" b="1" dirty="0"/>
            <a:t> </a:t>
          </a:r>
          <a:r>
            <a:rPr lang="en-US" b="1" dirty="0" err="1"/>
            <a:t>mẫu</a:t>
          </a:r>
          <a:r>
            <a:rPr lang="en-US" b="1" dirty="0"/>
            <a:t> </a:t>
          </a:r>
          <a:r>
            <a:rPr lang="en-US" b="1" dirty="0" err="1"/>
            <a:t>thử</a:t>
          </a:r>
          <a:endParaRPr lang="en-US" b="1" dirty="0"/>
        </a:p>
      </dgm:t>
    </dgm:pt>
    <dgm:pt modelId="{C7AD2F1D-25FE-4E90-8797-701C8DEC5A9B}" type="parTrans" cxnId="{DF9DA99B-9265-4A63-AC92-C005D737A672}">
      <dgm:prSet/>
      <dgm:spPr/>
      <dgm:t>
        <a:bodyPr/>
        <a:lstStyle/>
        <a:p>
          <a:endParaRPr lang="en-US"/>
        </a:p>
      </dgm:t>
    </dgm:pt>
    <dgm:pt modelId="{35D766B1-6A95-4C95-BF1A-7029132DB420}" type="sibTrans" cxnId="{DF9DA99B-9265-4A63-AC92-C005D737A672}">
      <dgm:prSet/>
      <dgm:spPr/>
      <dgm:t>
        <a:bodyPr/>
        <a:lstStyle/>
        <a:p>
          <a:endParaRPr lang="en-US"/>
        </a:p>
      </dgm:t>
    </dgm:pt>
    <dgm:pt modelId="{EFC3F480-978A-405E-A28E-806808DD754A}">
      <dgm:prSet phldrT="[Text]" phldr="0"/>
      <dgm:spPr/>
      <dgm:t>
        <a:bodyPr/>
        <a:lstStyle/>
        <a:p>
          <a:r>
            <a:rPr lang="en-US" b="1" dirty="0" err="1"/>
            <a:t>Thử</a:t>
          </a:r>
          <a:r>
            <a:rPr lang="en-US" b="1" dirty="0"/>
            <a:t> </a:t>
          </a:r>
          <a:r>
            <a:rPr lang="en-US" b="1" dirty="0" err="1"/>
            <a:t>nghiệm</a:t>
          </a:r>
          <a:r>
            <a:rPr lang="en-US" b="1" dirty="0"/>
            <a:t> </a:t>
          </a:r>
          <a:r>
            <a:rPr lang="en-US" b="1" dirty="0" err="1"/>
            <a:t>và</a:t>
          </a:r>
          <a:r>
            <a:rPr lang="en-US" b="1" dirty="0"/>
            <a:t> </a:t>
          </a:r>
          <a:r>
            <a:rPr lang="en-US" b="1" dirty="0" err="1"/>
            <a:t>cải</a:t>
          </a:r>
          <a:r>
            <a:rPr lang="en-US" b="1" dirty="0"/>
            <a:t> </a:t>
          </a:r>
          <a:r>
            <a:rPr lang="en-US" b="1" dirty="0" err="1"/>
            <a:t>tiến</a:t>
          </a:r>
          <a:endParaRPr lang="en-US" b="1" dirty="0"/>
        </a:p>
      </dgm:t>
    </dgm:pt>
    <dgm:pt modelId="{8B2703D8-291A-4615-847C-58ADCB244079}" type="parTrans" cxnId="{25820498-74F8-4F79-80AC-19F566EDC2BF}">
      <dgm:prSet/>
      <dgm:spPr/>
      <dgm:t>
        <a:bodyPr/>
        <a:lstStyle/>
        <a:p>
          <a:endParaRPr lang="en-US"/>
        </a:p>
      </dgm:t>
    </dgm:pt>
    <dgm:pt modelId="{DD79D47E-9B28-4A91-9F4C-CD59E7D39071}" type="sibTrans" cxnId="{25820498-74F8-4F79-80AC-19F566EDC2BF}">
      <dgm:prSet/>
      <dgm:spPr/>
      <dgm:t>
        <a:bodyPr/>
        <a:lstStyle/>
        <a:p>
          <a:endParaRPr lang="en-US"/>
        </a:p>
      </dgm:t>
    </dgm:pt>
    <dgm:pt modelId="{256EEC70-9EE7-4E9F-B512-DB4C96A8A6BF}" type="pres">
      <dgm:prSet presAssocID="{8150556A-9A9A-4D79-8FBF-4FFADB98F9DE}" presName="cycle" presStyleCnt="0">
        <dgm:presLayoutVars>
          <dgm:dir/>
          <dgm:resizeHandles val="exact"/>
        </dgm:presLayoutVars>
      </dgm:prSet>
      <dgm:spPr/>
    </dgm:pt>
    <dgm:pt modelId="{F86E1CA8-51A0-460F-9155-C2982470D759}" type="pres">
      <dgm:prSet presAssocID="{11AEC38A-7B9C-44DC-87A8-E34941BF96E4}" presName="node" presStyleLbl="node1" presStyleIdx="0" presStyleCnt="6">
        <dgm:presLayoutVars>
          <dgm:bulletEnabled val="1"/>
        </dgm:presLayoutVars>
      </dgm:prSet>
      <dgm:spPr/>
    </dgm:pt>
    <dgm:pt modelId="{CA8EDD68-3B80-4F30-8080-556C2F1ECE8A}" type="pres">
      <dgm:prSet presAssocID="{9F3F78F4-8E4F-483C-B7B0-70AE566E9FE1}" presName="sibTrans" presStyleLbl="sibTrans2D1" presStyleIdx="0" presStyleCnt="6"/>
      <dgm:spPr/>
    </dgm:pt>
    <dgm:pt modelId="{5A41F6B1-7561-4F1F-AE82-99886AFF9D53}" type="pres">
      <dgm:prSet presAssocID="{9F3F78F4-8E4F-483C-B7B0-70AE566E9FE1}" presName="connectorText" presStyleLbl="sibTrans2D1" presStyleIdx="0" presStyleCnt="6"/>
      <dgm:spPr/>
    </dgm:pt>
    <dgm:pt modelId="{76F8CAEE-AE04-4E7F-8BD1-E22E339E7D8B}" type="pres">
      <dgm:prSet presAssocID="{4A2D2BE2-3912-4364-B650-4D3B0B94710F}" presName="node" presStyleLbl="node1" presStyleIdx="1" presStyleCnt="6">
        <dgm:presLayoutVars>
          <dgm:bulletEnabled val="1"/>
        </dgm:presLayoutVars>
      </dgm:prSet>
      <dgm:spPr/>
    </dgm:pt>
    <dgm:pt modelId="{D4859258-D59B-4C59-ABAC-733547D6D062}" type="pres">
      <dgm:prSet presAssocID="{F8071382-7A01-4AC8-9EF1-D1C35A2135D1}" presName="sibTrans" presStyleLbl="sibTrans2D1" presStyleIdx="1" presStyleCnt="6"/>
      <dgm:spPr/>
    </dgm:pt>
    <dgm:pt modelId="{7A59EB78-F8FB-4449-92A0-1529FA6AEC4B}" type="pres">
      <dgm:prSet presAssocID="{F8071382-7A01-4AC8-9EF1-D1C35A2135D1}" presName="connectorText" presStyleLbl="sibTrans2D1" presStyleIdx="1" presStyleCnt="6"/>
      <dgm:spPr/>
    </dgm:pt>
    <dgm:pt modelId="{1CFE7AE0-D11C-4E37-A8BA-F2873703EF4E}" type="pres">
      <dgm:prSet presAssocID="{CD84F0B5-5497-4470-9304-4FEFB7F570AD}" presName="node" presStyleLbl="node1" presStyleIdx="2" presStyleCnt="6">
        <dgm:presLayoutVars>
          <dgm:bulletEnabled val="1"/>
        </dgm:presLayoutVars>
      </dgm:prSet>
      <dgm:spPr/>
    </dgm:pt>
    <dgm:pt modelId="{85778837-7B02-47C5-9BD6-30E409B2EEC6}" type="pres">
      <dgm:prSet presAssocID="{0F5AF32C-58AB-47EA-88BD-F4C871172213}" presName="sibTrans" presStyleLbl="sibTrans2D1" presStyleIdx="2" presStyleCnt="6"/>
      <dgm:spPr/>
    </dgm:pt>
    <dgm:pt modelId="{EEB19E28-2EC4-4382-8703-3D88C1009E85}" type="pres">
      <dgm:prSet presAssocID="{0F5AF32C-58AB-47EA-88BD-F4C871172213}" presName="connectorText" presStyleLbl="sibTrans2D1" presStyleIdx="2" presStyleCnt="6"/>
      <dgm:spPr/>
    </dgm:pt>
    <dgm:pt modelId="{040D1283-60B7-4326-AA8A-A15382763534}" type="pres">
      <dgm:prSet presAssocID="{F6D6AE8B-BCA2-4864-8914-AE79CC41F96D}" presName="node" presStyleLbl="node1" presStyleIdx="3" presStyleCnt="6">
        <dgm:presLayoutVars>
          <dgm:bulletEnabled val="1"/>
        </dgm:presLayoutVars>
      </dgm:prSet>
      <dgm:spPr/>
    </dgm:pt>
    <dgm:pt modelId="{73A40D5A-73A5-4AC8-809C-E8188A1F667B}" type="pres">
      <dgm:prSet presAssocID="{48D88FB0-AE5E-4E05-9856-2B89CE30BA34}" presName="sibTrans" presStyleLbl="sibTrans2D1" presStyleIdx="3" presStyleCnt="6"/>
      <dgm:spPr/>
    </dgm:pt>
    <dgm:pt modelId="{80FB30CA-5D89-4328-957E-713279FEEC2D}" type="pres">
      <dgm:prSet presAssocID="{48D88FB0-AE5E-4E05-9856-2B89CE30BA34}" presName="connectorText" presStyleLbl="sibTrans2D1" presStyleIdx="3" presStyleCnt="6"/>
      <dgm:spPr/>
    </dgm:pt>
    <dgm:pt modelId="{E2D175B1-1375-45B8-9560-9B2A9B085952}" type="pres">
      <dgm:prSet presAssocID="{45A70D16-5A34-4FB3-97DA-5E72F0F9182A}" presName="node" presStyleLbl="node1" presStyleIdx="4" presStyleCnt="6">
        <dgm:presLayoutVars>
          <dgm:bulletEnabled val="1"/>
        </dgm:presLayoutVars>
      </dgm:prSet>
      <dgm:spPr/>
    </dgm:pt>
    <dgm:pt modelId="{E503CC2E-9BCD-4F97-AFA3-69855511795A}" type="pres">
      <dgm:prSet presAssocID="{35D766B1-6A95-4C95-BF1A-7029132DB420}" presName="sibTrans" presStyleLbl="sibTrans2D1" presStyleIdx="4" presStyleCnt="6"/>
      <dgm:spPr/>
    </dgm:pt>
    <dgm:pt modelId="{593924B5-22FD-4DBD-8031-2457FC2A295E}" type="pres">
      <dgm:prSet presAssocID="{35D766B1-6A95-4C95-BF1A-7029132DB420}" presName="connectorText" presStyleLbl="sibTrans2D1" presStyleIdx="4" presStyleCnt="6"/>
      <dgm:spPr/>
    </dgm:pt>
    <dgm:pt modelId="{3D4BD281-2757-440D-9C96-914E4E4454C7}" type="pres">
      <dgm:prSet presAssocID="{EFC3F480-978A-405E-A28E-806808DD754A}" presName="node" presStyleLbl="node1" presStyleIdx="5" presStyleCnt="6">
        <dgm:presLayoutVars>
          <dgm:bulletEnabled val="1"/>
        </dgm:presLayoutVars>
      </dgm:prSet>
      <dgm:spPr/>
    </dgm:pt>
    <dgm:pt modelId="{7251402B-EB67-4B3A-A73E-022FC7F3DD71}" type="pres">
      <dgm:prSet presAssocID="{DD79D47E-9B28-4A91-9F4C-CD59E7D39071}" presName="sibTrans" presStyleLbl="sibTrans2D1" presStyleIdx="5" presStyleCnt="6"/>
      <dgm:spPr/>
    </dgm:pt>
    <dgm:pt modelId="{ACFBDA63-3422-461D-B4EE-2B0FA44820F3}" type="pres">
      <dgm:prSet presAssocID="{DD79D47E-9B28-4A91-9F4C-CD59E7D39071}" presName="connectorText" presStyleLbl="sibTrans2D1" presStyleIdx="5" presStyleCnt="6"/>
      <dgm:spPr/>
    </dgm:pt>
  </dgm:ptLst>
  <dgm:cxnLst>
    <dgm:cxn modelId="{6A558700-8AD5-47D3-ABBF-B6129538C08C}" type="presOf" srcId="{EFC3F480-978A-405E-A28E-806808DD754A}" destId="{3D4BD281-2757-440D-9C96-914E4E4454C7}" srcOrd="0" destOrd="0" presId="urn:microsoft.com/office/officeart/2005/8/layout/cycle2"/>
    <dgm:cxn modelId="{94BA7902-36F4-4CA4-8731-C87F84F88E9F}" type="presOf" srcId="{9F3F78F4-8E4F-483C-B7B0-70AE566E9FE1}" destId="{CA8EDD68-3B80-4F30-8080-556C2F1ECE8A}" srcOrd="0" destOrd="0" presId="urn:microsoft.com/office/officeart/2005/8/layout/cycle2"/>
    <dgm:cxn modelId="{AC1A5118-359E-421A-AFF4-2568DF59FD1E}" type="presOf" srcId="{9F3F78F4-8E4F-483C-B7B0-70AE566E9FE1}" destId="{5A41F6B1-7561-4F1F-AE82-99886AFF9D53}" srcOrd="1" destOrd="0" presId="urn:microsoft.com/office/officeart/2005/8/layout/cycle2"/>
    <dgm:cxn modelId="{29B4BC21-55E9-4FAE-A67C-CCBD0C32CBAA}" type="presOf" srcId="{11AEC38A-7B9C-44DC-87A8-E34941BF96E4}" destId="{F86E1CA8-51A0-460F-9155-C2982470D759}" srcOrd="0" destOrd="0" presId="urn:microsoft.com/office/officeart/2005/8/layout/cycle2"/>
    <dgm:cxn modelId="{1033672D-5712-4808-9151-C10D80F54FA1}" type="presOf" srcId="{F6D6AE8B-BCA2-4864-8914-AE79CC41F96D}" destId="{040D1283-60B7-4326-AA8A-A15382763534}" srcOrd="0" destOrd="0" presId="urn:microsoft.com/office/officeart/2005/8/layout/cycle2"/>
    <dgm:cxn modelId="{29E20B2F-FCE7-455D-9B5C-9976FEDABEF9}" type="presOf" srcId="{8150556A-9A9A-4D79-8FBF-4FFADB98F9DE}" destId="{256EEC70-9EE7-4E9F-B512-DB4C96A8A6BF}" srcOrd="0" destOrd="0" presId="urn:microsoft.com/office/officeart/2005/8/layout/cycle2"/>
    <dgm:cxn modelId="{66CC363E-0393-44E3-B101-8ED363B213D6}" srcId="{8150556A-9A9A-4D79-8FBF-4FFADB98F9DE}" destId="{4A2D2BE2-3912-4364-B650-4D3B0B94710F}" srcOrd="1" destOrd="0" parTransId="{913F6489-52C8-4B23-B749-01572B07C619}" sibTransId="{F8071382-7A01-4AC8-9EF1-D1C35A2135D1}"/>
    <dgm:cxn modelId="{82A6B847-878D-4516-92E5-DBCFFF455EB9}" type="presOf" srcId="{F8071382-7A01-4AC8-9EF1-D1C35A2135D1}" destId="{7A59EB78-F8FB-4449-92A0-1529FA6AEC4B}" srcOrd="1" destOrd="0" presId="urn:microsoft.com/office/officeart/2005/8/layout/cycle2"/>
    <dgm:cxn modelId="{0EFE9668-74CE-4115-9A49-F90493540106}" srcId="{8150556A-9A9A-4D79-8FBF-4FFADB98F9DE}" destId="{F6D6AE8B-BCA2-4864-8914-AE79CC41F96D}" srcOrd="3" destOrd="0" parTransId="{258DE996-BF9A-4884-81FF-7A24B67E893F}" sibTransId="{48D88FB0-AE5E-4E05-9856-2B89CE30BA34}"/>
    <dgm:cxn modelId="{BF1C914A-45E5-4C84-B9C4-C6535B44E480}" type="presOf" srcId="{35D766B1-6A95-4C95-BF1A-7029132DB420}" destId="{593924B5-22FD-4DBD-8031-2457FC2A295E}" srcOrd="1" destOrd="0" presId="urn:microsoft.com/office/officeart/2005/8/layout/cycle2"/>
    <dgm:cxn modelId="{59031D4E-D248-48F0-809A-CA7D82ACBDF0}" srcId="{8150556A-9A9A-4D79-8FBF-4FFADB98F9DE}" destId="{11AEC38A-7B9C-44DC-87A8-E34941BF96E4}" srcOrd="0" destOrd="0" parTransId="{F1C9B794-1B83-415D-9C2C-C590FC2EB0A4}" sibTransId="{9F3F78F4-8E4F-483C-B7B0-70AE566E9FE1}"/>
    <dgm:cxn modelId="{BA2D2475-6700-4156-98F4-78BF8E7C8F94}" type="presOf" srcId="{0F5AF32C-58AB-47EA-88BD-F4C871172213}" destId="{85778837-7B02-47C5-9BD6-30E409B2EEC6}" srcOrd="0" destOrd="0" presId="urn:microsoft.com/office/officeart/2005/8/layout/cycle2"/>
    <dgm:cxn modelId="{A450517C-8B22-4784-893F-7C63B8CAC6DE}" type="presOf" srcId="{F8071382-7A01-4AC8-9EF1-D1C35A2135D1}" destId="{D4859258-D59B-4C59-ABAC-733547D6D062}" srcOrd="0" destOrd="0" presId="urn:microsoft.com/office/officeart/2005/8/layout/cycle2"/>
    <dgm:cxn modelId="{9016AF86-B80D-43F2-8899-9C967F5AD91B}" type="presOf" srcId="{DD79D47E-9B28-4A91-9F4C-CD59E7D39071}" destId="{7251402B-EB67-4B3A-A73E-022FC7F3DD71}" srcOrd="0" destOrd="0" presId="urn:microsoft.com/office/officeart/2005/8/layout/cycle2"/>
    <dgm:cxn modelId="{C9D4058E-0F17-4506-AC7B-B44DCFE4EA90}" type="presOf" srcId="{4A2D2BE2-3912-4364-B650-4D3B0B94710F}" destId="{76F8CAEE-AE04-4E7F-8BD1-E22E339E7D8B}" srcOrd="0" destOrd="0" presId="urn:microsoft.com/office/officeart/2005/8/layout/cycle2"/>
    <dgm:cxn modelId="{D8025B8F-4669-43FC-9AA1-3A60B032CDC8}" type="presOf" srcId="{0F5AF32C-58AB-47EA-88BD-F4C871172213}" destId="{EEB19E28-2EC4-4382-8703-3D88C1009E85}" srcOrd="1" destOrd="0" presId="urn:microsoft.com/office/officeart/2005/8/layout/cycle2"/>
    <dgm:cxn modelId="{5BEBC094-4A35-4D83-93B0-9D30F0F9F787}" type="presOf" srcId="{48D88FB0-AE5E-4E05-9856-2B89CE30BA34}" destId="{73A40D5A-73A5-4AC8-809C-E8188A1F667B}" srcOrd="0" destOrd="0" presId="urn:microsoft.com/office/officeart/2005/8/layout/cycle2"/>
    <dgm:cxn modelId="{25820498-74F8-4F79-80AC-19F566EDC2BF}" srcId="{8150556A-9A9A-4D79-8FBF-4FFADB98F9DE}" destId="{EFC3F480-978A-405E-A28E-806808DD754A}" srcOrd="5" destOrd="0" parTransId="{8B2703D8-291A-4615-847C-58ADCB244079}" sibTransId="{DD79D47E-9B28-4A91-9F4C-CD59E7D39071}"/>
    <dgm:cxn modelId="{DF9DA99B-9265-4A63-AC92-C005D737A672}" srcId="{8150556A-9A9A-4D79-8FBF-4FFADB98F9DE}" destId="{45A70D16-5A34-4FB3-97DA-5E72F0F9182A}" srcOrd="4" destOrd="0" parTransId="{C7AD2F1D-25FE-4E90-8797-701C8DEC5A9B}" sibTransId="{35D766B1-6A95-4C95-BF1A-7029132DB420}"/>
    <dgm:cxn modelId="{DE68AC9D-685C-4B78-B5B8-2BE60E2D0A4C}" type="presOf" srcId="{35D766B1-6A95-4C95-BF1A-7029132DB420}" destId="{E503CC2E-9BCD-4F97-AFA3-69855511795A}" srcOrd="0" destOrd="0" presId="urn:microsoft.com/office/officeart/2005/8/layout/cycle2"/>
    <dgm:cxn modelId="{50FF949F-C219-4E2B-94DC-B962D4BC9381}" srcId="{8150556A-9A9A-4D79-8FBF-4FFADB98F9DE}" destId="{CD84F0B5-5497-4470-9304-4FEFB7F570AD}" srcOrd="2" destOrd="0" parTransId="{D534C309-3EFE-4394-A757-B2A382179B54}" sibTransId="{0F5AF32C-58AB-47EA-88BD-F4C871172213}"/>
    <dgm:cxn modelId="{A5107FB5-3012-439F-B106-756C93A23905}" type="presOf" srcId="{DD79D47E-9B28-4A91-9F4C-CD59E7D39071}" destId="{ACFBDA63-3422-461D-B4EE-2B0FA44820F3}" srcOrd="1" destOrd="0" presId="urn:microsoft.com/office/officeart/2005/8/layout/cycle2"/>
    <dgm:cxn modelId="{58B32EC3-359E-427A-9C5C-B06989152FDA}" type="presOf" srcId="{CD84F0B5-5497-4470-9304-4FEFB7F570AD}" destId="{1CFE7AE0-D11C-4E37-A8BA-F2873703EF4E}" srcOrd="0" destOrd="0" presId="urn:microsoft.com/office/officeart/2005/8/layout/cycle2"/>
    <dgm:cxn modelId="{4D40D3C8-CBFF-4393-8ACF-DE6797BA40A3}" type="presOf" srcId="{45A70D16-5A34-4FB3-97DA-5E72F0F9182A}" destId="{E2D175B1-1375-45B8-9560-9B2A9B085952}" srcOrd="0" destOrd="0" presId="urn:microsoft.com/office/officeart/2005/8/layout/cycle2"/>
    <dgm:cxn modelId="{16EB36E4-30B5-4A56-8380-FE5C3F32DB6E}" type="presOf" srcId="{48D88FB0-AE5E-4E05-9856-2B89CE30BA34}" destId="{80FB30CA-5D89-4328-957E-713279FEEC2D}" srcOrd="1" destOrd="0" presId="urn:microsoft.com/office/officeart/2005/8/layout/cycle2"/>
    <dgm:cxn modelId="{7F445FBF-EC0B-4C44-BB37-3587778EF39B}" type="presParOf" srcId="{256EEC70-9EE7-4E9F-B512-DB4C96A8A6BF}" destId="{F86E1CA8-51A0-460F-9155-C2982470D759}" srcOrd="0" destOrd="0" presId="urn:microsoft.com/office/officeart/2005/8/layout/cycle2"/>
    <dgm:cxn modelId="{2A7D6B3C-52E0-4B9F-9DEE-77D7ACBE5DEA}" type="presParOf" srcId="{256EEC70-9EE7-4E9F-B512-DB4C96A8A6BF}" destId="{CA8EDD68-3B80-4F30-8080-556C2F1ECE8A}" srcOrd="1" destOrd="0" presId="urn:microsoft.com/office/officeart/2005/8/layout/cycle2"/>
    <dgm:cxn modelId="{DBF8EF8F-4E44-4D93-B507-C22A5127B58B}" type="presParOf" srcId="{CA8EDD68-3B80-4F30-8080-556C2F1ECE8A}" destId="{5A41F6B1-7561-4F1F-AE82-99886AFF9D53}" srcOrd="0" destOrd="0" presId="urn:microsoft.com/office/officeart/2005/8/layout/cycle2"/>
    <dgm:cxn modelId="{A4C76850-862A-4079-9FA9-3AC20D437C7A}" type="presParOf" srcId="{256EEC70-9EE7-4E9F-B512-DB4C96A8A6BF}" destId="{76F8CAEE-AE04-4E7F-8BD1-E22E339E7D8B}" srcOrd="2" destOrd="0" presId="urn:microsoft.com/office/officeart/2005/8/layout/cycle2"/>
    <dgm:cxn modelId="{30F17884-C009-42DE-9660-815085CBA720}" type="presParOf" srcId="{256EEC70-9EE7-4E9F-B512-DB4C96A8A6BF}" destId="{D4859258-D59B-4C59-ABAC-733547D6D062}" srcOrd="3" destOrd="0" presId="urn:microsoft.com/office/officeart/2005/8/layout/cycle2"/>
    <dgm:cxn modelId="{BFA0819F-F5CE-49A4-B6A5-27490897E231}" type="presParOf" srcId="{D4859258-D59B-4C59-ABAC-733547D6D062}" destId="{7A59EB78-F8FB-4449-92A0-1529FA6AEC4B}" srcOrd="0" destOrd="0" presId="urn:microsoft.com/office/officeart/2005/8/layout/cycle2"/>
    <dgm:cxn modelId="{69505BE5-276A-4759-8813-E36C5A74A6C2}" type="presParOf" srcId="{256EEC70-9EE7-4E9F-B512-DB4C96A8A6BF}" destId="{1CFE7AE0-D11C-4E37-A8BA-F2873703EF4E}" srcOrd="4" destOrd="0" presId="urn:microsoft.com/office/officeart/2005/8/layout/cycle2"/>
    <dgm:cxn modelId="{F3695A47-BC45-44F5-BD93-D072BE7AD42A}" type="presParOf" srcId="{256EEC70-9EE7-4E9F-B512-DB4C96A8A6BF}" destId="{85778837-7B02-47C5-9BD6-30E409B2EEC6}" srcOrd="5" destOrd="0" presId="urn:microsoft.com/office/officeart/2005/8/layout/cycle2"/>
    <dgm:cxn modelId="{4C0C706F-0B0E-4634-B9C2-FC95E81D426E}" type="presParOf" srcId="{85778837-7B02-47C5-9BD6-30E409B2EEC6}" destId="{EEB19E28-2EC4-4382-8703-3D88C1009E85}" srcOrd="0" destOrd="0" presId="urn:microsoft.com/office/officeart/2005/8/layout/cycle2"/>
    <dgm:cxn modelId="{FBEDD37C-3AB0-4D4B-B60A-5D2DBAC919DB}" type="presParOf" srcId="{256EEC70-9EE7-4E9F-B512-DB4C96A8A6BF}" destId="{040D1283-60B7-4326-AA8A-A15382763534}" srcOrd="6" destOrd="0" presId="urn:microsoft.com/office/officeart/2005/8/layout/cycle2"/>
    <dgm:cxn modelId="{A3594DB4-1888-407C-9A84-7111428CF35A}" type="presParOf" srcId="{256EEC70-9EE7-4E9F-B512-DB4C96A8A6BF}" destId="{73A40D5A-73A5-4AC8-809C-E8188A1F667B}" srcOrd="7" destOrd="0" presId="urn:microsoft.com/office/officeart/2005/8/layout/cycle2"/>
    <dgm:cxn modelId="{4439D3C6-4DB2-44AD-A52B-5972F130464A}" type="presParOf" srcId="{73A40D5A-73A5-4AC8-809C-E8188A1F667B}" destId="{80FB30CA-5D89-4328-957E-713279FEEC2D}" srcOrd="0" destOrd="0" presId="urn:microsoft.com/office/officeart/2005/8/layout/cycle2"/>
    <dgm:cxn modelId="{8D72AEF4-7D81-45F6-8F11-885C14217EB6}" type="presParOf" srcId="{256EEC70-9EE7-4E9F-B512-DB4C96A8A6BF}" destId="{E2D175B1-1375-45B8-9560-9B2A9B085952}" srcOrd="8" destOrd="0" presId="urn:microsoft.com/office/officeart/2005/8/layout/cycle2"/>
    <dgm:cxn modelId="{9938C8DE-3C1C-4731-BE8E-7A6E5FC05ECD}" type="presParOf" srcId="{256EEC70-9EE7-4E9F-B512-DB4C96A8A6BF}" destId="{E503CC2E-9BCD-4F97-AFA3-69855511795A}" srcOrd="9" destOrd="0" presId="urn:microsoft.com/office/officeart/2005/8/layout/cycle2"/>
    <dgm:cxn modelId="{5B5CE23F-20BF-4C0F-9AFC-7D0F2784FAAE}" type="presParOf" srcId="{E503CC2E-9BCD-4F97-AFA3-69855511795A}" destId="{593924B5-22FD-4DBD-8031-2457FC2A295E}" srcOrd="0" destOrd="0" presId="urn:microsoft.com/office/officeart/2005/8/layout/cycle2"/>
    <dgm:cxn modelId="{938D0C8F-A4A0-44BB-8F6A-26EFA1CF7696}" type="presParOf" srcId="{256EEC70-9EE7-4E9F-B512-DB4C96A8A6BF}" destId="{3D4BD281-2757-440D-9C96-914E4E4454C7}" srcOrd="10" destOrd="0" presId="urn:microsoft.com/office/officeart/2005/8/layout/cycle2"/>
    <dgm:cxn modelId="{F6140282-AE4C-461B-A232-DCE66AF62C01}" type="presParOf" srcId="{256EEC70-9EE7-4E9F-B512-DB4C96A8A6BF}" destId="{7251402B-EB67-4B3A-A73E-022FC7F3DD71}" srcOrd="11" destOrd="0" presId="urn:microsoft.com/office/officeart/2005/8/layout/cycle2"/>
    <dgm:cxn modelId="{548254A7-22FE-4F4B-85CD-745E4EF7EF05}" type="presParOf" srcId="{7251402B-EB67-4B3A-A73E-022FC7F3DD71}" destId="{ACFBDA63-3422-461D-B4EE-2B0FA44820F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FA21E0-62C9-41CD-AC07-1C3CB3CE9CB8}"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A98ADD09-389E-44D7-A9B8-31E6192BEB31}">
      <dgm:prSet phldrT="[Text]" phldr="0"/>
      <dgm:spPr/>
      <dgm:t>
        <a:bodyPr/>
        <a:lstStyle/>
        <a:p>
          <a:r>
            <a:rPr lang="en-US" dirty="0"/>
            <a:t>Thông </a:t>
          </a:r>
          <a:r>
            <a:rPr lang="en-US" dirty="0" err="1"/>
            <a:t>số</a:t>
          </a:r>
          <a:r>
            <a:rPr lang="en-US" dirty="0"/>
            <a:t> </a:t>
          </a:r>
          <a:r>
            <a:rPr lang="en-US" dirty="0" err="1"/>
            <a:t>mục</a:t>
          </a:r>
          <a:r>
            <a:rPr lang="en-US" dirty="0"/>
            <a:t> </a:t>
          </a:r>
          <a:r>
            <a:rPr lang="en-US" dirty="0" err="1"/>
            <a:t>tiêu</a:t>
          </a:r>
          <a:endParaRPr lang="en-US" dirty="0"/>
        </a:p>
      </dgm:t>
    </dgm:pt>
    <dgm:pt modelId="{7655C58B-4201-4037-9207-C36E9067480B}" type="parTrans" cxnId="{588D3040-981F-4701-8757-5C9922E39EE6}">
      <dgm:prSet/>
      <dgm:spPr/>
      <dgm:t>
        <a:bodyPr/>
        <a:lstStyle/>
        <a:p>
          <a:endParaRPr lang="en-US"/>
        </a:p>
      </dgm:t>
    </dgm:pt>
    <dgm:pt modelId="{A1765A80-825B-4829-9EA9-AD01BCA7A929}" type="sibTrans" cxnId="{588D3040-981F-4701-8757-5C9922E39EE6}">
      <dgm:prSet/>
      <dgm:spPr/>
      <dgm:t>
        <a:bodyPr/>
        <a:lstStyle/>
        <a:p>
          <a:endParaRPr lang="en-US"/>
        </a:p>
      </dgm:t>
    </dgm:pt>
    <dgm:pt modelId="{21D2D6FA-5591-4494-AABE-B2151740E0D6}">
      <dgm:prSet phldrT="[Text]" phldr="0"/>
      <dgm:spPr/>
      <dgm:t>
        <a:bodyPr/>
        <a:lstStyle/>
        <a:p>
          <a:r>
            <a:rPr lang="en-US" dirty="0" err="1"/>
            <a:t>Lựa</a:t>
          </a:r>
          <a:r>
            <a:rPr lang="en-US" dirty="0"/>
            <a:t> </a:t>
          </a:r>
          <a:r>
            <a:rPr lang="en-US" dirty="0" err="1"/>
            <a:t>chọn</a:t>
          </a:r>
          <a:r>
            <a:rPr lang="en-US" dirty="0"/>
            <a:t> </a:t>
          </a:r>
          <a:r>
            <a:rPr lang="en-US" dirty="0" err="1"/>
            <a:t>cảm</a:t>
          </a:r>
          <a:r>
            <a:rPr lang="en-US" dirty="0"/>
            <a:t> </a:t>
          </a:r>
          <a:r>
            <a:rPr lang="en-US" dirty="0" err="1"/>
            <a:t>biến</a:t>
          </a:r>
          <a:endParaRPr lang="en-US" dirty="0"/>
        </a:p>
      </dgm:t>
    </dgm:pt>
    <dgm:pt modelId="{9E5BC579-11BC-4BA4-8FD8-AA4CFF356E1C}" type="parTrans" cxnId="{38134DE8-7680-449B-A6D3-D28A780F0FF4}">
      <dgm:prSet/>
      <dgm:spPr/>
      <dgm:t>
        <a:bodyPr/>
        <a:lstStyle/>
        <a:p>
          <a:endParaRPr lang="en-US"/>
        </a:p>
      </dgm:t>
    </dgm:pt>
    <dgm:pt modelId="{86BE9527-D2A9-42C0-A6D7-738C4D0F5DCD}" type="sibTrans" cxnId="{38134DE8-7680-449B-A6D3-D28A780F0FF4}">
      <dgm:prSet/>
      <dgm:spPr/>
      <dgm:t>
        <a:bodyPr/>
        <a:lstStyle/>
        <a:p>
          <a:endParaRPr lang="en-US"/>
        </a:p>
      </dgm:t>
    </dgm:pt>
    <dgm:pt modelId="{96D2B8B3-C6C6-4F7C-A84B-9C3A8C4D7303}">
      <dgm:prSet phldrT="[Text]" phldr="0"/>
      <dgm:spPr/>
      <dgm:t>
        <a:bodyPr/>
        <a:lstStyle/>
        <a:p>
          <a:r>
            <a:rPr lang="en-US" dirty="0" err="1"/>
            <a:t>Kiến</a:t>
          </a:r>
          <a:r>
            <a:rPr lang="en-US" dirty="0"/>
            <a:t> </a:t>
          </a:r>
          <a:r>
            <a:rPr lang="en-US" dirty="0" err="1"/>
            <a:t>trúc</a:t>
          </a:r>
          <a:r>
            <a:rPr lang="en-US" dirty="0"/>
            <a:t> </a:t>
          </a:r>
          <a:r>
            <a:rPr lang="en-US" dirty="0" err="1"/>
            <a:t>hệ</a:t>
          </a:r>
          <a:r>
            <a:rPr lang="en-US" dirty="0"/>
            <a:t> </a:t>
          </a:r>
          <a:r>
            <a:rPr lang="en-US" dirty="0" err="1"/>
            <a:t>thống</a:t>
          </a:r>
          <a:endParaRPr lang="en-US" dirty="0"/>
        </a:p>
      </dgm:t>
    </dgm:pt>
    <dgm:pt modelId="{3A5CB217-9B88-43EC-A2BE-E8B76B2C1D5E}" type="parTrans" cxnId="{F3BE230C-20EE-4CBF-A5BC-4DDCFAA507F5}">
      <dgm:prSet/>
      <dgm:spPr/>
      <dgm:t>
        <a:bodyPr/>
        <a:lstStyle/>
        <a:p>
          <a:endParaRPr lang="en-US"/>
        </a:p>
      </dgm:t>
    </dgm:pt>
    <dgm:pt modelId="{A5A9A69B-C3C3-404F-8C30-34054DCC0FE8}" type="sibTrans" cxnId="{F3BE230C-20EE-4CBF-A5BC-4DDCFAA507F5}">
      <dgm:prSet/>
      <dgm:spPr/>
      <dgm:t>
        <a:bodyPr/>
        <a:lstStyle/>
        <a:p>
          <a:endParaRPr lang="en-US"/>
        </a:p>
      </dgm:t>
    </dgm:pt>
    <dgm:pt modelId="{C66BE9B2-5405-493B-8E0B-EA801043BE6B}" type="pres">
      <dgm:prSet presAssocID="{29FA21E0-62C9-41CD-AC07-1C3CB3CE9CB8}" presName="Name0" presStyleCnt="0">
        <dgm:presLayoutVars>
          <dgm:dir/>
          <dgm:resizeHandles val="exact"/>
        </dgm:presLayoutVars>
      </dgm:prSet>
      <dgm:spPr/>
    </dgm:pt>
    <dgm:pt modelId="{4CCFFABD-2461-4B6C-871B-7925EDD9AAEB}" type="pres">
      <dgm:prSet presAssocID="{A98ADD09-389E-44D7-A9B8-31E6192BEB31}" presName="node" presStyleLbl="node1" presStyleIdx="0" presStyleCnt="3">
        <dgm:presLayoutVars>
          <dgm:bulletEnabled val="1"/>
        </dgm:presLayoutVars>
      </dgm:prSet>
      <dgm:spPr/>
    </dgm:pt>
    <dgm:pt modelId="{3EEB593E-9C95-48DE-8B8B-5E7656E2C07F}" type="pres">
      <dgm:prSet presAssocID="{A1765A80-825B-4829-9EA9-AD01BCA7A929}" presName="sibTrans" presStyleLbl="sibTrans2D1" presStyleIdx="0" presStyleCnt="2"/>
      <dgm:spPr/>
    </dgm:pt>
    <dgm:pt modelId="{6F7EA39A-F91B-4467-8498-46F65ABEF8E5}" type="pres">
      <dgm:prSet presAssocID="{A1765A80-825B-4829-9EA9-AD01BCA7A929}" presName="connectorText" presStyleLbl="sibTrans2D1" presStyleIdx="0" presStyleCnt="2"/>
      <dgm:spPr/>
    </dgm:pt>
    <dgm:pt modelId="{2A1F56B7-8369-4963-98A7-A559E86EA2C0}" type="pres">
      <dgm:prSet presAssocID="{21D2D6FA-5591-4494-AABE-B2151740E0D6}" presName="node" presStyleLbl="node1" presStyleIdx="1" presStyleCnt="3">
        <dgm:presLayoutVars>
          <dgm:bulletEnabled val="1"/>
        </dgm:presLayoutVars>
      </dgm:prSet>
      <dgm:spPr/>
    </dgm:pt>
    <dgm:pt modelId="{3FD33AC0-11AA-4416-9720-BEBA4D49B098}" type="pres">
      <dgm:prSet presAssocID="{86BE9527-D2A9-42C0-A6D7-738C4D0F5DCD}" presName="sibTrans" presStyleLbl="sibTrans2D1" presStyleIdx="1" presStyleCnt="2"/>
      <dgm:spPr/>
    </dgm:pt>
    <dgm:pt modelId="{1E102A21-39CF-4EB0-B608-0AF37F650A7F}" type="pres">
      <dgm:prSet presAssocID="{86BE9527-D2A9-42C0-A6D7-738C4D0F5DCD}" presName="connectorText" presStyleLbl="sibTrans2D1" presStyleIdx="1" presStyleCnt="2"/>
      <dgm:spPr/>
    </dgm:pt>
    <dgm:pt modelId="{403B880D-976F-41C1-977C-281B45181993}" type="pres">
      <dgm:prSet presAssocID="{96D2B8B3-C6C6-4F7C-A84B-9C3A8C4D7303}" presName="node" presStyleLbl="node1" presStyleIdx="2" presStyleCnt="3">
        <dgm:presLayoutVars>
          <dgm:bulletEnabled val="1"/>
        </dgm:presLayoutVars>
      </dgm:prSet>
      <dgm:spPr/>
    </dgm:pt>
  </dgm:ptLst>
  <dgm:cxnLst>
    <dgm:cxn modelId="{F3BE230C-20EE-4CBF-A5BC-4DDCFAA507F5}" srcId="{29FA21E0-62C9-41CD-AC07-1C3CB3CE9CB8}" destId="{96D2B8B3-C6C6-4F7C-A84B-9C3A8C4D7303}" srcOrd="2" destOrd="0" parTransId="{3A5CB217-9B88-43EC-A2BE-E8B76B2C1D5E}" sibTransId="{A5A9A69B-C3C3-404F-8C30-34054DCC0FE8}"/>
    <dgm:cxn modelId="{F69EB81F-012A-46CF-A312-D0BAE341F927}" type="presOf" srcId="{86BE9527-D2A9-42C0-A6D7-738C4D0F5DCD}" destId="{1E102A21-39CF-4EB0-B608-0AF37F650A7F}" srcOrd="1" destOrd="0" presId="urn:microsoft.com/office/officeart/2005/8/layout/process1"/>
    <dgm:cxn modelId="{33CA3D26-7010-4E82-B912-030FA8CA0422}" type="presOf" srcId="{21D2D6FA-5591-4494-AABE-B2151740E0D6}" destId="{2A1F56B7-8369-4963-98A7-A559E86EA2C0}" srcOrd="0" destOrd="0" presId="urn:microsoft.com/office/officeart/2005/8/layout/process1"/>
    <dgm:cxn modelId="{588D3040-981F-4701-8757-5C9922E39EE6}" srcId="{29FA21E0-62C9-41CD-AC07-1C3CB3CE9CB8}" destId="{A98ADD09-389E-44D7-A9B8-31E6192BEB31}" srcOrd="0" destOrd="0" parTransId="{7655C58B-4201-4037-9207-C36E9067480B}" sibTransId="{A1765A80-825B-4829-9EA9-AD01BCA7A929}"/>
    <dgm:cxn modelId="{AFA7C274-CA05-4628-B68B-3317FBCACDF5}" type="presOf" srcId="{A1765A80-825B-4829-9EA9-AD01BCA7A929}" destId="{3EEB593E-9C95-48DE-8B8B-5E7656E2C07F}" srcOrd="0" destOrd="0" presId="urn:microsoft.com/office/officeart/2005/8/layout/process1"/>
    <dgm:cxn modelId="{1661CB77-3E3C-4E04-A1AB-0AD9A76C26E1}" type="presOf" srcId="{A1765A80-825B-4829-9EA9-AD01BCA7A929}" destId="{6F7EA39A-F91B-4467-8498-46F65ABEF8E5}" srcOrd="1" destOrd="0" presId="urn:microsoft.com/office/officeart/2005/8/layout/process1"/>
    <dgm:cxn modelId="{26EE818A-57B2-4893-AF38-D0663068E586}" type="presOf" srcId="{86BE9527-D2A9-42C0-A6D7-738C4D0F5DCD}" destId="{3FD33AC0-11AA-4416-9720-BEBA4D49B098}" srcOrd="0" destOrd="0" presId="urn:microsoft.com/office/officeart/2005/8/layout/process1"/>
    <dgm:cxn modelId="{CB3DDCA0-5494-483C-9A48-D3CA44C5F375}" type="presOf" srcId="{96D2B8B3-C6C6-4F7C-A84B-9C3A8C4D7303}" destId="{403B880D-976F-41C1-977C-281B45181993}" srcOrd="0" destOrd="0" presId="urn:microsoft.com/office/officeart/2005/8/layout/process1"/>
    <dgm:cxn modelId="{606C0ABA-4220-4038-B49C-7D72CED65410}" type="presOf" srcId="{29FA21E0-62C9-41CD-AC07-1C3CB3CE9CB8}" destId="{C66BE9B2-5405-493B-8E0B-EA801043BE6B}" srcOrd="0" destOrd="0" presId="urn:microsoft.com/office/officeart/2005/8/layout/process1"/>
    <dgm:cxn modelId="{38134DE8-7680-449B-A6D3-D28A780F0FF4}" srcId="{29FA21E0-62C9-41CD-AC07-1C3CB3CE9CB8}" destId="{21D2D6FA-5591-4494-AABE-B2151740E0D6}" srcOrd="1" destOrd="0" parTransId="{9E5BC579-11BC-4BA4-8FD8-AA4CFF356E1C}" sibTransId="{86BE9527-D2A9-42C0-A6D7-738C4D0F5DCD}"/>
    <dgm:cxn modelId="{7ED7ACED-17D4-43FC-AB58-B8FCA42D22CD}" type="presOf" srcId="{A98ADD09-389E-44D7-A9B8-31E6192BEB31}" destId="{4CCFFABD-2461-4B6C-871B-7925EDD9AAEB}" srcOrd="0" destOrd="0" presId="urn:microsoft.com/office/officeart/2005/8/layout/process1"/>
    <dgm:cxn modelId="{A1B8DF26-8C16-415A-A050-0BC4E3717103}" type="presParOf" srcId="{C66BE9B2-5405-493B-8E0B-EA801043BE6B}" destId="{4CCFFABD-2461-4B6C-871B-7925EDD9AAEB}" srcOrd="0" destOrd="0" presId="urn:microsoft.com/office/officeart/2005/8/layout/process1"/>
    <dgm:cxn modelId="{803ED7AD-1308-4645-99E4-66E48C0BE4FB}" type="presParOf" srcId="{C66BE9B2-5405-493B-8E0B-EA801043BE6B}" destId="{3EEB593E-9C95-48DE-8B8B-5E7656E2C07F}" srcOrd="1" destOrd="0" presId="urn:microsoft.com/office/officeart/2005/8/layout/process1"/>
    <dgm:cxn modelId="{964670F3-6610-4BAD-A627-A8C3A1567354}" type="presParOf" srcId="{3EEB593E-9C95-48DE-8B8B-5E7656E2C07F}" destId="{6F7EA39A-F91B-4467-8498-46F65ABEF8E5}" srcOrd="0" destOrd="0" presId="urn:microsoft.com/office/officeart/2005/8/layout/process1"/>
    <dgm:cxn modelId="{DF82DBCF-19A9-4FD0-8922-AC4E1C21C161}" type="presParOf" srcId="{C66BE9B2-5405-493B-8E0B-EA801043BE6B}" destId="{2A1F56B7-8369-4963-98A7-A559E86EA2C0}" srcOrd="2" destOrd="0" presId="urn:microsoft.com/office/officeart/2005/8/layout/process1"/>
    <dgm:cxn modelId="{F3C36480-04D6-44AD-8D62-D2E2C74A3F9A}" type="presParOf" srcId="{C66BE9B2-5405-493B-8E0B-EA801043BE6B}" destId="{3FD33AC0-11AA-4416-9720-BEBA4D49B098}" srcOrd="3" destOrd="0" presId="urn:microsoft.com/office/officeart/2005/8/layout/process1"/>
    <dgm:cxn modelId="{51E1CB63-497B-4F55-8352-9640759F25E2}" type="presParOf" srcId="{3FD33AC0-11AA-4416-9720-BEBA4D49B098}" destId="{1E102A21-39CF-4EB0-B608-0AF37F650A7F}" srcOrd="0" destOrd="0" presId="urn:microsoft.com/office/officeart/2005/8/layout/process1"/>
    <dgm:cxn modelId="{4445DB85-BB4E-4E83-88AB-82964EA2F70D}" type="presParOf" srcId="{C66BE9B2-5405-493B-8E0B-EA801043BE6B}" destId="{403B880D-976F-41C1-977C-281B45181993}"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6E1CA8-51A0-460F-9155-C2982470D759}">
      <dsp:nvSpPr>
        <dsp:cNvPr id="0" name=""/>
        <dsp:cNvSpPr/>
      </dsp:nvSpPr>
      <dsp:spPr>
        <a:xfrm>
          <a:off x="4877618" y="1385"/>
          <a:ext cx="1217562" cy="1217562"/>
        </a:xfrm>
        <a:prstGeom prst="ellipse">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err="1"/>
            <a:t>Xác</a:t>
          </a:r>
          <a:r>
            <a:rPr lang="en-US" sz="1400" b="1" kern="1200" dirty="0"/>
            <a:t> </a:t>
          </a:r>
          <a:r>
            <a:rPr lang="en-US" sz="1400" b="1" kern="1200" dirty="0" err="1"/>
            <a:t>định</a:t>
          </a:r>
          <a:r>
            <a:rPr lang="en-US" sz="1400" b="1" kern="1200" dirty="0"/>
            <a:t> </a:t>
          </a:r>
          <a:r>
            <a:rPr lang="en-US" sz="1400" b="1" kern="1200" dirty="0" err="1"/>
            <a:t>thông</a:t>
          </a:r>
          <a:r>
            <a:rPr lang="en-US" sz="1400" b="1" kern="1200" dirty="0"/>
            <a:t> </a:t>
          </a:r>
          <a:r>
            <a:rPr lang="en-US" sz="1400" b="1" kern="1200" dirty="0" err="1"/>
            <a:t>số</a:t>
          </a:r>
          <a:r>
            <a:rPr lang="en-US" sz="1400" b="1" kern="1200" dirty="0"/>
            <a:t> </a:t>
          </a:r>
          <a:r>
            <a:rPr lang="en-US" sz="1400" b="1" kern="1200" dirty="0" err="1"/>
            <a:t>mục</a:t>
          </a:r>
          <a:r>
            <a:rPr lang="en-US" sz="1400" b="1" kern="1200" dirty="0"/>
            <a:t> </a:t>
          </a:r>
          <a:r>
            <a:rPr lang="en-US" sz="1400" b="1" kern="1200" dirty="0" err="1"/>
            <a:t>tiêu</a:t>
          </a:r>
          <a:endParaRPr lang="en-US" sz="1400" b="1" kern="1200" dirty="0"/>
        </a:p>
      </dsp:txBody>
      <dsp:txXfrm>
        <a:off x="5055926" y="179693"/>
        <a:ext cx="860946" cy="860946"/>
      </dsp:txXfrm>
    </dsp:sp>
    <dsp:sp modelId="{CA8EDD68-3B80-4F30-8080-556C2F1ECE8A}">
      <dsp:nvSpPr>
        <dsp:cNvPr id="0" name=""/>
        <dsp:cNvSpPr/>
      </dsp:nvSpPr>
      <dsp:spPr>
        <a:xfrm rot="1800000">
          <a:off x="6108287" y="857181"/>
          <a:ext cx="323655" cy="41092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6114791" y="915092"/>
        <a:ext cx="226559" cy="246557"/>
      </dsp:txXfrm>
    </dsp:sp>
    <dsp:sp modelId="{76F8CAEE-AE04-4E7F-8BD1-E22E339E7D8B}">
      <dsp:nvSpPr>
        <dsp:cNvPr id="0" name=""/>
        <dsp:cNvSpPr/>
      </dsp:nvSpPr>
      <dsp:spPr>
        <a:xfrm>
          <a:off x="6460914" y="915501"/>
          <a:ext cx="1217562" cy="1217562"/>
        </a:xfrm>
        <a:prstGeom prst="ellipse">
          <a:avLst/>
        </a:prstGeom>
        <a:solidFill>
          <a:schemeClr val="accent3">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t>Xây </a:t>
          </a:r>
          <a:r>
            <a:rPr lang="en-US" sz="1400" b="1" kern="1200" dirty="0" err="1"/>
            <a:t>dựng</a:t>
          </a:r>
          <a:r>
            <a:rPr lang="en-US" sz="1400" b="1" kern="1200" dirty="0"/>
            <a:t> </a:t>
          </a:r>
          <a:r>
            <a:rPr lang="en-US" sz="1400" b="1" kern="1200" dirty="0" err="1"/>
            <a:t>phương</a:t>
          </a:r>
          <a:r>
            <a:rPr lang="en-US" sz="1400" b="1" kern="1200" dirty="0"/>
            <a:t> </a:t>
          </a:r>
          <a:r>
            <a:rPr lang="en-US" sz="1400" b="1" kern="1200" dirty="0" err="1"/>
            <a:t>án</a:t>
          </a:r>
          <a:r>
            <a:rPr lang="en-US" sz="1400" b="1" kern="1200" dirty="0"/>
            <a:t> </a:t>
          </a:r>
          <a:r>
            <a:rPr lang="en-US" sz="1400" b="1" kern="1200" dirty="0" err="1"/>
            <a:t>thiết</a:t>
          </a:r>
          <a:r>
            <a:rPr lang="en-US" sz="1400" b="1" kern="1200" dirty="0"/>
            <a:t> </a:t>
          </a:r>
          <a:r>
            <a:rPr lang="en-US" sz="1400" b="1" kern="1200" dirty="0" err="1"/>
            <a:t>kế</a:t>
          </a:r>
          <a:endParaRPr lang="en-US" sz="1400" b="1" kern="1200" dirty="0"/>
        </a:p>
      </dsp:txBody>
      <dsp:txXfrm>
        <a:off x="6639222" y="1093809"/>
        <a:ext cx="860946" cy="860946"/>
      </dsp:txXfrm>
    </dsp:sp>
    <dsp:sp modelId="{D4859258-D59B-4C59-ABAC-733547D6D062}">
      <dsp:nvSpPr>
        <dsp:cNvPr id="0" name=""/>
        <dsp:cNvSpPr/>
      </dsp:nvSpPr>
      <dsp:spPr>
        <a:xfrm rot="5400000">
          <a:off x="6907868" y="2223776"/>
          <a:ext cx="323655" cy="410927"/>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6956416" y="2257413"/>
        <a:ext cx="226559" cy="246557"/>
      </dsp:txXfrm>
    </dsp:sp>
    <dsp:sp modelId="{1CFE7AE0-D11C-4E37-A8BA-F2873703EF4E}">
      <dsp:nvSpPr>
        <dsp:cNvPr id="0" name=""/>
        <dsp:cNvSpPr/>
      </dsp:nvSpPr>
      <dsp:spPr>
        <a:xfrm>
          <a:off x="6460914" y="2743735"/>
          <a:ext cx="1217562" cy="1217562"/>
        </a:xfrm>
        <a:prstGeom prst="ellipse">
          <a:avLst/>
        </a:prstGeom>
        <a:solidFill>
          <a:schemeClr val="accent4">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t>Thiết </a:t>
          </a:r>
          <a:r>
            <a:rPr lang="en-US" sz="1400" b="1" kern="1200" dirty="0" err="1"/>
            <a:t>kế</a:t>
          </a:r>
          <a:r>
            <a:rPr lang="en-US" sz="1400" b="1" kern="1200" dirty="0"/>
            <a:t> PCB, </a:t>
          </a:r>
          <a:r>
            <a:rPr lang="en-US" sz="1400" b="1" kern="1200" dirty="0" err="1"/>
            <a:t>tủ</a:t>
          </a:r>
          <a:r>
            <a:rPr lang="en-US" sz="1400" b="1" kern="1200" dirty="0"/>
            <a:t> </a:t>
          </a:r>
          <a:r>
            <a:rPr lang="en-US" sz="1400" b="1" kern="1200" dirty="0" err="1"/>
            <a:t>điện</a:t>
          </a:r>
          <a:endParaRPr lang="en-US" sz="1400" b="1" kern="1200" dirty="0"/>
        </a:p>
      </dsp:txBody>
      <dsp:txXfrm>
        <a:off x="6639222" y="2922043"/>
        <a:ext cx="860946" cy="860946"/>
      </dsp:txXfrm>
    </dsp:sp>
    <dsp:sp modelId="{85778837-7B02-47C5-9BD6-30E409B2EEC6}">
      <dsp:nvSpPr>
        <dsp:cNvPr id="0" name=""/>
        <dsp:cNvSpPr/>
      </dsp:nvSpPr>
      <dsp:spPr>
        <a:xfrm rot="9000000">
          <a:off x="6124153" y="3599531"/>
          <a:ext cx="323655" cy="41092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6214745" y="3657442"/>
        <a:ext cx="226559" cy="246557"/>
      </dsp:txXfrm>
    </dsp:sp>
    <dsp:sp modelId="{040D1283-60B7-4326-AA8A-A15382763534}">
      <dsp:nvSpPr>
        <dsp:cNvPr id="0" name=""/>
        <dsp:cNvSpPr/>
      </dsp:nvSpPr>
      <dsp:spPr>
        <a:xfrm>
          <a:off x="4877618" y="3657851"/>
          <a:ext cx="1217562" cy="1217562"/>
        </a:xfrm>
        <a:prstGeom prst="ellipse">
          <a:avLst/>
        </a:prstGeom>
        <a:solidFill>
          <a:schemeClr val="accent5">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err="1"/>
            <a:t>Mô</a:t>
          </a:r>
          <a:r>
            <a:rPr lang="en-US" sz="1400" b="1" kern="1200" dirty="0"/>
            <a:t> </a:t>
          </a:r>
          <a:r>
            <a:rPr lang="en-US" sz="1400" b="1" kern="1200" dirty="0" err="1"/>
            <a:t>phỏng</a:t>
          </a:r>
          <a:r>
            <a:rPr lang="en-US" sz="1400" b="1" kern="1200" dirty="0"/>
            <a:t> </a:t>
          </a:r>
          <a:r>
            <a:rPr lang="en-US" sz="1400" b="1" kern="1200" dirty="0" err="1"/>
            <a:t>và</a:t>
          </a:r>
          <a:r>
            <a:rPr lang="en-US" sz="1400" b="1" kern="1200" dirty="0"/>
            <a:t> </a:t>
          </a:r>
          <a:r>
            <a:rPr lang="en-US" sz="1400" b="1" kern="1200" dirty="0" err="1"/>
            <a:t>tính</a:t>
          </a:r>
          <a:r>
            <a:rPr lang="en-US" sz="1400" b="1" kern="1200" dirty="0"/>
            <a:t> </a:t>
          </a:r>
          <a:r>
            <a:rPr lang="en-US" sz="1400" b="1" kern="1200" dirty="0" err="1"/>
            <a:t>toán</a:t>
          </a:r>
          <a:r>
            <a:rPr lang="en-US" sz="1400" b="1" kern="1200" dirty="0"/>
            <a:t> </a:t>
          </a:r>
          <a:r>
            <a:rPr lang="en-US" sz="1400" b="1" kern="1200" dirty="0" err="1"/>
            <a:t>tối</a:t>
          </a:r>
          <a:r>
            <a:rPr lang="en-US" sz="1400" b="1" kern="1200" dirty="0"/>
            <a:t> </a:t>
          </a:r>
          <a:r>
            <a:rPr lang="en-US" sz="1400" b="1" kern="1200" dirty="0" err="1"/>
            <a:t>ưu</a:t>
          </a:r>
          <a:endParaRPr lang="en-US" sz="1400" b="1" kern="1200" dirty="0"/>
        </a:p>
      </dsp:txBody>
      <dsp:txXfrm>
        <a:off x="5055926" y="3836159"/>
        <a:ext cx="860946" cy="860946"/>
      </dsp:txXfrm>
    </dsp:sp>
    <dsp:sp modelId="{73A40D5A-73A5-4AC8-809C-E8188A1F667B}">
      <dsp:nvSpPr>
        <dsp:cNvPr id="0" name=""/>
        <dsp:cNvSpPr/>
      </dsp:nvSpPr>
      <dsp:spPr>
        <a:xfrm rot="12600000">
          <a:off x="4540856" y="3608691"/>
          <a:ext cx="323655" cy="41092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4631448" y="3715150"/>
        <a:ext cx="226559" cy="246557"/>
      </dsp:txXfrm>
    </dsp:sp>
    <dsp:sp modelId="{E2D175B1-1375-45B8-9560-9B2A9B085952}">
      <dsp:nvSpPr>
        <dsp:cNvPr id="0" name=""/>
        <dsp:cNvSpPr/>
      </dsp:nvSpPr>
      <dsp:spPr>
        <a:xfrm>
          <a:off x="3294322" y="2743735"/>
          <a:ext cx="1217562" cy="1217562"/>
        </a:xfrm>
        <a:prstGeom prst="ellipse">
          <a:avLst/>
        </a:prstGeom>
        <a:solidFill>
          <a:schemeClr val="accent6">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t>Chế </a:t>
          </a:r>
          <a:r>
            <a:rPr lang="en-US" sz="1400" b="1" kern="1200" dirty="0" err="1"/>
            <a:t>tạo</a:t>
          </a:r>
          <a:r>
            <a:rPr lang="en-US" sz="1400" b="1" kern="1200" dirty="0"/>
            <a:t> </a:t>
          </a:r>
          <a:r>
            <a:rPr lang="en-US" sz="1400" b="1" kern="1200" dirty="0" err="1"/>
            <a:t>mẫu</a:t>
          </a:r>
          <a:r>
            <a:rPr lang="en-US" sz="1400" b="1" kern="1200" dirty="0"/>
            <a:t> </a:t>
          </a:r>
          <a:r>
            <a:rPr lang="en-US" sz="1400" b="1" kern="1200" dirty="0" err="1"/>
            <a:t>thử</a:t>
          </a:r>
          <a:endParaRPr lang="en-US" sz="1400" b="1" kern="1200" dirty="0"/>
        </a:p>
      </dsp:txBody>
      <dsp:txXfrm>
        <a:off x="3472630" y="2922043"/>
        <a:ext cx="860946" cy="860946"/>
      </dsp:txXfrm>
    </dsp:sp>
    <dsp:sp modelId="{E503CC2E-9BCD-4F97-AFA3-69855511795A}">
      <dsp:nvSpPr>
        <dsp:cNvPr id="0" name=""/>
        <dsp:cNvSpPr/>
      </dsp:nvSpPr>
      <dsp:spPr>
        <a:xfrm rot="16200000">
          <a:off x="3741275" y="2242096"/>
          <a:ext cx="323655" cy="410927"/>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789823" y="2372829"/>
        <a:ext cx="226559" cy="246557"/>
      </dsp:txXfrm>
    </dsp:sp>
    <dsp:sp modelId="{3D4BD281-2757-440D-9C96-914E4E4454C7}">
      <dsp:nvSpPr>
        <dsp:cNvPr id="0" name=""/>
        <dsp:cNvSpPr/>
      </dsp:nvSpPr>
      <dsp:spPr>
        <a:xfrm>
          <a:off x="3294322" y="915501"/>
          <a:ext cx="1217562" cy="1217562"/>
        </a:xfrm>
        <a:prstGeom prst="ellipse">
          <a:avLst/>
        </a:prstGeom>
        <a:solidFill>
          <a:schemeClr val="accent2">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err="1"/>
            <a:t>Thử</a:t>
          </a:r>
          <a:r>
            <a:rPr lang="en-US" sz="1400" b="1" kern="1200" dirty="0"/>
            <a:t> </a:t>
          </a:r>
          <a:r>
            <a:rPr lang="en-US" sz="1400" b="1" kern="1200" dirty="0" err="1"/>
            <a:t>nghiệm</a:t>
          </a:r>
          <a:r>
            <a:rPr lang="en-US" sz="1400" b="1" kern="1200" dirty="0"/>
            <a:t> </a:t>
          </a:r>
          <a:r>
            <a:rPr lang="en-US" sz="1400" b="1" kern="1200" dirty="0" err="1"/>
            <a:t>và</a:t>
          </a:r>
          <a:r>
            <a:rPr lang="en-US" sz="1400" b="1" kern="1200" dirty="0"/>
            <a:t> </a:t>
          </a:r>
          <a:r>
            <a:rPr lang="en-US" sz="1400" b="1" kern="1200" dirty="0" err="1"/>
            <a:t>cải</a:t>
          </a:r>
          <a:r>
            <a:rPr lang="en-US" sz="1400" b="1" kern="1200" dirty="0"/>
            <a:t> </a:t>
          </a:r>
          <a:r>
            <a:rPr lang="en-US" sz="1400" b="1" kern="1200" dirty="0" err="1"/>
            <a:t>tiến</a:t>
          </a:r>
          <a:endParaRPr lang="en-US" sz="1400" b="1" kern="1200" dirty="0"/>
        </a:p>
      </dsp:txBody>
      <dsp:txXfrm>
        <a:off x="3472630" y="1093809"/>
        <a:ext cx="860946" cy="860946"/>
      </dsp:txXfrm>
    </dsp:sp>
    <dsp:sp modelId="{7251402B-EB67-4B3A-A73E-022FC7F3DD71}">
      <dsp:nvSpPr>
        <dsp:cNvPr id="0" name=""/>
        <dsp:cNvSpPr/>
      </dsp:nvSpPr>
      <dsp:spPr>
        <a:xfrm rot="19800000">
          <a:off x="4524991" y="866341"/>
          <a:ext cx="323655" cy="410927"/>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4531495" y="972800"/>
        <a:ext cx="226559" cy="2465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CFFABD-2461-4B6C-871B-7925EDD9AAEB}">
      <dsp:nvSpPr>
        <dsp:cNvPr id="0" name=""/>
        <dsp:cNvSpPr/>
      </dsp:nvSpPr>
      <dsp:spPr>
        <a:xfrm>
          <a:off x="9644" y="354449"/>
          <a:ext cx="2882503" cy="1729501"/>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dirty="0"/>
            <a:t>Thông </a:t>
          </a:r>
          <a:r>
            <a:rPr lang="en-US" sz="4500" kern="1200" dirty="0" err="1"/>
            <a:t>số</a:t>
          </a:r>
          <a:r>
            <a:rPr lang="en-US" sz="4500" kern="1200" dirty="0"/>
            <a:t> </a:t>
          </a:r>
          <a:r>
            <a:rPr lang="en-US" sz="4500" kern="1200" dirty="0" err="1"/>
            <a:t>mục</a:t>
          </a:r>
          <a:r>
            <a:rPr lang="en-US" sz="4500" kern="1200" dirty="0"/>
            <a:t> </a:t>
          </a:r>
          <a:r>
            <a:rPr lang="en-US" sz="4500" kern="1200" dirty="0" err="1"/>
            <a:t>tiêu</a:t>
          </a:r>
          <a:endParaRPr lang="en-US" sz="4500" kern="1200" dirty="0"/>
        </a:p>
      </dsp:txBody>
      <dsp:txXfrm>
        <a:off x="60299" y="405104"/>
        <a:ext cx="2781193" cy="1628191"/>
      </dsp:txXfrm>
    </dsp:sp>
    <dsp:sp modelId="{3EEB593E-9C95-48DE-8B8B-5E7656E2C07F}">
      <dsp:nvSpPr>
        <dsp:cNvPr id="0" name=""/>
        <dsp:cNvSpPr/>
      </dsp:nvSpPr>
      <dsp:spPr>
        <a:xfrm>
          <a:off x="3180397" y="861769"/>
          <a:ext cx="611090" cy="7148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3180397" y="1004741"/>
        <a:ext cx="427763" cy="428916"/>
      </dsp:txXfrm>
    </dsp:sp>
    <dsp:sp modelId="{2A1F56B7-8369-4963-98A7-A559E86EA2C0}">
      <dsp:nvSpPr>
        <dsp:cNvPr id="0" name=""/>
        <dsp:cNvSpPr/>
      </dsp:nvSpPr>
      <dsp:spPr>
        <a:xfrm>
          <a:off x="4045148" y="354449"/>
          <a:ext cx="2882503" cy="1729501"/>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dirty="0" err="1"/>
            <a:t>Lựa</a:t>
          </a:r>
          <a:r>
            <a:rPr lang="en-US" sz="4500" kern="1200" dirty="0"/>
            <a:t> </a:t>
          </a:r>
          <a:r>
            <a:rPr lang="en-US" sz="4500" kern="1200" dirty="0" err="1"/>
            <a:t>chọn</a:t>
          </a:r>
          <a:r>
            <a:rPr lang="en-US" sz="4500" kern="1200" dirty="0"/>
            <a:t> </a:t>
          </a:r>
          <a:r>
            <a:rPr lang="en-US" sz="4500" kern="1200" dirty="0" err="1"/>
            <a:t>cảm</a:t>
          </a:r>
          <a:r>
            <a:rPr lang="en-US" sz="4500" kern="1200" dirty="0"/>
            <a:t> </a:t>
          </a:r>
          <a:r>
            <a:rPr lang="en-US" sz="4500" kern="1200" dirty="0" err="1"/>
            <a:t>biến</a:t>
          </a:r>
          <a:endParaRPr lang="en-US" sz="4500" kern="1200" dirty="0"/>
        </a:p>
      </dsp:txBody>
      <dsp:txXfrm>
        <a:off x="4095803" y="405104"/>
        <a:ext cx="2781193" cy="1628191"/>
      </dsp:txXfrm>
    </dsp:sp>
    <dsp:sp modelId="{3FD33AC0-11AA-4416-9720-BEBA4D49B098}">
      <dsp:nvSpPr>
        <dsp:cNvPr id="0" name=""/>
        <dsp:cNvSpPr/>
      </dsp:nvSpPr>
      <dsp:spPr>
        <a:xfrm>
          <a:off x="7215901" y="861769"/>
          <a:ext cx="611090" cy="71486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7215901" y="1004741"/>
        <a:ext cx="427763" cy="428916"/>
      </dsp:txXfrm>
    </dsp:sp>
    <dsp:sp modelId="{403B880D-976F-41C1-977C-281B45181993}">
      <dsp:nvSpPr>
        <dsp:cNvPr id="0" name=""/>
        <dsp:cNvSpPr/>
      </dsp:nvSpPr>
      <dsp:spPr>
        <a:xfrm>
          <a:off x="8080652" y="354449"/>
          <a:ext cx="2882503" cy="1729501"/>
        </a:xfrm>
        <a:prstGeom prst="roundRect">
          <a:avLst>
            <a:gd name="adj" fmla="val 10000"/>
          </a:avLst>
        </a:prstGeom>
        <a:solidFill>
          <a:schemeClr val="accent1">
            <a:hueOff val="0"/>
            <a:satOff val="0"/>
            <a:lumOff val="0"/>
            <a:alphaOff val="0"/>
          </a:schemeClr>
        </a:solidFill>
        <a:ln w="2642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dirty="0" err="1"/>
            <a:t>Kiến</a:t>
          </a:r>
          <a:r>
            <a:rPr lang="en-US" sz="4500" kern="1200" dirty="0"/>
            <a:t> </a:t>
          </a:r>
          <a:r>
            <a:rPr lang="en-US" sz="4500" kern="1200" dirty="0" err="1"/>
            <a:t>trúc</a:t>
          </a:r>
          <a:r>
            <a:rPr lang="en-US" sz="4500" kern="1200" dirty="0"/>
            <a:t> </a:t>
          </a:r>
          <a:r>
            <a:rPr lang="en-US" sz="4500" kern="1200" dirty="0" err="1"/>
            <a:t>hệ</a:t>
          </a:r>
          <a:r>
            <a:rPr lang="en-US" sz="4500" kern="1200" dirty="0"/>
            <a:t> </a:t>
          </a:r>
          <a:r>
            <a:rPr lang="en-US" sz="4500" kern="1200" dirty="0" err="1"/>
            <a:t>thống</a:t>
          </a:r>
          <a:endParaRPr lang="en-US" sz="4500" kern="1200" dirty="0"/>
        </a:p>
      </dsp:txBody>
      <dsp:txXfrm>
        <a:off x="8131307" y="405104"/>
        <a:ext cx="2781193" cy="1628191"/>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7A33C2-6F37-4DE9-AAF9-8ABC356AE657}" type="datetimeFigureOut">
              <a:rPr lang="en-US" smtClean="0"/>
              <a:t>6/18/2026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AE4680-6E9A-445B-9304-F7D1A27E0E47}" type="slidenum">
              <a:rPr lang="en-US" smtClean="0"/>
              <a:t>‹#›</a:t>
            </a:fld>
            <a:endParaRPr lang="en-US"/>
          </a:p>
        </p:txBody>
      </p:sp>
    </p:spTree>
    <p:extLst>
      <p:ext uri="{BB962C8B-B14F-4D97-AF65-F5344CB8AC3E}">
        <p14:creationId xmlns:p14="http://schemas.microsoft.com/office/powerpoint/2010/main" val="3624137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hivemq.com/blog/mqtt-essentials-part-6-mqtt-quality-of-service-levels/" TargetMode="External"/><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1</a:t>
            </a:fld>
            <a:endParaRPr lang="en-US"/>
          </a:p>
        </p:txBody>
      </p:sp>
    </p:spTree>
    <p:extLst>
      <p:ext uri="{BB962C8B-B14F-4D97-AF65-F5344CB8AC3E}">
        <p14:creationId xmlns:p14="http://schemas.microsoft.com/office/powerpoint/2010/main" val="1086294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propagation, immunity to some forms of noise and impairments as well as the size of the antenna required. The antenna size is typically related to the wavelength of the signal and in practice is usually ¼ wavelength</a:t>
            </a:r>
          </a:p>
        </p:txBody>
      </p:sp>
      <p:sp>
        <p:nvSpPr>
          <p:cNvPr id="4" name="Slide Number Placeholder 3"/>
          <p:cNvSpPr>
            <a:spLocks noGrp="1"/>
          </p:cNvSpPr>
          <p:nvPr>
            <p:ph type="sldNum" sz="quarter" idx="10"/>
          </p:nvPr>
        </p:nvSpPr>
        <p:spPr/>
        <p:txBody>
          <a:bodyPr/>
          <a:lstStyle/>
          <a:p>
            <a:fld id="{CDAE4680-6E9A-445B-9304-F7D1A27E0E47}" type="slidenum">
              <a:rPr lang="en-US" smtClean="0"/>
              <a:t>22</a:t>
            </a:fld>
            <a:endParaRPr lang="en-US"/>
          </a:p>
        </p:txBody>
      </p:sp>
    </p:spTree>
    <p:extLst>
      <p:ext uri="{BB962C8B-B14F-4D97-AF65-F5344CB8AC3E}">
        <p14:creationId xmlns:p14="http://schemas.microsoft.com/office/powerpoint/2010/main" val="4169851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1947</a:t>
            </a:r>
          </a:p>
          <a:p>
            <a:r>
              <a:rPr lang="en-US" dirty="0" err="1"/>
              <a:t>Tranh</a:t>
            </a:r>
            <a:r>
              <a:rPr lang="en-US" dirty="0"/>
              <a:t> </a:t>
            </a:r>
            <a:r>
              <a:rPr lang="en-US" dirty="0" err="1"/>
              <a:t>nhung</a:t>
            </a:r>
            <a:r>
              <a:rPr lang="en-US" dirty="0"/>
              <a:t> tan so</a:t>
            </a:r>
            <a:r>
              <a:rPr lang="en-US" baseline="0" dirty="0"/>
              <a:t> </a:t>
            </a:r>
            <a:r>
              <a:rPr lang="en-US" baseline="0" dirty="0" err="1"/>
              <a:t>duoc</a:t>
            </a:r>
            <a:r>
              <a:rPr lang="en-US" baseline="0" dirty="0"/>
              <a:t> dung </a:t>
            </a:r>
            <a:r>
              <a:rPr lang="en-US" baseline="0" dirty="0" err="1"/>
              <a:t>roi</a:t>
            </a:r>
            <a:endParaRPr lang="en-US" baseline="0" dirty="0"/>
          </a:p>
          <a:p>
            <a:r>
              <a:rPr lang="en-US" baseline="0" dirty="0"/>
              <a:t>Can </a:t>
            </a:r>
            <a:r>
              <a:rPr lang="en-US" baseline="0" dirty="0" err="1"/>
              <a:t>nhac</a:t>
            </a:r>
            <a:r>
              <a:rPr lang="en-US" baseline="0" dirty="0"/>
              <a:t> </a:t>
            </a:r>
            <a:r>
              <a:rPr lang="en-US" baseline="0" dirty="0" err="1"/>
              <a:t>khoang</a:t>
            </a:r>
            <a:r>
              <a:rPr lang="en-US" baseline="0" dirty="0"/>
              <a:t> </a:t>
            </a:r>
            <a:r>
              <a:rPr lang="en-US" baseline="0" dirty="0" err="1"/>
              <a:t>cach</a:t>
            </a:r>
            <a:r>
              <a:rPr lang="en-US" baseline="0" dirty="0"/>
              <a:t> </a:t>
            </a:r>
            <a:r>
              <a:rPr lang="en-US" baseline="0" dirty="0" err="1"/>
              <a:t>truyen</a:t>
            </a:r>
            <a:r>
              <a:rPr lang="en-US" baseline="0" dirty="0"/>
              <a:t>, </a:t>
            </a:r>
            <a:r>
              <a:rPr lang="en-US" baseline="0" dirty="0" err="1"/>
              <a:t>gia</a:t>
            </a:r>
            <a:r>
              <a:rPr lang="en-US" baseline="0" dirty="0"/>
              <a:t> </a:t>
            </a:r>
            <a:r>
              <a:rPr lang="en-US" baseline="0" dirty="0" err="1"/>
              <a:t>ca</a:t>
            </a:r>
            <a:r>
              <a:rPr lang="en-US" baseline="0" dirty="0"/>
              <a:t>, </a:t>
            </a:r>
            <a:r>
              <a:rPr lang="en-US" baseline="0" dirty="0" err="1"/>
              <a:t>kich</a:t>
            </a:r>
            <a:r>
              <a:rPr lang="en-US" baseline="0" dirty="0"/>
              <a:t> </a:t>
            </a:r>
            <a:r>
              <a:rPr lang="en-US" baseline="0" dirty="0" err="1"/>
              <a:t>thuoc</a:t>
            </a:r>
            <a:r>
              <a:rPr lang="en-US" baseline="0" dirty="0"/>
              <a:t> </a:t>
            </a:r>
            <a:r>
              <a:rPr lang="en-US" baseline="0" dirty="0" err="1"/>
              <a:t>angten</a:t>
            </a:r>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23</a:t>
            </a:fld>
            <a:endParaRPr lang="en-US"/>
          </a:p>
        </p:txBody>
      </p:sp>
    </p:spTree>
    <p:extLst>
      <p:ext uri="{BB962C8B-B14F-4D97-AF65-F5344CB8AC3E}">
        <p14:creationId xmlns:p14="http://schemas.microsoft.com/office/powerpoint/2010/main" val="1022177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Gaussian FSK (GFSK), e.g. used in Bluetooth, has better spectral density than 2-FSK modulation, i.e. more bandwidth efficient</a:t>
            </a:r>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25</a:t>
            </a:fld>
            <a:endParaRPr lang="en-US"/>
          </a:p>
        </p:txBody>
      </p:sp>
    </p:spTree>
    <p:extLst>
      <p:ext uri="{BB962C8B-B14F-4D97-AF65-F5344CB8AC3E}">
        <p14:creationId xmlns:p14="http://schemas.microsoft.com/office/powerpoint/2010/main" val="760448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 energy</a:t>
            </a:r>
            <a:r>
              <a:rPr lang="en-US" baseline="0" dirty="0"/>
              <a:t> </a:t>
            </a:r>
            <a:r>
              <a:rPr lang="en-US" baseline="0" dirty="0" err="1"/>
              <a:t>consumpstion</a:t>
            </a:r>
            <a:endParaRPr lang="en-US" baseline="0" dirty="0"/>
          </a:p>
          <a:p>
            <a:r>
              <a:rPr lang="en-US" baseline="0" dirty="0"/>
              <a:t>More connection</a:t>
            </a:r>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34</a:t>
            </a:fld>
            <a:endParaRPr lang="en-US"/>
          </a:p>
        </p:txBody>
      </p:sp>
    </p:spTree>
    <p:extLst>
      <p:ext uri="{BB962C8B-B14F-4D97-AF65-F5344CB8AC3E}">
        <p14:creationId xmlns:p14="http://schemas.microsoft.com/office/powerpoint/2010/main" val="305840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Adaptive Frequency Hopping</a:t>
            </a:r>
            <a:br>
              <a:rPr lang="en-US" sz="1200" b="0" i="0" u="none" strike="noStrike" kern="1200" dirty="0">
                <a:solidFill>
                  <a:schemeClr val="tx1"/>
                </a:solidFill>
                <a:effectLst/>
                <a:latin typeface="+mn-lt"/>
                <a:ea typeface="+mn-ea"/>
                <a:cs typeface="+mn-cs"/>
              </a:rPr>
            </a:br>
            <a:r>
              <a:rPr lang="en-US" sz="1200" b="0" i="0" u="none" strike="noStrike" kern="1200" dirty="0">
                <a:solidFill>
                  <a:schemeClr val="tx1"/>
                </a:solidFill>
                <a:effectLst/>
                <a:latin typeface="+mn-lt"/>
                <a:ea typeface="+mn-ea"/>
                <a:cs typeface="+mn-cs"/>
              </a:rPr>
              <a:t>This mechanism is used by the Link Layer to remap a given packet from a known bad channel to a known good channel so that interference from other devices (i.e. Wi-Fi®) is reduced.</a:t>
            </a:r>
          </a:p>
          <a:p>
            <a:r>
              <a:rPr lang="en-US" sz="1200" b="0" i="0" u="none" strike="noStrike" kern="1200" dirty="0">
                <a:solidFill>
                  <a:schemeClr val="tx1"/>
                </a:solidFill>
                <a:effectLst/>
                <a:latin typeface="+mn-lt"/>
                <a:ea typeface="+mn-ea"/>
                <a:cs typeface="+mn-cs"/>
              </a:rPr>
              <a:t>Suppose, for example that a BLE device is in the same area as several Wi-Fi® networks on channels 1, 6, and 11. The BLE device would mark channels 0-8, 11-20, 24-32 as bad channels. This means that when the two devices are communicating, they would cycle through the channels and remap these channels to a set of good channels as shown:</a:t>
            </a:r>
          </a:p>
          <a:p>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40</a:t>
            </a:fld>
            <a:endParaRPr lang="en-US"/>
          </a:p>
        </p:txBody>
      </p:sp>
    </p:spTree>
    <p:extLst>
      <p:ext uri="{BB962C8B-B14F-4D97-AF65-F5344CB8AC3E}">
        <p14:creationId xmlns:p14="http://schemas.microsoft.com/office/powerpoint/2010/main" val="1210261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signal travel to a central point</a:t>
            </a:r>
            <a:r>
              <a:rPr lang="en-US" baseline="0" dirty="0"/>
              <a:t> -&gt; bottle neck</a:t>
            </a:r>
          </a:p>
          <a:p>
            <a:r>
              <a:rPr lang="en-US" baseline="0" dirty="0"/>
              <a:t>Node </a:t>
            </a:r>
            <a:r>
              <a:rPr lang="en-US" baseline="0" dirty="0" err="1"/>
              <a:t>duoc</a:t>
            </a:r>
            <a:r>
              <a:rPr lang="en-US" baseline="0" dirty="0"/>
              <a:t> design de </a:t>
            </a:r>
            <a:r>
              <a:rPr lang="en-US" baseline="0" dirty="0" err="1"/>
              <a:t>giao</a:t>
            </a:r>
            <a:r>
              <a:rPr lang="en-US" baseline="0" dirty="0"/>
              <a:t> </a:t>
            </a:r>
            <a:r>
              <a:rPr lang="en-US" baseline="0" dirty="0" err="1"/>
              <a:t>tiep</a:t>
            </a:r>
            <a:r>
              <a:rPr lang="en-US" baseline="0" dirty="0"/>
              <a:t> </a:t>
            </a:r>
            <a:r>
              <a:rPr lang="en-US" baseline="0" dirty="0" err="1"/>
              <a:t>voi</a:t>
            </a:r>
            <a:r>
              <a:rPr lang="en-US" baseline="0" dirty="0"/>
              <a:t> central point </a:t>
            </a:r>
            <a:r>
              <a:rPr lang="en-US" baseline="0" dirty="0" err="1"/>
              <a:t>ngay</a:t>
            </a:r>
            <a:r>
              <a:rPr lang="en-US" baseline="0" dirty="0"/>
              <a:t> </a:t>
            </a:r>
            <a:r>
              <a:rPr lang="en-US" baseline="0" dirty="0" err="1"/>
              <a:t>ca</a:t>
            </a:r>
            <a:r>
              <a:rPr lang="en-US" baseline="0" dirty="0"/>
              <a:t> </a:t>
            </a:r>
            <a:r>
              <a:rPr lang="en-US" baseline="0" dirty="0" err="1"/>
              <a:t>khi</a:t>
            </a:r>
            <a:r>
              <a:rPr lang="en-US" baseline="0" dirty="0"/>
              <a:t> no </a:t>
            </a:r>
            <a:r>
              <a:rPr lang="en-US" baseline="0" dirty="0" err="1"/>
              <a:t>nam</a:t>
            </a:r>
            <a:r>
              <a:rPr lang="en-US" baseline="0" dirty="0"/>
              <a:t> </a:t>
            </a:r>
            <a:r>
              <a:rPr lang="en-US" baseline="0" dirty="0" err="1"/>
              <a:t>gan</a:t>
            </a:r>
            <a:r>
              <a:rPr lang="en-US" baseline="0" dirty="0"/>
              <a:t> </a:t>
            </a:r>
            <a:r>
              <a:rPr lang="en-US" baseline="0" dirty="0" err="1"/>
              <a:t>nhau</a:t>
            </a:r>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43</a:t>
            </a:fld>
            <a:endParaRPr lang="en-US"/>
          </a:p>
        </p:txBody>
      </p:sp>
    </p:spTree>
    <p:extLst>
      <p:ext uri="{BB962C8B-B14F-4D97-AF65-F5344CB8AC3E}">
        <p14:creationId xmlns:p14="http://schemas.microsoft.com/office/powerpoint/2010/main" val="4101011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46</a:t>
            </a:fld>
            <a:endParaRPr lang="en-US"/>
          </a:p>
        </p:txBody>
      </p:sp>
    </p:spTree>
    <p:extLst>
      <p:ext uri="{BB962C8B-B14F-4D97-AF65-F5344CB8AC3E}">
        <p14:creationId xmlns:p14="http://schemas.microsoft.com/office/powerpoint/2010/main" val="2866523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E4680-6E9A-445B-9304-F7D1A27E0E47}" type="slidenum">
              <a:rPr lang="en-US" smtClean="0"/>
              <a:t>51</a:t>
            </a:fld>
            <a:endParaRPr lang="en-US"/>
          </a:p>
        </p:txBody>
      </p:sp>
    </p:spTree>
    <p:extLst>
      <p:ext uri="{BB962C8B-B14F-4D97-AF65-F5344CB8AC3E}">
        <p14:creationId xmlns:p14="http://schemas.microsoft.com/office/powerpoint/2010/main" val="2362880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used it internally, only release after version 3.1 in 2012.</a:t>
            </a:r>
          </a:p>
          <a:p>
            <a:r>
              <a:rPr lang="en-US" dirty="0"/>
              <a:t>The current version is </a:t>
            </a:r>
            <a:r>
              <a:rPr lang="en-US" dirty="0" err="1"/>
              <a:t>MQTT</a:t>
            </a:r>
            <a:r>
              <a:rPr lang="en-US" dirty="0"/>
              <a:t> 5 released in 2019</a:t>
            </a:r>
          </a:p>
        </p:txBody>
      </p:sp>
      <p:sp>
        <p:nvSpPr>
          <p:cNvPr id="4" name="Slide Number Placeholder 3"/>
          <p:cNvSpPr>
            <a:spLocks noGrp="1"/>
          </p:cNvSpPr>
          <p:nvPr>
            <p:ph type="sldNum" sz="quarter" idx="5"/>
          </p:nvPr>
        </p:nvSpPr>
        <p:spPr/>
        <p:txBody>
          <a:bodyPr/>
          <a:lstStyle/>
          <a:p>
            <a:fld id="{CDAE4680-6E9A-445B-9304-F7D1A27E0E47}" type="slidenum">
              <a:rPr lang="en-US" smtClean="0"/>
              <a:t>54</a:t>
            </a:fld>
            <a:endParaRPr lang="en-US"/>
          </a:p>
        </p:txBody>
      </p:sp>
    </p:spTree>
    <p:extLst>
      <p:ext uri="{BB962C8B-B14F-4D97-AF65-F5344CB8AC3E}">
        <p14:creationId xmlns:p14="http://schemas.microsoft.com/office/powerpoint/2010/main" val="24758383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roboto"/>
              </a:rPr>
              <a:t>clients communicates directly with an endpoint</a:t>
            </a:r>
            <a:r>
              <a:rPr lang="en-US" b="0" i="0">
                <a:solidFill>
                  <a:srgbClr val="333333"/>
                </a:solidFill>
                <a:effectLst/>
                <a:latin typeface="roboto"/>
              </a:rPr>
              <a:t>/host</a:t>
            </a:r>
          </a:p>
          <a:p>
            <a:r>
              <a:rPr lang="en-US" b="0" i="0">
                <a:solidFill>
                  <a:srgbClr val="333333"/>
                </a:solidFill>
                <a:effectLst/>
                <a:latin typeface="roboto"/>
              </a:rPr>
              <a:t>Suitable for complex data packet, over-kill for simple data transmission. Like use truck as a taxi</a:t>
            </a:r>
            <a:endParaRPr lang="en-US" dirty="0"/>
          </a:p>
        </p:txBody>
      </p:sp>
      <p:sp>
        <p:nvSpPr>
          <p:cNvPr id="4" name="Slide Number Placeholder 3"/>
          <p:cNvSpPr>
            <a:spLocks noGrp="1"/>
          </p:cNvSpPr>
          <p:nvPr>
            <p:ph type="sldNum" sz="quarter" idx="5"/>
          </p:nvPr>
        </p:nvSpPr>
        <p:spPr/>
        <p:txBody>
          <a:bodyPr/>
          <a:lstStyle/>
          <a:p>
            <a:fld id="{CDAE4680-6E9A-445B-9304-F7D1A27E0E47}" type="slidenum">
              <a:rPr lang="en-US" smtClean="0"/>
              <a:t>55</a:t>
            </a:fld>
            <a:endParaRPr lang="en-US"/>
          </a:p>
        </p:txBody>
      </p:sp>
    </p:spTree>
    <p:extLst>
      <p:ext uri="{BB962C8B-B14F-4D97-AF65-F5344CB8AC3E}">
        <p14:creationId xmlns:p14="http://schemas.microsoft.com/office/powerpoint/2010/main" val="1123075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roboto"/>
              </a:rPr>
              <a:t>they are not even aware that the </a:t>
            </a:r>
            <a:r>
              <a:rPr lang="en-US" b="0" i="0">
                <a:solidFill>
                  <a:srgbClr val="333333"/>
                </a:solidFill>
                <a:effectLst/>
                <a:latin typeface="roboto"/>
              </a:rPr>
              <a:t>other exists</a:t>
            </a:r>
          </a:p>
          <a:p>
            <a:r>
              <a:rPr lang="en-US" b="0" i="0">
                <a:solidFill>
                  <a:srgbClr val="333333"/>
                </a:solidFill>
                <a:effectLst/>
                <a:latin typeface="roboto"/>
              </a:rPr>
              <a:t>Data is only stored for a short time</a:t>
            </a:r>
            <a:endParaRPr lang="en-US" dirty="0"/>
          </a:p>
        </p:txBody>
      </p:sp>
      <p:sp>
        <p:nvSpPr>
          <p:cNvPr id="4" name="Slide Number Placeholder 3"/>
          <p:cNvSpPr>
            <a:spLocks noGrp="1"/>
          </p:cNvSpPr>
          <p:nvPr>
            <p:ph type="sldNum" sz="quarter" idx="5"/>
          </p:nvPr>
        </p:nvSpPr>
        <p:spPr/>
        <p:txBody>
          <a:bodyPr/>
          <a:lstStyle/>
          <a:p>
            <a:fld id="{CDAE4680-6E9A-445B-9304-F7D1A27E0E47}" type="slidenum">
              <a:rPr lang="en-US" smtClean="0"/>
              <a:t>56</a:t>
            </a:fld>
            <a:endParaRPr lang="en-US"/>
          </a:p>
        </p:txBody>
      </p:sp>
    </p:spTree>
    <p:extLst>
      <p:ext uri="{BB962C8B-B14F-4D97-AF65-F5344CB8AC3E}">
        <p14:creationId xmlns:p14="http://schemas.microsoft.com/office/powerpoint/2010/main" val="735154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E4680-6E9A-445B-9304-F7D1A27E0E47}" type="slidenum">
              <a:rPr lang="en-US" smtClean="0"/>
              <a:t>61</a:t>
            </a:fld>
            <a:endParaRPr lang="en-US"/>
          </a:p>
        </p:txBody>
      </p:sp>
    </p:spTree>
    <p:extLst>
      <p:ext uri="{BB962C8B-B14F-4D97-AF65-F5344CB8AC3E}">
        <p14:creationId xmlns:p14="http://schemas.microsoft.com/office/powerpoint/2010/main" val="9921411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33333"/>
                </a:solidFill>
                <a:effectLst/>
                <a:latin typeface="roboto"/>
              </a:rPr>
              <a:t>Both publishers and subscribers are MQTT clients. </a:t>
            </a:r>
          </a:p>
          <a:p>
            <a:r>
              <a:rPr lang="en-US" b="0" i="0">
                <a:solidFill>
                  <a:srgbClr val="333333"/>
                </a:solidFill>
                <a:effectLst/>
                <a:latin typeface="roboto"/>
              </a:rPr>
              <a:t>The client identifier (ClientId) </a:t>
            </a:r>
            <a:r>
              <a:rPr lang="en-US" b="1" i="0">
                <a:solidFill>
                  <a:srgbClr val="333333"/>
                </a:solidFill>
                <a:effectLst/>
                <a:latin typeface="roboto"/>
              </a:rPr>
              <a:t>identifies each MQTT client</a:t>
            </a:r>
            <a:r>
              <a:rPr lang="en-US" b="0" i="0">
                <a:solidFill>
                  <a:srgbClr val="333333"/>
                </a:solidFill>
                <a:effectLst/>
                <a:latin typeface="roboto"/>
              </a:rPr>
              <a:t> that connects to an MQTT broker. The broker uses the ClientId to identify the client and the current state of the client.Therefore, this Id should be unique per client and broker. In MQTT 3.1.1 you can send an empty ClientId, if you don’t need a state to be held by the broker. The empty ClientId results in a connection without any state. In this case, the clean session flag must be set to true or the broker will reject the connection.</a:t>
            </a:r>
          </a:p>
          <a:p>
            <a:r>
              <a:rPr lang="en-US" b="0" i="0">
                <a:solidFill>
                  <a:srgbClr val="333333"/>
                </a:solidFill>
                <a:effectLst/>
                <a:latin typeface="roboto"/>
              </a:rPr>
              <a:t>The clean session flag tells the broker whether the client wants to establish a persistent session or not. In a persistent session (CleanSession = false), the broker stores all subscriptions for the client and all missed messages for the client that subscribed with a </a:t>
            </a:r>
            <a:r>
              <a:rPr lang="en-US" b="1" i="0" u="none" strike="noStrike">
                <a:solidFill>
                  <a:srgbClr val="0060AA"/>
                </a:solidFill>
                <a:effectLst/>
                <a:latin typeface="roboto"/>
                <a:hlinkClick r:id="rId3"/>
              </a:rPr>
              <a:t>Quality of Service (QoS)</a:t>
            </a:r>
            <a:r>
              <a:rPr lang="en-US" b="0" i="0">
                <a:solidFill>
                  <a:srgbClr val="333333"/>
                </a:solidFill>
                <a:effectLst/>
                <a:latin typeface="roboto"/>
              </a:rPr>
              <a:t> level 1 or 2. If the session is not persistent (CleanSession = true), the broker does not store anything for the client and purges all information from any previous persistent session.</a:t>
            </a:r>
            <a:endParaRPr lang="en-US" dirty="0"/>
          </a:p>
        </p:txBody>
      </p:sp>
      <p:sp>
        <p:nvSpPr>
          <p:cNvPr id="4" name="Slide Number Placeholder 3"/>
          <p:cNvSpPr>
            <a:spLocks noGrp="1"/>
          </p:cNvSpPr>
          <p:nvPr>
            <p:ph type="sldNum" sz="quarter" idx="5"/>
          </p:nvPr>
        </p:nvSpPr>
        <p:spPr/>
        <p:txBody>
          <a:bodyPr/>
          <a:lstStyle/>
          <a:p>
            <a:fld id="{CDAE4680-6E9A-445B-9304-F7D1A27E0E47}" type="slidenum">
              <a:rPr lang="en-US" smtClean="0"/>
              <a:t>62</a:t>
            </a:fld>
            <a:endParaRPr lang="en-US"/>
          </a:p>
        </p:txBody>
      </p:sp>
    </p:spTree>
    <p:extLst>
      <p:ext uri="{BB962C8B-B14F-4D97-AF65-F5344CB8AC3E}">
        <p14:creationId xmlns:p14="http://schemas.microsoft.com/office/powerpoint/2010/main" val="7186572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E4680-6E9A-445B-9304-F7D1A27E0E47}" type="slidenum">
              <a:rPr lang="en-US" smtClean="0"/>
              <a:t>63</a:t>
            </a:fld>
            <a:endParaRPr lang="en-US"/>
          </a:p>
        </p:txBody>
      </p:sp>
    </p:spTree>
    <p:extLst>
      <p:ext uri="{BB962C8B-B14F-4D97-AF65-F5344CB8AC3E}">
        <p14:creationId xmlns:p14="http://schemas.microsoft.com/office/powerpoint/2010/main" val="137153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E4680-6E9A-445B-9304-F7D1A27E0E47}" type="slidenum">
              <a:rPr lang="en-US" smtClean="0"/>
              <a:t>64</a:t>
            </a:fld>
            <a:endParaRPr lang="en-US"/>
          </a:p>
        </p:txBody>
      </p:sp>
    </p:spTree>
    <p:extLst>
      <p:ext uri="{BB962C8B-B14F-4D97-AF65-F5344CB8AC3E}">
        <p14:creationId xmlns:p14="http://schemas.microsoft.com/office/powerpoint/2010/main" val="3333888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3561BE-7EE5-473D-84A7-4C53642E76F3}"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0F51FE-9C5E-464A-AC70-6B909B40C014}"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160000" y="6501107"/>
            <a:ext cx="1422400" cy="329184"/>
          </a:xfrm>
        </p:spPr>
        <p:txBody>
          <a:bodyPr/>
          <a:lstStyle>
            <a:lvl1pPr>
              <a:defRPr>
                <a:solidFill>
                  <a:schemeClr val="accent5">
                    <a:lumMod val="75000"/>
                  </a:schemeClr>
                </a:solidFill>
              </a:defRPr>
            </a:lvl1pPr>
          </a:lstStyle>
          <a:p>
            <a:fld id="{3957FE44-DABC-424D-A234-74BB9410FF2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ED206D-CD87-417B-A3E9-8E7F517E463E}"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D8F107-3B8C-4C3E-96B2-5FDE77B1A8A3}" type="datetime1">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2B7A77-E7D0-4A81-9F27-235411449FDF}" type="datetime1">
              <a:rPr lang="en-US" smtClean="0"/>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57FE44-DABC-424D-A234-74BB9410FF27}" type="slidenum">
              <a:rPr lang="en-US" smtClean="0"/>
              <a:t>‹#›</a:t>
            </a:fld>
            <a:endParaRPr lang="en-US"/>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D175E10-1A59-4CE8-9F8F-26909B2B45ED}" type="datetime1">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7769CF-71D8-44A8-A43E-06A522466198}" type="datetime1">
              <a:rPr lang="en-US" smtClean="0"/>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720A33-8193-44AB-9CBE-84B62B603B98}" type="datetime1">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8572B2-C299-428F-9DB0-AF5E4D034999}" type="datetime1">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DEECD9-E72D-423D-873E-C8701D4E51F3}"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3519C6-978E-42A3-A0DA-A23B7AC47044}"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r>
              <a:rPr lang="en-US" dirty="0"/>
              <a:t>Internet of Things</a:t>
            </a:r>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392384"/>
            <a:ext cx="11210543" cy="46017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139901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r>
              <a:rPr lang="en-US" dirty="0"/>
              <a:t>Internet of Things</a:t>
            </a:r>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392384"/>
            <a:ext cx="11210543" cy="46017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233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BE10-5A8F-5044-434F-7434A03566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B85243B5-B498-1E60-5D02-983D13E8289B}"/>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DBD33E4-41B8-74EC-F9A4-3E1DCC0E7506}"/>
              </a:ext>
            </a:extLst>
          </p:cNvPr>
          <p:cNvSpPr>
            <a:spLocks noGrp="1"/>
          </p:cNvSpPr>
          <p:nvPr>
            <p:ph type="ftr" sz="quarter" idx="11"/>
          </p:nvPr>
        </p:nvSpPr>
        <p:spPr/>
        <p:txBody>
          <a:bodyPr/>
          <a:lstStyle/>
          <a:p>
            <a:r>
              <a:rPr lang="en-US" dirty="0"/>
              <a:t>Internet of Things</a:t>
            </a:r>
          </a:p>
        </p:txBody>
      </p:sp>
      <p:sp>
        <p:nvSpPr>
          <p:cNvPr id="5" name="Slide Number Placeholder 4">
            <a:extLst>
              <a:ext uri="{FF2B5EF4-FFF2-40B4-BE49-F238E27FC236}">
                <a16:creationId xmlns:a16="http://schemas.microsoft.com/office/drawing/2014/main" id="{522A375B-2E8B-0F31-9DE4-A5F0682ADFB7}"/>
              </a:ext>
            </a:extLst>
          </p:cNvPr>
          <p:cNvSpPr>
            <a:spLocks noGrp="1"/>
          </p:cNvSpPr>
          <p:nvPr>
            <p:ph type="sldNum" sz="quarter" idx="12"/>
          </p:nvPr>
        </p:nvSpPr>
        <p:spPr/>
        <p:txBody>
          <a:bodyPr/>
          <a:lstStyle/>
          <a:p>
            <a:fld id="{9860EDB8-5305-433F-BE41-D7A86D811DB3}" type="slidenum">
              <a:rPr lang="en-US" smtClean="0"/>
              <a:pPr/>
              <a:t>‹#›</a:t>
            </a:fld>
            <a:endParaRPr lang="en-US"/>
          </a:p>
        </p:txBody>
      </p:sp>
      <p:sp>
        <p:nvSpPr>
          <p:cNvPr id="7" name="Content Placeholder 6">
            <a:extLst>
              <a:ext uri="{FF2B5EF4-FFF2-40B4-BE49-F238E27FC236}">
                <a16:creationId xmlns:a16="http://schemas.microsoft.com/office/drawing/2014/main" id="{CB40353B-463E-6D13-F92E-564948AFA386}"/>
              </a:ext>
            </a:extLst>
          </p:cNvPr>
          <p:cNvSpPr>
            <a:spLocks noGrp="1"/>
          </p:cNvSpPr>
          <p:nvPr>
            <p:ph sz="quarter" idx="13"/>
          </p:nvPr>
        </p:nvSpPr>
        <p:spPr>
          <a:xfrm>
            <a:off x="444500" y="1392384"/>
            <a:ext cx="11210543" cy="46017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64410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938B7AF6-6F47-4FBA-B77D-1A1AB60E82CA}" type="datetime1">
              <a:rPr lang="en-US" smtClean="0"/>
              <a:t>6/18/2026</a:t>
            </a:fld>
            <a:endParaRPr lang="en-US"/>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10160000" y="6481315"/>
            <a:ext cx="1422400" cy="329184"/>
          </a:xfrm>
          <a:prstGeom prst="rect">
            <a:avLst/>
          </a:prstGeom>
        </p:spPr>
        <p:txBody>
          <a:bodyPr vert="horz" lIns="91440" tIns="45720" rIns="91440" bIns="45720" rtlCol="0" anchor="ctr"/>
          <a:lstStyle>
            <a:lvl1pPr algn="l">
              <a:defRPr sz="1400" b="1">
                <a:solidFill>
                  <a:schemeClr val="accent5">
                    <a:lumMod val="75000"/>
                  </a:schemeClr>
                </a:solidFill>
              </a:defRPr>
            </a:lvl1pPr>
          </a:lstStyle>
          <a:p>
            <a:fld id="{3957FE44-DABC-424D-A234-74BB9410FF2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2" r:id="rId13"/>
    <p:sldLayoutId id="2147483723" r:id="rId14"/>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google.com.vn/url?sa=i&amp;rct=j&amp;q=&amp;esrc=s&amp;source=images&amp;cd=&amp;cad=rja&amp;uact=8&amp;ved=0CAcQjRxqFQoTCOa4gpvXz8cCFU-ejgodsSsIRA&amp;url=http://spikeex.deviantart.com/art/Microchip-Tattoo-Design-1-42179858&amp;ei=31_iVaZNz7y6BLHXoKAE&amp;psig=AFQjCNF-y2BM98GH0MilH1ajH4XNM5xsRQ&amp;ust=1440985393503735"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NUL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jpg"/><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22.xml.rels><?xml version="1.0" encoding="UTF-8" standalone="yes"?>
<Relationships xmlns="http://schemas.openxmlformats.org/package/2006/relationships"><Relationship Id="rId3" Type="http://schemas.openxmlformats.org/officeDocument/2006/relationships/image" Target="../media/image16.jpg"/><Relationship Id="rId7" Type="http://schemas.openxmlformats.org/officeDocument/2006/relationships/image" Target="../media/image17.gi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youtube.com/watch?v=ZaXm6wau-jc" TargetMode="External"/><Relationship Id="rId5" Type="http://schemas.openxmlformats.org/officeDocument/2006/relationships/hyperlink" Target="https://www.youtube.com/watch?v=Ygat-jqoHCQ" TargetMode="Externa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openlabpro.com/guide/mqtt-packet-format/" TargetMode="External"/><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hivemq.com/blog/mqtt-essentials-part-3-client-broker-connection-establishment/" TargetMode="External"/><Relationship Id="rId5" Type="http://schemas.openxmlformats.org/officeDocument/2006/relationships/image" Target="../media/image66.png"/><Relationship Id="rId4" Type="http://schemas.openxmlformats.org/officeDocument/2006/relationships/image" Target="../media/image65.png"/></Relationships>
</file>

<file path=ppt/slides/_rels/slide6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64.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65.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www.eclipse.org/paho/" TargetMode="External"/><Relationship Id="rId2" Type="http://schemas.openxmlformats.org/officeDocument/2006/relationships/hyperlink" Target="https://mosquitto.org/"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img02.deviantart.net/aaac/i/2006/302/3/0/microchip_tattoo_design_1_by_spikeex.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0" y="3535251"/>
            <a:ext cx="3322748" cy="332274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p:txBody>
          <a:bodyPr/>
          <a:lstStyle/>
          <a:p>
            <a:br>
              <a:rPr lang="en-US" dirty="0"/>
            </a:br>
            <a:br>
              <a:rPr lang="en-US" b="1" dirty="0"/>
            </a:br>
            <a:r>
              <a:rPr lang="en-US" b="1" dirty="0" err="1"/>
              <a:t>Thiết</a:t>
            </a:r>
            <a:r>
              <a:rPr lang="en-US" b="1" dirty="0"/>
              <a:t> </a:t>
            </a:r>
            <a:r>
              <a:rPr lang="en-US" b="1" dirty="0" err="1"/>
              <a:t>kế</a:t>
            </a:r>
            <a:r>
              <a:rPr lang="en-US" b="1" dirty="0"/>
              <a:t> robot</a:t>
            </a:r>
            <a:br>
              <a:rPr lang="en-US" b="1" dirty="0"/>
            </a:br>
            <a:r>
              <a:rPr lang="en-US" b="1" dirty="0" err="1">
                <a:solidFill>
                  <a:srgbClr val="0070C0"/>
                </a:solidFill>
              </a:rPr>
              <a:t>Thiết</a:t>
            </a:r>
            <a:r>
              <a:rPr lang="en-US" b="1" dirty="0">
                <a:solidFill>
                  <a:srgbClr val="0070C0"/>
                </a:solidFill>
              </a:rPr>
              <a:t> </a:t>
            </a:r>
            <a:r>
              <a:rPr lang="en-US" b="1" dirty="0" err="1">
                <a:solidFill>
                  <a:srgbClr val="0070C0"/>
                </a:solidFill>
              </a:rPr>
              <a:t>kế</a:t>
            </a:r>
            <a:r>
              <a:rPr lang="en-US" b="1" dirty="0">
                <a:solidFill>
                  <a:srgbClr val="0070C0"/>
                </a:solidFill>
              </a:rPr>
              <a:t> </a:t>
            </a:r>
            <a:r>
              <a:rPr lang="en-US" b="1" dirty="0" err="1">
                <a:solidFill>
                  <a:srgbClr val="0070C0"/>
                </a:solidFill>
              </a:rPr>
              <a:t>phần</a:t>
            </a:r>
            <a:r>
              <a:rPr lang="en-US" b="1" dirty="0">
                <a:solidFill>
                  <a:srgbClr val="0070C0"/>
                </a:solidFill>
              </a:rPr>
              <a:t> </a:t>
            </a:r>
            <a:r>
              <a:rPr lang="en-US" b="1" dirty="0" err="1">
                <a:solidFill>
                  <a:srgbClr val="0070C0"/>
                </a:solidFill>
              </a:rPr>
              <a:t>Điện</a:t>
            </a:r>
            <a:endParaRPr lang="en-US" b="1" dirty="0">
              <a:solidFill>
                <a:srgbClr val="0070C0"/>
              </a:solidFill>
            </a:endParaRPr>
          </a:p>
        </p:txBody>
      </p:sp>
      <p:sp>
        <p:nvSpPr>
          <p:cNvPr id="3" name="Subtitle 2"/>
          <p:cNvSpPr>
            <a:spLocks noGrp="1"/>
          </p:cNvSpPr>
          <p:nvPr>
            <p:ph type="subTitle" idx="1"/>
          </p:nvPr>
        </p:nvSpPr>
        <p:spPr/>
        <p:txBody>
          <a:bodyPr>
            <a:normAutofit/>
          </a:bodyPr>
          <a:lstStyle/>
          <a:p>
            <a:r>
              <a:rPr lang="en-US" dirty="0"/>
              <a:t>Lecturer: Dr. Bui Ha Duc</a:t>
            </a:r>
          </a:p>
          <a:p>
            <a:r>
              <a:rPr lang="en-US" dirty="0"/>
              <a:t>Dept. of Mechatronics</a:t>
            </a:r>
          </a:p>
          <a:p>
            <a:r>
              <a:rPr lang="en-US" dirty="0"/>
              <a:t>Email: ducbh@hcmute.edu.vn</a:t>
            </a:r>
          </a:p>
        </p:txBody>
      </p:sp>
      <p:sp>
        <p:nvSpPr>
          <p:cNvPr id="4" name="Slide Number Placeholder 3"/>
          <p:cNvSpPr>
            <a:spLocks noGrp="1"/>
          </p:cNvSpPr>
          <p:nvPr>
            <p:ph type="sldNum" sz="quarter" idx="12"/>
          </p:nvPr>
        </p:nvSpPr>
        <p:spPr>
          <a:xfrm>
            <a:off x="9144000" y="6400800"/>
            <a:ext cx="1066800" cy="329184"/>
          </a:xfrm>
        </p:spPr>
        <p:txBody>
          <a:bodyPr/>
          <a:lstStyle/>
          <a:p>
            <a:fld id="{3957FE44-DABC-424D-A234-74BB9410FF27}" type="slidenum">
              <a:rPr lang="en-US" smtClean="0"/>
              <a:t>1</a:t>
            </a:fld>
            <a:endParaRPr lang="en-US" dirty="0"/>
          </a:p>
        </p:txBody>
      </p:sp>
    </p:spTree>
    <p:extLst>
      <p:ext uri="{BB962C8B-B14F-4D97-AF65-F5344CB8AC3E}">
        <p14:creationId xmlns:p14="http://schemas.microsoft.com/office/powerpoint/2010/main" val="3616535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BB802-121A-A62C-6434-4F830B5BE9E3}"/>
              </a:ext>
            </a:extLst>
          </p:cNvPr>
          <p:cNvSpPr>
            <a:spLocks noGrp="1"/>
          </p:cNvSpPr>
          <p:nvPr>
            <p:ph type="title"/>
          </p:nvPr>
        </p:nvSpPr>
        <p:spPr/>
        <p:txBody>
          <a:bodyPr/>
          <a:lstStyle/>
          <a:p>
            <a:r>
              <a:rPr lang="en-US" b="1" dirty="0"/>
              <a:t>Quy </a:t>
            </a:r>
            <a:r>
              <a:rPr lang="en-US" b="1" dirty="0" err="1"/>
              <a:t>trình</a:t>
            </a:r>
            <a:r>
              <a:rPr lang="en-US" b="1" dirty="0"/>
              <a:t> </a:t>
            </a:r>
            <a:r>
              <a:rPr lang="en-US" b="1" dirty="0" err="1"/>
              <a:t>thiết</a:t>
            </a:r>
            <a:r>
              <a:rPr lang="en-US" b="1" dirty="0"/>
              <a:t> </a:t>
            </a:r>
            <a:r>
              <a:rPr lang="en-US" b="1" dirty="0" err="1"/>
              <a:t>kế</a:t>
            </a:r>
            <a:endParaRPr lang="en-US" b="1" dirty="0"/>
          </a:p>
        </p:txBody>
      </p:sp>
      <p:sp>
        <p:nvSpPr>
          <p:cNvPr id="4" name="Slide Number Placeholder 3">
            <a:extLst>
              <a:ext uri="{FF2B5EF4-FFF2-40B4-BE49-F238E27FC236}">
                <a16:creationId xmlns:a16="http://schemas.microsoft.com/office/drawing/2014/main" id="{C0BB8500-5B1C-0E6B-A076-A53AB787BAC6}"/>
              </a:ext>
            </a:extLst>
          </p:cNvPr>
          <p:cNvSpPr>
            <a:spLocks noGrp="1"/>
          </p:cNvSpPr>
          <p:nvPr>
            <p:ph type="sldNum" sz="quarter" idx="12"/>
          </p:nvPr>
        </p:nvSpPr>
        <p:spPr/>
        <p:txBody>
          <a:bodyPr/>
          <a:lstStyle/>
          <a:p>
            <a:fld id="{3957FE44-DABC-424D-A234-74BB9410FF27}" type="slidenum">
              <a:rPr lang="en-US" smtClean="0"/>
              <a:pPr/>
              <a:t>2</a:t>
            </a:fld>
            <a:endParaRPr lang="en-US" dirty="0"/>
          </a:p>
        </p:txBody>
      </p:sp>
      <p:graphicFrame>
        <p:nvGraphicFramePr>
          <p:cNvPr id="20" name="Content Placeholder 19">
            <a:extLst>
              <a:ext uri="{FF2B5EF4-FFF2-40B4-BE49-F238E27FC236}">
                <a16:creationId xmlns:a16="http://schemas.microsoft.com/office/drawing/2014/main" id="{F2384327-FE6C-F4FD-5241-9F81CB05371A}"/>
              </a:ext>
            </a:extLst>
          </p:cNvPr>
          <p:cNvGraphicFramePr>
            <a:graphicFrameLocks noGrp="1"/>
          </p:cNvGraphicFramePr>
          <p:nvPr>
            <p:ph idx="1"/>
            <p:extLst>
              <p:ext uri="{D42A27DB-BD31-4B8C-83A1-F6EECF244321}">
                <p14:modId xmlns:p14="http://schemas.microsoft.com/office/powerpoint/2010/main" val="1926021484"/>
              </p:ext>
            </p:extLst>
          </p:nvPr>
        </p:nvGraphicFramePr>
        <p:xfrm>
          <a:off x="609600" y="1600200"/>
          <a:ext cx="109728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5117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F430-E494-128B-2163-87F9B2E4A2D6}"/>
              </a:ext>
            </a:extLst>
          </p:cNvPr>
          <p:cNvSpPr>
            <a:spLocks noGrp="1"/>
          </p:cNvSpPr>
          <p:nvPr>
            <p:ph type="title"/>
          </p:nvPr>
        </p:nvSpPr>
        <p:spPr/>
        <p:txBody>
          <a:bodyPr/>
          <a:lstStyle/>
          <a:p>
            <a:r>
              <a:rPr lang="en-US" b="1" dirty="0"/>
              <a:t>Thông </a:t>
            </a:r>
            <a:r>
              <a:rPr lang="en-US" b="1" dirty="0" err="1"/>
              <a:t>số</a:t>
            </a:r>
            <a:r>
              <a:rPr lang="en-US" b="1" dirty="0"/>
              <a:t> </a:t>
            </a:r>
            <a:r>
              <a:rPr lang="en-US" b="1" dirty="0" err="1"/>
              <a:t>mục</a:t>
            </a:r>
            <a:r>
              <a:rPr lang="en-US" b="1" dirty="0"/>
              <a:t> </a:t>
            </a:r>
            <a:r>
              <a:rPr lang="en-US" b="1" dirty="0" err="1"/>
              <a:t>tiêu</a:t>
            </a:r>
            <a:endParaRPr lang="en-US" b="1" dirty="0"/>
          </a:p>
        </p:txBody>
      </p:sp>
      <p:sp>
        <p:nvSpPr>
          <p:cNvPr id="4" name="Slide Number Placeholder 3">
            <a:extLst>
              <a:ext uri="{FF2B5EF4-FFF2-40B4-BE49-F238E27FC236}">
                <a16:creationId xmlns:a16="http://schemas.microsoft.com/office/drawing/2014/main" id="{F4E271BA-528A-FE14-565D-302BE1302B1E}"/>
              </a:ext>
            </a:extLst>
          </p:cNvPr>
          <p:cNvSpPr>
            <a:spLocks noGrp="1"/>
          </p:cNvSpPr>
          <p:nvPr>
            <p:ph type="sldNum" sz="quarter" idx="12"/>
          </p:nvPr>
        </p:nvSpPr>
        <p:spPr/>
        <p:txBody>
          <a:bodyPr/>
          <a:lstStyle/>
          <a:p>
            <a:fld id="{3957FE44-DABC-424D-A234-74BB9410FF27}" type="slidenum">
              <a:rPr lang="en-US" smtClean="0"/>
              <a:pPr/>
              <a:t>3</a:t>
            </a:fld>
            <a:endParaRPr lang="en-US" dirty="0"/>
          </a:p>
        </p:txBody>
      </p:sp>
      <p:graphicFrame>
        <p:nvGraphicFramePr>
          <p:cNvPr id="8" name="Content Placeholder 7">
            <a:extLst>
              <a:ext uri="{FF2B5EF4-FFF2-40B4-BE49-F238E27FC236}">
                <a16:creationId xmlns:a16="http://schemas.microsoft.com/office/drawing/2014/main" id="{EF021421-06C9-6DDD-D730-11EDB0560AF2}"/>
              </a:ext>
            </a:extLst>
          </p:cNvPr>
          <p:cNvGraphicFramePr>
            <a:graphicFrameLocks noGrp="1"/>
          </p:cNvGraphicFramePr>
          <p:nvPr>
            <p:ph idx="1"/>
            <p:extLst>
              <p:ext uri="{D42A27DB-BD31-4B8C-83A1-F6EECF244321}">
                <p14:modId xmlns:p14="http://schemas.microsoft.com/office/powerpoint/2010/main" val="1886930012"/>
              </p:ext>
            </p:extLst>
          </p:nvPr>
        </p:nvGraphicFramePr>
        <p:xfrm>
          <a:off x="609600" y="1828800"/>
          <a:ext cx="10972800" cy="24942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76616328"/>
                    </a:ext>
                  </a:extLst>
                </a:gridCol>
                <a:gridCol w="2743200">
                  <a:extLst>
                    <a:ext uri="{9D8B030D-6E8A-4147-A177-3AD203B41FA5}">
                      <a16:colId xmlns:a16="http://schemas.microsoft.com/office/drawing/2014/main" val="2200965287"/>
                    </a:ext>
                  </a:extLst>
                </a:gridCol>
                <a:gridCol w="2743200">
                  <a:extLst>
                    <a:ext uri="{9D8B030D-6E8A-4147-A177-3AD203B41FA5}">
                      <a16:colId xmlns:a16="http://schemas.microsoft.com/office/drawing/2014/main" val="1049534695"/>
                    </a:ext>
                  </a:extLst>
                </a:gridCol>
                <a:gridCol w="2743200">
                  <a:extLst>
                    <a:ext uri="{9D8B030D-6E8A-4147-A177-3AD203B41FA5}">
                      <a16:colId xmlns:a16="http://schemas.microsoft.com/office/drawing/2014/main" val="758623680"/>
                    </a:ext>
                  </a:extLst>
                </a:gridCol>
              </a:tblGrid>
              <a:tr h="370840">
                <a:tc>
                  <a:txBody>
                    <a:bodyPr/>
                    <a:lstStyle/>
                    <a:p>
                      <a:endParaRPr lang="en-US"/>
                    </a:p>
                  </a:txBody>
                  <a:tcPr/>
                </a:tc>
                <a:tc>
                  <a:txBody>
                    <a:bodyPr/>
                    <a:lstStyle/>
                    <a:p>
                      <a:pPr algn="ctr"/>
                      <a:r>
                        <a:rPr lang="en-US" dirty="0"/>
                        <a:t>AGV</a:t>
                      </a:r>
                    </a:p>
                  </a:txBody>
                  <a:tcPr/>
                </a:tc>
                <a:tc>
                  <a:txBody>
                    <a:bodyPr/>
                    <a:lstStyle/>
                    <a:p>
                      <a:pPr algn="ctr"/>
                      <a:r>
                        <a:rPr lang="en-US" dirty="0"/>
                        <a:t>UAV</a:t>
                      </a:r>
                    </a:p>
                  </a:txBody>
                  <a:tcPr/>
                </a:tc>
                <a:tc>
                  <a:txBody>
                    <a:bodyPr/>
                    <a:lstStyle/>
                    <a:p>
                      <a:pPr algn="ctr"/>
                      <a:r>
                        <a:rPr lang="en-US" dirty="0"/>
                        <a:t>Robot </a:t>
                      </a:r>
                      <a:r>
                        <a:rPr lang="en-US" dirty="0" err="1"/>
                        <a:t>chó</a:t>
                      </a:r>
                      <a:endParaRPr lang="en-US" dirty="0"/>
                    </a:p>
                  </a:txBody>
                  <a:tcPr/>
                </a:tc>
                <a:extLst>
                  <a:ext uri="{0D108BD9-81ED-4DB2-BD59-A6C34878D82A}">
                    <a16:rowId xmlns:a16="http://schemas.microsoft.com/office/drawing/2014/main" val="3241366584"/>
                  </a:ext>
                </a:extLst>
              </a:tr>
              <a:tr h="370840">
                <a:tc>
                  <a:txBody>
                    <a:bodyPr/>
                    <a:lstStyle/>
                    <a:p>
                      <a:r>
                        <a:rPr lang="en-US" dirty="0" err="1"/>
                        <a:t>Điện</a:t>
                      </a:r>
                      <a:r>
                        <a:rPr lang="en-US" dirty="0"/>
                        <a:t> </a:t>
                      </a:r>
                      <a:r>
                        <a:rPr lang="en-US" dirty="0" err="1"/>
                        <a:t>áp</a:t>
                      </a:r>
                      <a:endParaRPr lang="en-US" dirty="0"/>
                    </a:p>
                  </a:txBody>
                  <a:tcPr/>
                </a:tc>
                <a:tc>
                  <a:txBody>
                    <a:bodyPr/>
                    <a:lstStyle/>
                    <a:p>
                      <a:r>
                        <a:rPr lang="en-US" dirty="0"/>
                        <a:t>24V – 48V</a:t>
                      </a:r>
                    </a:p>
                  </a:txBody>
                  <a:tcPr/>
                </a:tc>
                <a:tc>
                  <a:txBody>
                    <a:bodyPr/>
                    <a:lstStyle/>
                    <a:p>
                      <a:r>
                        <a:rPr lang="en-US" dirty="0"/>
                        <a:t>4S – 14S</a:t>
                      </a:r>
                    </a:p>
                  </a:txBody>
                  <a:tcPr/>
                </a:tc>
                <a:tc>
                  <a:txBody>
                    <a:bodyPr/>
                    <a:lstStyle/>
                    <a:p>
                      <a:r>
                        <a:rPr lang="en-US" dirty="0"/>
                        <a:t>24V - 48V</a:t>
                      </a:r>
                    </a:p>
                  </a:txBody>
                  <a:tcPr/>
                </a:tc>
                <a:extLst>
                  <a:ext uri="{0D108BD9-81ED-4DB2-BD59-A6C34878D82A}">
                    <a16:rowId xmlns:a16="http://schemas.microsoft.com/office/drawing/2014/main" val="2021804325"/>
                  </a:ext>
                </a:extLst>
              </a:tr>
              <a:tr h="370840">
                <a:tc>
                  <a:txBody>
                    <a:bodyPr/>
                    <a:lstStyle/>
                    <a:p>
                      <a:r>
                        <a:rPr lang="en-US" dirty="0" err="1"/>
                        <a:t>Thời</a:t>
                      </a:r>
                      <a:r>
                        <a:rPr lang="en-US" dirty="0"/>
                        <a:t> </a:t>
                      </a:r>
                      <a:r>
                        <a:rPr lang="en-US" dirty="0" err="1"/>
                        <a:t>gian</a:t>
                      </a:r>
                      <a:r>
                        <a:rPr lang="en-US" dirty="0"/>
                        <a:t> </a:t>
                      </a:r>
                      <a:r>
                        <a:rPr lang="en-US" dirty="0" err="1"/>
                        <a:t>hoạt</a:t>
                      </a:r>
                      <a:r>
                        <a:rPr lang="en-US" dirty="0"/>
                        <a:t> </a:t>
                      </a:r>
                      <a:r>
                        <a:rPr lang="en-US" dirty="0" err="1"/>
                        <a:t>động</a:t>
                      </a:r>
                      <a:endParaRPr lang="en-US" dirty="0"/>
                    </a:p>
                  </a:txBody>
                  <a:tcPr/>
                </a:tc>
                <a:tc>
                  <a:txBody>
                    <a:bodyPr/>
                    <a:lstStyle/>
                    <a:p>
                      <a:r>
                        <a:rPr lang="en-US" dirty="0"/>
                        <a:t>4 – 8 </a:t>
                      </a:r>
                      <a:r>
                        <a:rPr lang="en-US" dirty="0" err="1"/>
                        <a:t>giờ</a:t>
                      </a:r>
                      <a:endParaRPr lang="en-US" dirty="0"/>
                    </a:p>
                  </a:txBody>
                  <a:tcPr/>
                </a:tc>
                <a:tc>
                  <a:txBody>
                    <a:bodyPr/>
                    <a:lstStyle/>
                    <a:p>
                      <a:r>
                        <a:rPr lang="en-US" dirty="0"/>
                        <a:t>20 – 90 </a:t>
                      </a:r>
                      <a:r>
                        <a:rPr lang="en-US" dirty="0" err="1"/>
                        <a:t>phút</a:t>
                      </a:r>
                      <a:endParaRPr lang="en-US" dirty="0"/>
                    </a:p>
                  </a:txBody>
                  <a:tcPr/>
                </a:tc>
                <a:tc>
                  <a:txBody>
                    <a:bodyPr/>
                    <a:lstStyle/>
                    <a:p>
                      <a:r>
                        <a:rPr lang="en-US" dirty="0"/>
                        <a:t>1 – 4 </a:t>
                      </a:r>
                      <a:r>
                        <a:rPr lang="en-US" dirty="0" err="1"/>
                        <a:t>giờ</a:t>
                      </a:r>
                      <a:endParaRPr lang="en-US" dirty="0"/>
                    </a:p>
                  </a:txBody>
                  <a:tcPr/>
                </a:tc>
                <a:extLst>
                  <a:ext uri="{0D108BD9-81ED-4DB2-BD59-A6C34878D82A}">
                    <a16:rowId xmlns:a16="http://schemas.microsoft.com/office/drawing/2014/main" val="4213272807"/>
                  </a:ext>
                </a:extLst>
              </a:tr>
              <a:tr h="370840">
                <a:tc>
                  <a:txBody>
                    <a:bodyPr/>
                    <a:lstStyle/>
                    <a:p>
                      <a:r>
                        <a:rPr lang="en-US" dirty="0" err="1"/>
                        <a:t>Tần</a:t>
                      </a:r>
                      <a:r>
                        <a:rPr lang="en-US" dirty="0"/>
                        <a:t> </a:t>
                      </a:r>
                      <a:r>
                        <a:rPr lang="en-US" dirty="0" err="1"/>
                        <a:t>số</a:t>
                      </a:r>
                      <a:r>
                        <a:rPr lang="en-US" dirty="0"/>
                        <a:t> </a:t>
                      </a:r>
                      <a:r>
                        <a:rPr lang="en-US" dirty="0" err="1"/>
                        <a:t>điều</a:t>
                      </a:r>
                      <a:r>
                        <a:rPr lang="en-US" dirty="0"/>
                        <a:t> </a:t>
                      </a:r>
                      <a:r>
                        <a:rPr lang="en-US" dirty="0" err="1"/>
                        <a:t>khiển</a:t>
                      </a:r>
                      <a:endParaRPr lang="en-US" dirty="0"/>
                    </a:p>
                  </a:txBody>
                  <a:tcPr/>
                </a:tc>
                <a:tc>
                  <a:txBody>
                    <a:bodyPr/>
                    <a:lstStyle/>
                    <a:p>
                      <a:r>
                        <a:rPr lang="en-US" dirty="0"/>
                        <a:t>50 – 100Hz</a:t>
                      </a:r>
                    </a:p>
                  </a:txBody>
                  <a:tcPr/>
                </a:tc>
                <a:tc>
                  <a:txBody>
                    <a:bodyPr/>
                    <a:lstStyle/>
                    <a:p>
                      <a:r>
                        <a:rPr lang="en-US" dirty="0"/>
                        <a:t>200 – 500 Hz</a:t>
                      </a:r>
                    </a:p>
                  </a:txBody>
                  <a:tcPr/>
                </a:tc>
                <a:tc>
                  <a:txBody>
                    <a:bodyPr/>
                    <a:lstStyle/>
                    <a:p>
                      <a:r>
                        <a:rPr lang="en-US" dirty="0"/>
                        <a:t>500 – 1000 Hz</a:t>
                      </a:r>
                    </a:p>
                  </a:txBody>
                  <a:tcPr/>
                </a:tc>
                <a:extLst>
                  <a:ext uri="{0D108BD9-81ED-4DB2-BD59-A6C34878D82A}">
                    <a16:rowId xmlns:a16="http://schemas.microsoft.com/office/drawing/2014/main" val="3494557209"/>
                  </a:ext>
                </a:extLst>
              </a:tr>
              <a:tr h="370840">
                <a:tc>
                  <a:txBody>
                    <a:bodyPr/>
                    <a:lstStyle/>
                    <a:p>
                      <a:r>
                        <a:rPr lang="en-US" dirty="0"/>
                        <a:t>Sai </a:t>
                      </a:r>
                      <a:r>
                        <a:rPr lang="en-US" dirty="0" err="1"/>
                        <a:t>số</a:t>
                      </a:r>
                      <a:r>
                        <a:rPr lang="en-US" dirty="0"/>
                        <a:t> </a:t>
                      </a:r>
                      <a:r>
                        <a:rPr lang="en-US" dirty="0" err="1"/>
                        <a:t>định</a:t>
                      </a:r>
                      <a:r>
                        <a:rPr lang="en-US" dirty="0"/>
                        <a:t> </a:t>
                      </a:r>
                      <a:r>
                        <a:rPr lang="en-US" dirty="0" err="1"/>
                        <a:t>vị</a:t>
                      </a:r>
                      <a:endParaRPr lang="en-US" dirty="0"/>
                    </a:p>
                  </a:txBody>
                  <a:tcPr/>
                </a:tc>
                <a:tc>
                  <a:txBody>
                    <a:bodyPr/>
                    <a:lstStyle/>
                    <a:p>
                      <a:r>
                        <a:rPr lang="en-US" dirty="0"/>
                        <a:t>Trong </a:t>
                      </a:r>
                      <a:r>
                        <a:rPr lang="en-US" dirty="0" err="1"/>
                        <a:t>nhà</a:t>
                      </a:r>
                      <a:r>
                        <a:rPr lang="en-US" dirty="0"/>
                        <a:t>: &lt; 10 cm</a:t>
                      </a:r>
                    </a:p>
                    <a:p>
                      <a:r>
                        <a:rPr lang="en-US" dirty="0" err="1"/>
                        <a:t>Ngoài</a:t>
                      </a:r>
                      <a:r>
                        <a:rPr lang="en-US" dirty="0"/>
                        <a:t> </a:t>
                      </a:r>
                      <a:r>
                        <a:rPr lang="en-US" dirty="0" err="1"/>
                        <a:t>trời</a:t>
                      </a:r>
                      <a:r>
                        <a:rPr lang="en-US" dirty="0"/>
                        <a:t>:  &lt;1m</a:t>
                      </a:r>
                    </a:p>
                  </a:txBody>
                  <a:tcPr/>
                </a:tc>
                <a:tc>
                  <a:txBody>
                    <a:bodyPr/>
                    <a:lstStyle/>
                    <a:p>
                      <a:r>
                        <a:rPr lang="en-US" dirty="0" err="1"/>
                        <a:t>Ngoài</a:t>
                      </a:r>
                      <a:r>
                        <a:rPr lang="en-US" dirty="0"/>
                        <a:t> </a:t>
                      </a:r>
                      <a:r>
                        <a:rPr lang="en-US" dirty="0" err="1"/>
                        <a:t>trời</a:t>
                      </a:r>
                      <a:r>
                        <a:rPr lang="en-US" dirty="0"/>
                        <a:t>: 0.03 - 1m </a:t>
                      </a:r>
                    </a:p>
                  </a:txBody>
                  <a:tcPr/>
                </a:tc>
                <a:tc>
                  <a:txBody>
                    <a:bodyPr/>
                    <a:lstStyle/>
                    <a:p>
                      <a:r>
                        <a:rPr lang="en-US" dirty="0"/>
                        <a:t>Trong </a:t>
                      </a:r>
                      <a:r>
                        <a:rPr lang="en-US" dirty="0" err="1"/>
                        <a:t>nhà</a:t>
                      </a:r>
                      <a:r>
                        <a:rPr lang="en-US" dirty="0"/>
                        <a:t>: &lt; 5cm</a:t>
                      </a:r>
                    </a:p>
                    <a:p>
                      <a:r>
                        <a:rPr lang="en-US" dirty="0" err="1"/>
                        <a:t>Ngoài</a:t>
                      </a:r>
                      <a:r>
                        <a:rPr lang="en-US" dirty="0"/>
                        <a:t> </a:t>
                      </a:r>
                      <a:r>
                        <a:rPr lang="en-US" dirty="0" err="1"/>
                        <a:t>trời</a:t>
                      </a:r>
                      <a:r>
                        <a:rPr lang="en-US" dirty="0"/>
                        <a:t>: 0.03 - 1m </a:t>
                      </a:r>
                    </a:p>
                  </a:txBody>
                  <a:tcPr/>
                </a:tc>
                <a:extLst>
                  <a:ext uri="{0D108BD9-81ED-4DB2-BD59-A6C34878D82A}">
                    <a16:rowId xmlns:a16="http://schemas.microsoft.com/office/drawing/2014/main" val="241774337"/>
                  </a:ext>
                </a:extLst>
              </a:tr>
              <a:tr h="370840">
                <a:tc>
                  <a:txBody>
                    <a:bodyPr/>
                    <a:lstStyle/>
                    <a:p>
                      <a:r>
                        <a:rPr lang="en-US" dirty="0" err="1"/>
                        <a:t>Phát</a:t>
                      </a:r>
                      <a:r>
                        <a:rPr lang="en-US" dirty="0"/>
                        <a:t> </a:t>
                      </a:r>
                      <a:r>
                        <a:rPr lang="en-US" dirty="0" err="1"/>
                        <a:t>hiện</a:t>
                      </a:r>
                      <a:r>
                        <a:rPr lang="en-US" dirty="0"/>
                        <a:t> </a:t>
                      </a:r>
                      <a:r>
                        <a:rPr lang="en-US" dirty="0" err="1"/>
                        <a:t>vật</a:t>
                      </a:r>
                      <a:r>
                        <a:rPr lang="en-US" dirty="0"/>
                        <a:t> </a:t>
                      </a:r>
                      <a:r>
                        <a:rPr lang="en-US" dirty="0" err="1"/>
                        <a:t>cản</a:t>
                      </a:r>
                      <a:endParaRPr lang="en-US" dirty="0"/>
                    </a:p>
                  </a:txBody>
                  <a:tcPr/>
                </a:tc>
                <a:tc>
                  <a:txBody>
                    <a:bodyPr/>
                    <a:lstStyle/>
                    <a:p>
                      <a:r>
                        <a:rPr lang="en-US" dirty="0"/>
                        <a:t>1 – 10 m</a:t>
                      </a:r>
                    </a:p>
                  </a:txBody>
                  <a:tcPr/>
                </a:tc>
                <a:tc>
                  <a:txBody>
                    <a:bodyPr/>
                    <a:lstStyle/>
                    <a:p>
                      <a:r>
                        <a:rPr lang="en-US" dirty="0"/>
                        <a:t>&gt; 20 m</a:t>
                      </a:r>
                    </a:p>
                  </a:txBody>
                  <a:tcPr/>
                </a:tc>
                <a:tc>
                  <a:txBody>
                    <a:bodyPr/>
                    <a:lstStyle/>
                    <a:p>
                      <a:r>
                        <a:rPr lang="en-US" dirty="0"/>
                        <a:t>10 – 20 m</a:t>
                      </a:r>
                    </a:p>
                  </a:txBody>
                  <a:tcPr/>
                </a:tc>
                <a:extLst>
                  <a:ext uri="{0D108BD9-81ED-4DB2-BD59-A6C34878D82A}">
                    <a16:rowId xmlns:a16="http://schemas.microsoft.com/office/drawing/2014/main" val="2978945870"/>
                  </a:ext>
                </a:extLst>
              </a:tr>
            </a:tbl>
          </a:graphicData>
        </a:graphic>
      </p:graphicFrame>
    </p:spTree>
    <p:extLst>
      <p:ext uri="{BB962C8B-B14F-4D97-AF65-F5344CB8AC3E}">
        <p14:creationId xmlns:p14="http://schemas.microsoft.com/office/powerpoint/2010/main" val="3757424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586FF-A97B-F010-C6B2-0663F8B64A45}"/>
              </a:ext>
            </a:extLst>
          </p:cNvPr>
          <p:cNvSpPr>
            <a:spLocks noGrp="1"/>
          </p:cNvSpPr>
          <p:nvPr>
            <p:ph type="title"/>
          </p:nvPr>
        </p:nvSpPr>
        <p:spPr/>
        <p:txBody>
          <a:bodyPr/>
          <a:lstStyle/>
          <a:p>
            <a:r>
              <a:rPr lang="en-US" b="1" dirty="0"/>
              <a:t>Phương </a:t>
            </a:r>
            <a:r>
              <a:rPr lang="en-US" b="1" dirty="0" err="1"/>
              <a:t>án</a:t>
            </a:r>
            <a:r>
              <a:rPr lang="en-US" b="1" dirty="0"/>
              <a:t> </a:t>
            </a:r>
            <a:r>
              <a:rPr lang="en-US" b="1" dirty="0" err="1"/>
              <a:t>thiết</a:t>
            </a:r>
            <a:r>
              <a:rPr lang="en-US" b="1" dirty="0"/>
              <a:t> </a:t>
            </a:r>
            <a:r>
              <a:rPr lang="en-US" b="1" dirty="0" err="1"/>
              <a:t>kế</a:t>
            </a:r>
            <a:endParaRPr lang="en-US" dirty="0"/>
          </a:p>
        </p:txBody>
      </p:sp>
      <p:graphicFrame>
        <p:nvGraphicFramePr>
          <p:cNvPr id="5" name="Content Placeholder 4">
            <a:extLst>
              <a:ext uri="{FF2B5EF4-FFF2-40B4-BE49-F238E27FC236}">
                <a16:creationId xmlns:a16="http://schemas.microsoft.com/office/drawing/2014/main" id="{19794871-2524-88D0-6C0C-AEAEDB430D23}"/>
              </a:ext>
            </a:extLst>
          </p:cNvPr>
          <p:cNvGraphicFramePr>
            <a:graphicFrameLocks noGrp="1"/>
          </p:cNvGraphicFramePr>
          <p:nvPr>
            <p:ph idx="1"/>
            <p:extLst>
              <p:ext uri="{D42A27DB-BD31-4B8C-83A1-F6EECF244321}">
                <p14:modId xmlns:p14="http://schemas.microsoft.com/office/powerpoint/2010/main" val="3838838435"/>
              </p:ext>
            </p:extLst>
          </p:nvPr>
        </p:nvGraphicFramePr>
        <p:xfrm>
          <a:off x="609600" y="1143000"/>
          <a:ext cx="10972800" cy="2438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CBE7DECB-5DB1-02B5-D9C1-CFF3D284630F}"/>
              </a:ext>
            </a:extLst>
          </p:cNvPr>
          <p:cNvSpPr>
            <a:spLocks noGrp="1"/>
          </p:cNvSpPr>
          <p:nvPr>
            <p:ph type="sldNum" sz="quarter" idx="12"/>
          </p:nvPr>
        </p:nvSpPr>
        <p:spPr/>
        <p:txBody>
          <a:bodyPr/>
          <a:lstStyle/>
          <a:p>
            <a:fld id="{3957FE44-DABC-424D-A234-74BB9410FF27}" type="slidenum">
              <a:rPr lang="en-US" smtClean="0"/>
              <a:pPr/>
              <a:t>4</a:t>
            </a:fld>
            <a:endParaRPr lang="en-US" dirty="0"/>
          </a:p>
        </p:txBody>
      </p:sp>
      <p:sp>
        <p:nvSpPr>
          <p:cNvPr id="6" name="Content Placeholder 2">
            <a:extLst>
              <a:ext uri="{FF2B5EF4-FFF2-40B4-BE49-F238E27FC236}">
                <a16:creationId xmlns:a16="http://schemas.microsoft.com/office/drawing/2014/main" id="{F8CC59A9-ABEF-6AB3-701E-95A8005E25E1}"/>
              </a:ext>
            </a:extLst>
          </p:cNvPr>
          <p:cNvSpPr txBox="1">
            <a:spLocks/>
          </p:cNvSpPr>
          <p:nvPr/>
        </p:nvSpPr>
        <p:spPr>
          <a:xfrm>
            <a:off x="609600" y="3276600"/>
            <a:ext cx="10972800" cy="32004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Font typeface="Arial" pitchFamily="34" charset="0"/>
              <a:buNone/>
            </a:pPr>
            <a:r>
              <a:rPr lang="en-US" b="1" dirty="0" err="1"/>
              <a:t>Đầu</a:t>
            </a:r>
            <a:r>
              <a:rPr lang="en-US" b="1" dirty="0"/>
              <a:t> </a:t>
            </a:r>
            <a:r>
              <a:rPr lang="en-US" b="1" dirty="0" err="1"/>
              <a:t>ra</a:t>
            </a:r>
            <a:r>
              <a:rPr lang="en-US" b="1" dirty="0"/>
              <a:t> </a:t>
            </a:r>
            <a:r>
              <a:rPr lang="en-US" b="1" dirty="0" err="1"/>
              <a:t>của</a:t>
            </a:r>
            <a:r>
              <a:rPr lang="en-US" b="1" dirty="0"/>
              <a:t> </a:t>
            </a:r>
            <a:r>
              <a:rPr lang="en-US" b="1" dirty="0" err="1"/>
              <a:t>bước</a:t>
            </a:r>
            <a:r>
              <a:rPr lang="en-US" b="1" dirty="0"/>
              <a:t> </a:t>
            </a:r>
            <a:r>
              <a:rPr lang="en-US" b="1" dirty="0" err="1"/>
              <a:t>giai</a:t>
            </a:r>
            <a:r>
              <a:rPr lang="en-US" b="1" dirty="0"/>
              <a:t> </a:t>
            </a:r>
            <a:r>
              <a:rPr lang="en-US" b="1" dirty="0" err="1"/>
              <a:t>đoạn</a:t>
            </a:r>
            <a:r>
              <a:rPr lang="en-US" b="1" dirty="0"/>
              <a:t> </a:t>
            </a:r>
            <a:r>
              <a:rPr lang="en-US" b="1" dirty="0" err="1"/>
              <a:t>thiết</a:t>
            </a:r>
            <a:r>
              <a:rPr lang="en-US" b="1" dirty="0"/>
              <a:t> </a:t>
            </a:r>
            <a:r>
              <a:rPr lang="en-US" b="1" dirty="0" err="1"/>
              <a:t>kế</a:t>
            </a:r>
            <a:r>
              <a:rPr lang="en-US" b="1" dirty="0"/>
              <a:t> </a:t>
            </a:r>
            <a:r>
              <a:rPr lang="en-US" b="1" dirty="0" err="1"/>
              <a:t>hệ</a:t>
            </a:r>
            <a:r>
              <a:rPr lang="en-US" b="1" dirty="0"/>
              <a:t> </a:t>
            </a:r>
            <a:r>
              <a:rPr lang="en-US" b="1" dirty="0" err="1"/>
              <a:t>thống</a:t>
            </a:r>
            <a:r>
              <a:rPr lang="en-US" b="1" dirty="0"/>
              <a:t> </a:t>
            </a:r>
            <a:r>
              <a:rPr lang="en-US" b="1" dirty="0" err="1"/>
              <a:t>điện</a:t>
            </a:r>
            <a:r>
              <a:rPr lang="en-US" b="1" dirty="0"/>
              <a:t>:</a:t>
            </a:r>
          </a:p>
          <a:p>
            <a:pPr marL="457200" indent="-457200">
              <a:buFont typeface="+mj-lt"/>
              <a:buAutoNum type="arabicPeriod"/>
            </a:pPr>
            <a:r>
              <a:rPr lang="vi-VN" dirty="0"/>
              <a:t>Bản vẽ sơ đồ nguyên lý toàn hệ thống điện (System Schematic).</a:t>
            </a:r>
            <a:endParaRPr lang="en-US" dirty="0"/>
          </a:p>
          <a:p>
            <a:pPr marL="457200" indent="-457200">
              <a:buFont typeface="+mj-lt"/>
              <a:buAutoNum type="arabicPeriod"/>
            </a:pPr>
            <a:r>
              <a:rPr lang="vi-VN" dirty="0"/>
              <a:t>File thiết kế bo mạch PCB.</a:t>
            </a:r>
            <a:endParaRPr lang="en-US" dirty="0"/>
          </a:p>
          <a:p>
            <a:pPr marL="457200" indent="-457200">
              <a:buFont typeface="+mj-lt"/>
              <a:buAutoNum type="arabicPeriod"/>
            </a:pPr>
            <a:r>
              <a:rPr lang="vi-VN" dirty="0"/>
              <a:t>Bảng liệt kê linh kiện điện tử cần mua (BOM).</a:t>
            </a:r>
            <a:endParaRPr lang="en-US" dirty="0"/>
          </a:p>
          <a:p>
            <a:pPr marL="457200" indent="-457200">
              <a:buFont typeface="+mj-lt"/>
              <a:buAutoNum type="arabicPeriod"/>
            </a:pPr>
            <a:r>
              <a:rPr lang="vi-VN" dirty="0"/>
              <a:t>Bản vẽ sơ đồ đi dây cáp (Cable Harness Wiring Diagram) kết nối giữa các khối trên khung xe robot.</a:t>
            </a:r>
            <a:endParaRPr lang="en-US" dirty="0"/>
          </a:p>
        </p:txBody>
      </p:sp>
    </p:spTree>
    <p:extLst>
      <p:ext uri="{BB962C8B-B14F-4D97-AF65-F5344CB8AC3E}">
        <p14:creationId xmlns:p14="http://schemas.microsoft.com/office/powerpoint/2010/main" val="653900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9008B-6A32-FA3B-05F7-FD59C14A0201}"/>
              </a:ext>
            </a:extLst>
          </p:cNvPr>
          <p:cNvSpPr>
            <a:spLocks noGrp="1"/>
          </p:cNvSpPr>
          <p:nvPr>
            <p:ph type="title"/>
          </p:nvPr>
        </p:nvSpPr>
        <p:spPr/>
        <p:txBody>
          <a:bodyPr>
            <a:normAutofit/>
          </a:bodyPr>
          <a:lstStyle/>
          <a:p>
            <a:r>
              <a:rPr lang="en-US" b="1" dirty="0" err="1"/>
              <a:t>Lựa</a:t>
            </a:r>
            <a:r>
              <a:rPr lang="en-US" b="1" dirty="0"/>
              <a:t> </a:t>
            </a:r>
            <a:r>
              <a:rPr lang="en-US" b="1" dirty="0" err="1"/>
              <a:t>chọn</a:t>
            </a:r>
            <a:r>
              <a:rPr lang="en-US" b="1" dirty="0"/>
              <a:t> </a:t>
            </a:r>
            <a:r>
              <a:rPr lang="en-US" b="1" dirty="0" err="1"/>
              <a:t>cảm</a:t>
            </a:r>
            <a:r>
              <a:rPr lang="en-US" b="1" dirty="0"/>
              <a:t> </a:t>
            </a:r>
            <a:r>
              <a:rPr lang="en-US" b="1" dirty="0" err="1"/>
              <a:t>biến</a:t>
            </a:r>
            <a:endParaRPr lang="en-US" b="1" dirty="0"/>
          </a:p>
        </p:txBody>
      </p:sp>
      <p:sp>
        <p:nvSpPr>
          <p:cNvPr id="3" name="Content Placeholder 2">
            <a:extLst>
              <a:ext uri="{FF2B5EF4-FFF2-40B4-BE49-F238E27FC236}">
                <a16:creationId xmlns:a16="http://schemas.microsoft.com/office/drawing/2014/main" id="{25A726F3-357D-E99E-C83D-B1B86205C75C}"/>
              </a:ext>
            </a:extLst>
          </p:cNvPr>
          <p:cNvSpPr>
            <a:spLocks noGrp="1"/>
          </p:cNvSpPr>
          <p:nvPr>
            <p:ph idx="1"/>
          </p:nvPr>
        </p:nvSpPr>
        <p:spPr/>
        <p:txBody>
          <a:bodyPr/>
          <a:lstStyle/>
          <a:p>
            <a:pPr marL="0" indent="0">
              <a:buNone/>
            </a:pPr>
            <a:r>
              <a:rPr lang="en-US" b="1" dirty="0"/>
              <a:t>Quy </a:t>
            </a:r>
            <a:r>
              <a:rPr lang="en-US" b="1" dirty="0" err="1"/>
              <a:t>trình</a:t>
            </a:r>
            <a:r>
              <a:rPr lang="en-US" b="1" dirty="0"/>
              <a:t> </a:t>
            </a:r>
            <a:r>
              <a:rPr lang="en-US" b="1" dirty="0" err="1"/>
              <a:t>lựa</a:t>
            </a:r>
            <a:r>
              <a:rPr lang="en-US" b="1" dirty="0"/>
              <a:t> </a:t>
            </a:r>
            <a:r>
              <a:rPr lang="en-US" b="1" dirty="0" err="1"/>
              <a:t>chọn</a:t>
            </a:r>
            <a:r>
              <a:rPr lang="en-US" b="1" dirty="0"/>
              <a:t> </a:t>
            </a:r>
            <a:r>
              <a:rPr lang="en-US" b="1" dirty="0" err="1"/>
              <a:t>cảm</a:t>
            </a:r>
            <a:r>
              <a:rPr lang="en-US" b="1" dirty="0"/>
              <a:t> </a:t>
            </a:r>
            <a:r>
              <a:rPr lang="en-US" b="1" dirty="0" err="1"/>
              <a:t>biến</a:t>
            </a:r>
            <a:r>
              <a:rPr lang="en-US" b="1" dirty="0"/>
              <a:t>:</a:t>
            </a:r>
          </a:p>
          <a:p>
            <a:pPr marL="0" indent="0">
              <a:buNone/>
            </a:pPr>
            <a:r>
              <a:rPr lang="en-US" dirty="0"/>
              <a:t>1.  </a:t>
            </a:r>
            <a:r>
              <a:rPr lang="en-US" dirty="0" err="1"/>
              <a:t>Lập</a:t>
            </a:r>
            <a:r>
              <a:rPr lang="en-US" dirty="0"/>
              <a:t> </a:t>
            </a:r>
            <a:r>
              <a:rPr lang="en-US" dirty="0" err="1"/>
              <a:t>danh</a:t>
            </a:r>
            <a:r>
              <a:rPr lang="en-US" dirty="0"/>
              <a:t> </a:t>
            </a:r>
            <a:r>
              <a:rPr lang="en-US" dirty="0" err="1"/>
              <a:t>sách</a:t>
            </a:r>
            <a:r>
              <a:rPr lang="en-US" dirty="0"/>
              <a:t> </a:t>
            </a:r>
            <a:r>
              <a:rPr lang="en-US" dirty="0" err="1"/>
              <a:t>cảm</a:t>
            </a:r>
            <a:r>
              <a:rPr lang="en-US" dirty="0"/>
              <a:t> </a:t>
            </a:r>
            <a:r>
              <a:rPr lang="en-US" dirty="0" err="1"/>
              <a:t>biến</a:t>
            </a:r>
            <a:endParaRPr lang="en-US" dirty="0"/>
          </a:p>
          <a:p>
            <a:pPr marL="400050" indent="-182563"/>
            <a:r>
              <a:rPr lang="en-US" dirty="0" err="1"/>
              <a:t>Cảm</a:t>
            </a:r>
            <a:r>
              <a:rPr lang="en-US" dirty="0"/>
              <a:t> </a:t>
            </a:r>
            <a:r>
              <a:rPr lang="en-US" dirty="0" err="1"/>
              <a:t>biến</a:t>
            </a:r>
            <a:r>
              <a:rPr lang="en-US" dirty="0"/>
              <a:t> </a:t>
            </a:r>
            <a:r>
              <a:rPr lang="en-US" dirty="0" err="1"/>
              <a:t>trạng</a:t>
            </a:r>
            <a:r>
              <a:rPr lang="en-US" dirty="0"/>
              <a:t> </a:t>
            </a:r>
            <a:r>
              <a:rPr lang="en-US" dirty="0" err="1"/>
              <a:t>thái</a:t>
            </a:r>
            <a:r>
              <a:rPr lang="en-US" dirty="0"/>
              <a:t>: </a:t>
            </a:r>
            <a:r>
              <a:rPr lang="en-US" dirty="0" err="1"/>
              <a:t>để</a:t>
            </a:r>
            <a:r>
              <a:rPr lang="en-US" dirty="0"/>
              <a:t> </a:t>
            </a:r>
            <a:r>
              <a:rPr lang="en-US" dirty="0" err="1"/>
              <a:t>lấy</a:t>
            </a:r>
            <a:r>
              <a:rPr lang="en-US" dirty="0"/>
              <a:t> </a:t>
            </a:r>
            <a:r>
              <a:rPr lang="en-US" dirty="0" err="1"/>
              <a:t>trạng</a:t>
            </a:r>
            <a:r>
              <a:rPr lang="en-US" dirty="0"/>
              <a:t> </a:t>
            </a:r>
            <a:r>
              <a:rPr lang="en-US" dirty="0" err="1"/>
              <a:t>thái</a:t>
            </a:r>
            <a:r>
              <a:rPr lang="en-US" dirty="0"/>
              <a:t> </a:t>
            </a:r>
            <a:r>
              <a:rPr lang="en-US" dirty="0" err="1"/>
              <a:t>của</a:t>
            </a:r>
            <a:r>
              <a:rPr lang="en-US" dirty="0"/>
              <a:t> robot</a:t>
            </a:r>
          </a:p>
          <a:p>
            <a:pPr marL="630238" lvl="1" indent="-182563"/>
            <a:r>
              <a:rPr lang="en-US" dirty="0"/>
              <a:t>IMU, encoder, </a:t>
            </a:r>
            <a:r>
              <a:rPr lang="en-US" dirty="0" err="1"/>
              <a:t>cảm</a:t>
            </a:r>
            <a:r>
              <a:rPr lang="en-US" dirty="0"/>
              <a:t> </a:t>
            </a:r>
            <a:r>
              <a:rPr lang="en-US" dirty="0" err="1"/>
              <a:t>biến</a:t>
            </a:r>
            <a:r>
              <a:rPr lang="en-US" dirty="0"/>
              <a:t> </a:t>
            </a:r>
            <a:r>
              <a:rPr lang="en-US" dirty="0" err="1"/>
              <a:t>lực</a:t>
            </a:r>
            <a:r>
              <a:rPr lang="en-US" dirty="0"/>
              <a:t>, …</a:t>
            </a:r>
          </a:p>
          <a:p>
            <a:pPr marL="400050" indent="-182563"/>
            <a:r>
              <a:rPr lang="en-US" dirty="0" err="1"/>
              <a:t>Cả</a:t>
            </a:r>
            <a:r>
              <a:rPr lang="en-US" dirty="0"/>
              <a:t> </a:t>
            </a:r>
            <a:r>
              <a:rPr lang="en-US" dirty="0" err="1"/>
              <a:t>biến</a:t>
            </a:r>
            <a:r>
              <a:rPr lang="en-US" dirty="0"/>
              <a:t> </a:t>
            </a:r>
            <a:r>
              <a:rPr lang="en-US" dirty="0" err="1"/>
              <a:t>môi</a:t>
            </a:r>
            <a:r>
              <a:rPr lang="en-US" dirty="0"/>
              <a:t> </a:t>
            </a:r>
            <a:r>
              <a:rPr lang="en-US" dirty="0" err="1"/>
              <a:t>trường</a:t>
            </a:r>
            <a:r>
              <a:rPr lang="en-US" dirty="0"/>
              <a:t>: </a:t>
            </a:r>
            <a:r>
              <a:rPr lang="en-US" dirty="0" err="1"/>
              <a:t>Để</a:t>
            </a:r>
            <a:r>
              <a:rPr lang="en-US" dirty="0"/>
              <a:t> robot </a:t>
            </a:r>
            <a:r>
              <a:rPr lang="en-US" dirty="0" err="1"/>
              <a:t>nhận</a:t>
            </a:r>
            <a:r>
              <a:rPr lang="en-US" dirty="0"/>
              <a:t> </a:t>
            </a:r>
            <a:r>
              <a:rPr lang="en-US" dirty="0" err="1"/>
              <a:t>biết</a:t>
            </a:r>
            <a:r>
              <a:rPr lang="en-US" dirty="0"/>
              <a:t> </a:t>
            </a:r>
            <a:r>
              <a:rPr lang="en-US" dirty="0" err="1"/>
              <a:t>môi</a:t>
            </a:r>
            <a:r>
              <a:rPr lang="en-US" dirty="0"/>
              <a:t> </a:t>
            </a:r>
            <a:r>
              <a:rPr lang="en-US" dirty="0" err="1"/>
              <a:t>trường</a:t>
            </a:r>
            <a:r>
              <a:rPr lang="en-US" dirty="0"/>
              <a:t> </a:t>
            </a:r>
            <a:r>
              <a:rPr lang="en-US" dirty="0" err="1"/>
              <a:t>xung</a:t>
            </a:r>
            <a:r>
              <a:rPr lang="en-US" dirty="0"/>
              <a:t> </a:t>
            </a:r>
            <a:r>
              <a:rPr lang="en-US" dirty="0" err="1"/>
              <a:t>quanh</a:t>
            </a:r>
            <a:endParaRPr lang="en-US" dirty="0"/>
          </a:p>
          <a:p>
            <a:pPr marL="630238" lvl="1" indent="-182563"/>
            <a:r>
              <a:rPr lang="en-US" dirty="0"/>
              <a:t>Camera, Lidar, </a:t>
            </a:r>
            <a:r>
              <a:rPr lang="en-US" dirty="0" err="1"/>
              <a:t>Cảm</a:t>
            </a:r>
            <a:r>
              <a:rPr lang="en-US" dirty="0"/>
              <a:t> </a:t>
            </a:r>
            <a:r>
              <a:rPr lang="en-US" dirty="0" err="1"/>
              <a:t>biến</a:t>
            </a:r>
            <a:r>
              <a:rPr lang="en-US" dirty="0"/>
              <a:t> </a:t>
            </a:r>
            <a:r>
              <a:rPr lang="en-US" dirty="0" err="1"/>
              <a:t>siêu</a:t>
            </a:r>
            <a:r>
              <a:rPr lang="en-US" dirty="0"/>
              <a:t> </a:t>
            </a:r>
            <a:r>
              <a:rPr lang="en-US" dirty="0" err="1"/>
              <a:t>âm</a:t>
            </a:r>
            <a:r>
              <a:rPr lang="en-US" dirty="0"/>
              <a:t>, …</a:t>
            </a:r>
          </a:p>
          <a:p>
            <a:pPr marL="0" indent="0">
              <a:buNone/>
            </a:pPr>
            <a:r>
              <a:rPr lang="en-US" dirty="0"/>
              <a:t>2.  </a:t>
            </a:r>
            <a:r>
              <a:rPr lang="en-US" dirty="0" err="1"/>
              <a:t>Phân</a:t>
            </a:r>
            <a:r>
              <a:rPr lang="en-US" dirty="0"/>
              <a:t> </a:t>
            </a:r>
            <a:r>
              <a:rPr lang="en-US" dirty="0" err="1"/>
              <a:t>tích</a:t>
            </a:r>
            <a:r>
              <a:rPr lang="en-US" dirty="0"/>
              <a:t> </a:t>
            </a:r>
            <a:r>
              <a:rPr lang="en-US" dirty="0" err="1"/>
              <a:t>các</a:t>
            </a:r>
            <a:r>
              <a:rPr lang="en-US" dirty="0"/>
              <a:t> </a:t>
            </a:r>
            <a:r>
              <a:rPr lang="en-US" dirty="0" err="1"/>
              <a:t>tiêu</a:t>
            </a:r>
            <a:r>
              <a:rPr lang="en-US" dirty="0"/>
              <a:t> </a:t>
            </a:r>
            <a:r>
              <a:rPr lang="en-US" dirty="0" err="1"/>
              <a:t>chí</a:t>
            </a:r>
            <a:r>
              <a:rPr lang="en-US" dirty="0"/>
              <a:t> </a:t>
            </a:r>
            <a:r>
              <a:rPr lang="en-US" dirty="0" err="1"/>
              <a:t>lựa</a:t>
            </a:r>
            <a:r>
              <a:rPr lang="en-US" dirty="0"/>
              <a:t> </a:t>
            </a:r>
            <a:r>
              <a:rPr lang="en-US" dirty="0" err="1"/>
              <a:t>chọn</a:t>
            </a:r>
            <a:endParaRPr lang="en-US" dirty="0"/>
          </a:p>
          <a:p>
            <a:pPr marL="400050" indent="-182563"/>
            <a:r>
              <a:rPr lang="en-US" dirty="0" err="1"/>
              <a:t>Khoảng</a:t>
            </a:r>
            <a:r>
              <a:rPr lang="en-US" dirty="0"/>
              <a:t> </a:t>
            </a:r>
            <a:r>
              <a:rPr lang="en-US" dirty="0" err="1"/>
              <a:t>đo</a:t>
            </a:r>
            <a:r>
              <a:rPr lang="en-US" dirty="0"/>
              <a:t>, </a:t>
            </a:r>
            <a:r>
              <a:rPr lang="en-US" dirty="0" err="1"/>
              <a:t>độ</a:t>
            </a:r>
            <a:r>
              <a:rPr lang="en-US" dirty="0"/>
              <a:t> </a:t>
            </a:r>
            <a:r>
              <a:rPr lang="en-US" dirty="0" err="1"/>
              <a:t>phân</a:t>
            </a:r>
            <a:r>
              <a:rPr lang="en-US" dirty="0"/>
              <a:t> </a:t>
            </a:r>
            <a:r>
              <a:rPr lang="en-US" dirty="0" err="1"/>
              <a:t>giải</a:t>
            </a:r>
            <a:r>
              <a:rPr lang="en-US" dirty="0"/>
              <a:t>, </a:t>
            </a:r>
            <a:r>
              <a:rPr lang="en-US" dirty="0" err="1"/>
              <a:t>tần</a:t>
            </a:r>
            <a:r>
              <a:rPr lang="en-US" dirty="0"/>
              <a:t> </a:t>
            </a:r>
            <a:r>
              <a:rPr lang="en-US" dirty="0" err="1"/>
              <a:t>số</a:t>
            </a:r>
            <a:r>
              <a:rPr lang="en-US" dirty="0"/>
              <a:t> </a:t>
            </a:r>
            <a:r>
              <a:rPr lang="en-US" dirty="0" err="1"/>
              <a:t>đáp</a:t>
            </a:r>
            <a:r>
              <a:rPr lang="en-US" dirty="0"/>
              <a:t> </a:t>
            </a:r>
            <a:r>
              <a:rPr lang="en-US" dirty="0" err="1"/>
              <a:t>ứng</a:t>
            </a:r>
            <a:r>
              <a:rPr lang="en-US" dirty="0"/>
              <a:t>, </a:t>
            </a:r>
            <a:r>
              <a:rPr lang="en-US" dirty="0" err="1"/>
              <a:t>độ</a:t>
            </a:r>
            <a:r>
              <a:rPr lang="en-US" dirty="0"/>
              <a:t> </a:t>
            </a:r>
            <a:r>
              <a:rPr lang="en-US" dirty="0" err="1"/>
              <a:t>trễ</a:t>
            </a:r>
            <a:r>
              <a:rPr lang="en-US" dirty="0"/>
              <a:t>, </a:t>
            </a:r>
            <a:r>
              <a:rPr lang="en-US" dirty="0" err="1"/>
              <a:t>độ</a:t>
            </a:r>
            <a:r>
              <a:rPr lang="en-US" dirty="0"/>
              <a:t> tin </a:t>
            </a:r>
            <a:r>
              <a:rPr lang="en-US" dirty="0" err="1"/>
              <a:t>cậy</a:t>
            </a:r>
            <a:r>
              <a:rPr lang="en-US" dirty="0"/>
              <a:t>, </a:t>
            </a:r>
            <a:r>
              <a:rPr lang="en-US" dirty="0" err="1"/>
              <a:t>chuẩn</a:t>
            </a:r>
            <a:r>
              <a:rPr lang="en-US" dirty="0"/>
              <a:t> </a:t>
            </a:r>
            <a:r>
              <a:rPr lang="en-US" dirty="0" err="1"/>
              <a:t>giao</a:t>
            </a:r>
            <a:r>
              <a:rPr lang="en-US" dirty="0"/>
              <a:t> </a:t>
            </a:r>
            <a:r>
              <a:rPr lang="en-US" dirty="0" err="1"/>
              <a:t>tiếp</a:t>
            </a:r>
            <a:endParaRPr lang="en-US" dirty="0"/>
          </a:p>
          <a:p>
            <a:pPr marL="0" indent="0">
              <a:buNone/>
            </a:pPr>
            <a:r>
              <a:rPr lang="en-US" dirty="0"/>
              <a:t>3.  </a:t>
            </a:r>
            <a:r>
              <a:rPr lang="en-US" dirty="0" err="1"/>
              <a:t>Đánh</a:t>
            </a:r>
            <a:r>
              <a:rPr lang="en-US" dirty="0"/>
              <a:t> </a:t>
            </a:r>
            <a:r>
              <a:rPr lang="en-US" dirty="0" err="1"/>
              <a:t>giá</a:t>
            </a:r>
            <a:r>
              <a:rPr lang="en-US" dirty="0"/>
              <a:t> chi </a:t>
            </a:r>
            <a:r>
              <a:rPr lang="en-US" dirty="0" err="1"/>
              <a:t>phí</a:t>
            </a:r>
            <a:r>
              <a:rPr lang="en-US" dirty="0"/>
              <a:t>, </a:t>
            </a:r>
            <a:r>
              <a:rPr lang="en-US" dirty="0" err="1"/>
              <a:t>khả</a:t>
            </a:r>
            <a:r>
              <a:rPr lang="en-US" dirty="0"/>
              <a:t> </a:t>
            </a:r>
            <a:r>
              <a:rPr lang="en-US" dirty="0" err="1"/>
              <a:t>năng</a:t>
            </a:r>
            <a:r>
              <a:rPr lang="en-US" dirty="0"/>
              <a:t> </a:t>
            </a:r>
            <a:r>
              <a:rPr lang="en-US" dirty="0" err="1"/>
              <a:t>tích</a:t>
            </a:r>
            <a:r>
              <a:rPr lang="en-US" dirty="0"/>
              <a:t> </a:t>
            </a:r>
            <a:r>
              <a:rPr lang="en-US" dirty="0" err="1"/>
              <a:t>hợp</a:t>
            </a:r>
            <a:endParaRPr lang="en-US" dirty="0"/>
          </a:p>
          <a:p>
            <a:pPr marL="400050" indent="-182563"/>
            <a:r>
              <a:rPr lang="en-US" dirty="0" err="1"/>
              <a:t>Chuẩn</a:t>
            </a:r>
            <a:r>
              <a:rPr lang="en-US" dirty="0"/>
              <a:t> </a:t>
            </a:r>
            <a:r>
              <a:rPr lang="en-US" dirty="0" err="1"/>
              <a:t>giao</a:t>
            </a:r>
            <a:r>
              <a:rPr lang="en-US" dirty="0"/>
              <a:t> </a:t>
            </a:r>
            <a:r>
              <a:rPr lang="en-US" dirty="0" err="1"/>
              <a:t>tiếp</a:t>
            </a:r>
            <a:r>
              <a:rPr lang="en-US" dirty="0"/>
              <a:t> </a:t>
            </a:r>
            <a:r>
              <a:rPr lang="en-US" dirty="0" err="1"/>
              <a:t>phù</a:t>
            </a:r>
            <a:r>
              <a:rPr lang="en-US" dirty="0"/>
              <a:t> </a:t>
            </a:r>
            <a:r>
              <a:rPr lang="en-US" dirty="0" err="1"/>
              <a:t>hợp</a:t>
            </a:r>
            <a:r>
              <a:rPr lang="en-US" dirty="0"/>
              <a:t>, </a:t>
            </a:r>
            <a:r>
              <a:rPr lang="en-US" dirty="0" err="1"/>
              <a:t>có</a:t>
            </a:r>
            <a:r>
              <a:rPr lang="en-US" dirty="0"/>
              <a:t> driver ROS2</a:t>
            </a:r>
          </a:p>
          <a:p>
            <a:pPr marL="0" indent="0">
              <a:buNone/>
            </a:pPr>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QFD </a:t>
            </a:r>
            <a:r>
              <a:rPr lang="en-US" dirty="0" err="1"/>
              <a:t>để</a:t>
            </a:r>
            <a:r>
              <a:rPr lang="en-US" dirty="0"/>
              <a:t> </a:t>
            </a:r>
            <a:r>
              <a:rPr lang="en-US" dirty="0" err="1"/>
              <a:t>lựa</a:t>
            </a:r>
            <a:r>
              <a:rPr lang="en-US" dirty="0"/>
              <a:t> </a:t>
            </a:r>
            <a:r>
              <a:rPr lang="en-US" dirty="0" err="1"/>
              <a:t>chọn</a:t>
            </a:r>
            <a:r>
              <a:rPr lang="en-US" dirty="0"/>
              <a:t>.</a:t>
            </a:r>
          </a:p>
        </p:txBody>
      </p:sp>
      <p:sp>
        <p:nvSpPr>
          <p:cNvPr id="4" name="Slide Number Placeholder 3">
            <a:extLst>
              <a:ext uri="{FF2B5EF4-FFF2-40B4-BE49-F238E27FC236}">
                <a16:creationId xmlns:a16="http://schemas.microsoft.com/office/drawing/2014/main" id="{35591195-208C-6192-4479-34F2C93566D3}"/>
              </a:ext>
            </a:extLst>
          </p:cNvPr>
          <p:cNvSpPr>
            <a:spLocks noGrp="1"/>
          </p:cNvSpPr>
          <p:nvPr>
            <p:ph type="sldNum" sz="quarter" idx="12"/>
          </p:nvPr>
        </p:nvSpPr>
        <p:spPr/>
        <p:txBody>
          <a:bodyPr/>
          <a:lstStyle/>
          <a:p>
            <a:fld id="{3957FE44-DABC-424D-A234-74BB9410FF27}" type="slidenum">
              <a:rPr lang="en-US" smtClean="0"/>
              <a:pPr/>
              <a:t>5</a:t>
            </a:fld>
            <a:endParaRPr lang="en-US" dirty="0"/>
          </a:p>
        </p:txBody>
      </p:sp>
    </p:spTree>
    <p:extLst>
      <p:ext uri="{BB962C8B-B14F-4D97-AF65-F5344CB8AC3E}">
        <p14:creationId xmlns:p14="http://schemas.microsoft.com/office/powerpoint/2010/main" val="700919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FA453-F56B-B0AB-CE06-99571CAE7C3B}"/>
              </a:ext>
            </a:extLst>
          </p:cNvPr>
          <p:cNvSpPr>
            <a:spLocks noGrp="1"/>
          </p:cNvSpPr>
          <p:nvPr>
            <p:ph type="title"/>
          </p:nvPr>
        </p:nvSpPr>
        <p:spPr/>
        <p:txBody>
          <a:bodyPr/>
          <a:lstStyle/>
          <a:p>
            <a:r>
              <a:rPr lang="en-US" b="1" dirty="0" err="1"/>
              <a:t>Lựa</a:t>
            </a:r>
            <a:r>
              <a:rPr lang="en-US" b="1" dirty="0"/>
              <a:t> </a:t>
            </a:r>
            <a:r>
              <a:rPr lang="en-US" b="1" dirty="0" err="1"/>
              <a:t>chọn</a:t>
            </a:r>
            <a:r>
              <a:rPr lang="en-US" b="1" dirty="0"/>
              <a:t> </a:t>
            </a:r>
            <a:r>
              <a:rPr lang="en-US" b="1" dirty="0" err="1"/>
              <a:t>cảm</a:t>
            </a:r>
            <a:r>
              <a:rPr lang="en-US" b="1" dirty="0"/>
              <a:t> </a:t>
            </a:r>
            <a:r>
              <a:rPr lang="en-US" b="1" dirty="0" err="1"/>
              <a:t>biến</a:t>
            </a:r>
            <a:endParaRPr lang="en-US" dirty="0"/>
          </a:p>
        </p:txBody>
      </p:sp>
      <p:sp>
        <p:nvSpPr>
          <p:cNvPr id="3" name="Content Placeholder 2">
            <a:extLst>
              <a:ext uri="{FF2B5EF4-FFF2-40B4-BE49-F238E27FC236}">
                <a16:creationId xmlns:a16="http://schemas.microsoft.com/office/drawing/2014/main" id="{B21D209E-71A8-71F9-8795-CB5EA95FCF89}"/>
              </a:ext>
            </a:extLst>
          </p:cNvPr>
          <p:cNvSpPr>
            <a:spLocks noGrp="1"/>
          </p:cNvSpPr>
          <p:nvPr>
            <p:ph idx="1"/>
          </p:nvPr>
        </p:nvSpPr>
        <p:spPr/>
        <p:txBody>
          <a:bodyPr/>
          <a:lstStyle/>
          <a:p>
            <a:r>
              <a:rPr lang="en-US" dirty="0" err="1"/>
              <a:t>Lập</a:t>
            </a:r>
            <a:r>
              <a:rPr lang="en-US" dirty="0"/>
              <a:t> </a:t>
            </a:r>
            <a:r>
              <a:rPr lang="en-US" dirty="0" err="1"/>
              <a:t>danh</a:t>
            </a:r>
            <a:r>
              <a:rPr lang="en-US" dirty="0"/>
              <a:t> </a:t>
            </a:r>
            <a:r>
              <a:rPr lang="en-US" dirty="0" err="1"/>
              <a:t>sách</a:t>
            </a:r>
            <a:r>
              <a:rPr lang="en-US" dirty="0"/>
              <a:t> </a:t>
            </a:r>
            <a:r>
              <a:rPr lang="en-US" dirty="0" err="1"/>
              <a:t>cảm</a:t>
            </a:r>
            <a:r>
              <a:rPr lang="en-US" dirty="0"/>
              <a:t> </a:t>
            </a:r>
            <a:r>
              <a:rPr lang="en-US" dirty="0" err="1"/>
              <a:t>biến</a:t>
            </a:r>
            <a:r>
              <a:rPr lang="en-US" dirty="0"/>
              <a:t> </a:t>
            </a:r>
            <a:r>
              <a:rPr lang="en-US" dirty="0" err="1"/>
              <a:t>cho</a:t>
            </a:r>
            <a:r>
              <a:rPr lang="en-US" dirty="0"/>
              <a:t> AGV, UAV, Robot </a:t>
            </a:r>
            <a:r>
              <a:rPr lang="en-US" dirty="0" err="1"/>
              <a:t>chó</a:t>
            </a:r>
            <a:endParaRPr lang="en-US" dirty="0"/>
          </a:p>
        </p:txBody>
      </p:sp>
      <p:sp>
        <p:nvSpPr>
          <p:cNvPr id="4" name="Slide Number Placeholder 3">
            <a:extLst>
              <a:ext uri="{FF2B5EF4-FFF2-40B4-BE49-F238E27FC236}">
                <a16:creationId xmlns:a16="http://schemas.microsoft.com/office/drawing/2014/main" id="{562E7A45-D6C8-7183-B65D-995D84067B79}"/>
              </a:ext>
            </a:extLst>
          </p:cNvPr>
          <p:cNvSpPr>
            <a:spLocks noGrp="1"/>
          </p:cNvSpPr>
          <p:nvPr>
            <p:ph type="sldNum" sz="quarter" idx="12"/>
          </p:nvPr>
        </p:nvSpPr>
        <p:spPr/>
        <p:txBody>
          <a:bodyPr/>
          <a:lstStyle/>
          <a:p>
            <a:fld id="{3957FE44-DABC-424D-A234-74BB9410FF27}" type="slidenum">
              <a:rPr lang="en-US" smtClean="0"/>
              <a:pPr/>
              <a:t>6</a:t>
            </a:fld>
            <a:endParaRPr lang="en-US" dirty="0"/>
          </a:p>
        </p:txBody>
      </p:sp>
      <p:graphicFrame>
        <p:nvGraphicFramePr>
          <p:cNvPr id="5" name="Table 4">
            <a:extLst>
              <a:ext uri="{FF2B5EF4-FFF2-40B4-BE49-F238E27FC236}">
                <a16:creationId xmlns:a16="http://schemas.microsoft.com/office/drawing/2014/main" id="{50F957E4-197F-5679-572F-B0A89D4C29C4}"/>
              </a:ext>
            </a:extLst>
          </p:cNvPr>
          <p:cNvGraphicFramePr>
            <a:graphicFrameLocks noGrp="1"/>
          </p:cNvGraphicFramePr>
          <p:nvPr>
            <p:extLst>
              <p:ext uri="{D42A27DB-BD31-4B8C-83A1-F6EECF244321}">
                <p14:modId xmlns:p14="http://schemas.microsoft.com/office/powerpoint/2010/main" val="3289349432"/>
              </p:ext>
            </p:extLst>
          </p:nvPr>
        </p:nvGraphicFramePr>
        <p:xfrm>
          <a:off x="914400" y="2164080"/>
          <a:ext cx="2362200" cy="359664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4048746251"/>
                    </a:ext>
                  </a:extLst>
                </a:gridCol>
              </a:tblGrid>
              <a:tr h="370840">
                <a:tc>
                  <a:txBody>
                    <a:bodyPr/>
                    <a:lstStyle/>
                    <a:p>
                      <a:r>
                        <a:rPr lang="en-US" dirty="0"/>
                        <a:t>AGV</a:t>
                      </a:r>
                    </a:p>
                  </a:txBody>
                  <a:tcPr/>
                </a:tc>
                <a:extLst>
                  <a:ext uri="{0D108BD9-81ED-4DB2-BD59-A6C34878D82A}">
                    <a16:rowId xmlns:a16="http://schemas.microsoft.com/office/drawing/2014/main" val="175791540"/>
                  </a:ext>
                </a:extLst>
              </a:tr>
              <a:tr h="370840">
                <a:tc>
                  <a:txBody>
                    <a:bodyPr/>
                    <a:lstStyle/>
                    <a:p>
                      <a:pPr>
                        <a:lnSpc>
                          <a:spcPct val="150000"/>
                        </a:lnSpc>
                        <a:spcBef>
                          <a:spcPts val="600"/>
                        </a:spcBef>
                      </a:pPr>
                      <a:r>
                        <a:rPr lang="en-US" dirty="0" err="1"/>
                        <a:t>Cảm</a:t>
                      </a:r>
                      <a:r>
                        <a:rPr lang="en-US" dirty="0"/>
                        <a:t> </a:t>
                      </a:r>
                      <a:r>
                        <a:rPr lang="en-US" dirty="0" err="1"/>
                        <a:t>biến</a:t>
                      </a:r>
                      <a:r>
                        <a:rPr lang="en-US" dirty="0"/>
                        <a:t> pin</a:t>
                      </a:r>
                    </a:p>
                    <a:p>
                      <a:pPr>
                        <a:lnSpc>
                          <a:spcPct val="150000"/>
                        </a:lnSpc>
                        <a:spcBef>
                          <a:spcPts val="600"/>
                        </a:spcBef>
                      </a:pPr>
                      <a:r>
                        <a:rPr lang="vi-VN" dirty="0"/>
                        <a:t>Encoder bánh xe </a:t>
                      </a:r>
                      <a:endParaRPr lang="en-US" dirty="0"/>
                    </a:p>
                    <a:p>
                      <a:pPr>
                        <a:lnSpc>
                          <a:spcPct val="150000"/>
                        </a:lnSpc>
                        <a:spcBef>
                          <a:spcPts val="600"/>
                        </a:spcBef>
                      </a:pPr>
                      <a:r>
                        <a:rPr lang="vi-VN" dirty="0"/>
                        <a:t>IMU </a:t>
                      </a:r>
                      <a:endParaRPr lang="en-US" dirty="0"/>
                    </a:p>
                    <a:p>
                      <a:pPr>
                        <a:lnSpc>
                          <a:spcPct val="150000"/>
                        </a:lnSpc>
                        <a:spcBef>
                          <a:spcPts val="600"/>
                        </a:spcBef>
                      </a:pPr>
                      <a:r>
                        <a:rPr lang="vi-VN" dirty="0"/>
                        <a:t>Camera RGB Camera chiều sâu</a:t>
                      </a:r>
                      <a:endParaRPr lang="en-US" dirty="0"/>
                    </a:p>
                    <a:p>
                      <a:pPr marL="0" marR="0" lvl="0" indent="0" algn="l" defTabSz="914400" rtl="0" eaLnBrk="1" fontAlgn="auto" latinLnBrk="0" hangingPunct="1">
                        <a:lnSpc>
                          <a:spcPct val="150000"/>
                        </a:lnSpc>
                        <a:spcBef>
                          <a:spcPts val="600"/>
                        </a:spcBef>
                        <a:spcAft>
                          <a:spcPts val="0"/>
                        </a:spcAft>
                        <a:buClrTx/>
                        <a:buSzTx/>
                        <a:buFontTx/>
                        <a:buNone/>
                        <a:tabLst/>
                        <a:defRPr/>
                      </a:pPr>
                      <a:r>
                        <a:rPr lang="vi-VN" dirty="0"/>
                        <a:t>Cảm biến chống rơi 2D LiDAR</a:t>
                      </a:r>
                      <a:endParaRPr lang="en-US" dirty="0"/>
                    </a:p>
                  </a:txBody>
                  <a:tcPr/>
                </a:tc>
                <a:extLst>
                  <a:ext uri="{0D108BD9-81ED-4DB2-BD59-A6C34878D82A}">
                    <a16:rowId xmlns:a16="http://schemas.microsoft.com/office/drawing/2014/main" val="1637477011"/>
                  </a:ext>
                </a:extLst>
              </a:tr>
            </a:tbl>
          </a:graphicData>
        </a:graphic>
      </p:graphicFrame>
      <p:graphicFrame>
        <p:nvGraphicFramePr>
          <p:cNvPr id="6" name="Table 5">
            <a:extLst>
              <a:ext uri="{FF2B5EF4-FFF2-40B4-BE49-F238E27FC236}">
                <a16:creationId xmlns:a16="http://schemas.microsoft.com/office/drawing/2014/main" id="{916EE313-5BF4-45D3-7121-48DC268BDF43}"/>
              </a:ext>
            </a:extLst>
          </p:cNvPr>
          <p:cNvGraphicFramePr>
            <a:graphicFrameLocks noGrp="1"/>
          </p:cNvGraphicFramePr>
          <p:nvPr>
            <p:extLst>
              <p:ext uri="{D42A27DB-BD31-4B8C-83A1-F6EECF244321}">
                <p14:modId xmlns:p14="http://schemas.microsoft.com/office/powerpoint/2010/main" val="769261173"/>
              </p:ext>
            </p:extLst>
          </p:nvPr>
        </p:nvGraphicFramePr>
        <p:xfrm>
          <a:off x="4724400" y="2164080"/>
          <a:ext cx="2362200" cy="4236720"/>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4048746251"/>
                    </a:ext>
                  </a:extLst>
                </a:gridCol>
              </a:tblGrid>
              <a:tr h="370840">
                <a:tc>
                  <a:txBody>
                    <a:bodyPr/>
                    <a:lstStyle/>
                    <a:p>
                      <a:r>
                        <a:rPr lang="en-US" dirty="0"/>
                        <a:t>UAV</a:t>
                      </a:r>
                    </a:p>
                  </a:txBody>
                  <a:tcPr/>
                </a:tc>
                <a:extLst>
                  <a:ext uri="{0D108BD9-81ED-4DB2-BD59-A6C34878D82A}">
                    <a16:rowId xmlns:a16="http://schemas.microsoft.com/office/drawing/2014/main" val="175791540"/>
                  </a:ext>
                </a:extLst>
              </a:tr>
              <a:tr h="370840">
                <a:tc>
                  <a:txBody>
                    <a:bodyPr/>
                    <a:lstStyle/>
                    <a:p>
                      <a:pPr marL="0" marR="0" lvl="0" indent="0" algn="l" defTabSz="914400" rtl="0" eaLnBrk="1" fontAlgn="auto" latinLnBrk="0" hangingPunct="1">
                        <a:lnSpc>
                          <a:spcPct val="150000"/>
                        </a:lnSpc>
                        <a:spcBef>
                          <a:spcPts val="600"/>
                        </a:spcBef>
                        <a:spcAft>
                          <a:spcPts val="0"/>
                        </a:spcAft>
                        <a:buClrTx/>
                        <a:buSzTx/>
                        <a:buFontTx/>
                        <a:buNone/>
                        <a:tabLst/>
                        <a:defRPr/>
                      </a:pPr>
                      <a:r>
                        <a:rPr lang="en-US" dirty="0" err="1"/>
                        <a:t>Cảm</a:t>
                      </a:r>
                      <a:r>
                        <a:rPr lang="en-US" dirty="0"/>
                        <a:t> </a:t>
                      </a:r>
                      <a:r>
                        <a:rPr lang="en-US" dirty="0" err="1"/>
                        <a:t>biến</a:t>
                      </a:r>
                      <a:r>
                        <a:rPr lang="en-US" dirty="0"/>
                        <a:t> pin</a:t>
                      </a:r>
                    </a:p>
                    <a:p>
                      <a:pPr>
                        <a:lnSpc>
                          <a:spcPct val="150000"/>
                        </a:lnSpc>
                        <a:spcBef>
                          <a:spcPts val="600"/>
                        </a:spcBef>
                      </a:pPr>
                      <a:r>
                        <a:rPr lang="vi-VN" dirty="0"/>
                        <a:t>IMU</a:t>
                      </a:r>
                      <a:r>
                        <a:rPr lang="en-US" dirty="0"/>
                        <a:t> + </a:t>
                      </a:r>
                      <a:r>
                        <a:rPr lang="vi-VN" dirty="0"/>
                        <a:t>Magnetometer</a:t>
                      </a:r>
                      <a:endParaRPr lang="en-US" dirty="0"/>
                    </a:p>
                    <a:p>
                      <a:pPr>
                        <a:lnSpc>
                          <a:spcPct val="150000"/>
                        </a:lnSpc>
                        <a:spcBef>
                          <a:spcPts val="600"/>
                        </a:spcBef>
                      </a:pPr>
                      <a:r>
                        <a:rPr lang="vi-VN" dirty="0"/>
                        <a:t>Barometer</a:t>
                      </a:r>
                      <a:endParaRPr lang="en-US" dirty="0"/>
                    </a:p>
                    <a:p>
                      <a:pPr>
                        <a:lnSpc>
                          <a:spcPct val="150000"/>
                        </a:lnSpc>
                        <a:spcBef>
                          <a:spcPts val="600"/>
                        </a:spcBef>
                      </a:pPr>
                      <a:r>
                        <a:rPr lang="vi-VN" dirty="0"/>
                        <a:t>G</a:t>
                      </a:r>
                      <a:r>
                        <a:rPr lang="en-US" dirty="0"/>
                        <a:t>PS</a:t>
                      </a:r>
                      <a:r>
                        <a:rPr lang="vi-VN" dirty="0"/>
                        <a:t> </a:t>
                      </a:r>
                      <a:endParaRPr lang="en-US" dirty="0"/>
                    </a:p>
                    <a:p>
                      <a:pPr>
                        <a:lnSpc>
                          <a:spcPct val="150000"/>
                        </a:lnSpc>
                        <a:spcBef>
                          <a:spcPts val="600"/>
                        </a:spcBef>
                      </a:pPr>
                      <a:r>
                        <a:rPr lang="en-US" dirty="0"/>
                        <a:t>RTK/</a:t>
                      </a:r>
                      <a:r>
                        <a:rPr lang="vi-VN" dirty="0"/>
                        <a:t>GNSS</a:t>
                      </a:r>
                      <a:endParaRPr lang="en-US" dirty="0"/>
                    </a:p>
                    <a:p>
                      <a:pPr>
                        <a:lnSpc>
                          <a:spcPct val="150000"/>
                        </a:lnSpc>
                        <a:spcBef>
                          <a:spcPts val="600"/>
                        </a:spcBef>
                      </a:pPr>
                      <a:r>
                        <a:rPr lang="vi-VN" dirty="0"/>
                        <a:t>Camera RGB</a:t>
                      </a:r>
                      <a:endParaRPr lang="en-US" dirty="0"/>
                    </a:p>
                    <a:p>
                      <a:pPr>
                        <a:lnSpc>
                          <a:spcPct val="150000"/>
                        </a:lnSpc>
                        <a:spcBef>
                          <a:spcPts val="600"/>
                        </a:spcBef>
                      </a:pPr>
                      <a:r>
                        <a:rPr lang="vi-VN" dirty="0"/>
                        <a:t>Depth camera</a:t>
                      </a:r>
                      <a:endParaRPr lang="en-US" dirty="0"/>
                    </a:p>
                    <a:p>
                      <a:pPr>
                        <a:lnSpc>
                          <a:spcPct val="150000"/>
                        </a:lnSpc>
                        <a:spcBef>
                          <a:spcPts val="600"/>
                        </a:spcBef>
                      </a:pPr>
                      <a:r>
                        <a:rPr lang="en-US" dirty="0"/>
                        <a:t>3D </a:t>
                      </a:r>
                      <a:r>
                        <a:rPr lang="vi-VN" dirty="0"/>
                        <a:t>LiDAR </a:t>
                      </a:r>
                      <a:endParaRPr lang="en-US" dirty="0"/>
                    </a:p>
                  </a:txBody>
                  <a:tcPr/>
                </a:tc>
                <a:extLst>
                  <a:ext uri="{0D108BD9-81ED-4DB2-BD59-A6C34878D82A}">
                    <a16:rowId xmlns:a16="http://schemas.microsoft.com/office/drawing/2014/main" val="1637477011"/>
                  </a:ext>
                </a:extLst>
              </a:tr>
            </a:tbl>
          </a:graphicData>
        </a:graphic>
      </p:graphicFrame>
      <p:graphicFrame>
        <p:nvGraphicFramePr>
          <p:cNvPr id="7" name="Table 6">
            <a:extLst>
              <a:ext uri="{FF2B5EF4-FFF2-40B4-BE49-F238E27FC236}">
                <a16:creationId xmlns:a16="http://schemas.microsoft.com/office/drawing/2014/main" id="{947F77F7-7B93-986F-9FE7-C1F6879068E9}"/>
              </a:ext>
            </a:extLst>
          </p:cNvPr>
          <p:cNvGraphicFramePr>
            <a:graphicFrameLocks noGrp="1"/>
          </p:cNvGraphicFramePr>
          <p:nvPr>
            <p:extLst>
              <p:ext uri="{D42A27DB-BD31-4B8C-83A1-F6EECF244321}">
                <p14:modId xmlns:p14="http://schemas.microsoft.com/office/powerpoint/2010/main" val="2437036494"/>
              </p:ext>
            </p:extLst>
          </p:nvPr>
        </p:nvGraphicFramePr>
        <p:xfrm>
          <a:off x="8978900" y="2164080"/>
          <a:ext cx="2362200" cy="3867658"/>
        </p:xfrm>
        <a:graphic>
          <a:graphicData uri="http://schemas.openxmlformats.org/drawingml/2006/table">
            <a:tbl>
              <a:tblPr firstRow="1" bandRow="1">
                <a:tableStyleId>{21E4AEA4-8DFA-4A89-87EB-49C32662AFE0}</a:tableStyleId>
              </a:tblPr>
              <a:tblGrid>
                <a:gridCol w="2362200">
                  <a:extLst>
                    <a:ext uri="{9D8B030D-6E8A-4147-A177-3AD203B41FA5}">
                      <a16:colId xmlns:a16="http://schemas.microsoft.com/office/drawing/2014/main" val="4048746251"/>
                    </a:ext>
                  </a:extLst>
                </a:gridCol>
              </a:tblGrid>
              <a:tr h="370840">
                <a:tc>
                  <a:txBody>
                    <a:bodyPr/>
                    <a:lstStyle/>
                    <a:p>
                      <a:pPr>
                        <a:lnSpc>
                          <a:spcPct val="114000"/>
                        </a:lnSpc>
                      </a:pPr>
                      <a:r>
                        <a:rPr lang="en-US" dirty="0"/>
                        <a:t>Robot </a:t>
                      </a:r>
                      <a:r>
                        <a:rPr lang="en-US" dirty="0" err="1"/>
                        <a:t>chó</a:t>
                      </a:r>
                      <a:endParaRPr lang="en-US" dirty="0"/>
                    </a:p>
                  </a:txBody>
                  <a:tcPr/>
                </a:tc>
                <a:extLst>
                  <a:ext uri="{0D108BD9-81ED-4DB2-BD59-A6C34878D82A}">
                    <a16:rowId xmlns:a16="http://schemas.microsoft.com/office/drawing/2014/main" val="175791540"/>
                  </a:ext>
                </a:extLst>
              </a:tr>
              <a:tr h="370840">
                <a:tc>
                  <a:txBody>
                    <a:bodyPr/>
                    <a:lstStyle/>
                    <a:p>
                      <a:pPr marL="0" marR="0" lvl="0" indent="0" algn="l" defTabSz="914400" rtl="0" eaLnBrk="1" fontAlgn="auto" latinLnBrk="0" hangingPunct="1">
                        <a:lnSpc>
                          <a:spcPct val="114000"/>
                        </a:lnSpc>
                        <a:spcBef>
                          <a:spcPts val="600"/>
                        </a:spcBef>
                        <a:spcAft>
                          <a:spcPts val="0"/>
                        </a:spcAft>
                        <a:buClrTx/>
                        <a:buSzTx/>
                        <a:buFontTx/>
                        <a:buNone/>
                        <a:tabLst/>
                        <a:defRPr/>
                      </a:pPr>
                      <a:r>
                        <a:rPr lang="en-US" dirty="0" err="1"/>
                        <a:t>Cảm</a:t>
                      </a:r>
                      <a:r>
                        <a:rPr lang="en-US" dirty="0"/>
                        <a:t> </a:t>
                      </a:r>
                      <a:r>
                        <a:rPr lang="en-US" dirty="0" err="1"/>
                        <a:t>biến</a:t>
                      </a:r>
                      <a:r>
                        <a:rPr lang="en-US" dirty="0"/>
                        <a:t> pin</a:t>
                      </a:r>
                    </a:p>
                    <a:p>
                      <a:pPr>
                        <a:lnSpc>
                          <a:spcPct val="114000"/>
                        </a:lnSpc>
                        <a:spcBef>
                          <a:spcPts val="600"/>
                        </a:spcBef>
                      </a:pPr>
                      <a:r>
                        <a:rPr lang="vi-VN" dirty="0"/>
                        <a:t>IMU</a:t>
                      </a:r>
                      <a:r>
                        <a:rPr lang="en-US" dirty="0"/>
                        <a:t> + </a:t>
                      </a:r>
                      <a:r>
                        <a:rPr lang="vi-VN" dirty="0"/>
                        <a:t>Magnetometer</a:t>
                      </a:r>
                      <a:endParaRPr lang="en-US" dirty="0"/>
                    </a:p>
                    <a:p>
                      <a:pPr>
                        <a:lnSpc>
                          <a:spcPct val="114000"/>
                        </a:lnSpc>
                        <a:spcBef>
                          <a:spcPts val="600"/>
                        </a:spcBef>
                      </a:pPr>
                      <a:r>
                        <a:rPr lang="en-US" dirty="0"/>
                        <a:t>Encoder</a:t>
                      </a:r>
                    </a:p>
                    <a:p>
                      <a:pPr>
                        <a:lnSpc>
                          <a:spcPct val="114000"/>
                        </a:lnSpc>
                        <a:spcBef>
                          <a:spcPts val="600"/>
                        </a:spcBef>
                      </a:pPr>
                      <a:r>
                        <a:rPr lang="en-US" dirty="0" err="1"/>
                        <a:t>Cảm</a:t>
                      </a:r>
                      <a:r>
                        <a:rPr lang="en-US" dirty="0"/>
                        <a:t> </a:t>
                      </a:r>
                      <a:r>
                        <a:rPr lang="en-US" dirty="0" err="1"/>
                        <a:t>biến</a:t>
                      </a:r>
                      <a:r>
                        <a:rPr lang="en-US" dirty="0"/>
                        <a:t> Lực</a:t>
                      </a:r>
                    </a:p>
                    <a:p>
                      <a:pPr>
                        <a:lnSpc>
                          <a:spcPct val="114000"/>
                        </a:lnSpc>
                        <a:spcBef>
                          <a:spcPts val="600"/>
                        </a:spcBef>
                      </a:pPr>
                      <a:r>
                        <a:rPr lang="vi-VN" dirty="0"/>
                        <a:t>G</a:t>
                      </a:r>
                      <a:r>
                        <a:rPr lang="en-US" dirty="0"/>
                        <a:t>PS</a:t>
                      </a:r>
                      <a:r>
                        <a:rPr lang="vi-VN" dirty="0"/>
                        <a:t> </a:t>
                      </a:r>
                      <a:endParaRPr lang="en-US" dirty="0"/>
                    </a:p>
                    <a:p>
                      <a:pPr>
                        <a:lnSpc>
                          <a:spcPct val="114000"/>
                        </a:lnSpc>
                        <a:spcBef>
                          <a:spcPts val="600"/>
                        </a:spcBef>
                      </a:pPr>
                      <a:r>
                        <a:rPr lang="en-US" dirty="0"/>
                        <a:t>RTK/</a:t>
                      </a:r>
                      <a:r>
                        <a:rPr lang="vi-VN" dirty="0"/>
                        <a:t>GNSS</a:t>
                      </a:r>
                      <a:endParaRPr lang="en-US" dirty="0"/>
                    </a:p>
                    <a:p>
                      <a:pPr>
                        <a:lnSpc>
                          <a:spcPct val="114000"/>
                        </a:lnSpc>
                        <a:spcBef>
                          <a:spcPts val="600"/>
                        </a:spcBef>
                      </a:pPr>
                      <a:r>
                        <a:rPr lang="vi-VN" dirty="0"/>
                        <a:t>Camera RGB</a:t>
                      </a:r>
                      <a:endParaRPr lang="en-US" dirty="0"/>
                    </a:p>
                    <a:p>
                      <a:pPr>
                        <a:lnSpc>
                          <a:spcPct val="114000"/>
                        </a:lnSpc>
                        <a:spcBef>
                          <a:spcPts val="600"/>
                        </a:spcBef>
                      </a:pPr>
                      <a:r>
                        <a:rPr lang="vi-VN" dirty="0"/>
                        <a:t>Depth camera</a:t>
                      </a:r>
                      <a:endParaRPr lang="en-US" dirty="0"/>
                    </a:p>
                    <a:p>
                      <a:pPr>
                        <a:lnSpc>
                          <a:spcPct val="114000"/>
                        </a:lnSpc>
                        <a:spcBef>
                          <a:spcPts val="600"/>
                        </a:spcBef>
                      </a:pPr>
                      <a:r>
                        <a:rPr lang="en-US" dirty="0"/>
                        <a:t>3D </a:t>
                      </a:r>
                      <a:r>
                        <a:rPr lang="vi-VN" dirty="0"/>
                        <a:t>LiDAR </a:t>
                      </a:r>
                      <a:endParaRPr lang="en-US" dirty="0"/>
                    </a:p>
                  </a:txBody>
                  <a:tcPr/>
                </a:tc>
                <a:extLst>
                  <a:ext uri="{0D108BD9-81ED-4DB2-BD59-A6C34878D82A}">
                    <a16:rowId xmlns:a16="http://schemas.microsoft.com/office/drawing/2014/main" val="1637477011"/>
                  </a:ext>
                </a:extLst>
              </a:tr>
            </a:tbl>
          </a:graphicData>
        </a:graphic>
      </p:graphicFrame>
    </p:spTree>
    <p:extLst>
      <p:ext uri="{BB962C8B-B14F-4D97-AF65-F5344CB8AC3E}">
        <p14:creationId xmlns:p14="http://schemas.microsoft.com/office/powerpoint/2010/main" val="231165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49543-EC95-A38F-5168-2B674F4CEAFA}"/>
              </a:ext>
            </a:extLst>
          </p:cNvPr>
          <p:cNvSpPr>
            <a:spLocks noGrp="1"/>
          </p:cNvSpPr>
          <p:nvPr>
            <p:ph type="title"/>
          </p:nvPr>
        </p:nvSpPr>
        <p:spPr/>
        <p:txBody>
          <a:bodyPr/>
          <a:lstStyle/>
          <a:p>
            <a:r>
              <a:rPr lang="en-US" b="1" dirty="0" err="1"/>
              <a:t>Lựa</a:t>
            </a:r>
            <a:r>
              <a:rPr lang="en-US" b="1" dirty="0"/>
              <a:t> </a:t>
            </a:r>
            <a:r>
              <a:rPr lang="en-US" b="1" dirty="0" err="1"/>
              <a:t>chọn</a:t>
            </a:r>
            <a:r>
              <a:rPr lang="en-US" b="1" dirty="0"/>
              <a:t> </a:t>
            </a:r>
            <a:r>
              <a:rPr lang="en-US" b="1" dirty="0" err="1"/>
              <a:t>cảm</a:t>
            </a:r>
            <a:r>
              <a:rPr lang="en-US" b="1" dirty="0"/>
              <a:t> </a:t>
            </a:r>
            <a:r>
              <a:rPr lang="en-US" b="1" dirty="0" err="1"/>
              <a:t>biến</a:t>
            </a:r>
            <a:endParaRPr lang="en-US" dirty="0"/>
          </a:p>
        </p:txBody>
      </p:sp>
      <p:sp>
        <p:nvSpPr>
          <p:cNvPr id="3" name="Content Placeholder 2">
            <a:extLst>
              <a:ext uri="{FF2B5EF4-FFF2-40B4-BE49-F238E27FC236}">
                <a16:creationId xmlns:a16="http://schemas.microsoft.com/office/drawing/2014/main" id="{FA458602-71F0-BEDE-16D1-0099224D5A8C}"/>
              </a:ext>
            </a:extLst>
          </p:cNvPr>
          <p:cNvSpPr>
            <a:spLocks noGrp="1"/>
          </p:cNvSpPr>
          <p:nvPr>
            <p:ph idx="1"/>
          </p:nvPr>
        </p:nvSpPr>
        <p:spPr/>
        <p:txBody>
          <a:bodyPr/>
          <a:lstStyle/>
          <a:p>
            <a:pPr marL="0" indent="0">
              <a:buNone/>
            </a:pPr>
            <a:r>
              <a:rPr lang="en-US" b="1" dirty="0" err="1"/>
              <a:t>Hoạt</a:t>
            </a:r>
            <a:r>
              <a:rPr lang="en-US" b="1" dirty="0"/>
              <a:t> </a:t>
            </a:r>
            <a:r>
              <a:rPr lang="en-US" b="1" dirty="0" err="1"/>
              <a:t>động</a:t>
            </a:r>
            <a:r>
              <a:rPr lang="en-US" b="1" dirty="0"/>
              <a:t> </a:t>
            </a:r>
            <a:r>
              <a:rPr lang="en-US" b="1" dirty="0" err="1"/>
              <a:t>nhóm</a:t>
            </a:r>
            <a:r>
              <a:rPr lang="en-US" b="1" dirty="0"/>
              <a:t>: </a:t>
            </a:r>
          </a:p>
          <a:p>
            <a:pPr marL="457200" indent="-457200">
              <a:buFont typeface="+mj-lt"/>
              <a:buAutoNum type="arabicPeriod"/>
            </a:pPr>
            <a:r>
              <a:rPr lang="en-US" dirty="0" err="1"/>
              <a:t>Phân</a:t>
            </a:r>
            <a:r>
              <a:rPr lang="en-US" dirty="0"/>
              <a:t> </a:t>
            </a:r>
            <a:r>
              <a:rPr lang="en-US" dirty="0" err="1"/>
              <a:t>tích</a:t>
            </a:r>
            <a:r>
              <a:rPr lang="en-US" dirty="0"/>
              <a:t> </a:t>
            </a:r>
            <a:r>
              <a:rPr lang="en-US" dirty="0" err="1"/>
              <a:t>các</a:t>
            </a:r>
            <a:r>
              <a:rPr lang="en-US" dirty="0"/>
              <a:t> </a:t>
            </a:r>
            <a:r>
              <a:rPr lang="en-US" dirty="0" err="1"/>
              <a:t>tiêu</a:t>
            </a:r>
            <a:r>
              <a:rPr lang="en-US" dirty="0"/>
              <a:t> </a:t>
            </a:r>
            <a:r>
              <a:rPr lang="en-US" dirty="0" err="1"/>
              <a:t>chí</a:t>
            </a:r>
            <a:r>
              <a:rPr lang="en-US" dirty="0"/>
              <a:t> </a:t>
            </a:r>
            <a:r>
              <a:rPr lang="en-US" dirty="0" err="1"/>
              <a:t>lựa</a:t>
            </a:r>
            <a:r>
              <a:rPr lang="en-US" dirty="0"/>
              <a:t> </a:t>
            </a:r>
            <a:r>
              <a:rPr lang="en-US" dirty="0" err="1"/>
              <a:t>chọn</a:t>
            </a:r>
            <a:r>
              <a:rPr lang="en-US" dirty="0"/>
              <a:t> </a:t>
            </a:r>
            <a:r>
              <a:rPr lang="en-US" dirty="0" err="1"/>
              <a:t>cảm</a:t>
            </a:r>
            <a:r>
              <a:rPr lang="en-US" dirty="0"/>
              <a:t> </a:t>
            </a:r>
            <a:r>
              <a:rPr lang="en-US" dirty="0" err="1"/>
              <a:t>biến</a:t>
            </a:r>
            <a:r>
              <a:rPr lang="en-US" dirty="0"/>
              <a:t> IMU </a:t>
            </a:r>
            <a:r>
              <a:rPr lang="en-US" dirty="0" err="1"/>
              <a:t>cho</a:t>
            </a:r>
            <a:r>
              <a:rPr lang="en-US" dirty="0"/>
              <a:t> </a:t>
            </a:r>
            <a:r>
              <a:rPr lang="en-US" dirty="0" err="1"/>
              <a:t>agv</a:t>
            </a:r>
            <a:r>
              <a:rPr lang="en-US" dirty="0"/>
              <a:t>, </a:t>
            </a:r>
            <a:r>
              <a:rPr lang="en-US" dirty="0" err="1"/>
              <a:t>uav</a:t>
            </a:r>
            <a:r>
              <a:rPr lang="en-US" dirty="0"/>
              <a:t> </a:t>
            </a:r>
            <a:r>
              <a:rPr lang="en-US" dirty="0" err="1"/>
              <a:t>và</a:t>
            </a:r>
            <a:r>
              <a:rPr lang="en-US" dirty="0"/>
              <a:t> robot </a:t>
            </a:r>
            <a:r>
              <a:rPr lang="en-US" dirty="0" err="1"/>
              <a:t>chó</a:t>
            </a:r>
            <a:r>
              <a:rPr lang="en-US" dirty="0"/>
              <a:t>.</a:t>
            </a:r>
          </a:p>
          <a:p>
            <a:pPr marL="457200" indent="-457200">
              <a:buFont typeface="+mj-lt"/>
              <a:buAutoNum type="arabicPeriod"/>
            </a:pPr>
            <a:r>
              <a:rPr lang="en-US" dirty="0" err="1"/>
              <a:t>Sử</a:t>
            </a:r>
            <a:r>
              <a:rPr lang="en-US" dirty="0"/>
              <a:t> </a:t>
            </a:r>
            <a:r>
              <a:rPr lang="en-US" dirty="0" err="1"/>
              <a:t>dụng</a:t>
            </a:r>
            <a:r>
              <a:rPr lang="en-US" dirty="0"/>
              <a:t> QFD </a:t>
            </a:r>
            <a:r>
              <a:rPr lang="en-US" dirty="0" err="1"/>
              <a:t>để</a:t>
            </a:r>
            <a:r>
              <a:rPr lang="en-US" dirty="0"/>
              <a:t> </a:t>
            </a:r>
            <a:r>
              <a:rPr lang="en-US" dirty="0" err="1"/>
              <a:t>lựa</a:t>
            </a:r>
            <a:r>
              <a:rPr lang="en-US" dirty="0"/>
              <a:t> </a:t>
            </a:r>
            <a:r>
              <a:rPr lang="en-US" dirty="0" err="1"/>
              <a:t>chọn</a:t>
            </a:r>
            <a:r>
              <a:rPr lang="en-US" dirty="0"/>
              <a:t> </a:t>
            </a:r>
            <a:r>
              <a:rPr lang="en-US" dirty="0" err="1"/>
              <a:t>cảm</a:t>
            </a:r>
            <a:r>
              <a:rPr lang="en-US" dirty="0"/>
              <a:t> </a:t>
            </a:r>
            <a:r>
              <a:rPr lang="en-US" dirty="0" err="1"/>
              <a:t>biến</a:t>
            </a:r>
            <a:r>
              <a:rPr lang="en-US" dirty="0"/>
              <a:t> </a:t>
            </a:r>
            <a:r>
              <a:rPr lang="en-US" dirty="0" err="1"/>
              <a:t>cho</a:t>
            </a:r>
            <a:r>
              <a:rPr lang="en-US" dirty="0"/>
              <a:t> robot </a:t>
            </a:r>
            <a:r>
              <a:rPr lang="en-US" dirty="0" err="1"/>
              <a:t>chó</a:t>
            </a:r>
            <a:r>
              <a:rPr lang="en-US" dirty="0"/>
              <a:t> </a:t>
            </a:r>
            <a:r>
              <a:rPr lang="en-US" dirty="0" err="1"/>
              <a:t>theo</a:t>
            </a:r>
            <a:r>
              <a:rPr lang="en-US" dirty="0"/>
              <a:t> </a:t>
            </a:r>
            <a:r>
              <a:rPr lang="en-US" dirty="0" err="1"/>
              <a:t>các</a:t>
            </a:r>
            <a:r>
              <a:rPr lang="en-US" dirty="0"/>
              <a:t> </a:t>
            </a:r>
            <a:r>
              <a:rPr lang="en-US" dirty="0" err="1"/>
              <a:t>yêu</a:t>
            </a:r>
            <a:r>
              <a:rPr lang="en-US" dirty="0"/>
              <a:t> </a:t>
            </a:r>
            <a:r>
              <a:rPr lang="en-US" dirty="0" err="1"/>
              <a:t>cầu</a:t>
            </a:r>
            <a:r>
              <a:rPr lang="en-US" dirty="0"/>
              <a:t> </a:t>
            </a:r>
            <a:r>
              <a:rPr lang="en-US" dirty="0" err="1"/>
              <a:t>sau</a:t>
            </a:r>
            <a:r>
              <a:rPr lang="en-US" dirty="0"/>
              <a:t>:</a:t>
            </a:r>
          </a:p>
          <a:p>
            <a:pPr marL="0" indent="0">
              <a:buNone/>
            </a:pPr>
            <a:endParaRPr lang="en-US" dirty="0"/>
          </a:p>
        </p:txBody>
      </p:sp>
      <p:sp>
        <p:nvSpPr>
          <p:cNvPr id="4" name="Slide Number Placeholder 3">
            <a:extLst>
              <a:ext uri="{FF2B5EF4-FFF2-40B4-BE49-F238E27FC236}">
                <a16:creationId xmlns:a16="http://schemas.microsoft.com/office/drawing/2014/main" id="{614F29E9-9415-6981-C043-C30394E5B4BB}"/>
              </a:ext>
            </a:extLst>
          </p:cNvPr>
          <p:cNvSpPr>
            <a:spLocks noGrp="1"/>
          </p:cNvSpPr>
          <p:nvPr>
            <p:ph type="sldNum" sz="quarter" idx="12"/>
          </p:nvPr>
        </p:nvSpPr>
        <p:spPr/>
        <p:txBody>
          <a:bodyPr/>
          <a:lstStyle/>
          <a:p>
            <a:fld id="{3957FE44-DABC-424D-A234-74BB9410FF27}" type="slidenum">
              <a:rPr lang="en-US" smtClean="0"/>
              <a:pPr/>
              <a:t>7</a:t>
            </a:fld>
            <a:endParaRPr lang="en-US" dirty="0"/>
          </a:p>
        </p:txBody>
      </p:sp>
      <p:graphicFrame>
        <p:nvGraphicFramePr>
          <p:cNvPr id="5" name="Table 4">
            <a:extLst>
              <a:ext uri="{FF2B5EF4-FFF2-40B4-BE49-F238E27FC236}">
                <a16:creationId xmlns:a16="http://schemas.microsoft.com/office/drawing/2014/main" id="{D1CA2867-3930-2138-708B-2A548091DECA}"/>
              </a:ext>
            </a:extLst>
          </p:cNvPr>
          <p:cNvGraphicFramePr>
            <a:graphicFrameLocks noGrp="1"/>
          </p:cNvGraphicFramePr>
          <p:nvPr>
            <p:extLst>
              <p:ext uri="{D42A27DB-BD31-4B8C-83A1-F6EECF244321}">
                <p14:modId xmlns:p14="http://schemas.microsoft.com/office/powerpoint/2010/main" val="4231266414"/>
              </p:ext>
            </p:extLst>
          </p:nvPr>
        </p:nvGraphicFramePr>
        <p:xfrm>
          <a:off x="2971800" y="3352800"/>
          <a:ext cx="5943600" cy="222504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396787618"/>
                    </a:ext>
                  </a:extLst>
                </a:gridCol>
                <a:gridCol w="2057400">
                  <a:extLst>
                    <a:ext uri="{9D8B030D-6E8A-4147-A177-3AD203B41FA5}">
                      <a16:colId xmlns:a16="http://schemas.microsoft.com/office/drawing/2014/main" val="434338065"/>
                    </a:ext>
                  </a:extLst>
                </a:gridCol>
              </a:tblGrid>
              <a:tr h="370840">
                <a:tc>
                  <a:txBody>
                    <a:bodyPr/>
                    <a:lstStyle/>
                    <a:p>
                      <a:pPr>
                        <a:buNone/>
                      </a:pPr>
                      <a:r>
                        <a:rPr lang="en-US" dirty="0"/>
                        <a:t>Nhu </a:t>
                      </a:r>
                      <a:r>
                        <a:rPr lang="en-US" dirty="0" err="1"/>
                        <a:t>cầu</a:t>
                      </a:r>
                      <a:r>
                        <a:rPr lang="en-US" dirty="0"/>
                        <a:t> </a:t>
                      </a:r>
                      <a:r>
                        <a:rPr lang="en-US" dirty="0" err="1"/>
                        <a:t>khách</a:t>
                      </a:r>
                      <a:r>
                        <a:rPr lang="en-US" dirty="0"/>
                        <a:t> </a:t>
                      </a:r>
                      <a:r>
                        <a:rPr lang="en-US" dirty="0" err="1"/>
                        <a:t>hàng</a:t>
                      </a:r>
                      <a:endParaRPr lang="en-US" dirty="0"/>
                    </a:p>
                  </a:txBody>
                  <a:tcPr anchor="ctr"/>
                </a:tc>
                <a:tc>
                  <a:txBody>
                    <a:bodyPr/>
                    <a:lstStyle/>
                    <a:p>
                      <a:pPr algn="ctr">
                        <a:buNone/>
                      </a:pPr>
                      <a:r>
                        <a:rPr lang="en-US"/>
                        <a:t>Mức quan trọng</a:t>
                      </a:r>
                    </a:p>
                  </a:txBody>
                  <a:tcPr anchor="ctr"/>
                </a:tc>
                <a:extLst>
                  <a:ext uri="{0D108BD9-81ED-4DB2-BD59-A6C34878D82A}">
                    <a16:rowId xmlns:a16="http://schemas.microsoft.com/office/drawing/2014/main" val="3979328176"/>
                  </a:ext>
                </a:extLst>
              </a:tr>
              <a:tr h="370840">
                <a:tc>
                  <a:txBody>
                    <a:bodyPr/>
                    <a:lstStyle/>
                    <a:p>
                      <a:pPr>
                        <a:buNone/>
                      </a:pPr>
                      <a:r>
                        <a:rPr lang="en-US" dirty="0" err="1"/>
                        <a:t>Không</a:t>
                      </a:r>
                      <a:r>
                        <a:rPr lang="en-US" dirty="0"/>
                        <a:t> </a:t>
                      </a:r>
                      <a:r>
                        <a:rPr lang="en-US" dirty="0" err="1"/>
                        <a:t>va</a:t>
                      </a:r>
                      <a:r>
                        <a:rPr lang="en-US" dirty="0"/>
                        <a:t> </a:t>
                      </a:r>
                      <a:r>
                        <a:rPr lang="en-US" dirty="0" err="1"/>
                        <a:t>chạm</a:t>
                      </a:r>
                      <a:endParaRPr lang="en-US" dirty="0"/>
                    </a:p>
                  </a:txBody>
                  <a:tcPr anchor="ctr"/>
                </a:tc>
                <a:tc>
                  <a:txBody>
                    <a:bodyPr/>
                    <a:lstStyle/>
                    <a:p>
                      <a:pPr algn="ctr">
                        <a:buNone/>
                      </a:pPr>
                      <a:r>
                        <a:rPr lang="en-US"/>
                        <a:t>5</a:t>
                      </a:r>
                    </a:p>
                  </a:txBody>
                  <a:tcPr anchor="ctr"/>
                </a:tc>
                <a:extLst>
                  <a:ext uri="{0D108BD9-81ED-4DB2-BD59-A6C34878D82A}">
                    <a16:rowId xmlns:a16="http://schemas.microsoft.com/office/drawing/2014/main" val="3462159131"/>
                  </a:ext>
                </a:extLst>
              </a:tr>
              <a:tr h="370840">
                <a:tc>
                  <a:txBody>
                    <a:bodyPr/>
                    <a:lstStyle/>
                    <a:p>
                      <a:pPr>
                        <a:buNone/>
                      </a:pPr>
                      <a:r>
                        <a:rPr lang="en-US"/>
                        <a:t>Hoạt động ổn định ban đêm</a:t>
                      </a:r>
                    </a:p>
                  </a:txBody>
                  <a:tcPr anchor="ctr"/>
                </a:tc>
                <a:tc>
                  <a:txBody>
                    <a:bodyPr/>
                    <a:lstStyle/>
                    <a:p>
                      <a:pPr algn="ctr">
                        <a:buNone/>
                      </a:pPr>
                      <a:r>
                        <a:rPr lang="en-US"/>
                        <a:t>4</a:t>
                      </a:r>
                    </a:p>
                  </a:txBody>
                  <a:tcPr anchor="ctr"/>
                </a:tc>
                <a:extLst>
                  <a:ext uri="{0D108BD9-81ED-4DB2-BD59-A6C34878D82A}">
                    <a16:rowId xmlns:a16="http://schemas.microsoft.com/office/drawing/2014/main" val="3172032180"/>
                  </a:ext>
                </a:extLst>
              </a:tr>
              <a:tr h="370840">
                <a:tc>
                  <a:txBody>
                    <a:bodyPr/>
                    <a:lstStyle/>
                    <a:p>
                      <a:pPr>
                        <a:buNone/>
                      </a:pPr>
                      <a:r>
                        <a:rPr lang="en-US" dirty="0"/>
                        <a:t>Định </a:t>
                      </a:r>
                      <a:r>
                        <a:rPr lang="en-US" dirty="0" err="1"/>
                        <a:t>vị</a:t>
                      </a:r>
                      <a:r>
                        <a:rPr lang="en-US" dirty="0"/>
                        <a:t> </a:t>
                      </a:r>
                      <a:r>
                        <a:rPr lang="en-US" dirty="0" err="1"/>
                        <a:t>chính</a:t>
                      </a:r>
                      <a:r>
                        <a:rPr lang="en-US" dirty="0"/>
                        <a:t> </a:t>
                      </a:r>
                      <a:r>
                        <a:rPr lang="en-US" dirty="0" err="1"/>
                        <a:t>xác</a:t>
                      </a:r>
                      <a:endParaRPr lang="en-US" dirty="0"/>
                    </a:p>
                  </a:txBody>
                  <a:tcPr anchor="ctr"/>
                </a:tc>
                <a:tc>
                  <a:txBody>
                    <a:bodyPr/>
                    <a:lstStyle/>
                    <a:p>
                      <a:pPr algn="ctr">
                        <a:buNone/>
                      </a:pPr>
                      <a:r>
                        <a:rPr lang="en-US"/>
                        <a:t>5</a:t>
                      </a:r>
                    </a:p>
                  </a:txBody>
                  <a:tcPr anchor="ctr"/>
                </a:tc>
                <a:extLst>
                  <a:ext uri="{0D108BD9-81ED-4DB2-BD59-A6C34878D82A}">
                    <a16:rowId xmlns:a16="http://schemas.microsoft.com/office/drawing/2014/main" val="2349317965"/>
                  </a:ext>
                </a:extLst>
              </a:tr>
              <a:tr h="370840">
                <a:tc>
                  <a:txBody>
                    <a:bodyPr/>
                    <a:lstStyle/>
                    <a:p>
                      <a:pPr>
                        <a:buNone/>
                      </a:pPr>
                      <a:r>
                        <a:rPr lang="en-US"/>
                        <a:t>Giá thành hợp lý</a:t>
                      </a:r>
                    </a:p>
                  </a:txBody>
                  <a:tcPr anchor="ctr"/>
                </a:tc>
                <a:tc>
                  <a:txBody>
                    <a:bodyPr/>
                    <a:lstStyle/>
                    <a:p>
                      <a:pPr algn="ctr">
                        <a:buNone/>
                      </a:pPr>
                      <a:r>
                        <a:rPr lang="en-US"/>
                        <a:t>3</a:t>
                      </a:r>
                    </a:p>
                  </a:txBody>
                  <a:tcPr anchor="ctr"/>
                </a:tc>
                <a:extLst>
                  <a:ext uri="{0D108BD9-81ED-4DB2-BD59-A6C34878D82A}">
                    <a16:rowId xmlns:a16="http://schemas.microsoft.com/office/drawing/2014/main" val="1510391270"/>
                  </a:ext>
                </a:extLst>
              </a:tr>
              <a:tr h="370840">
                <a:tc>
                  <a:txBody>
                    <a:bodyPr/>
                    <a:lstStyle/>
                    <a:p>
                      <a:pPr>
                        <a:buNone/>
                      </a:pPr>
                      <a:r>
                        <a:rPr lang="vi-VN"/>
                        <a:t>Hoạt động dưới mưa nhẹ</a:t>
                      </a:r>
                    </a:p>
                  </a:txBody>
                  <a:tcPr anchor="ctr"/>
                </a:tc>
                <a:tc>
                  <a:txBody>
                    <a:bodyPr/>
                    <a:lstStyle/>
                    <a:p>
                      <a:pPr algn="ctr">
                        <a:buNone/>
                      </a:pPr>
                      <a:r>
                        <a:rPr lang="en-US" dirty="0"/>
                        <a:t>4</a:t>
                      </a:r>
                    </a:p>
                  </a:txBody>
                  <a:tcPr anchor="ctr"/>
                </a:tc>
                <a:extLst>
                  <a:ext uri="{0D108BD9-81ED-4DB2-BD59-A6C34878D82A}">
                    <a16:rowId xmlns:a16="http://schemas.microsoft.com/office/drawing/2014/main" val="3850225052"/>
                  </a:ext>
                </a:extLst>
              </a:tr>
            </a:tbl>
          </a:graphicData>
        </a:graphic>
      </p:graphicFrame>
    </p:spTree>
    <p:extLst>
      <p:ext uri="{BB962C8B-B14F-4D97-AF65-F5344CB8AC3E}">
        <p14:creationId xmlns:p14="http://schemas.microsoft.com/office/powerpoint/2010/main" val="278289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CD339-5F66-852B-930A-A06E31EA31A4}"/>
              </a:ext>
            </a:extLst>
          </p:cNvPr>
          <p:cNvSpPr>
            <a:spLocks noGrp="1"/>
          </p:cNvSpPr>
          <p:nvPr>
            <p:ph type="title"/>
          </p:nvPr>
        </p:nvSpPr>
        <p:spPr/>
        <p:txBody>
          <a:bodyPr/>
          <a:lstStyle/>
          <a:p>
            <a:r>
              <a:rPr lang="en-US" b="1" dirty="0" err="1"/>
              <a:t>Kiến</a:t>
            </a:r>
            <a:r>
              <a:rPr lang="en-US" b="1" dirty="0"/>
              <a:t> </a:t>
            </a:r>
            <a:r>
              <a:rPr lang="en-US" b="1" dirty="0" err="1"/>
              <a:t>trúc</a:t>
            </a:r>
            <a:r>
              <a:rPr lang="en-US" b="1" dirty="0"/>
              <a:t> </a:t>
            </a:r>
            <a:r>
              <a:rPr lang="en-US" b="1" dirty="0" err="1"/>
              <a:t>hệ</a:t>
            </a:r>
            <a:r>
              <a:rPr lang="en-US" b="1" dirty="0"/>
              <a:t> </a:t>
            </a:r>
            <a:r>
              <a:rPr lang="en-US" b="1" dirty="0" err="1"/>
              <a:t>thống</a:t>
            </a:r>
            <a:endParaRPr lang="en-US" b="1" dirty="0"/>
          </a:p>
        </p:txBody>
      </p:sp>
      <p:sp>
        <p:nvSpPr>
          <p:cNvPr id="3" name="Content Placeholder 2">
            <a:extLst>
              <a:ext uri="{FF2B5EF4-FFF2-40B4-BE49-F238E27FC236}">
                <a16:creationId xmlns:a16="http://schemas.microsoft.com/office/drawing/2014/main" id="{1DA64524-FAFD-FC33-097B-B2EB38EE0330}"/>
              </a:ext>
            </a:extLst>
          </p:cNvPr>
          <p:cNvSpPr>
            <a:spLocks noGrp="1"/>
          </p:cNvSpPr>
          <p:nvPr>
            <p:ph idx="1"/>
          </p:nvPr>
        </p:nvSpPr>
        <p:spPr/>
        <p:txBody>
          <a:bodyPr/>
          <a:lstStyle/>
          <a:p>
            <a:pPr marL="0" indent="0">
              <a:buNone/>
            </a:pPr>
            <a:r>
              <a:rPr lang="en-US" b="1" dirty="0"/>
              <a:t>Quy </a:t>
            </a:r>
            <a:r>
              <a:rPr lang="en-US" b="1" dirty="0" err="1"/>
              <a:t>trình</a:t>
            </a:r>
            <a:r>
              <a:rPr lang="en-US" b="1" dirty="0"/>
              <a:t> </a:t>
            </a:r>
            <a:r>
              <a:rPr lang="en-US" b="1" dirty="0" err="1"/>
              <a:t>thiết</a:t>
            </a:r>
            <a:r>
              <a:rPr lang="en-US" b="1" dirty="0"/>
              <a:t> </a:t>
            </a:r>
            <a:r>
              <a:rPr lang="en-US" b="1" dirty="0" err="1"/>
              <a:t>kế</a:t>
            </a:r>
            <a:r>
              <a:rPr lang="en-US" b="1" dirty="0"/>
              <a:t> </a:t>
            </a:r>
            <a:r>
              <a:rPr lang="en-US" b="1" dirty="0" err="1"/>
              <a:t>hệ</a:t>
            </a:r>
            <a:r>
              <a:rPr lang="en-US" b="1" dirty="0"/>
              <a:t> </a:t>
            </a:r>
            <a:r>
              <a:rPr lang="en-US" b="1" dirty="0" err="1"/>
              <a:t>thống</a:t>
            </a:r>
            <a:r>
              <a:rPr lang="en-US" b="1" dirty="0"/>
              <a:t> </a:t>
            </a:r>
            <a:r>
              <a:rPr lang="en-US" b="1" dirty="0" err="1"/>
              <a:t>điện</a:t>
            </a:r>
            <a:endParaRPr lang="en-US" b="1" dirty="0"/>
          </a:p>
          <a:p>
            <a:r>
              <a:rPr lang="en-US" dirty="0" err="1"/>
              <a:t>Bước</a:t>
            </a:r>
            <a:r>
              <a:rPr lang="en-US" dirty="0"/>
              <a:t> 1: </a:t>
            </a:r>
            <a:r>
              <a:rPr lang="vi-VN" dirty="0"/>
              <a:t>Thiết kế sơ đồ kiến trúc</a:t>
            </a:r>
            <a:endParaRPr lang="en-US" dirty="0"/>
          </a:p>
          <a:p>
            <a:pPr lvl="1"/>
            <a:r>
              <a:rPr lang="en-US" dirty="0" err="1"/>
              <a:t>Phân</a:t>
            </a:r>
            <a:r>
              <a:rPr lang="en-US" dirty="0"/>
              <a:t> </a:t>
            </a:r>
            <a:r>
              <a:rPr lang="en-US" dirty="0" err="1"/>
              <a:t>tầng</a:t>
            </a:r>
            <a:r>
              <a:rPr lang="en-US" dirty="0"/>
              <a:t> </a:t>
            </a:r>
            <a:r>
              <a:rPr lang="en-US" dirty="0" err="1"/>
              <a:t>xử</a:t>
            </a:r>
            <a:r>
              <a:rPr lang="en-US" dirty="0"/>
              <a:t> </a:t>
            </a:r>
            <a:r>
              <a:rPr lang="en-US" dirty="0" err="1"/>
              <a:t>lý</a:t>
            </a:r>
            <a:endParaRPr lang="en-US" dirty="0"/>
          </a:p>
          <a:p>
            <a:pPr lvl="1"/>
            <a:r>
              <a:rPr lang="en-US" dirty="0" err="1"/>
              <a:t>Xác</a:t>
            </a:r>
            <a:r>
              <a:rPr lang="en-US" dirty="0"/>
              <a:t> </a:t>
            </a:r>
            <a:r>
              <a:rPr lang="en-US" dirty="0" err="1"/>
              <a:t>định</a:t>
            </a:r>
            <a:r>
              <a:rPr lang="en-US" dirty="0"/>
              <a:t> </a:t>
            </a:r>
            <a:r>
              <a:rPr lang="en-US" dirty="0" err="1"/>
              <a:t>chuẩn</a:t>
            </a:r>
            <a:r>
              <a:rPr lang="en-US" dirty="0"/>
              <a:t> </a:t>
            </a:r>
            <a:r>
              <a:rPr lang="en-US" dirty="0" err="1"/>
              <a:t>giao</a:t>
            </a:r>
            <a:r>
              <a:rPr lang="en-US" dirty="0"/>
              <a:t> </a:t>
            </a:r>
            <a:r>
              <a:rPr lang="en-US" dirty="0" err="1"/>
              <a:t>tiếp</a:t>
            </a:r>
            <a:r>
              <a:rPr lang="en-US" dirty="0"/>
              <a:t>, </a:t>
            </a:r>
            <a:r>
              <a:rPr lang="en-US" dirty="0" err="1"/>
              <a:t>truyền</a:t>
            </a:r>
            <a:r>
              <a:rPr lang="en-US" dirty="0"/>
              <a:t> </a:t>
            </a:r>
            <a:r>
              <a:rPr lang="en-US" dirty="0" err="1"/>
              <a:t>thông</a:t>
            </a:r>
            <a:endParaRPr lang="en-US" dirty="0"/>
          </a:p>
          <a:p>
            <a:pPr lvl="1"/>
            <a:endParaRPr lang="en-US" dirty="0"/>
          </a:p>
          <a:p>
            <a:r>
              <a:rPr lang="en-US" dirty="0" err="1"/>
              <a:t>Bước</a:t>
            </a:r>
            <a:r>
              <a:rPr lang="en-US" dirty="0"/>
              <a:t> 2: </a:t>
            </a:r>
            <a:r>
              <a:rPr lang="en-US" dirty="0" err="1"/>
              <a:t>Tính</a:t>
            </a:r>
            <a:r>
              <a:rPr lang="en-US" dirty="0"/>
              <a:t> </a:t>
            </a:r>
            <a:r>
              <a:rPr lang="en-US" dirty="0" err="1"/>
              <a:t>toán</a:t>
            </a:r>
            <a:r>
              <a:rPr lang="en-US" dirty="0"/>
              <a:t> </a:t>
            </a:r>
            <a:r>
              <a:rPr lang="en-US" dirty="0" err="1"/>
              <a:t>phân</a:t>
            </a:r>
            <a:r>
              <a:rPr lang="en-US" dirty="0"/>
              <a:t> </a:t>
            </a:r>
            <a:r>
              <a:rPr lang="en-US" dirty="0" err="1"/>
              <a:t>phối</a:t>
            </a:r>
            <a:r>
              <a:rPr lang="en-US" dirty="0"/>
              <a:t> </a:t>
            </a:r>
            <a:r>
              <a:rPr lang="en-US" dirty="0" err="1"/>
              <a:t>nguồn</a:t>
            </a:r>
            <a:endParaRPr lang="en-US" dirty="0"/>
          </a:p>
          <a:p>
            <a:pPr lvl="1"/>
            <a:r>
              <a:rPr lang="en-US" dirty="0" err="1"/>
              <a:t>Cách</a:t>
            </a:r>
            <a:r>
              <a:rPr lang="en-US" dirty="0"/>
              <a:t> </a:t>
            </a:r>
            <a:r>
              <a:rPr lang="en-US" dirty="0" err="1"/>
              <a:t>ly</a:t>
            </a:r>
            <a:r>
              <a:rPr lang="en-US" dirty="0"/>
              <a:t> </a:t>
            </a:r>
            <a:r>
              <a:rPr lang="en-US" dirty="0" err="1"/>
              <a:t>nguồn</a:t>
            </a:r>
            <a:r>
              <a:rPr lang="en-US" dirty="0"/>
              <a:t> </a:t>
            </a:r>
            <a:r>
              <a:rPr lang="en-US" dirty="0" err="1"/>
              <a:t>cho</a:t>
            </a:r>
            <a:r>
              <a:rPr lang="en-US" dirty="0"/>
              <a:t> </a:t>
            </a:r>
            <a:r>
              <a:rPr lang="en-US" dirty="0" err="1"/>
              <a:t>mạch</a:t>
            </a:r>
            <a:r>
              <a:rPr lang="en-US" dirty="0"/>
              <a:t> </a:t>
            </a:r>
            <a:r>
              <a:rPr lang="en-US" dirty="0" err="1"/>
              <a:t>động</a:t>
            </a:r>
            <a:r>
              <a:rPr lang="en-US" dirty="0"/>
              <a:t> </a:t>
            </a:r>
            <a:r>
              <a:rPr lang="en-US" dirty="0" err="1"/>
              <a:t>lực</a:t>
            </a:r>
            <a:r>
              <a:rPr lang="en-US" dirty="0"/>
              <a:t> (Power circuit) </a:t>
            </a:r>
            <a:r>
              <a:rPr lang="en-US" dirty="0" err="1"/>
              <a:t>và</a:t>
            </a:r>
            <a:r>
              <a:rPr lang="en-US" dirty="0"/>
              <a:t> </a:t>
            </a:r>
            <a:r>
              <a:rPr lang="en-US" dirty="0" err="1"/>
              <a:t>mạch</a:t>
            </a:r>
            <a:r>
              <a:rPr lang="en-US" dirty="0"/>
              <a:t> </a:t>
            </a:r>
            <a:r>
              <a:rPr lang="en-US" dirty="0" err="1"/>
              <a:t>tín</a:t>
            </a:r>
            <a:r>
              <a:rPr lang="en-US" dirty="0"/>
              <a:t> </a:t>
            </a:r>
            <a:r>
              <a:rPr lang="en-US" dirty="0" err="1"/>
              <a:t>hiệu</a:t>
            </a:r>
            <a:endParaRPr lang="en-US" dirty="0"/>
          </a:p>
          <a:p>
            <a:pPr lvl="1"/>
            <a:r>
              <a:rPr lang="en-US" dirty="0" err="1"/>
              <a:t>Thiết</a:t>
            </a:r>
            <a:r>
              <a:rPr lang="en-US" dirty="0"/>
              <a:t> </a:t>
            </a:r>
            <a:r>
              <a:rPr lang="en-US" dirty="0" err="1"/>
              <a:t>kế</a:t>
            </a:r>
            <a:r>
              <a:rPr lang="en-US" dirty="0"/>
              <a:t> </a:t>
            </a:r>
            <a:r>
              <a:rPr lang="en-US" dirty="0" err="1"/>
              <a:t>tầng</a:t>
            </a:r>
            <a:r>
              <a:rPr lang="en-US" dirty="0"/>
              <a:t> </a:t>
            </a:r>
            <a:r>
              <a:rPr lang="en-US" dirty="0" err="1"/>
              <a:t>hạ</a:t>
            </a:r>
            <a:r>
              <a:rPr lang="en-US" dirty="0"/>
              <a:t> </a:t>
            </a:r>
            <a:r>
              <a:rPr lang="en-US" dirty="0" err="1"/>
              <a:t>áp</a:t>
            </a:r>
            <a:r>
              <a:rPr lang="en-US" dirty="0"/>
              <a:t>: 24V -&gt; 12V, 5V, 3.3V</a:t>
            </a:r>
          </a:p>
          <a:p>
            <a:pPr lvl="1"/>
            <a:r>
              <a:rPr lang="vi-VN" dirty="0"/>
              <a:t>Tính toán dung lượng và </a:t>
            </a:r>
            <a:r>
              <a:rPr lang="en-US" dirty="0"/>
              <a:t>d</a:t>
            </a:r>
            <a:r>
              <a:rPr lang="vi-VN" dirty="0"/>
              <a:t>òng xả của Pin</a:t>
            </a:r>
            <a:endParaRPr lang="en-US" dirty="0"/>
          </a:p>
        </p:txBody>
      </p:sp>
      <p:sp>
        <p:nvSpPr>
          <p:cNvPr id="4" name="Slide Number Placeholder 3">
            <a:extLst>
              <a:ext uri="{FF2B5EF4-FFF2-40B4-BE49-F238E27FC236}">
                <a16:creationId xmlns:a16="http://schemas.microsoft.com/office/drawing/2014/main" id="{EEDC4CF0-C75E-B80A-1A60-7285CF212728}"/>
              </a:ext>
            </a:extLst>
          </p:cNvPr>
          <p:cNvSpPr>
            <a:spLocks noGrp="1"/>
          </p:cNvSpPr>
          <p:nvPr>
            <p:ph type="sldNum" sz="quarter" idx="12"/>
          </p:nvPr>
        </p:nvSpPr>
        <p:spPr/>
        <p:txBody>
          <a:bodyPr/>
          <a:lstStyle/>
          <a:p>
            <a:fld id="{3957FE44-DABC-424D-A234-74BB9410FF27}" type="slidenum">
              <a:rPr lang="en-US" smtClean="0"/>
              <a:pPr/>
              <a:t>8</a:t>
            </a:fld>
            <a:endParaRPr lang="en-US" dirty="0"/>
          </a:p>
        </p:txBody>
      </p:sp>
    </p:spTree>
    <p:extLst>
      <p:ext uri="{BB962C8B-B14F-4D97-AF65-F5344CB8AC3E}">
        <p14:creationId xmlns:p14="http://schemas.microsoft.com/office/powerpoint/2010/main" val="2046383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9EC01-7962-D888-7320-7F0C456A49E9}"/>
              </a:ext>
            </a:extLst>
          </p:cNvPr>
          <p:cNvSpPr>
            <a:spLocks noGrp="1"/>
          </p:cNvSpPr>
          <p:nvPr>
            <p:ph type="title"/>
          </p:nvPr>
        </p:nvSpPr>
        <p:spPr/>
        <p:txBody>
          <a:bodyPr/>
          <a:lstStyle/>
          <a:p>
            <a:r>
              <a:rPr lang="en-US" b="1" dirty="0" err="1"/>
              <a:t>Kiến</a:t>
            </a:r>
            <a:r>
              <a:rPr lang="en-US" b="1" dirty="0"/>
              <a:t> </a:t>
            </a:r>
            <a:r>
              <a:rPr lang="en-US" b="1" dirty="0" err="1"/>
              <a:t>trúc</a:t>
            </a:r>
            <a:r>
              <a:rPr lang="en-US" b="1" dirty="0"/>
              <a:t> </a:t>
            </a:r>
            <a:r>
              <a:rPr lang="en-US" b="1" dirty="0" err="1"/>
              <a:t>hệ</a:t>
            </a:r>
            <a:r>
              <a:rPr lang="en-US" b="1" dirty="0"/>
              <a:t> </a:t>
            </a:r>
            <a:r>
              <a:rPr lang="en-US" b="1" dirty="0" err="1"/>
              <a:t>thống</a:t>
            </a:r>
            <a:endParaRPr lang="en-US" dirty="0"/>
          </a:p>
        </p:txBody>
      </p:sp>
      <p:sp>
        <p:nvSpPr>
          <p:cNvPr id="3" name="Content Placeholder 2">
            <a:extLst>
              <a:ext uri="{FF2B5EF4-FFF2-40B4-BE49-F238E27FC236}">
                <a16:creationId xmlns:a16="http://schemas.microsoft.com/office/drawing/2014/main" id="{3F39C938-FEE5-2097-4181-BB1C0C1A081A}"/>
              </a:ext>
            </a:extLst>
          </p:cNvPr>
          <p:cNvSpPr>
            <a:spLocks noGrp="1"/>
          </p:cNvSpPr>
          <p:nvPr>
            <p:ph idx="1"/>
          </p:nvPr>
        </p:nvSpPr>
        <p:spPr/>
        <p:txBody>
          <a:bodyPr/>
          <a:lstStyle/>
          <a:p>
            <a:r>
              <a:rPr lang="en-US" dirty="0" err="1"/>
              <a:t>Bước</a:t>
            </a:r>
            <a:r>
              <a:rPr lang="en-US" dirty="0"/>
              <a:t> 3: </a:t>
            </a:r>
            <a:r>
              <a:rPr lang="en-US" dirty="0" err="1"/>
              <a:t>Thiết</a:t>
            </a:r>
            <a:r>
              <a:rPr lang="en-US" dirty="0"/>
              <a:t> </a:t>
            </a:r>
            <a:r>
              <a:rPr lang="en-US" dirty="0" err="1"/>
              <a:t>kế</a:t>
            </a:r>
            <a:r>
              <a:rPr lang="en-US" dirty="0"/>
              <a:t> </a:t>
            </a:r>
            <a:r>
              <a:rPr lang="en-US" dirty="0" err="1"/>
              <a:t>mạch</a:t>
            </a:r>
            <a:r>
              <a:rPr lang="en-US" dirty="0"/>
              <a:t> </a:t>
            </a:r>
            <a:r>
              <a:rPr lang="en-US" dirty="0" err="1"/>
              <a:t>bảo</a:t>
            </a:r>
            <a:r>
              <a:rPr lang="en-US" dirty="0"/>
              <a:t> </a:t>
            </a:r>
            <a:r>
              <a:rPr lang="en-US" dirty="0" err="1"/>
              <a:t>vệ</a:t>
            </a:r>
            <a:r>
              <a:rPr lang="en-US" dirty="0"/>
              <a:t> </a:t>
            </a:r>
            <a:r>
              <a:rPr lang="en-US" dirty="0" err="1"/>
              <a:t>và</a:t>
            </a:r>
            <a:r>
              <a:rPr lang="en-US" dirty="0"/>
              <a:t> An </a:t>
            </a:r>
            <a:r>
              <a:rPr lang="en-US" dirty="0" err="1"/>
              <a:t>toàn</a:t>
            </a:r>
            <a:r>
              <a:rPr lang="en-US" dirty="0"/>
              <a:t> </a:t>
            </a:r>
            <a:r>
              <a:rPr lang="en-US" dirty="0" err="1"/>
              <a:t>điện</a:t>
            </a:r>
            <a:endParaRPr lang="en-US" dirty="0"/>
          </a:p>
          <a:p>
            <a:pPr lvl="1"/>
            <a:r>
              <a:rPr lang="en-US" dirty="0" err="1"/>
              <a:t>Lựa</a:t>
            </a:r>
            <a:r>
              <a:rPr lang="en-US" dirty="0"/>
              <a:t> </a:t>
            </a:r>
            <a:r>
              <a:rPr lang="en-US" dirty="0" err="1"/>
              <a:t>chọn</a:t>
            </a:r>
            <a:r>
              <a:rPr lang="en-US" dirty="0"/>
              <a:t> </a:t>
            </a:r>
            <a:r>
              <a:rPr lang="en-US" dirty="0" err="1"/>
              <a:t>dây</a:t>
            </a:r>
            <a:r>
              <a:rPr lang="en-US" dirty="0"/>
              <a:t> </a:t>
            </a:r>
            <a:r>
              <a:rPr lang="en-US" dirty="0" err="1"/>
              <a:t>dẫn</a:t>
            </a:r>
            <a:endParaRPr lang="en-US" dirty="0"/>
          </a:p>
          <a:p>
            <a:pPr lvl="1"/>
            <a:r>
              <a:rPr lang="en-US" dirty="0" err="1"/>
              <a:t>Tầng</a:t>
            </a:r>
            <a:r>
              <a:rPr lang="en-US" dirty="0"/>
              <a:t> </a:t>
            </a:r>
            <a:r>
              <a:rPr lang="en-US" dirty="0" err="1"/>
              <a:t>bảo</a:t>
            </a:r>
            <a:r>
              <a:rPr lang="en-US" dirty="0"/>
              <a:t> </a:t>
            </a:r>
            <a:r>
              <a:rPr lang="en-US" dirty="0" err="1"/>
              <a:t>vệ</a:t>
            </a:r>
            <a:r>
              <a:rPr lang="en-US" dirty="0"/>
              <a:t> </a:t>
            </a:r>
            <a:r>
              <a:rPr lang="en-US" dirty="0" err="1"/>
              <a:t>quá</a:t>
            </a:r>
            <a:r>
              <a:rPr lang="en-US" dirty="0"/>
              <a:t> </a:t>
            </a:r>
            <a:r>
              <a:rPr lang="en-US" dirty="0" err="1"/>
              <a:t>dòng</a:t>
            </a:r>
            <a:endParaRPr lang="en-US" dirty="0"/>
          </a:p>
          <a:p>
            <a:pPr lvl="1"/>
            <a:r>
              <a:rPr lang="en-US" dirty="0" err="1"/>
              <a:t>Hệ</a:t>
            </a:r>
            <a:r>
              <a:rPr lang="en-US" dirty="0"/>
              <a:t> </a:t>
            </a:r>
            <a:r>
              <a:rPr lang="en-US" dirty="0" err="1"/>
              <a:t>thống</a:t>
            </a:r>
            <a:r>
              <a:rPr lang="en-US" dirty="0"/>
              <a:t> </a:t>
            </a:r>
            <a:r>
              <a:rPr lang="en-US" dirty="0" err="1"/>
              <a:t>dừng</a:t>
            </a:r>
            <a:r>
              <a:rPr lang="en-US" dirty="0"/>
              <a:t> </a:t>
            </a:r>
            <a:r>
              <a:rPr lang="en-US" dirty="0" err="1"/>
              <a:t>khẩn</a:t>
            </a:r>
            <a:r>
              <a:rPr lang="en-US" dirty="0"/>
              <a:t> </a:t>
            </a:r>
            <a:r>
              <a:rPr lang="en-US" dirty="0" err="1"/>
              <a:t>cấp</a:t>
            </a:r>
            <a:r>
              <a:rPr lang="en-US" dirty="0"/>
              <a:t> </a:t>
            </a:r>
          </a:p>
          <a:p>
            <a:pPr lvl="1"/>
            <a:r>
              <a:rPr lang="vi-VN" dirty="0"/>
              <a:t>Chống ngược cực và Quá áp</a:t>
            </a:r>
            <a:endParaRPr lang="en-US" dirty="0"/>
          </a:p>
          <a:p>
            <a:endParaRPr lang="en-US" dirty="0"/>
          </a:p>
          <a:p>
            <a:r>
              <a:rPr lang="en-US" dirty="0" err="1"/>
              <a:t>Bước</a:t>
            </a:r>
            <a:r>
              <a:rPr lang="en-US" dirty="0"/>
              <a:t> 4: </a:t>
            </a:r>
            <a:r>
              <a:rPr lang="vi-VN" dirty="0"/>
              <a:t>Vẽ sơ đồ nguyên lý và Thiết kế bo mạch</a:t>
            </a:r>
            <a:endParaRPr lang="en-US" dirty="0"/>
          </a:p>
          <a:p>
            <a:endParaRPr lang="en-US" dirty="0"/>
          </a:p>
        </p:txBody>
      </p:sp>
      <p:sp>
        <p:nvSpPr>
          <p:cNvPr id="4" name="Slide Number Placeholder 3">
            <a:extLst>
              <a:ext uri="{FF2B5EF4-FFF2-40B4-BE49-F238E27FC236}">
                <a16:creationId xmlns:a16="http://schemas.microsoft.com/office/drawing/2014/main" id="{DC2322C0-3218-C48F-DD29-12EEA262F46B}"/>
              </a:ext>
            </a:extLst>
          </p:cNvPr>
          <p:cNvSpPr>
            <a:spLocks noGrp="1"/>
          </p:cNvSpPr>
          <p:nvPr>
            <p:ph type="sldNum" sz="quarter" idx="12"/>
          </p:nvPr>
        </p:nvSpPr>
        <p:spPr/>
        <p:txBody>
          <a:bodyPr/>
          <a:lstStyle/>
          <a:p>
            <a:fld id="{3957FE44-DABC-424D-A234-74BB9410FF27}" type="slidenum">
              <a:rPr lang="en-US" smtClean="0"/>
              <a:pPr/>
              <a:t>9</a:t>
            </a:fld>
            <a:endParaRPr lang="en-US" dirty="0"/>
          </a:p>
        </p:txBody>
      </p:sp>
    </p:spTree>
    <p:extLst>
      <p:ext uri="{BB962C8B-B14F-4D97-AF65-F5344CB8AC3E}">
        <p14:creationId xmlns:p14="http://schemas.microsoft.com/office/powerpoint/2010/main" val="2772547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30ECC-5667-581E-6029-A06A52400454}"/>
              </a:ext>
            </a:extLst>
          </p:cNvPr>
          <p:cNvSpPr>
            <a:spLocks noGrp="1"/>
          </p:cNvSpPr>
          <p:nvPr>
            <p:ph type="title"/>
          </p:nvPr>
        </p:nvSpPr>
        <p:spPr/>
        <p:txBody>
          <a:bodyPr/>
          <a:lstStyle/>
          <a:p>
            <a:r>
              <a:rPr lang="vi-VN" b="1" dirty="0"/>
              <a:t>Thiết kế sơ đồ kiến trúc</a:t>
            </a:r>
            <a:endParaRPr lang="en-US" b="1" dirty="0"/>
          </a:p>
        </p:txBody>
      </p:sp>
      <p:pic>
        <p:nvPicPr>
          <p:cNvPr id="6" name="Content Placeholder 5">
            <a:extLst>
              <a:ext uri="{FF2B5EF4-FFF2-40B4-BE49-F238E27FC236}">
                <a16:creationId xmlns:a16="http://schemas.microsoft.com/office/drawing/2014/main" id="{BADC1071-BCF8-F6F2-D6E0-80F303DA7AB3}"/>
              </a:ext>
            </a:extLst>
          </p:cNvPr>
          <p:cNvPicPr>
            <a:picLocks noGrp="1" noChangeAspect="1"/>
          </p:cNvPicPr>
          <p:nvPr>
            <p:ph idx="1"/>
          </p:nvPr>
        </p:nvPicPr>
        <p:blipFill>
          <a:blip r:embed="rId2"/>
          <a:stretch>
            <a:fillRect/>
          </a:stretch>
        </p:blipFill>
        <p:spPr>
          <a:xfrm>
            <a:off x="3840879" y="1447800"/>
            <a:ext cx="4510242" cy="4876800"/>
          </a:xfrm>
          <a:prstGeom prst="rect">
            <a:avLst/>
          </a:prstGeom>
        </p:spPr>
      </p:pic>
      <p:sp>
        <p:nvSpPr>
          <p:cNvPr id="4" name="Slide Number Placeholder 3">
            <a:extLst>
              <a:ext uri="{FF2B5EF4-FFF2-40B4-BE49-F238E27FC236}">
                <a16:creationId xmlns:a16="http://schemas.microsoft.com/office/drawing/2014/main" id="{49BF3136-E9F2-ADC0-7E67-7BF592F05A57}"/>
              </a:ext>
            </a:extLst>
          </p:cNvPr>
          <p:cNvSpPr>
            <a:spLocks noGrp="1"/>
          </p:cNvSpPr>
          <p:nvPr>
            <p:ph type="sldNum" sz="quarter" idx="12"/>
          </p:nvPr>
        </p:nvSpPr>
        <p:spPr/>
        <p:txBody>
          <a:bodyPr/>
          <a:lstStyle/>
          <a:p>
            <a:fld id="{3957FE44-DABC-424D-A234-74BB9410FF27}" type="slidenum">
              <a:rPr lang="en-US" smtClean="0"/>
              <a:pPr/>
              <a:t>10</a:t>
            </a:fld>
            <a:endParaRPr lang="en-US" dirty="0"/>
          </a:p>
        </p:txBody>
      </p:sp>
      <p:sp>
        <p:nvSpPr>
          <p:cNvPr id="7" name="TextBox 6">
            <a:extLst>
              <a:ext uri="{FF2B5EF4-FFF2-40B4-BE49-F238E27FC236}">
                <a16:creationId xmlns:a16="http://schemas.microsoft.com/office/drawing/2014/main" id="{8232A2B3-9399-EF25-5AB8-2AF1981CA8C4}"/>
              </a:ext>
            </a:extLst>
          </p:cNvPr>
          <p:cNvSpPr txBox="1"/>
          <p:nvPr/>
        </p:nvSpPr>
        <p:spPr>
          <a:xfrm>
            <a:off x="3813345" y="6328442"/>
            <a:ext cx="4798108" cy="369332"/>
          </a:xfrm>
          <a:prstGeom prst="rect">
            <a:avLst/>
          </a:prstGeom>
          <a:noFill/>
        </p:spPr>
        <p:txBody>
          <a:bodyPr wrap="none" rtlCol="0">
            <a:spAutoFit/>
          </a:bodyPr>
          <a:lstStyle/>
          <a:p>
            <a:r>
              <a:rPr lang="en-US" b="1" dirty="0" err="1"/>
              <a:t>Sơ</a:t>
            </a:r>
            <a:r>
              <a:rPr lang="en-US" b="1" dirty="0"/>
              <a:t> </a:t>
            </a:r>
            <a:r>
              <a:rPr lang="en-US" b="1" dirty="0" err="1"/>
              <a:t>đồ</a:t>
            </a:r>
            <a:r>
              <a:rPr lang="en-US" b="1" dirty="0"/>
              <a:t> </a:t>
            </a:r>
            <a:r>
              <a:rPr lang="en-US" b="1" dirty="0" err="1"/>
              <a:t>kiến</a:t>
            </a:r>
            <a:r>
              <a:rPr lang="en-US" b="1" dirty="0"/>
              <a:t> </a:t>
            </a:r>
            <a:r>
              <a:rPr lang="en-US" b="1" dirty="0" err="1"/>
              <a:t>trúc</a:t>
            </a:r>
            <a:r>
              <a:rPr lang="en-US" b="1" dirty="0"/>
              <a:t> </a:t>
            </a:r>
            <a:r>
              <a:rPr lang="en-US" b="1" dirty="0" err="1"/>
              <a:t>của</a:t>
            </a:r>
            <a:r>
              <a:rPr lang="en-US" b="1" dirty="0"/>
              <a:t> Boston Dynamic Spot</a:t>
            </a:r>
          </a:p>
        </p:txBody>
      </p:sp>
    </p:spTree>
    <p:extLst>
      <p:ext uri="{BB962C8B-B14F-4D97-AF65-F5344CB8AC3E}">
        <p14:creationId xmlns:p14="http://schemas.microsoft.com/office/powerpoint/2010/main" val="776357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F942A-B98C-CDA7-D9D3-469D7C2D03D3}"/>
              </a:ext>
            </a:extLst>
          </p:cNvPr>
          <p:cNvSpPr>
            <a:spLocks noGrp="1"/>
          </p:cNvSpPr>
          <p:nvPr>
            <p:ph type="title"/>
          </p:nvPr>
        </p:nvSpPr>
        <p:spPr/>
        <p:txBody>
          <a:bodyPr>
            <a:normAutofit/>
          </a:bodyPr>
          <a:lstStyle/>
          <a:p>
            <a:r>
              <a:rPr lang="en-US" b="1" dirty="0" err="1"/>
              <a:t>Tính</a:t>
            </a:r>
            <a:r>
              <a:rPr lang="en-US" b="1" dirty="0"/>
              <a:t> </a:t>
            </a:r>
            <a:r>
              <a:rPr lang="en-US" b="1" dirty="0" err="1"/>
              <a:t>toán</a:t>
            </a:r>
            <a:r>
              <a:rPr lang="en-US" b="1" dirty="0"/>
              <a:t> </a:t>
            </a:r>
            <a:r>
              <a:rPr lang="en-US" b="1" dirty="0" err="1"/>
              <a:t>phân</a:t>
            </a:r>
            <a:r>
              <a:rPr lang="en-US" b="1" dirty="0"/>
              <a:t> </a:t>
            </a:r>
            <a:r>
              <a:rPr lang="en-US" b="1" dirty="0" err="1"/>
              <a:t>phối</a:t>
            </a:r>
            <a:r>
              <a:rPr lang="en-US" b="1" dirty="0"/>
              <a:t> </a:t>
            </a:r>
            <a:r>
              <a:rPr lang="en-US" b="1" dirty="0" err="1"/>
              <a:t>nguồn</a:t>
            </a:r>
            <a:endParaRPr lang="en-US" b="1" dirty="0"/>
          </a:p>
        </p:txBody>
      </p:sp>
      <p:sp>
        <p:nvSpPr>
          <p:cNvPr id="3" name="Content Placeholder 2">
            <a:extLst>
              <a:ext uri="{FF2B5EF4-FFF2-40B4-BE49-F238E27FC236}">
                <a16:creationId xmlns:a16="http://schemas.microsoft.com/office/drawing/2014/main" id="{B0697030-9139-93EB-B8FE-638C130F3EDE}"/>
              </a:ext>
            </a:extLst>
          </p:cNvPr>
          <p:cNvSpPr>
            <a:spLocks noGrp="1"/>
          </p:cNvSpPr>
          <p:nvPr>
            <p:ph idx="1"/>
          </p:nvPr>
        </p:nvSpPr>
        <p:spPr/>
        <p:txBody>
          <a:bodyPr/>
          <a:lstStyle/>
          <a:p>
            <a:pPr marL="0" indent="0">
              <a:buNone/>
            </a:pPr>
            <a:r>
              <a:rPr lang="en-US" b="1" dirty="0"/>
              <a:t>Quy </a:t>
            </a:r>
            <a:r>
              <a:rPr lang="en-US" b="1" dirty="0" err="1"/>
              <a:t>trình</a:t>
            </a:r>
            <a:r>
              <a:rPr lang="en-US" b="1" dirty="0"/>
              <a:t> </a:t>
            </a:r>
            <a:r>
              <a:rPr lang="en-US" b="1" dirty="0" err="1"/>
              <a:t>tính</a:t>
            </a:r>
            <a:r>
              <a:rPr lang="en-US" b="1" dirty="0"/>
              <a:t> </a:t>
            </a:r>
            <a:r>
              <a:rPr lang="en-US" b="1" dirty="0" err="1"/>
              <a:t>toán</a:t>
            </a:r>
            <a:r>
              <a:rPr lang="en-US" b="1" dirty="0"/>
              <a:t> </a:t>
            </a:r>
            <a:r>
              <a:rPr lang="en-US" b="1" dirty="0" err="1"/>
              <a:t>nguồn</a:t>
            </a:r>
            <a:r>
              <a:rPr lang="en-US" b="1" dirty="0"/>
              <a:t> </a:t>
            </a:r>
            <a:r>
              <a:rPr lang="en-US" b="1" dirty="0" err="1"/>
              <a:t>điện</a:t>
            </a:r>
            <a:r>
              <a:rPr lang="en-US" b="1" dirty="0"/>
              <a:t> </a:t>
            </a:r>
            <a:r>
              <a:rPr lang="en-US" b="1" dirty="0" err="1"/>
              <a:t>cho</a:t>
            </a:r>
            <a:r>
              <a:rPr lang="en-US" b="1" dirty="0"/>
              <a:t> robot</a:t>
            </a:r>
          </a:p>
          <a:p>
            <a:r>
              <a:rPr lang="en-US" dirty="0" err="1"/>
              <a:t>Bước</a:t>
            </a:r>
            <a:r>
              <a:rPr lang="en-US" dirty="0"/>
              <a:t> 1: </a:t>
            </a:r>
            <a:r>
              <a:rPr lang="en-US" dirty="0" err="1"/>
              <a:t>Lập</a:t>
            </a:r>
            <a:r>
              <a:rPr lang="en-US" dirty="0"/>
              <a:t> </a:t>
            </a:r>
            <a:r>
              <a:rPr lang="en-US" dirty="0" err="1"/>
              <a:t>sơ</a:t>
            </a:r>
            <a:r>
              <a:rPr lang="en-US" dirty="0"/>
              <a:t> </a:t>
            </a:r>
            <a:r>
              <a:rPr lang="en-US" dirty="0" err="1"/>
              <a:t>đồ</a:t>
            </a:r>
            <a:r>
              <a:rPr lang="en-US" dirty="0"/>
              <a:t> </a:t>
            </a:r>
            <a:r>
              <a:rPr lang="en-US" dirty="0" err="1"/>
              <a:t>phân</a:t>
            </a:r>
            <a:r>
              <a:rPr lang="en-US" dirty="0"/>
              <a:t> </a:t>
            </a:r>
            <a:r>
              <a:rPr lang="en-US" dirty="0" err="1"/>
              <a:t>phối</a:t>
            </a:r>
            <a:r>
              <a:rPr lang="en-US" dirty="0"/>
              <a:t> </a:t>
            </a:r>
            <a:r>
              <a:rPr lang="en-US" dirty="0" err="1"/>
              <a:t>nguồn</a:t>
            </a:r>
            <a:r>
              <a:rPr lang="en-US" dirty="0"/>
              <a:t> </a:t>
            </a:r>
            <a:r>
              <a:rPr lang="en-US" dirty="0" err="1"/>
              <a:t>và</a:t>
            </a:r>
            <a:r>
              <a:rPr lang="en-US" dirty="0"/>
              <a:t> </a:t>
            </a:r>
            <a:r>
              <a:rPr lang="en-US" dirty="0" err="1"/>
              <a:t>bảng</a:t>
            </a:r>
            <a:r>
              <a:rPr lang="en-US" dirty="0"/>
              <a:t> </a:t>
            </a:r>
            <a:r>
              <a:rPr lang="en-US" dirty="0" err="1"/>
              <a:t>thông</a:t>
            </a:r>
            <a:r>
              <a:rPr lang="en-US" dirty="0"/>
              <a:t> </a:t>
            </a:r>
            <a:r>
              <a:rPr lang="en-US" dirty="0" err="1"/>
              <a:t>số</a:t>
            </a:r>
            <a:r>
              <a:rPr lang="en-US" dirty="0"/>
              <a:t> </a:t>
            </a:r>
            <a:r>
              <a:rPr lang="en-US" dirty="0" err="1"/>
              <a:t>tiêu</a:t>
            </a:r>
            <a:r>
              <a:rPr lang="en-US" dirty="0"/>
              <a:t> </a:t>
            </a:r>
            <a:r>
              <a:rPr lang="en-US" dirty="0" err="1"/>
              <a:t>thụ</a:t>
            </a:r>
            <a:r>
              <a:rPr lang="en-US" dirty="0"/>
              <a:t> </a:t>
            </a:r>
            <a:r>
              <a:rPr lang="en-US" dirty="0" err="1"/>
              <a:t>điện</a:t>
            </a:r>
            <a:r>
              <a:rPr lang="en-US" dirty="0"/>
              <a:t> </a:t>
            </a:r>
            <a:r>
              <a:rPr lang="en-US" dirty="0" err="1"/>
              <a:t>của</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linh</a:t>
            </a:r>
            <a:r>
              <a:rPr lang="en-US" dirty="0"/>
              <a:t> </a:t>
            </a:r>
            <a:r>
              <a:rPr lang="en-US" dirty="0" err="1"/>
              <a:t>kiện</a:t>
            </a:r>
            <a:endParaRPr lang="en-US" dirty="0"/>
          </a:p>
        </p:txBody>
      </p:sp>
      <p:sp>
        <p:nvSpPr>
          <p:cNvPr id="4" name="Slide Number Placeholder 3">
            <a:extLst>
              <a:ext uri="{FF2B5EF4-FFF2-40B4-BE49-F238E27FC236}">
                <a16:creationId xmlns:a16="http://schemas.microsoft.com/office/drawing/2014/main" id="{C6048F56-46A1-43F1-F00E-F190223F1326}"/>
              </a:ext>
            </a:extLst>
          </p:cNvPr>
          <p:cNvSpPr>
            <a:spLocks noGrp="1"/>
          </p:cNvSpPr>
          <p:nvPr>
            <p:ph type="sldNum" sz="quarter" idx="12"/>
          </p:nvPr>
        </p:nvSpPr>
        <p:spPr/>
        <p:txBody>
          <a:bodyPr/>
          <a:lstStyle/>
          <a:p>
            <a:fld id="{3957FE44-DABC-424D-A234-74BB9410FF27}" type="slidenum">
              <a:rPr lang="en-US" smtClean="0"/>
              <a:pPr/>
              <a:t>11</a:t>
            </a:fld>
            <a:endParaRPr lang="en-US" dirty="0"/>
          </a:p>
        </p:txBody>
      </p:sp>
      <p:pic>
        <p:nvPicPr>
          <p:cNvPr id="6" name="Picture 5">
            <a:extLst>
              <a:ext uri="{FF2B5EF4-FFF2-40B4-BE49-F238E27FC236}">
                <a16:creationId xmlns:a16="http://schemas.microsoft.com/office/drawing/2014/main" id="{AFC6A717-376C-A823-1DE5-AEBC69486809}"/>
              </a:ext>
            </a:extLst>
          </p:cNvPr>
          <p:cNvPicPr>
            <a:picLocks noChangeAspect="1"/>
          </p:cNvPicPr>
          <p:nvPr/>
        </p:nvPicPr>
        <p:blipFill>
          <a:blip r:embed="rId2"/>
          <a:stretch>
            <a:fillRect/>
          </a:stretch>
        </p:blipFill>
        <p:spPr>
          <a:xfrm>
            <a:off x="2438400" y="2965032"/>
            <a:ext cx="7182247" cy="3588168"/>
          </a:xfrm>
          <a:prstGeom prst="rect">
            <a:avLst/>
          </a:prstGeom>
        </p:spPr>
      </p:pic>
    </p:spTree>
    <p:extLst>
      <p:ext uri="{BB962C8B-B14F-4D97-AF65-F5344CB8AC3E}">
        <p14:creationId xmlns:p14="http://schemas.microsoft.com/office/powerpoint/2010/main" val="2492516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F1872-59EF-4EBC-3FED-313427FB8A90}"/>
              </a:ext>
            </a:extLst>
          </p:cNvPr>
          <p:cNvSpPr>
            <a:spLocks noGrp="1"/>
          </p:cNvSpPr>
          <p:nvPr>
            <p:ph type="title"/>
          </p:nvPr>
        </p:nvSpPr>
        <p:spPr/>
        <p:txBody>
          <a:bodyPr/>
          <a:lstStyle/>
          <a:p>
            <a:r>
              <a:rPr lang="en-US" b="1" dirty="0" err="1"/>
              <a:t>Tính</a:t>
            </a:r>
            <a:r>
              <a:rPr lang="en-US" b="1" dirty="0"/>
              <a:t> </a:t>
            </a:r>
            <a:r>
              <a:rPr lang="en-US" b="1" dirty="0" err="1"/>
              <a:t>toán</a:t>
            </a:r>
            <a:r>
              <a:rPr lang="en-US" b="1" dirty="0"/>
              <a:t> </a:t>
            </a:r>
            <a:r>
              <a:rPr lang="en-US" b="1" dirty="0" err="1"/>
              <a:t>phân</a:t>
            </a:r>
            <a:r>
              <a:rPr lang="en-US" b="1" dirty="0"/>
              <a:t> </a:t>
            </a:r>
            <a:r>
              <a:rPr lang="en-US" b="1" dirty="0" err="1"/>
              <a:t>phối</a:t>
            </a:r>
            <a:r>
              <a:rPr lang="en-US" b="1" dirty="0"/>
              <a:t> </a:t>
            </a:r>
            <a:r>
              <a:rPr lang="en-US" b="1" dirty="0" err="1"/>
              <a:t>nguồn</a:t>
            </a:r>
            <a:endParaRPr lang="en-US" dirty="0"/>
          </a:p>
        </p:txBody>
      </p:sp>
      <p:graphicFrame>
        <p:nvGraphicFramePr>
          <p:cNvPr id="5" name="Content Placeholder 4">
            <a:extLst>
              <a:ext uri="{FF2B5EF4-FFF2-40B4-BE49-F238E27FC236}">
                <a16:creationId xmlns:a16="http://schemas.microsoft.com/office/drawing/2014/main" id="{B651B5C0-4CBB-AA7C-2534-759B9623395D}"/>
              </a:ext>
            </a:extLst>
          </p:cNvPr>
          <p:cNvGraphicFramePr>
            <a:graphicFrameLocks noGrp="1"/>
          </p:cNvGraphicFramePr>
          <p:nvPr>
            <p:ph idx="1"/>
            <p:extLst>
              <p:ext uri="{D42A27DB-BD31-4B8C-83A1-F6EECF244321}">
                <p14:modId xmlns:p14="http://schemas.microsoft.com/office/powerpoint/2010/main" val="2004081768"/>
              </p:ext>
            </p:extLst>
          </p:nvPr>
        </p:nvGraphicFramePr>
        <p:xfrm>
          <a:off x="1114586" y="2133600"/>
          <a:ext cx="10210800" cy="2585720"/>
        </p:xfrm>
        <a:graphic>
          <a:graphicData uri="http://schemas.openxmlformats.org/drawingml/2006/table">
            <a:tbl>
              <a:tblPr firstRow="1" bandRow="1">
                <a:tableStyleId>{21E4AEA4-8DFA-4A89-87EB-49C32662AFE0}</a:tableStyleId>
              </a:tblPr>
              <a:tblGrid>
                <a:gridCol w="2188029">
                  <a:extLst>
                    <a:ext uri="{9D8B030D-6E8A-4147-A177-3AD203B41FA5}">
                      <a16:colId xmlns:a16="http://schemas.microsoft.com/office/drawing/2014/main" val="48573560"/>
                    </a:ext>
                  </a:extLst>
                </a:gridCol>
                <a:gridCol w="1698171">
                  <a:extLst>
                    <a:ext uri="{9D8B030D-6E8A-4147-A177-3AD203B41FA5}">
                      <a16:colId xmlns:a16="http://schemas.microsoft.com/office/drawing/2014/main" val="1601010810"/>
                    </a:ext>
                  </a:extLst>
                </a:gridCol>
                <a:gridCol w="1981200">
                  <a:extLst>
                    <a:ext uri="{9D8B030D-6E8A-4147-A177-3AD203B41FA5}">
                      <a16:colId xmlns:a16="http://schemas.microsoft.com/office/drawing/2014/main" val="3734645418"/>
                    </a:ext>
                  </a:extLst>
                </a:gridCol>
                <a:gridCol w="1828800">
                  <a:extLst>
                    <a:ext uri="{9D8B030D-6E8A-4147-A177-3AD203B41FA5}">
                      <a16:colId xmlns:a16="http://schemas.microsoft.com/office/drawing/2014/main" val="1195789108"/>
                    </a:ext>
                  </a:extLst>
                </a:gridCol>
                <a:gridCol w="2514600">
                  <a:extLst>
                    <a:ext uri="{9D8B030D-6E8A-4147-A177-3AD203B41FA5}">
                      <a16:colId xmlns:a16="http://schemas.microsoft.com/office/drawing/2014/main" val="3382410080"/>
                    </a:ext>
                  </a:extLst>
                </a:gridCol>
              </a:tblGrid>
              <a:tr h="370840">
                <a:tc>
                  <a:txBody>
                    <a:bodyPr/>
                    <a:lstStyle/>
                    <a:p>
                      <a:endParaRPr lang="en-US" dirty="0"/>
                    </a:p>
                  </a:txBody>
                  <a:tcPr/>
                </a:tc>
                <a:tc>
                  <a:txBody>
                    <a:bodyPr/>
                    <a:lstStyle/>
                    <a:p>
                      <a:pPr algn="ctr"/>
                      <a:r>
                        <a:rPr lang="en-US" dirty="0"/>
                        <a:t>Hiệu </a:t>
                      </a:r>
                      <a:r>
                        <a:rPr lang="en-US" dirty="0" err="1"/>
                        <a:t>điện</a:t>
                      </a:r>
                      <a:r>
                        <a:rPr lang="en-US" dirty="0"/>
                        <a:t> </a:t>
                      </a:r>
                      <a:r>
                        <a:rPr lang="en-US" dirty="0" err="1"/>
                        <a:t>thế</a:t>
                      </a:r>
                      <a:endParaRPr lang="en-US" dirty="0"/>
                    </a:p>
                  </a:txBody>
                  <a:tcPr/>
                </a:tc>
                <a:tc>
                  <a:txBody>
                    <a:bodyPr/>
                    <a:lstStyle/>
                    <a:p>
                      <a:pPr algn="ctr"/>
                      <a:r>
                        <a:rPr lang="en-US" dirty="0" err="1"/>
                        <a:t>Dòng</a:t>
                      </a:r>
                      <a:r>
                        <a:rPr lang="en-US" dirty="0"/>
                        <a:t> </a:t>
                      </a:r>
                      <a:r>
                        <a:rPr lang="en-US" dirty="0" err="1"/>
                        <a:t>định</a:t>
                      </a:r>
                      <a:r>
                        <a:rPr lang="en-US" dirty="0"/>
                        <a:t> </a:t>
                      </a:r>
                      <a:r>
                        <a:rPr lang="en-US" dirty="0" err="1"/>
                        <a:t>mức</a:t>
                      </a:r>
                      <a:endParaRPr lang="en-US" dirty="0"/>
                    </a:p>
                  </a:txBody>
                  <a:tcPr/>
                </a:tc>
                <a:tc>
                  <a:txBody>
                    <a:bodyPr/>
                    <a:lstStyle/>
                    <a:p>
                      <a:pPr algn="ctr"/>
                      <a:r>
                        <a:rPr lang="en-US" dirty="0" err="1"/>
                        <a:t>Dòng</a:t>
                      </a:r>
                      <a:r>
                        <a:rPr lang="en-US" dirty="0"/>
                        <a:t> </a:t>
                      </a:r>
                      <a:r>
                        <a:rPr lang="en-US" dirty="0" err="1"/>
                        <a:t>đỉnh</a:t>
                      </a:r>
                      <a:endParaRPr lang="en-US" dirty="0"/>
                    </a:p>
                  </a:txBody>
                  <a:tcPr/>
                </a:tc>
                <a:tc>
                  <a:txBody>
                    <a:bodyPr/>
                    <a:lstStyle/>
                    <a:p>
                      <a:pPr algn="ctr"/>
                      <a:r>
                        <a:rPr lang="en-US" dirty="0"/>
                        <a:t>Công </a:t>
                      </a:r>
                      <a:r>
                        <a:rPr lang="en-US" dirty="0" err="1"/>
                        <a:t>suất</a:t>
                      </a:r>
                      <a:r>
                        <a:rPr lang="en-US" dirty="0"/>
                        <a:t> </a:t>
                      </a:r>
                      <a:r>
                        <a:rPr lang="en-US" dirty="0" err="1"/>
                        <a:t>định</a:t>
                      </a:r>
                      <a:r>
                        <a:rPr lang="en-US" dirty="0"/>
                        <a:t> </a:t>
                      </a:r>
                      <a:r>
                        <a:rPr lang="en-US" dirty="0" err="1"/>
                        <a:t>mức</a:t>
                      </a:r>
                      <a:endParaRPr lang="en-US" dirty="0"/>
                    </a:p>
                  </a:txBody>
                  <a:tcPr/>
                </a:tc>
                <a:extLst>
                  <a:ext uri="{0D108BD9-81ED-4DB2-BD59-A6C34878D82A}">
                    <a16:rowId xmlns:a16="http://schemas.microsoft.com/office/drawing/2014/main" val="3673912596"/>
                  </a:ext>
                </a:extLst>
              </a:tr>
              <a:tr h="370840">
                <a:tc>
                  <a:txBody>
                    <a:bodyPr/>
                    <a:lstStyle/>
                    <a:p>
                      <a:r>
                        <a:rPr lang="en-US" b="1" dirty="0" err="1">
                          <a:solidFill>
                            <a:schemeClr val="tx2">
                              <a:lumMod val="75000"/>
                            </a:schemeClr>
                          </a:solidFill>
                        </a:rPr>
                        <a:t>Động</a:t>
                      </a:r>
                      <a:r>
                        <a:rPr lang="en-US" b="1" dirty="0">
                          <a:solidFill>
                            <a:schemeClr val="tx2">
                              <a:lumMod val="75000"/>
                            </a:schemeClr>
                          </a:solidFill>
                        </a:rPr>
                        <a:t> </a:t>
                      </a:r>
                      <a:r>
                        <a:rPr lang="en-US" b="1" dirty="0" err="1">
                          <a:solidFill>
                            <a:schemeClr val="tx2">
                              <a:lumMod val="75000"/>
                            </a:schemeClr>
                          </a:solidFill>
                        </a:rPr>
                        <a:t>cơ</a:t>
                      </a:r>
                      <a:r>
                        <a:rPr lang="en-US" b="1" dirty="0">
                          <a:solidFill>
                            <a:schemeClr val="tx2">
                              <a:lumMod val="75000"/>
                            </a:schemeClr>
                          </a:solidFill>
                        </a:rPr>
                        <a:t> BLDC</a:t>
                      </a:r>
                    </a:p>
                  </a:txBody>
                  <a:tcPr/>
                </a:tc>
                <a:tc>
                  <a:txBody>
                    <a:bodyPr/>
                    <a:lstStyle/>
                    <a:p>
                      <a:pPr algn="ctr"/>
                      <a:r>
                        <a:rPr lang="en-US" dirty="0"/>
                        <a:t>24V</a:t>
                      </a:r>
                    </a:p>
                  </a:txBody>
                  <a:tcPr/>
                </a:tc>
                <a:tc>
                  <a:txBody>
                    <a:bodyPr/>
                    <a:lstStyle/>
                    <a:p>
                      <a:pPr algn="ctr"/>
                      <a:r>
                        <a:rPr lang="en-US" dirty="0"/>
                        <a:t>10A </a:t>
                      </a:r>
                      <a:r>
                        <a:rPr lang="en-US" dirty="0">
                          <a:solidFill>
                            <a:srgbClr val="FF0000"/>
                          </a:solidFill>
                        </a:rPr>
                        <a:t>(1.5A)</a:t>
                      </a:r>
                    </a:p>
                  </a:txBody>
                  <a:tcPr/>
                </a:tc>
                <a:tc>
                  <a:txBody>
                    <a:bodyPr/>
                    <a:lstStyle/>
                    <a:p>
                      <a:pPr algn="ctr"/>
                      <a:r>
                        <a:rPr lang="en-US" dirty="0"/>
                        <a:t>40A</a:t>
                      </a:r>
                    </a:p>
                  </a:txBody>
                  <a:tcPr/>
                </a:tc>
                <a:tc>
                  <a:txBody>
                    <a:bodyPr/>
                    <a:lstStyle/>
                    <a:p>
                      <a:pPr algn="ctr"/>
                      <a:r>
                        <a:rPr lang="en-US" dirty="0"/>
                        <a:t>240W </a:t>
                      </a:r>
                      <a:r>
                        <a:rPr lang="en-US" dirty="0">
                          <a:solidFill>
                            <a:srgbClr val="FF0000"/>
                          </a:solidFill>
                        </a:rPr>
                        <a:t>(36W)</a:t>
                      </a:r>
                    </a:p>
                  </a:txBody>
                  <a:tcPr/>
                </a:tc>
                <a:extLst>
                  <a:ext uri="{0D108BD9-81ED-4DB2-BD59-A6C34878D82A}">
                    <a16:rowId xmlns:a16="http://schemas.microsoft.com/office/drawing/2014/main" val="2735598577"/>
                  </a:ext>
                </a:extLst>
              </a:tr>
              <a:tr h="370840">
                <a:tc>
                  <a:txBody>
                    <a:bodyPr/>
                    <a:lstStyle/>
                    <a:p>
                      <a:r>
                        <a:rPr lang="en-US" b="1" dirty="0">
                          <a:solidFill>
                            <a:srgbClr val="00B050"/>
                          </a:solidFill>
                        </a:rPr>
                        <a:t>Jetson </a:t>
                      </a:r>
                      <a:r>
                        <a:rPr lang="en-US" b="1" dirty="0" err="1">
                          <a:solidFill>
                            <a:srgbClr val="00B050"/>
                          </a:solidFill>
                        </a:rPr>
                        <a:t>orin</a:t>
                      </a:r>
                      <a:r>
                        <a:rPr lang="en-US" b="1" dirty="0">
                          <a:solidFill>
                            <a:srgbClr val="00B050"/>
                          </a:solidFill>
                        </a:rPr>
                        <a:t> nano</a:t>
                      </a:r>
                    </a:p>
                  </a:txBody>
                  <a:tcPr/>
                </a:tc>
                <a:tc>
                  <a:txBody>
                    <a:bodyPr/>
                    <a:lstStyle/>
                    <a:p>
                      <a:pPr algn="ctr"/>
                      <a:r>
                        <a:rPr lang="en-US" dirty="0"/>
                        <a:t>19V</a:t>
                      </a:r>
                    </a:p>
                  </a:txBody>
                  <a:tcPr/>
                </a:tc>
                <a:tc>
                  <a:txBody>
                    <a:bodyPr/>
                    <a:lstStyle/>
                    <a:p>
                      <a:pPr algn="ctr"/>
                      <a:r>
                        <a:rPr lang="en-US" dirty="0"/>
                        <a:t>4A</a:t>
                      </a:r>
                    </a:p>
                  </a:txBody>
                  <a:tcPr/>
                </a:tc>
                <a:tc>
                  <a:txBody>
                    <a:bodyPr/>
                    <a:lstStyle/>
                    <a:p>
                      <a:pPr algn="ctr"/>
                      <a:endParaRPr lang="en-US" dirty="0"/>
                    </a:p>
                  </a:txBody>
                  <a:tcPr/>
                </a:tc>
                <a:tc>
                  <a:txBody>
                    <a:bodyPr/>
                    <a:lstStyle/>
                    <a:p>
                      <a:pPr algn="ctr"/>
                      <a:r>
                        <a:rPr lang="en-US" dirty="0"/>
                        <a:t>76W</a:t>
                      </a:r>
                    </a:p>
                  </a:txBody>
                  <a:tcPr/>
                </a:tc>
                <a:extLst>
                  <a:ext uri="{0D108BD9-81ED-4DB2-BD59-A6C34878D82A}">
                    <a16:rowId xmlns:a16="http://schemas.microsoft.com/office/drawing/2014/main" val="3546527132"/>
                  </a:ext>
                </a:extLst>
              </a:tr>
              <a:tr h="370840">
                <a:tc>
                  <a:txBody>
                    <a:bodyPr/>
                    <a:lstStyle/>
                    <a:p>
                      <a:r>
                        <a:rPr lang="en-US" b="1" dirty="0">
                          <a:solidFill>
                            <a:srgbClr val="00B050"/>
                          </a:solidFill>
                        </a:rPr>
                        <a:t>STM32</a:t>
                      </a:r>
                    </a:p>
                  </a:txBody>
                  <a:tcPr/>
                </a:tc>
                <a:tc>
                  <a:txBody>
                    <a:bodyPr/>
                    <a:lstStyle/>
                    <a:p>
                      <a:pPr algn="ctr"/>
                      <a:r>
                        <a:rPr lang="en-US" dirty="0"/>
                        <a:t>3.3V</a:t>
                      </a:r>
                    </a:p>
                  </a:txBody>
                  <a:tcPr/>
                </a:tc>
                <a:tc>
                  <a:txBody>
                    <a:bodyPr/>
                    <a:lstStyle/>
                    <a:p>
                      <a:pPr algn="ctr"/>
                      <a:r>
                        <a:rPr lang="en-US" dirty="0"/>
                        <a:t>0.1A</a:t>
                      </a:r>
                    </a:p>
                  </a:txBody>
                  <a:tcPr/>
                </a:tc>
                <a:tc>
                  <a:txBody>
                    <a:bodyPr/>
                    <a:lstStyle/>
                    <a:p>
                      <a:pPr algn="ctr"/>
                      <a:endParaRPr lang="en-US" dirty="0"/>
                    </a:p>
                  </a:txBody>
                  <a:tcPr/>
                </a:tc>
                <a:tc>
                  <a:txBody>
                    <a:bodyPr/>
                    <a:lstStyle/>
                    <a:p>
                      <a:pPr algn="ctr"/>
                      <a:r>
                        <a:rPr lang="en-US" dirty="0"/>
                        <a:t>0.33W</a:t>
                      </a:r>
                    </a:p>
                  </a:txBody>
                  <a:tcPr/>
                </a:tc>
                <a:extLst>
                  <a:ext uri="{0D108BD9-81ED-4DB2-BD59-A6C34878D82A}">
                    <a16:rowId xmlns:a16="http://schemas.microsoft.com/office/drawing/2014/main" val="1868231082"/>
                  </a:ext>
                </a:extLst>
              </a:tr>
              <a:tr h="370840">
                <a:tc>
                  <a:txBody>
                    <a:bodyPr/>
                    <a:lstStyle/>
                    <a:p>
                      <a:r>
                        <a:rPr lang="en-US" b="1" dirty="0">
                          <a:solidFill>
                            <a:srgbClr val="00B050"/>
                          </a:solidFill>
                        </a:rPr>
                        <a:t>Lidar</a:t>
                      </a:r>
                    </a:p>
                  </a:txBody>
                  <a:tcPr/>
                </a:tc>
                <a:tc>
                  <a:txBody>
                    <a:bodyPr/>
                    <a:lstStyle/>
                    <a:p>
                      <a:pPr algn="ctr"/>
                      <a:r>
                        <a:rPr lang="en-US" dirty="0"/>
                        <a:t>5V</a:t>
                      </a:r>
                    </a:p>
                  </a:txBody>
                  <a:tcPr/>
                </a:tc>
                <a:tc>
                  <a:txBody>
                    <a:bodyPr/>
                    <a:lstStyle/>
                    <a:p>
                      <a:pPr algn="ctr"/>
                      <a:r>
                        <a:rPr lang="en-US" dirty="0"/>
                        <a:t>1.5A</a:t>
                      </a:r>
                    </a:p>
                  </a:txBody>
                  <a:tcPr/>
                </a:tc>
                <a:tc>
                  <a:txBody>
                    <a:bodyPr/>
                    <a:lstStyle/>
                    <a:p>
                      <a:pPr algn="ctr"/>
                      <a:endParaRPr lang="en-US" dirty="0"/>
                    </a:p>
                  </a:txBody>
                  <a:tcPr/>
                </a:tc>
                <a:tc>
                  <a:txBody>
                    <a:bodyPr/>
                    <a:lstStyle/>
                    <a:p>
                      <a:pPr algn="ctr"/>
                      <a:r>
                        <a:rPr lang="en-US" dirty="0"/>
                        <a:t>7.5W</a:t>
                      </a:r>
                    </a:p>
                  </a:txBody>
                  <a:tcPr/>
                </a:tc>
                <a:extLst>
                  <a:ext uri="{0D108BD9-81ED-4DB2-BD59-A6C34878D82A}">
                    <a16:rowId xmlns:a16="http://schemas.microsoft.com/office/drawing/2014/main" val="3032403841"/>
                  </a:ext>
                </a:extLst>
              </a:tr>
              <a:tr h="185420">
                <a:tc>
                  <a:txBody>
                    <a:bodyPr/>
                    <a:lstStyle/>
                    <a:p>
                      <a:r>
                        <a:rPr lang="en-US" b="1" dirty="0">
                          <a:solidFill>
                            <a:srgbClr val="00B050"/>
                          </a:solidFill>
                        </a:rPr>
                        <a:t>Camera</a:t>
                      </a:r>
                    </a:p>
                  </a:txBody>
                  <a:tcPr/>
                </a:tc>
                <a:tc>
                  <a:txBody>
                    <a:bodyPr/>
                    <a:lstStyle/>
                    <a:p>
                      <a:pPr algn="ctr"/>
                      <a:r>
                        <a:rPr lang="en-US" dirty="0"/>
                        <a:t>5V</a:t>
                      </a:r>
                    </a:p>
                  </a:txBody>
                  <a:tcPr/>
                </a:tc>
                <a:tc>
                  <a:txBody>
                    <a:bodyPr/>
                    <a:lstStyle/>
                    <a:p>
                      <a:pPr algn="ctr"/>
                      <a:r>
                        <a:rPr lang="en-US" dirty="0"/>
                        <a:t>0.3A</a:t>
                      </a:r>
                    </a:p>
                  </a:txBody>
                  <a:tcPr/>
                </a:tc>
                <a:tc>
                  <a:txBody>
                    <a:bodyPr/>
                    <a:lstStyle/>
                    <a:p>
                      <a:pPr algn="ctr"/>
                      <a:endParaRPr lang="en-US" dirty="0"/>
                    </a:p>
                  </a:txBody>
                  <a:tcPr/>
                </a:tc>
                <a:tc>
                  <a:txBody>
                    <a:bodyPr/>
                    <a:lstStyle/>
                    <a:p>
                      <a:pPr algn="ctr"/>
                      <a:r>
                        <a:rPr lang="en-US" dirty="0"/>
                        <a:t>1.5W</a:t>
                      </a:r>
                    </a:p>
                  </a:txBody>
                  <a:tcPr/>
                </a:tc>
                <a:extLst>
                  <a:ext uri="{0D108BD9-81ED-4DB2-BD59-A6C34878D82A}">
                    <a16:rowId xmlns:a16="http://schemas.microsoft.com/office/drawing/2014/main" val="3460373968"/>
                  </a:ext>
                </a:extLst>
              </a:tr>
              <a:tr h="185420">
                <a:tc>
                  <a:txBody>
                    <a:bodyPr/>
                    <a:lstStyle/>
                    <a:p>
                      <a:r>
                        <a:rPr lang="en-US" b="1" dirty="0">
                          <a:solidFill>
                            <a:srgbClr val="00B050"/>
                          </a:solidFill>
                        </a:rPr>
                        <a:t>IMU</a:t>
                      </a:r>
                    </a:p>
                  </a:txBody>
                  <a:tcPr/>
                </a:tc>
                <a:tc>
                  <a:txBody>
                    <a:bodyPr/>
                    <a:lstStyle/>
                    <a:p>
                      <a:pPr algn="ctr"/>
                      <a:r>
                        <a:rPr lang="en-US" dirty="0"/>
                        <a:t>3.3V</a:t>
                      </a:r>
                    </a:p>
                  </a:txBody>
                  <a:tcPr/>
                </a:tc>
                <a:tc>
                  <a:txBody>
                    <a:bodyPr/>
                    <a:lstStyle/>
                    <a:p>
                      <a:pPr algn="ctr"/>
                      <a:r>
                        <a:rPr lang="en-US" dirty="0"/>
                        <a:t>0.2mA</a:t>
                      </a:r>
                    </a:p>
                  </a:txBody>
                  <a:tcPr/>
                </a:tc>
                <a:tc>
                  <a:txBody>
                    <a:bodyPr/>
                    <a:lstStyle/>
                    <a:p>
                      <a:pPr algn="ctr"/>
                      <a:endParaRPr lang="en-US" dirty="0"/>
                    </a:p>
                  </a:txBody>
                  <a:tcPr/>
                </a:tc>
                <a:tc>
                  <a:txBody>
                    <a:bodyPr/>
                    <a:lstStyle/>
                    <a:p>
                      <a:pPr algn="ctr"/>
                      <a:r>
                        <a:rPr lang="en-US" dirty="0"/>
                        <a:t>0.66mW</a:t>
                      </a:r>
                    </a:p>
                  </a:txBody>
                  <a:tcPr/>
                </a:tc>
                <a:extLst>
                  <a:ext uri="{0D108BD9-81ED-4DB2-BD59-A6C34878D82A}">
                    <a16:rowId xmlns:a16="http://schemas.microsoft.com/office/drawing/2014/main" val="4236657483"/>
                  </a:ext>
                </a:extLst>
              </a:tr>
            </a:tbl>
          </a:graphicData>
        </a:graphic>
      </p:graphicFrame>
      <p:sp>
        <p:nvSpPr>
          <p:cNvPr id="4" name="Slide Number Placeholder 3">
            <a:extLst>
              <a:ext uri="{FF2B5EF4-FFF2-40B4-BE49-F238E27FC236}">
                <a16:creationId xmlns:a16="http://schemas.microsoft.com/office/drawing/2014/main" id="{355452AE-F407-B7CE-1C11-CF87557CD822}"/>
              </a:ext>
            </a:extLst>
          </p:cNvPr>
          <p:cNvSpPr>
            <a:spLocks noGrp="1"/>
          </p:cNvSpPr>
          <p:nvPr>
            <p:ph type="sldNum" sz="quarter" idx="12"/>
          </p:nvPr>
        </p:nvSpPr>
        <p:spPr/>
        <p:txBody>
          <a:bodyPr/>
          <a:lstStyle/>
          <a:p>
            <a:fld id="{3957FE44-DABC-424D-A234-74BB9410FF27}" type="slidenum">
              <a:rPr lang="en-US" smtClean="0"/>
              <a:pPr/>
              <a:t>12</a:t>
            </a:fld>
            <a:endParaRPr lang="en-US" dirty="0"/>
          </a:p>
        </p:txBody>
      </p:sp>
      <p:sp>
        <p:nvSpPr>
          <p:cNvPr id="6" name="Content Placeholder 2">
            <a:extLst>
              <a:ext uri="{FF2B5EF4-FFF2-40B4-BE49-F238E27FC236}">
                <a16:creationId xmlns:a16="http://schemas.microsoft.com/office/drawing/2014/main" id="{28935EE7-5966-0775-3753-5F5799AA378F}"/>
              </a:ext>
            </a:extLst>
          </p:cNvPr>
          <p:cNvSpPr txBox="1">
            <a:spLocks/>
          </p:cNvSpPr>
          <p:nvPr/>
        </p:nvSpPr>
        <p:spPr>
          <a:xfrm>
            <a:off x="609600" y="1600200"/>
            <a:ext cx="109728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r>
              <a:rPr lang="en-US" dirty="0" err="1"/>
              <a:t>Vd</a:t>
            </a:r>
            <a:r>
              <a:rPr lang="en-US" dirty="0"/>
              <a:t>:</a:t>
            </a:r>
          </a:p>
          <a:p>
            <a:endParaRPr lang="en-US" dirty="0"/>
          </a:p>
        </p:txBody>
      </p:sp>
      <p:sp>
        <p:nvSpPr>
          <p:cNvPr id="8" name="TextBox 7">
            <a:extLst>
              <a:ext uri="{FF2B5EF4-FFF2-40B4-BE49-F238E27FC236}">
                <a16:creationId xmlns:a16="http://schemas.microsoft.com/office/drawing/2014/main" id="{95C26C36-83B0-7A47-A662-F45456FBB91C}"/>
              </a:ext>
            </a:extLst>
          </p:cNvPr>
          <p:cNvSpPr txBox="1"/>
          <p:nvPr/>
        </p:nvSpPr>
        <p:spPr>
          <a:xfrm>
            <a:off x="1206284" y="4800600"/>
            <a:ext cx="10134600" cy="1477328"/>
          </a:xfrm>
          <a:prstGeom prst="rect">
            <a:avLst/>
          </a:prstGeom>
          <a:noFill/>
        </p:spPr>
        <p:txBody>
          <a:bodyPr wrap="square" rtlCol="0">
            <a:spAutoFit/>
          </a:bodyPr>
          <a:lstStyle/>
          <a:p>
            <a:r>
              <a:rPr lang="en-US" i="1" u="sng" dirty="0">
                <a:solidFill>
                  <a:srgbClr val="0070C0"/>
                </a:solidFill>
              </a:rPr>
              <a:t>Lưu ý: </a:t>
            </a:r>
          </a:p>
          <a:p>
            <a:pPr marL="285750" indent="-285750">
              <a:buFont typeface="Arial" panose="020B0604020202020204" pitchFamily="34" charset="0"/>
              <a:buChar char="•"/>
            </a:pPr>
            <a:r>
              <a:rPr lang="vi-VN" dirty="0"/>
              <a:t>Dòng/công suất định mức dùng để chọn dung lượng pin và dự đoán thời gian hoạt động.</a:t>
            </a:r>
            <a:endParaRPr lang="en-US" dirty="0"/>
          </a:p>
          <a:p>
            <a:pPr marL="285750" indent="-285750">
              <a:buFont typeface="Arial" panose="020B0604020202020204" pitchFamily="34" charset="0"/>
              <a:buChar char="•"/>
            </a:pPr>
            <a:r>
              <a:rPr lang="vi-VN" dirty="0"/>
              <a:t>Dòng/công suất đỉnh dùng để chọn BMS, dây dẫn, cầu chì, đầu nối, DC-DC và </a:t>
            </a:r>
            <a:r>
              <a:rPr lang="en-US" dirty="0" err="1"/>
              <a:t>dòng</a:t>
            </a:r>
            <a:r>
              <a:rPr lang="en-US" dirty="0"/>
              <a:t> </a:t>
            </a:r>
            <a:r>
              <a:rPr lang="vi-VN" dirty="0"/>
              <a:t>xả của pin.</a:t>
            </a:r>
            <a:endParaRPr lang="en-US" dirty="0"/>
          </a:p>
          <a:p>
            <a:pPr marL="285750" indent="-285750">
              <a:buFont typeface="Arial" panose="020B0604020202020204" pitchFamily="34" charset="0"/>
              <a:buChar char="•"/>
            </a:pPr>
            <a:r>
              <a:rPr lang="en-US" dirty="0" err="1"/>
              <a:t>Động</a:t>
            </a:r>
            <a:r>
              <a:rPr lang="en-US" dirty="0"/>
              <a:t> </a:t>
            </a:r>
            <a:r>
              <a:rPr lang="en-US" dirty="0" err="1"/>
              <a:t>cơ</a:t>
            </a:r>
            <a:r>
              <a:rPr lang="en-US" dirty="0"/>
              <a:t> </a:t>
            </a:r>
            <a:r>
              <a:rPr lang="en-US" dirty="0" err="1"/>
              <a:t>thường</a:t>
            </a:r>
            <a:r>
              <a:rPr lang="en-US" dirty="0"/>
              <a:t> </a:t>
            </a:r>
            <a:r>
              <a:rPr lang="en-US" dirty="0" err="1"/>
              <a:t>không</a:t>
            </a:r>
            <a:r>
              <a:rPr lang="en-US" dirty="0"/>
              <a:t> </a:t>
            </a:r>
            <a:r>
              <a:rPr lang="en-US" dirty="0" err="1"/>
              <a:t>chạy</a:t>
            </a:r>
            <a:r>
              <a:rPr lang="en-US" dirty="0"/>
              <a:t> ở </a:t>
            </a:r>
            <a:r>
              <a:rPr lang="en-US" dirty="0" err="1"/>
              <a:t>mô</a:t>
            </a:r>
            <a:r>
              <a:rPr lang="en-US" dirty="0"/>
              <a:t> men </a:t>
            </a:r>
            <a:r>
              <a:rPr lang="en-US" dirty="0" err="1"/>
              <a:t>cực</a:t>
            </a:r>
            <a:r>
              <a:rPr lang="en-US" dirty="0"/>
              <a:t> </a:t>
            </a:r>
            <a:r>
              <a:rPr lang="en-US" dirty="0" err="1"/>
              <a:t>đại</a:t>
            </a:r>
            <a:r>
              <a:rPr lang="en-US" dirty="0"/>
              <a:t> </a:t>
            </a:r>
            <a:r>
              <a:rPr lang="en-US" dirty="0" err="1"/>
              <a:t>toàn</a:t>
            </a:r>
            <a:r>
              <a:rPr lang="en-US" dirty="0"/>
              <a:t> </a:t>
            </a:r>
            <a:r>
              <a:rPr lang="en-US" dirty="0" err="1"/>
              <a:t>thời</a:t>
            </a:r>
            <a:r>
              <a:rPr lang="en-US" dirty="0"/>
              <a:t> </a:t>
            </a:r>
            <a:r>
              <a:rPr lang="en-US" dirty="0" err="1"/>
              <a:t>gian</a:t>
            </a:r>
            <a:endParaRPr lang="en-US" dirty="0"/>
          </a:p>
        </p:txBody>
      </p:sp>
    </p:spTree>
    <p:extLst>
      <p:ext uri="{BB962C8B-B14F-4D97-AF65-F5344CB8AC3E}">
        <p14:creationId xmlns:p14="http://schemas.microsoft.com/office/powerpoint/2010/main" val="967513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0A1F4-467A-CE57-F967-5F0B061143EF}"/>
              </a:ext>
            </a:extLst>
          </p:cNvPr>
          <p:cNvSpPr>
            <a:spLocks noGrp="1"/>
          </p:cNvSpPr>
          <p:nvPr>
            <p:ph type="title"/>
          </p:nvPr>
        </p:nvSpPr>
        <p:spPr/>
        <p:txBody>
          <a:bodyPr/>
          <a:lstStyle/>
          <a:p>
            <a:r>
              <a:rPr lang="en-US" b="1" dirty="0" err="1"/>
              <a:t>Tính</a:t>
            </a:r>
            <a:r>
              <a:rPr lang="en-US" b="1" dirty="0"/>
              <a:t> </a:t>
            </a:r>
            <a:r>
              <a:rPr lang="en-US" b="1" dirty="0" err="1"/>
              <a:t>toán</a:t>
            </a:r>
            <a:r>
              <a:rPr lang="en-US" b="1" dirty="0"/>
              <a:t> </a:t>
            </a:r>
            <a:r>
              <a:rPr lang="en-US" b="1" dirty="0" err="1"/>
              <a:t>phân</a:t>
            </a:r>
            <a:r>
              <a:rPr lang="en-US" b="1" dirty="0"/>
              <a:t> </a:t>
            </a:r>
            <a:r>
              <a:rPr lang="en-US" b="1" dirty="0" err="1"/>
              <a:t>phối</a:t>
            </a:r>
            <a:r>
              <a:rPr lang="en-US" b="1" dirty="0"/>
              <a:t> </a:t>
            </a:r>
            <a:r>
              <a:rPr lang="en-US" b="1" dirty="0" err="1"/>
              <a:t>nguồn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390E88-B617-8748-141C-0AE43355B72E}"/>
                  </a:ext>
                </a:extLst>
              </p:cNvPr>
              <p:cNvSpPr>
                <a:spLocks noGrp="1"/>
              </p:cNvSpPr>
              <p:nvPr>
                <p:ph idx="1"/>
              </p:nvPr>
            </p:nvSpPr>
            <p:spPr/>
            <p:txBody>
              <a:bodyPr/>
              <a:lstStyle/>
              <a:p>
                <a:r>
                  <a:rPr lang="en-US" dirty="0"/>
                  <a:t>Bước 2: </a:t>
                </a:r>
                <a:r>
                  <a:rPr lang="en-US" dirty="0" err="1"/>
                  <a:t>Tính</a:t>
                </a:r>
                <a:r>
                  <a:rPr lang="en-US" dirty="0"/>
                  <a:t> </a:t>
                </a:r>
                <a:r>
                  <a:rPr lang="en-US" dirty="0" err="1"/>
                  <a:t>toán</a:t>
                </a:r>
                <a:r>
                  <a:rPr lang="en-US" dirty="0"/>
                  <a:t> </a:t>
                </a:r>
                <a:r>
                  <a:rPr lang="en-US" dirty="0" err="1"/>
                  <a:t>mạch</a:t>
                </a:r>
                <a:r>
                  <a:rPr lang="en-US" dirty="0"/>
                  <a:t> </a:t>
                </a:r>
                <a:r>
                  <a:rPr lang="en-US" dirty="0" err="1"/>
                  <a:t>hạ</a:t>
                </a:r>
                <a:r>
                  <a:rPr lang="en-US" dirty="0"/>
                  <a:t> </a:t>
                </a:r>
                <a:r>
                  <a:rPr lang="en-US" dirty="0" err="1"/>
                  <a:t>áp</a:t>
                </a:r>
                <a:r>
                  <a:rPr lang="en-US" dirty="0"/>
                  <a:t> (Buck converter) </a:t>
                </a:r>
                <a:r>
                  <a:rPr lang="en-US" dirty="0" err="1"/>
                  <a:t>cho</a:t>
                </a:r>
                <a:r>
                  <a:rPr lang="en-US" dirty="0"/>
                  <a:t> </a:t>
                </a:r>
                <a:r>
                  <a:rPr lang="en-US" dirty="0" err="1"/>
                  <a:t>từng</a:t>
                </a:r>
                <a:r>
                  <a:rPr lang="en-US" dirty="0"/>
                  <a:t> </a:t>
                </a:r>
                <a:r>
                  <a:rPr lang="en-US" dirty="0" err="1"/>
                  <a:t>nhánh</a:t>
                </a:r>
                <a:endParaRPr lang="en-US" dirty="0"/>
              </a:p>
              <a:p>
                <a:pPr marL="0" indent="0">
                  <a:buNone/>
                </a:pPr>
                <a:r>
                  <a:rPr lang="en-US" dirty="0"/>
                  <a:t>    </a:t>
                </a:r>
                <a:r>
                  <a:rPr lang="en-US" dirty="0" err="1"/>
                  <a:t>vd</a:t>
                </a:r>
                <a:r>
                  <a:rPr lang="en-US" dirty="0"/>
                  <a:t>: </a:t>
                </a:r>
                <a:r>
                  <a:rPr lang="en-US" dirty="0" err="1"/>
                  <a:t>Chọn</a:t>
                </a:r>
                <a:r>
                  <a:rPr lang="en-US" dirty="0"/>
                  <a:t> </a:t>
                </a:r>
                <a:r>
                  <a:rPr lang="en-US" dirty="0" err="1"/>
                  <a:t>mạch</a:t>
                </a:r>
                <a:r>
                  <a:rPr lang="en-US" dirty="0"/>
                  <a:t> </a:t>
                </a:r>
                <a:r>
                  <a:rPr lang="en-US" dirty="0" err="1"/>
                  <a:t>hạ</a:t>
                </a:r>
                <a:r>
                  <a:rPr lang="en-US" dirty="0"/>
                  <a:t> </a:t>
                </a:r>
                <a:r>
                  <a:rPr lang="en-US" dirty="0" err="1"/>
                  <a:t>áp</a:t>
                </a:r>
                <a:r>
                  <a:rPr lang="en-US" dirty="0"/>
                  <a:t> </a:t>
                </a:r>
                <a:r>
                  <a:rPr lang="en-US" dirty="0" err="1"/>
                  <a:t>cho</a:t>
                </a:r>
                <a:r>
                  <a:rPr lang="en-US" dirty="0"/>
                  <a:t> </a:t>
                </a:r>
                <a:r>
                  <a:rPr lang="en-US" dirty="0" err="1"/>
                  <a:t>nhánh</a:t>
                </a:r>
                <a:r>
                  <a:rPr lang="en-US" dirty="0"/>
                  <a:t> 5V</a:t>
                </a:r>
              </a:p>
              <a:p>
                <a:pPr marL="0" indent="0">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5</m:t>
                        </m:r>
                        <m:r>
                          <a:rPr lang="en-US" b="0" i="1" smtClean="0">
                            <a:latin typeface="Cambria Math" panose="02040503050406030204" pitchFamily="18" charset="0"/>
                          </a:rPr>
                          <m:t>𝑉</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𝐿𝑖𝑑𝑎𝑟</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𝐶𝑎𝑚𝑒𝑟𝑎</m:t>
                        </m:r>
                      </m:sub>
                    </m:sSub>
                    <m:r>
                      <a:rPr lang="en-US" b="0" i="1" smtClean="0">
                        <a:latin typeface="Cambria Math" panose="02040503050406030204" pitchFamily="18" charset="0"/>
                      </a:rPr>
                      <m:t>=1.5+0.3=1.8</m:t>
                    </m:r>
                    <m:r>
                      <a:rPr lang="en-US" b="0" i="1" smtClean="0">
                        <a:latin typeface="Cambria Math" panose="02040503050406030204" pitchFamily="18" charset="0"/>
                      </a:rPr>
                      <m:t>𝐴</m:t>
                    </m:r>
                  </m:oMath>
                </a14:m>
                <a:endParaRPr lang="en-US" dirty="0"/>
              </a:p>
              <a:p>
                <a:pPr marL="0" indent="0">
                  <a:buNone/>
                </a:pPr>
                <a:r>
                  <a:rPr lang="en-US" dirty="0"/>
                  <a:t>    </a:t>
                </a:r>
                <a:r>
                  <a:rPr lang="en-US" dirty="0" err="1"/>
                  <a:t>Chọn</a:t>
                </a:r>
                <a:r>
                  <a:rPr lang="en-US" dirty="0"/>
                  <a:t> </a:t>
                </a:r>
                <a:r>
                  <a:rPr lang="en-US" dirty="0" err="1"/>
                  <a:t>hệ</a:t>
                </a:r>
                <a:r>
                  <a:rPr lang="en-US" dirty="0"/>
                  <a:t> </a:t>
                </a:r>
                <a:r>
                  <a:rPr lang="en-US" dirty="0" err="1"/>
                  <a:t>số</a:t>
                </a:r>
                <a:r>
                  <a:rPr lang="en-US" dirty="0"/>
                  <a:t> an </a:t>
                </a:r>
                <a:r>
                  <a:rPr lang="en-US" dirty="0" err="1"/>
                  <a:t>toàn</a:t>
                </a:r>
                <a:r>
                  <a:rPr lang="en-US" dirty="0"/>
                  <a:t> 1.5 </a:t>
                </a:r>
                <a:r>
                  <a:rPr lang="en-US" dirty="0">
                    <a:sym typeface="Wingdings" panose="05000000000000000000" pitchFamily="2" charset="2"/>
                  </a:rPr>
                  <a:t> </a:t>
                </a:r>
                <a:r>
                  <a:rPr lang="en-US" dirty="0" err="1">
                    <a:sym typeface="Wingdings" panose="05000000000000000000" pitchFamily="2" charset="2"/>
                  </a:rPr>
                  <a:t>mạch</a:t>
                </a:r>
                <a:r>
                  <a:rPr lang="en-US" dirty="0">
                    <a:sym typeface="Wingdings" panose="05000000000000000000" pitchFamily="2" charset="2"/>
                  </a:rPr>
                  <a:t> Buck 5V </a:t>
                </a:r>
                <a:r>
                  <a:rPr lang="en-US" dirty="0" err="1">
                    <a:sym typeface="Wingdings" panose="05000000000000000000" pitchFamily="2" charset="2"/>
                  </a:rPr>
                  <a:t>phải</a:t>
                </a:r>
                <a:r>
                  <a:rPr lang="en-US" dirty="0">
                    <a:sym typeface="Wingdings" panose="05000000000000000000" pitchFamily="2" charset="2"/>
                  </a:rPr>
                  <a:t> </a:t>
                </a:r>
                <a:r>
                  <a:rPr lang="en-US" dirty="0" err="1">
                    <a:sym typeface="Wingdings" panose="05000000000000000000" pitchFamily="2" charset="2"/>
                  </a:rPr>
                  <a:t>có</a:t>
                </a:r>
                <a:r>
                  <a:rPr lang="en-US" dirty="0">
                    <a:sym typeface="Wingdings" panose="05000000000000000000" pitchFamily="2" charset="2"/>
                  </a:rPr>
                  <a:t> </a:t>
                </a:r>
                <a:r>
                  <a:rPr lang="en-US" dirty="0" err="1">
                    <a:sym typeface="Wingdings" panose="05000000000000000000" pitchFamily="2" charset="2"/>
                  </a:rPr>
                  <a:t>khả</a:t>
                </a:r>
                <a:r>
                  <a:rPr lang="en-US" dirty="0">
                    <a:sym typeface="Wingdings" panose="05000000000000000000" pitchFamily="2" charset="2"/>
                  </a:rPr>
                  <a:t> </a:t>
                </a:r>
                <a:r>
                  <a:rPr lang="en-US" dirty="0" err="1">
                    <a:sym typeface="Wingdings" panose="05000000000000000000" pitchFamily="2" charset="2"/>
                  </a:rPr>
                  <a:t>năng</a:t>
                </a:r>
                <a:r>
                  <a:rPr lang="en-US" dirty="0">
                    <a:sym typeface="Wingdings" panose="05000000000000000000" pitchFamily="2" charset="2"/>
                  </a:rPr>
                  <a:t> </a:t>
                </a:r>
                <a:r>
                  <a:rPr lang="en-US" dirty="0" err="1">
                    <a:sym typeface="Wingdings" panose="05000000000000000000" pitchFamily="2" charset="2"/>
                  </a:rPr>
                  <a:t>cấp</a:t>
                </a:r>
                <a:r>
                  <a:rPr lang="en-US" dirty="0">
                    <a:sym typeface="Wingdings" panose="05000000000000000000" pitchFamily="2" charset="2"/>
                  </a:rPr>
                  <a:t> </a:t>
                </a:r>
                <a:r>
                  <a:rPr lang="en-US" dirty="0" err="1">
                    <a:sym typeface="Wingdings" panose="05000000000000000000" pitchFamily="2" charset="2"/>
                  </a:rPr>
                  <a:t>dòng</a:t>
                </a:r>
                <a:r>
                  <a:rPr lang="en-US" dirty="0">
                    <a:sym typeface="Wingdings" panose="05000000000000000000" pitchFamily="2" charset="2"/>
                  </a:rPr>
                  <a:t> </a:t>
                </a:r>
                <a:r>
                  <a:rPr lang="en-US" dirty="0" err="1">
                    <a:sym typeface="Wingdings" panose="05000000000000000000" pitchFamily="2" charset="2"/>
                  </a:rPr>
                  <a:t>tối</a:t>
                </a:r>
                <a:r>
                  <a:rPr lang="en-US" dirty="0">
                    <a:sym typeface="Wingdings" panose="05000000000000000000" pitchFamily="2" charset="2"/>
                  </a:rPr>
                  <a:t> </a:t>
                </a:r>
                <a:r>
                  <a:rPr lang="en-US" dirty="0" err="1">
                    <a:sym typeface="Wingdings" panose="05000000000000000000" pitchFamily="2" charset="2"/>
                  </a:rPr>
                  <a:t>thiểu</a:t>
                </a:r>
                <a:r>
                  <a:rPr lang="en-US" dirty="0">
                    <a:sym typeface="Wingdings" panose="05000000000000000000" pitchFamily="2" charset="2"/>
                  </a:rPr>
                  <a:t> 2.7A</a:t>
                </a:r>
              </a:p>
              <a:p>
                <a:pPr marL="0" indent="0">
                  <a:buNone/>
                </a:pPr>
                <a:endParaRPr lang="en-US" dirty="0">
                  <a:sym typeface="Wingdings" panose="05000000000000000000" pitchFamily="2" charset="2"/>
                </a:endParaRPr>
              </a:p>
              <a:p>
                <a:r>
                  <a:rPr lang="en-US" dirty="0" err="1">
                    <a:sym typeface="Wingdings" panose="05000000000000000000" pitchFamily="2" charset="2"/>
                  </a:rPr>
                  <a:t>Bước</a:t>
                </a:r>
                <a:r>
                  <a:rPr lang="en-US" dirty="0">
                    <a:sym typeface="Wingdings" panose="05000000000000000000" pitchFamily="2" charset="2"/>
                  </a:rPr>
                  <a:t> 3: </a:t>
                </a:r>
                <a:r>
                  <a:rPr lang="en-US" dirty="0" err="1">
                    <a:sym typeface="Wingdings" panose="05000000000000000000" pitchFamily="2" charset="2"/>
                  </a:rPr>
                  <a:t>Tính</a:t>
                </a:r>
                <a:r>
                  <a:rPr lang="en-US" dirty="0">
                    <a:sym typeface="Wingdings" panose="05000000000000000000" pitchFamily="2" charset="2"/>
                  </a:rPr>
                  <a:t> </a:t>
                </a:r>
                <a:r>
                  <a:rPr lang="en-US" dirty="0" err="1">
                    <a:sym typeface="Wingdings" panose="05000000000000000000" pitchFamily="2" charset="2"/>
                  </a:rPr>
                  <a:t>toán</a:t>
                </a:r>
                <a:r>
                  <a:rPr lang="en-US" dirty="0">
                    <a:sym typeface="Wingdings" panose="05000000000000000000" pitchFamily="2" charset="2"/>
                  </a:rPr>
                  <a:t> </a:t>
                </a:r>
                <a:r>
                  <a:rPr lang="en-US" dirty="0" err="1">
                    <a:sym typeface="Wingdings" panose="05000000000000000000" pitchFamily="2" charset="2"/>
                  </a:rPr>
                  <a:t>chọn</a:t>
                </a:r>
                <a:r>
                  <a:rPr lang="en-US" dirty="0">
                    <a:sym typeface="Wingdings" panose="05000000000000000000" pitchFamily="2" charset="2"/>
                  </a:rPr>
                  <a:t> Pin</a:t>
                </a:r>
              </a:p>
              <a:p>
                <a:pPr lvl="1"/>
                <a:r>
                  <a:rPr lang="en-US" sz="2400" dirty="0">
                    <a:sym typeface="Wingdings" panose="05000000000000000000" pitchFamily="2" charset="2"/>
                  </a:rPr>
                  <a:t>Dung </a:t>
                </a:r>
                <a:r>
                  <a:rPr lang="en-US" sz="2400" dirty="0" err="1">
                    <a:sym typeface="Wingdings" panose="05000000000000000000" pitchFamily="2" charset="2"/>
                  </a:rPr>
                  <a:t>lượng</a:t>
                </a:r>
                <a:r>
                  <a:rPr lang="en-US" sz="2400" dirty="0">
                    <a:sym typeface="Wingdings" panose="05000000000000000000" pitchFamily="2" charset="2"/>
                  </a:rPr>
                  <a:t> Pin: </a:t>
                </a:r>
                <a:r>
                  <a:rPr lang="en-US" sz="2400" dirty="0" err="1">
                    <a:sym typeface="Wingdings" panose="05000000000000000000" pitchFamily="2" charset="2"/>
                  </a:rPr>
                  <a:t>tính</a:t>
                </a:r>
                <a:r>
                  <a:rPr lang="en-US" sz="2400" dirty="0">
                    <a:sym typeface="Wingdings" panose="05000000000000000000" pitchFamily="2" charset="2"/>
                  </a:rPr>
                  <a:t> </a:t>
                </a:r>
                <a:r>
                  <a:rPr lang="en-US" sz="2400" dirty="0" err="1">
                    <a:sym typeface="Wingdings" panose="05000000000000000000" pitchFamily="2" charset="2"/>
                  </a:rPr>
                  <a:t>tổng</a:t>
                </a:r>
                <a:r>
                  <a:rPr lang="en-US" sz="2400" dirty="0">
                    <a:sym typeface="Wingdings" panose="05000000000000000000" pitchFamily="2" charset="2"/>
                  </a:rPr>
                  <a:t> </a:t>
                </a:r>
                <a:r>
                  <a:rPr lang="en-US" sz="2400" dirty="0" err="1">
                    <a:sym typeface="Wingdings" panose="05000000000000000000" pitchFamily="2" charset="2"/>
                  </a:rPr>
                  <a:t>công</a:t>
                </a:r>
                <a:r>
                  <a:rPr lang="en-US" sz="2400" dirty="0">
                    <a:sym typeface="Wingdings" panose="05000000000000000000" pitchFamily="2" charset="2"/>
                  </a:rPr>
                  <a:t> </a:t>
                </a:r>
                <a:r>
                  <a:rPr lang="en-US" sz="2400" dirty="0" err="1">
                    <a:sym typeface="Wingdings" panose="05000000000000000000" pitchFamily="2" charset="2"/>
                  </a:rPr>
                  <a:t>suất</a:t>
                </a:r>
                <a:r>
                  <a:rPr lang="en-US" sz="2400" dirty="0">
                    <a:sym typeface="Wingdings" panose="05000000000000000000" pitchFamily="2" charset="2"/>
                  </a:rPr>
                  <a:t>  </a:t>
                </a:r>
                <a:r>
                  <a:rPr lang="en-US" sz="2400" dirty="0" err="1">
                    <a:sym typeface="Wingdings" panose="05000000000000000000" pitchFamily="2" charset="2"/>
                  </a:rPr>
                  <a:t>dòng</a:t>
                </a:r>
                <a:r>
                  <a:rPr lang="en-US" sz="2400" dirty="0">
                    <a:sym typeface="Wingdings" panose="05000000000000000000" pitchFamily="2" charset="2"/>
                  </a:rPr>
                  <a:t> </a:t>
                </a:r>
                <a:r>
                  <a:rPr lang="en-US" sz="2400" dirty="0" err="1">
                    <a:sym typeface="Wingdings" panose="05000000000000000000" pitchFamily="2" charset="2"/>
                  </a:rPr>
                  <a:t>tiêu</a:t>
                </a:r>
                <a:r>
                  <a:rPr lang="en-US" sz="2400" dirty="0">
                    <a:sym typeface="Wingdings" panose="05000000000000000000" pitchFamily="2" charset="2"/>
                  </a:rPr>
                  <a:t> </a:t>
                </a:r>
                <a:r>
                  <a:rPr lang="en-US" sz="2400" dirty="0" err="1">
                    <a:sym typeface="Wingdings" panose="05000000000000000000" pitchFamily="2" charset="2"/>
                  </a:rPr>
                  <a:t>thụ</a:t>
                </a:r>
                <a:r>
                  <a:rPr lang="en-US" sz="2400" dirty="0">
                    <a:sym typeface="Wingdings" panose="05000000000000000000" pitchFamily="2" charset="2"/>
                  </a:rPr>
                  <a:t> </a:t>
                </a:r>
                <a:r>
                  <a:rPr lang="en-US" sz="2400" dirty="0" err="1">
                    <a:sym typeface="Wingdings" panose="05000000000000000000" pitchFamily="2" charset="2"/>
                  </a:rPr>
                  <a:t>trung</a:t>
                </a:r>
                <a:r>
                  <a:rPr lang="en-US" sz="2400" dirty="0">
                    <a:sym typeface="Wingdings" panose="05000000000000000000" pitchFamily="2" charset="2"/>
                  </a:rPr>
                  <a:t> </a:t>
                </a:r>
                <a:r>
                  <a:rPr lang="en-US" sz="2400" dirty="0" err="1">
                    <a:sym typeface="Wingdings" panose="05000000000000000000" pitchFamily="2" charset="2"/>
                  </a:rPr>
                  <a:t>bình</a:t>
                </a:r>
                <a:r>
                  <a:rPr lang="en-US" sz="2400" dirty="0">
                    <a:sym typeface="Wingdings" panose="05000000000000000000" pitchFamily="2" charset="2"/>
                  </a:rPr>
                  <a:t>  dung </a:t>
                </a:r>
                <a:r>
                  <a:rPr lang="en-US" sz="2400" dirty="0" err="1">
                    <a:sym typeface="Wingdings" panose="05000000000000000000" pitchFamily="2" charset="2"/>
                  </a:rPr>
                  <a:t>lượng</a:t>
                </a:r>
                <a:r>
                  <a:rPr lang="en-US" sz="2400" dirty="0">
                    <a:sym typeface="Wingdings" panose="05000000000000000000" pitchFamily="2" charset="2"/>
                  </a:rPr>
                  <a:t> pin</a:t>
                </a:r>
              </a:p>
              <a:p>
                <a:pPr lvl="1"/>
                <a:r>
                  <a:rPr lang="en-US" sz="2400" dirty="0" err="1"/>
                  <a:t>Dòng</a:t>
                </a:r>
                <a:r>
                  <a:rPr lang="en-US" sz="2400" dirty="0"/>
                  <a:t> </a:t>
                </a:r>
                <a:r>
                  <a:rPr lang="en-US" sz="2400" dirty="0" err="1"/>
                  <a:t>xả</a:t>
                </a:r>
                <a:r>
                  <a:rPr lang="en-US" sz="2400" dirty="0"/>
                  <a:t> </a:t>
                </a:r>
                <a:r>
                  <a:rPr lang="en-US" sz="2400" dirty="0" err="1"/>
                  <a:t>của</a:t>
                </a:r>
                <a:r>
                  <a:rPr lang="en-US" sz="2400" dirty="0"/>
                  <a:t> Pin: </a:t>
                </a:r>
                <a:r>
                  <a:rPr lang="en-US" sz="2400" dirty="0" err="1"/>
                  <a:t>tính</a:t>
                </a:r>
                <a:r>
                  <a:rPr lang="en-US" sz="2400" dirty="0"/>
                  <a:t> </a:t>
                </a:r>
                <a:r>
                  <a:rPr lang="en-US" sz="2400" dirty="0" err="1"/>
                  <a:t>tổng</a:t>
                </a:r>
                <a:r>
                  <a:rPr lang="en-US" sz="2400" dirty="0"/>
                  <a:t> </a:t>
                </a:r>
                <a:r>
                  <a:rPr lang="en-US" sz="2400" dirty="0" err="1"/>
                  <a:t>dòng</a:t>
                </a:r>
                <a:r>
                  <a:rPr lang="en-US" sz="2400" dirty="0"/>
                  <a:t> </a:t>
                </a:r>
                <a:r>
                  <a:rPr lang="en-US" sz="2400" dirty="0" err="1"/>
                  <a:t>đỉnh</a:t>
                </a:r>
                <a:r>
                  <a:rPr lang="en-US" sz="2400" dirty="0"/>
                  <a:t> </a:t>
                </a:r>
                <a:r>
                  <a:rPr lang="en-US" sz="2400" dirty="0">
                    <a:sym typeface="Wingdings" panose="05000000000000000000" pitchFamily="2" charset="2"/>
                  </a:rPr>
                  <a:t> </a:t>
                </a:r>
                <a:r>
                  <a:rPr lang="en-US" sz="2400" dirty="0" err="1">
                    <a:sym typeface="Wingdings" panose="05000000000000000000" pitchFamily="2" charset="2"/>
                  </a:rPr>
                  <a:t>hệ</a:t>
                </a:r>
                <a:r>
                  <a:rPr lang="en-US" sz="2400" dirty="0">
                    <a:sym typeface="Wingdings" panose="05000000000000000000" pitchFamily="2" charset="2"/>
                  </a:rPr>
                  <a:t> </a:t>
                </a:r>
                <a:r>
                  <a:rPr lang="en-US" sz="2400" dirty="0" err="1">
                    <a:sym typeface="Wingdings" panose="05000000000000000000" pitchFamily="2" charset="2"/>
                  </a:rPr>
                  <a:t>số</a:t>
                </a:r>
                <a:r>
                  <a:rPr lang="en-US" sz="2400" dirty="0">
                    <a:sym typeface="Wingdings" panose="05000000000000000000" pitchFamily="2" charset="2"/>
                  </a:rPr>
                  <a:t> </a:t>
                </a:r>
                <a:r>
                  <a:rPr lang="en-US" sz="2400" dirty="0" err="1">
                    <a:sym typeface="Wingdings" panose="05000000000000000000" pitchFamily="2" charset="2"/>
                  </a:rPr>
                  <a:t>xả</a:t>
                </a:r>
                <a:r>
                  <a:rPr lang="en-US" sz="2400" dirty="0">
                    <a:sym typeface="Wingdings" panose="05000000000000000000" pitchFamily="2" charset="2"/>
                  </a:rPr>
                  <a:t> </a:t>
                </a:r>
                <a:r>
                  <a:rPr lang="en-US" sz="2400" dirty="0" err="1">
                    <a:sym typeface="Wingdings" panose="05000000000000000000" pitchFamily="2" charset="2"/>
                  </a:rPr>
                  <a:t>của</a:t>
                </a:r>
                <a:r>
                  <a:rPr lang="en-US" sz="2400" dirty="0">
                    <a:sym typeface="Wingdings" panose="05000000000000000000" pitchFamily="2" charset="2"/>
                  </a:rPr>
                  <a:t> pin</a:t>
                </a:r>
                <a:endParaRPr lang="en-US" sz="2400" dirty="0"/>
              </a:p>
            </p:txBody>
          </p:sp>
        </mc:Choice>
        <mc:Fallback xmlns="">
          <p:sp>
            <p:nvSpPr>
              <p:cNvPr id="3" name="Content Placeholder 2">
                <a:extLst>
                  <a:ext uri="{FF2B5EF4-FFF2-40B4-BE49-F238E27FC236}">
                    <a16:creationId xmlns:a16="http://schemas.microsoft.com/office/drawing/2014/main" id="{FF390E88-B617-8748-141C-0AE43355B72E}"/>
                  </a:ext>
                </a:extLst>
              </p:cNvPr>
              <p:cNvSpPr>
                <a:spLocks noGrp="1" noRot="1" noChangeAspect="1" noMove="1" noResize="1" noEditPoints="1" noAdjustHandles="1" noChangeArrowheads="1" noChangeShapeType="1" noTextEdit="1"/>
              </p:cNvSpPr>
              <p:nvPr>
                <p:ph idx="1"/>
              </p:nvPr>
            </p:nvSpPr>
            <p:spPr>
              <a:blipFill>
                <a:blip r:embed="rId2"/>
                <a:stretch>
                  <a:fillRect l="-833" t="-87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04207D9-FA29-845A-3444-0B02FB7483C4}"/>
              </a:ext>
            </a:extLst>
          </p:cNvPr>
          <p:cNvSpPr>
            <a:spLocks noGrp="1"/>
          </p:cNvSpPr>
          <p:nvPr>
            <p:ph type="sldNum" sz="quarter" idx="12"/>
          </p:nvPr>
        </p:nvSpPr>
        <p:spPr/>
        <p:txBody>
          <a:bodyPr/>
          <a:lstStyle/>
          <a:p>
            <a:fld id="{3957FE44-DABC-424D-A234-74BB9410FF27}" type="slidenum">
              <a:rPr lang="en-US" smtClean="0"/>
              <a:pPr/>
              <a:t>13</a:t>
            </a:fld>
            <a:endParaRPr lang="en-US" dirty="0"/>
          </a:p>
        </p:txBody>
      </p:sp>
    </p:spTree>
    <p:extLst>
      <p:ext uri="{BB962C8B-B14F-4D97-AF65-F5344CB8AC3E}">
        <p14:creationId xmlns:p14="http://schemas.microsoft.com/office/powerpoint/2010/main" val="1504174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82362-B85B-4784-8DCA-B52C03B1724F}"/>
              </a:ext>
            </a:extLst>
          </p:cNvPr>
          <p:cNvSpPr>
            <a:spLocks noGrp="1"/>
          </p:cNvSpPr>
          <p:nvPr>
            <p:ph type="title"/>
          </p:nvPr>
        </p:nvSpPr>
        <p:spPr/>
        <p:txBody>
          <a:bodyPr/>
          <a:lstStyle/>
          <a:p>
            <a:r>
              <a:rPr lang="en-US" b="1" dirty="0" err="1"/>
              <a:t>Tính</a:t>
            </a:r>
            <a:r>
              <a:rPr lang="en-US" b="1" dirty="0"/>
              <a:t> </a:t>
            </a:r>
            <a:r>
              <a:rPr lang="en-US" b="1" dirty="0" err="1"/>
              <a:t>toán</a:t>
            </a:r>
            <a:r>
              <a:rPr lang="en-US" b="1" dirty="0"/>
              <a:t> </a:t>
            </a:r>
            <a:r>
              <a:rPr lang="en-US" b="1" dirty="0" err="1"/>
              <a:t>phân</a:t>
            </a:r>
            <a:r>
              <a:rPr lang="en-US" b="1" dirty="0"/>
              <a:t> </a:t>
            </a:r>
            <a:r>
              <a:rPr lang="en-US" b="1" dirty="0" err="1"/>
              <a:t>phối</a:t>
            </a:r>
            <a:r>
              <a:rPr lang="en-US" b="1" dirty="0"/>
              <a:t> </a:t>
            </a:r>
            <a:r>
              <a:rPr lang="en-US" b="1" dirty="0" err="1"/>
              <a:t>nguồn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93FADF-4170-36F5-53CB-53C25C92D134}"/>
                  </a:ext>
                </a:extLst>
              </p:cNvPr>
              <p:cNvSpPr>
                <a:spLocks noGrp="1"/>
              </p:cNvSpPr>
              <p:nvPr>
                <p:ph idx="1"/>
              </p:nvPr>
            </p:nvSpPr>
            <p:spPr/>
            <p:txBody>
              <a:bodyPr/>
              <a:lstStyle/>
              <a:p>
                <a:pPr marL="0" indent="0">
                  <a:buNone/>
                </a:pPr>
                <a:r>
                  <a:rPr lang="en-US" dirty="0"/>
                  <a:t>Vd:</a:t>
                </a:r>
              </a:p>
              <a:p>
                <a:r>
                  <a:rPr lang="en-US" dirty="0"/>
                  <a:t>Công </a:t>
                </a:r>
                <a:r>
                  <a:rPr lang="en-US" dirty="0" err="1"/>
                  <a:t>suất</a:t>
                </a:r>
                <a:r>
                  <a:rPr lang="en-US" dirty="0"/>
                  <a:t> </a:t>
                </a:r>
                <a:r>
                  <a:rPr lang="en-US" dirty="0" err="1"/>
                  <a:t>tổng</a:t>
                </a:r>
                <a:r>
                  <a:rPr lang="en-US" dirty="0"/>
                  <a:t>:</a:t>
                </a:r>
              </a:p>
              <a:p>
                <a:pPr marL="0" indent="0">
                  <a:buNone/>
                </a:pPr>
                <a:r>
                  <a:rPr lang="en-US" dirty="0"/>
                  <a:t>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𝑃</m:t>
                    </m:r>
                    <m:r>
                      <a:rPr lang="en-US" b="0" i="1" smtClean="0">
                        <a:latin typeface="Cambria Math" panose="02040503050406030204" pitchFamily="18" charset="0"/>
                      </a:rPr>
                      <m:t>=12×240+76+0.33+7.5+1.5+0.00066=2965.33 </m:t>
                    </m:r>
                    <m:r>
                      <a:rPr lang="en-US" b="0" i="1" smtClean="0">
                        <a:latin typeface="Cambria Math" panose="02040503050406030204" pitchFamily="18" charset="0"/>
                        <a:ea typeface="Cambria Math" panose="02040503050406030204" pitchFamily="18" charset="0"/>
                      </a:rPr>
                      <m:t>𝑊</m:t>
                    </m:r>
                  </m:oMath>
                </a14:m>
                <a:endParaRPr lang="en-US" dirty="0"/>
              </a:p>
              <a:p>
                <a:r>
                  <a:rPr lang="en-US" dirty="0" err="1"/>
                  <a:t>Dòng</a:t>
                </a:r>
                <a:r>
                  <a:rPr lang="en-US" dirty="0"/>
                  <a:t> </a:t>
                </a:r>
                <a:r>
                  <a:rPr lang="en-US" dirty="0" err="1"/>
                  <a:t>tiêu</a:t>
                </a:r>
                <a:r>
                  <a:rPr lang="en-US" dirty="0"/>
                  <a:t> </a:t>
                </a:r>
                <a:r>
                  <a:rPr lang="en-US" dirty="0" err="1"/>
                  <a:t>thụ</a:t>
                </a:r>
                <a:r>
                  <a:rPr lang="en-US" dirty="0"/>
                  <a:t> </a:t>
                </a:r>
                <a:r>
                  <a:rPr lang="en-US" dirty="0" err="1"/>
                  <a:t>trung</a:t>
                </a:r>
                <a:r>
                  <a:rPr lang="en-US" dirty="0"/>
                  <a:t> </a:t>
                </a:r>
                <a:r>
                  <a:rPr lang="en-US" dirty="0" err="1"/>
                  <a:t>bình</a:t>
                </a:r>
                <a:r>
                  <a:rPr lang="en-US" dirty="0"/>
                  <a:t>:</a:t>
                </a:r>
              </a:p>
              <a:p>
                <a:pPr marL="0" indent="0">
                  <a:buNone/>
                </a:pPr>
                <a:r>
                  <a:rPr lang="en-US" dirty="0"/>
                  <a:t>      </a:t>
                </a:r>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𝑝𝑖𝑛</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2965.33</m:t>
                        </m:r>
                      </m:num>
                      <m:den>
                        <m:r>
                          <a:rPr lang="en-US" b="0" i="1" smtClean="0">
                            <a:latin typeface="Cambria Math" panose="02040503050406030204" pitchFamily="18" charset="0"/>
                          </a:rPr>
                          <m:t>24</m:t>
                        </m:r>
                        <m:r>
                          <a:rPr lang="en-US" b="0" i="1" smtClean="0">
                            <a:latin typeface="Cambria Math" panose="02040503050406030204" pitchFamily="18" charset="0"/>
                          </a:rPr>
                          <m:t>𝑉</m:t>
                        </m:r>
                      </m:den>
                    </m:f>
                    <m:r>
                      <a:rPr lang="en-US" b="0" i="1" smtClean="0">
                        <a:latin typeface="Cambria Math" panose="02040503050406030204" pitchFamily="18" charset="0"/>
                      </a:rPr>
                      <m:t>=123.5 </m:t>
                    </m:r>
                    <m:r>
                      <a:rPr lang="en-US" b="0" i="1" smtClean="0">
                        <a:latin typeface="Cambria Math" panose="02040503050406030204" pitchFamily="18" charset="0"/>
                      </a:rPr>
                      <m:t>𝐴</m:t>
                    </m:r>
                  </m:oMath>
                </a14:m>
                <a:endParaRPr lang="en-US" b="0" dirty="0"/>
              </a:p>
              <a:p>
                <a:r>
                  <a:rPr lang="en-US" dirty="0" err="1"/>
                  <a:t>Nếu</a:t>
                </a:r>
                <a:r>
                  <a:rPr lang="en-US" dirty="0"/>
                  <a:t> </a:t>
                </a:r>
                <a:r>
                  <a:rPr lang="en-US" dirty="0" err="1"/>
                  <a:t>thời</a:t>
                </a:r>
                <a:r>
                  <a:rPr lang="en-US" dirty="0"/>
                  <a:t> </a:t>
                </a:r>
                <a:r>
                  <a:rPr lang="en-US" dirty="0" err="1"/>
                  <a:t>gian</a:t>
                </a:r>
                <a:r>
                  <a:rPr lang="en-US" dirty="0"/>
                  <a:t> </a:t>
                </a:r>
                <a:r>
                  <a:rPr lang="en-US" dirty="0" err="1"/>
                  <a:t>hoạt</a:t>
                </a:r>
                <a:r>
                  <a:rPr lang="en-US" dirty="0"/>
                  <a:t> </a:t>
                </a:r>
                <a:r>
                  <a:rPr lang="en-US" dirty="0" err="1"/>
                  <a:t>động</a:t>
                </a:r>
                <a:r>
                  <a:rPr lang="en-US" dirty="0"/>
                  <a:t> </a:t>
                </a:r>
                <a:r>
                  <a:rPr lang="en-US" dirty="0" err="1"/>
                  <a:t>mong</a:t>
                </a:r>
                <a:r>
                  <a:rPr lang="en-US" dirty="0"/>
                  <a:t> </a:t>
                </a:r>
                <a:r>
                  <a:rPr lang="en-US" dirty="0" err="1"/>
                  <a:t>muốn</a:t>
                </a:r>
                <a:r>
                  <a:rPr lang="en-US" dirty="0"/>
                  <a:t> </a:t>
                </a:r>
                <a:r>
                  <a:rPr lang="en-US" dirty="0" err="1"/>
                  <a:t>là</a:t>
                </a:r>
                <a:r>
                  <a:rPr lang="en-US" dirty="0"/>
                  <a:t> t = 1 </a:t>
                </a:r>
                <a:r>
                  <a:rPr lang="en-US" dirty="0" err="1"/>
                  <a:t>giờ</a:t>
                </a:r>
                <a:r>
                  <a:rPr lang="en-US" dirty="0"/>
                  <a:t>, dung </a:t>
                </a:r>
                <a:r>
                  <a:rPr lang="en-US" dirty="0" err="1"/>
                  <a:t>lượng</a:t>
                </a:r>
                <a:r>
                  <a:rPr lang="en-US" dirty="0"/>
                  <a:t> pin </a:t>
                </a:r>
                <a:r>
                  <a:rPr lang="en-US" dirty="0" err="1"/>
                  <a:t>cần</a:t>
                </a:r>
                <a:r>
                  <a:rPr lang="en-US" dirty="0"/>
                  <a:t> </a:t>
                </a:r>
                <a:r>
                  <a:rPr lang="en-US" dirty="0" err="1"/>
                  <a:t>là</a:t>
                </a:r>
                <a:r>
                  <a:rPr lang="en-US" dirty="0"/>
                  <a:t>:</a:t>
                </a:r>
              </a:p>
              <a:p>
                <a:pPr marL="0" indent="0">
                  <a:buNone/>
                </a:pPr>
                <a:r>
                  <a:rPr lang="en-US" dirty="0"/>
                  <a:t>     </a:t>
                </a:r>
                <a14:m>
                  <m:oMath xmlns:m="http://schemas.openxmlformats.org/officeDocument/2006/math">
                    <m:r>
                      <a:rPr lang="en-US" b="0" i="1" smtClean="0">
                        <a:latin typeface="Cambria Math" panose="02040503050406030204" pitchFamily="18" charset="0"/>
                      </a:rPr>
                      <m:t>𝐷𝑢𝑛𝑔</m:t>
                    </m:r>
                    <m:r>
                      <a:rPr lang="en-US" b="0" i="1" smtClean="0">
                        <a:latin typeface="Cambria Math" panose="02040503050406030204" pitchFamily="18" charset="0"/>
                      </a:rPr>
                      <m:t> </m:t>
                    </m:r>
                    <m:r>
                      <a:rPr lang="en-US" b="0" i="1" smtClean="0">
                        <a:latin typeface="Cambria Math" panose="02040503050406030204" pitchFamily="18" charset="0"/>
                      </a:rPr>
                      <m:t>𝑙</m:t>
                    </m:r>
                    <m:r>
                      <a:rPr lang="en-US" b="0" i="1" smtClean="0">
                        <a:latin typeface="Cambria Math" panose="02040503050406030204" pitchFamily="18" charset="0"/>
                      </a:rPr>
                      <m:t>ượ</m:t>
                    </m:r>
                    <m:r>
                      <a:rPr lang="en-US" b="0" i="1" smtClean="0">
                        <a:latin typeface="Cambria Math" panose="02040503050406030204" pitchFamily="18" charset="0"/>
                      </a:rPr>
                      <m:t>𝑛𝑔</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𝐴h</m:t>
                        </m:r>
                      </m:e>
                    </m:d>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h</m:t>
                    </m:r>
                    <m:r>
                      <a:rPr lang="en-US" b="0" i="1" smtClean="0">
                        <a:latin typeface="Cambria Math" panose="02040503050406030204" pitchFamily="18" charset="0"/>
                        <a:ea typeface="Cambria Math" panose="02040503050406030204" pitchFamily="18" charset="0"/>
                      </a:rPr>
                      <m:t>ệ </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ố </m:t>
                    </m:r>
                    <m:r>
                      <a:rPr lang="en-US" b="0" i="1" smtClean="0">
                        <a:latin typeface="Cambria Math" panose="02040503050406030204" pitchFamily="18" charset="0"/>
                        <a:ea typeface="Cambria Math" panose="02040503050406030204" pitchFamily="18" charset="0"/>
                      </a:rPr>
                      <m:t>𝑎𝑛</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𝑡𝑜</m:t>
                    </m:r>
                    <m:r>
                      <a:rPr lang="en-US" b="0" i="1" smtClean="0">
                        <a:latin typeface="Cambria Math" panose="02040503050406030204" pitchFamily="18" charset="0"/>
                        <a:ea typeface="Cambria Math" panose="02040503050406030204" pitchFamily="18" charset="0"/>
                      </a:rPr>
                      <m:t>à</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=123.5×1×1.2=148 </m:t>
                    </m:r>
                    <m:r>
                      <a:rPr lang="en-US" b="0" i="1" smtClean="0">
                        <a:latin typeface="Cambria Math" panose="02040503050406030204" pitchFamily="18" charset="0"/>
                        <a:ea typeface="Cambria Math" panose="02040503050406030204" pitchFamily="18" charset="0"/>
                      </a:rPr>
                      <m:t>𝐴h</m:t>
                    </m:r>
                  </m:oMath>
                </a14:m>
                <a:endParaRPr lang="en-US" b="0" dirty="0">
                  <a:ea typeface="Cambria Math" panose="02040503050406030204" pitchFamily="18" charset="0"/>
                </a:endParaRPr>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8D93FADF-4170-36F5-53CB-53C25C92D134}"/>
                  </a:ext>
                </a:extLst>
              </p:cNvPr>
              <p:cNvSpPr>
                <a:spLocks noGrp="1" noRot="1" noChangeAspect="1" noMove="1" noResize="1" noEditPoints="1" noAdjustHandles="1" noChangeArrowheads="1" noChangeShapeType="1" noTextEdit="1"/>
              </p:cNvSpPr>
              <p:nvPr>
                <p:ph idx="1"/>
              </p:nvPr>
            </p:nvSpPr>
            <p:spPr>
              <a:blipFill>
                <a:blip r:embed="rId2"/>
                <a:stretch>
                  <a:fillRect l="-833" t="-87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75F7474-ECBF-AFB3-61E9-FFFADCAE7E81}"/>
              </a:ext>
            </a:extLst>
          </p:cNvPr>
          <p:cNvSpPr>
            <a:spLocks noGrp="1"/>
          </p:cNvSpPr>
          <p:nvPr>
            <p:ph type="sldNum" sz="quarter" idx="12"/>
          </p:nvPr>
        </p:nvSpPr>
        <p:spPr/>
        <p:txBody>
          <a:bodyPr/>
          <a:lstStyle/>
          <a:p>
            <a:fld id="{3957FE44-DABC-424D-A234-74BB9410FF27}" type="slidenum">
              <a:rPr lang="en-US" smtClean="0"/>
              <a:pPr/>
              <a:t>14</a:t>
            </a:fld>
            <a:endParaRPr lang="en-US" dirty="0"/>
          </a:p>
        </p:txBody>
      </p:sp>
      <p:sp>
        <p:nvSpPr>
          <p:cNvPr id="5" name="TextBox 4">
            <a:extLst>
              <a:ext uri="{FF2B5EF4-FFF2-40B4-BE49-F238E27FC236}">
                <a16:creationId xmlns:a16="http://schemas.microsoft.com/office/drawing/2014/main" id="{64781D79-88E7-44CA-84FF-BA93696DFA34}"/>
              </a:ext>
            </a:extLst>
          </p:cNvPr>
          <p:cNvSpPr txBox="1"/>
          <p:nvPr/>
        </p:nvSpPr>
        <p:spPr>
          <a:xfrm>
            <a:off x="838200" y="5181600"/>
            <a:ext cx="10134600" cy="646331"/>
          </a:xfrm>
          <a:prstGeom prst="rect">
            <a:avLst/>
          </a:prstGeom>
          <a:noFill/>
        </p:spPr>
        <p:txBody>
          <a:bodyPr wrap="square" rtlCol="0">
            <a:spAutoFit/>
          </a:bodyPr>
          <a:lstStyle/>
          <a:p>
            <a:r>
              <a:rPr lang="en-US" i="1" u="sng" dirty="0">
                <a:solidFill>
                  <a:srgbClr val="0070C0"/>
                </a:solidFill>
              </a:rPr>
              <a:t>Lưu ý: </a:t>
            </a:r>
          </a:p>
          <a:p>
            <a:pPr marL="285750" indent="-285750">
              <a:buFont typeface="Arial" panose="020B0604020202020204" pitchFamily="34" charset="0"/>
              <a:buChar char="•"/>
            </a:pPr>
            <a:r>
              <a:rPr lang="en-US" dirty="0" err="1"/>
              <a:t>Động</a:t>
            </a:r>
            <a:r>
              <a:rPr lang="en-US" dirty="0"/>
              <a:t> </a:t>
            </a:r>
            <a:r>
              <a:rPr lang="en-US" dirty="0" err="1"/>
              <a:t>cơ</a:t>
            </a:r>
            <a:r>
              <a:rPr lang="en-US" dirty="0"/>
              <a:t> </a:t>
            </a:r>
            <a:r>
              <a:rPr lang="en-US" dirty="0" err="1"/>
              <a:t>thường</a:t>
            </a:r>
            <a:r>
              <a:rPr lang="en-US" dirty="0"/>
              <a:t> </a:t>
            </a:r>
            <a:r>
              <a:rPr lang="en-US" dirty="0" err="1"/>
              <a:t>không</a:t>
            </a:r>
            <a:r>
              <a:rPr lang="en-US" dirty="0"/>
              <a:t> </a:t>
            </a:r>
            <a:r>
              <a:rPr lang="en-US" dirty="0" err="1"/>
              <a:t>chạy</a:t>
            </a:r>
            <a:r>
              <a:rPr lang="en-US" dirty="0"/>
              <a:t> ở </a:t>
            </a:r>
            <a:r>
              <a:rPr lang="en-US" dirty="0" err="1"/>
              <a:t>mô</a:t>
            </a:r>
            <a:r>
              <a:rPr lang="en-US" dirty="0"/>
              <a:t> men </a:t>
            </a:r>
            <a:r>
              <a:rPr lang="en-US" dirty="0" err="1"/>
              <a:t>cực</a:t>
            </a:r>
            <a:r>
              <a:rPr lang="en-US" dirty="0"/>
              <a:t> </a:t>
            </a:r>
            <a:r>
              <a:rPr lang="en-US" dirty="0" err="1"/>
              <a:t>đại</a:t>
            </a:r>
            <a:r>
              <a:rPr lang="en-US" dirty="0"/>
              <a:t> </a:t>
            </a:r>
            <a:r>
              <a:rPr lang="en-US" dirty="0" err="1"/>
              <a:t>toàn</a:t>
            </a:r>
            <a:r>
              <a:rPr lang="en-US" dirty="0"/>
              <a:t> </a:t>
            </a:r>
            <a:r>
              <a:rPr lang="en-US" dirty="0" err="1"/>
              <a:t>thời</a:t>
            </a:r>
            <a:r>
              <a:rPr lang="en-US" dirty="0"/>
              <a:t> </a:t>
            </a:r>
            <a:r>
              <a:rPr lang="en-US" dirty="0" err="1"/>
              <a:t>gian</a:t>
            </a:r>
            <a:endParaRPr lang="en-US" dirty="0"/>
          </a:p>
        </p:txBody>
      </p:sp>
    </p:spTree>
    <p:extLst>
      <p:ext uri="{BB962C8B-B14F-4D97-AF65-F5344CB8AC3E}">
        <p14:creationId xmlns:p14="http://schemas.microsoft.com/office/powerpoint/2010/main" val="499382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5BD94-4DD9-C6FE-91D6-157FA82E4991}"/>
              </a:ext>
            </a:extLst>
          </p:cNvPr>
          <p:cNvSpPr>
            <a:spLocks noGrp="1"/>
          </p:cNvSpPr>
          <p:nvPr>
            <p:ph type="title"/>
          </p:nvPr>
        </p:nvSpPr>
        <p:spPr/>
        <p:txBody>
          <a:bodyPr/>
          <a:lstStyle/>
          <a:p>
            <a:r>
              <a:rPr lang="en-US" b="1" dirty="0" err="1"/>
              <a:t>Thiết</a:t>
            </a:r>
            <a:r>
              <a:rPr lang="en-US" b="1" dirty="0"/>
              <a:t> </a:t>
            </a:r>
            <a:r>
              <a:rPr lang="en-US" b="1" dirty="0" err="1"/>
              <a:t>kế</a:t>
            </a:r>
            <a:r>
              <a:rPr lang="en-US" b="1" dirty="0"/>
              <a:t> </a:t>
            </a:r>
            <a:r>
              <a:rPr lang="en-US" b="1" dirty="0" err="1"/>
              <a:t>mạch</a:t>
            </a:r>
            <a:r>
              <a:rPr lang="en-US" b="1" dirty="0"/>
              <a:t> </a:t>
            </a:r>
            <a:r>
              <a:rPr lang="en-US" b="1" dirty="0" err="1"/>
              <a:t>bảo</a:t>
            </a:r>
            <a:r>
              <a:rPr lang="en-US" b="1" dirty="0"/>
              <a:t> </a:t>
            </a:r>
            <a:r>
              <a:rPr lang="en-US" b="1" dirty="0" err="1"/>
              <a:t>vệ</a:t>
            </a:r>
            <a:r>
              <a:rPr lang="en-US" b="1" dirty="0"/>
              <a:t> </a:t>
            </a:r>
            <a:r>
              <a:rPr lang="en-US" b="1" dirty="0" err="1"/>
              <a:t>và</a:t>
            </a:r>
            <a:r>
              <a:rPr lang="en-US" b="1" dirty="0"/>
              <a:t> An </a:t>
            </a:r>
            <a:r>
              <a:rPr lang="en-US" b="1" dirty="0" err="1"/>
              <a:t>toàn</a:t>
            </a:r>
            <a:endParaRPr lang="en-US" b="1" dirty="0"/>
          </a:p>
        </p:txBody>
      </p:sp>
      <p:sp>
        <p:nvSpPr>
          <p:cNvPr id="3" name="Content Placeholder 2">
            <a:extLst>
              <a:ext uri="{FF2B5EF4-FFF2-40B4-BE49-F238E27FC236}">
                <a16:creationId xmlns:a16="http://schemas.microsoft.com/office/drawing/2014/main" id="{92424DAC-B556-0A55-44CE-48364AF07222}"/>
              </a:ext>
            </a:extLst>
          </p:cNvPr>
          <p:cNvSpPr>
            <a:spLocks noGrp="1"/>
          </p:cNvSpPr>
          <p:nvPr>
            <p:ph idx="1"/>
          </p:nvPr>
        </p:nvSpPr>
        <p:spPr/>
        <p:txBody>
          <a:bodyPr/>
          <a:lstStyle/>
          <a:p>
            <a:r>
              <a:rPr lang="en-US" b="1" dirty="0" err="1"/>
              <a:t>Lựa</a:t>
            </a:r>
            <a:r>
              <a:rPr lang="en-US" b="1" dirty="0"/>
              <a:t> </a:t>
            </a:r>
            <a:r>
              <a:rPr lang="en-US" b="1" dirty="0" err="1"/>
              <a:t>chọn</a:t>
            </a:r>
            <a:r>
              <a:rPr lang="en-US" b="1" dirty="0"/>
              <a:t> </a:t>
            </a:r>
            <a:r>
              <a:rPr lang="en-US" b="1" dirty="0" err="1"/>
              <a:t>dây</a:t>
            </a:r>
            <a:r>
              <a:rPr lang="en-US" b="1" dirty="0"/>
              <a:t> </a:t>
            </a:r>
            <a:r>
              <a:rPr lang="en-US" b="1" dirty="0" err="1"/>
              <a:t>dẫn</a:t>
            </a:r>
            <a:endParaRPr lang="en-US" b="1" dirty="0"/>
          </a:p>
        </p:txBody>
      </p:sp>
      <p:sp>
        <p:nvSpPr>
          <p:cNvPr id="4" name="Slide Number Placeholder 3">
            <a:extLst>
              <a:ext uri="{FF2B5EF4-FFF2-40B4-BE49-F238E27FC236}">
                <a16:creationId xmlns:a16="http://schemas.microsoft.com/office/drawing/2014/main" id="{7E984425-4315-4C9C-9565-6A555C21A8F1}"/>
              </a:ext>
            </a:extLst>
          </p:cNvPr>
          <p:cNvSpPr>
            <a:spLocks noGrp="1"/>
          </p:cNvSpPr>
          <p:nvPr>
            <p:ph type="sldNum" sz="quarter" idx="12"/>
          </p:nvPr>
        </p:nvSpPr>
        <p:spPr/>
        <p:txBody>
          <a:bodyPr/>
          <a:lstStyle/>
          <a:p>
            <a:fld id="{3957FE44-DABC-424D-A234-74BB9410FF27}" type="slidenum">
              <a:rPr lang="en-US" smtClean="0"/>
              <a:pPr/>
              <a:t>15</a:t>
            </a:fld>
            <a:endParaRPr lang="en-US" dirty="0"/>
          </a:p>
        </p:txBody>
      </p:sp>
      <p:pic>
        <p:nvPicPr>
          <p:cNvPr id="6" name="Picture 5">
            <a:extLst>
              <a:ext uri="{FF2B5EF4-FFF2-40B4-BE49-F238E27FC236}">
                <a16:creationId xmlns:a16="http://schemas.microsoft.com/office/drawing/2014/main" id="{30861C7E-0173-AA0E-6587-46FD4A742525}"/>
              </a:ext>
            </a:extLst>
          </p:cNvPr>
          <p:cNvPicPr>
            <a:picLocks noChangeAspect="1"/>
          </p:cNvPicPr>
          <p:nvPr/>
        </p:nvPicPr>
        <p:blipFill>
          <a:blip r:embed="rId2"/>
          <a:stretch>
            <a:fillRect/>
          </a:stretch>
        </p:blipFill>
        <p:spPr>
          <a:xfrm>
            <a:off x="3962400" y="1528111"/>
            <a:ext cx="4578589" cy="5146553"/>
          </a:xfrm>
          <a:prstGeom prst="rect">
            <a:avLst/>
          </a:prstGeom>
        </p:spPr>
      </p:pic>
    </p:spTree>
    <p:extLst>
      <p:ext uri="{BB962C8B-B14F-4D97-AF65-F5344CB8AC3E}">
        <p14:creationId xmlns:p14="http://schemas.microsoft.com/office/powerpoint/2010/main" val="174574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24042-2EB9-E24D-D37D-3F5D6EA59D9A}"/>
              </a:ext>
            </a:extLst>
          </p:cNvPr>
          <p:cNvSpPr>
            <a:spLocks noGrp="1"/>
          </p:cNvSpPr>
          <p:nvPr>
            <p:ph type="title"/>
          </p:nvPr>
        </p:nvSpPr>
        <p:spPr/>
        <p:txBody>
          <a:bodyPr/>
          <a:lstStyle/>
          <a:p>
            <a:r>
              <a:rPr lang="en-US" b="1" dirty="0"/>
              <a:t>Robot communication</a:t>
            </a:r>
          </a:p>
        </p:txBody>
      </p:sp>
      <p:sp>
        <p:nvSpPr>
          <p:cNvPr id="3" name="Content Placeholder 2">
            <a:extLst>
              <a:ext uri="{FF2B5EF4-FFF2-40B4-BE49-F238E27FC236}">
                <a16:creationId xmlns:a16="http://schemas.microsoft.com/office/drawing/2014/main" id="{2EA978A0-E16A-DF50-BCD2-6A26A7BD181D}"/>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125E22E7-E38D-FCCC-6EA7-96970A56E139}"/>
              </a:ext>
            </a:extLst>
          </p:cNvPr>
          <p:cNvSpPr>
            <a:spLocks noGrp="1"/>
          </p:cNvSpPr>
          <p:nvPr>
            <p:ph type="sldNum" sz="quarter" idx="12"/>
          </p:nvPr>
        </p:nvSpPr>
        <p:spPr/>
        <p:txBody>
          <a:bodyPr/>
          <a:lstStyle/>
          <a:p>
            <a:fld id="{3957FE44-DABC-424D-A234-74BB9410FF27}" type="slidenum">
              <a:rPr lang="en-US" smtClean="0"/>
              <a:pPr/>
              <a:t>16</a:t>
            </a:fld>
            <a:endParaRPr lang="en-US" dirty="0"/>
          </a:p>
        </p:txBody>
      </p:sp>
      <p:pic>
        <p:nvPicPr>
          <p:cNvPr id="5" name="Picture 4">
            <a:extLst>
              <a:ext uri="{FF2B5EF4-FFF2-40B4-BE49-F238E27FC236}">
                <a16:creationId xmlns:a16="http://schemas.microsoft.com/office/drawing/2014/main" id="{6570CE32-7511-525B-C1C5-FEAF823A7B2F}"/>
              </a:ext>
            </a:extLst>
          </p:cNvPr>
          <p:cNvPicPr>
            <a:picLocks noChangeAspect="1"/>
          </p:cNvPicPr>
          <p:nvPr/>
        </p:nvPicPr>
        <p:blipFill>
          <a:blip r:embed="rId2"/>
          <a:stretch>
            <a:fillRect/>
          </a:stretch>
        </p:blipFill>
        <p:spPr>
          <a:xfrm>
            <a:off x="2286000" y="1847543"/>
            <a:ext cx="7085986" cy="3820325"/>
          </a:xfrm>
          <a:prstGeom prst="rect">
            <a:avLst/>
          </a:prstGeom>
        </p:spPr>
      </p:pic>
      <p:sp>
        <p:nvSpPr>
          <p:cNvPr id="6" name="TextBox 5">
            <a:extLst>
              <a:ext uri="{FF2B5EF4-FFF2-40B4-BE49-F238E27FC236}">
                <a16:creationId xmlns:a16="http://schemas.microsoft.com/office/drawing/2014/main" id="{5E37A899-C166-FA0B-574F-F4A0ED38463A}"/>
              </a:ext>
            </a:extLst>
          </p:cNvPr>
          <p:cNvSpPr txBox="1"/>
          <p:nvPr/>
        </p:nvSpPr>
        <p:spPr>
          <a:xfrm>
            <a:off x="4235910" y="5937937"/>
            <a:ext cx="6097348" cy="400110"/>
          </a:xfrm>
          <a:prstGeom prst="rect">
            <a:avLst/>
          </a:prstGeom>
          <a:noFill/>
        </p:spPr>
        <p:txBody>
          <a:bodyPr wrap="square">
            <a:spAutoFit/>
          </a:bodyPr>
          <a:lstStyle/>
          <a:p>
            <a:r>
              <a:rPr lang="en-US" sz="2000" b="1" u="none" strike="noStrike" baseline="0" dirty="0" err="1">
                <a:solidFill>
                  <a:srgbClr val="0070C0"/>
                </a:solidFill>
                <a:latin typeface="CiscoSerif-Italic-Regular"/>
              </a:rPr>
              <a:t>IoTWF</a:t>
            </a:r>
            <a:r>
              <a:rPr lang="en-US" sz="2000" b="1" u="none" strike="noStrike" baseline="0" dirty="0">
                <a:solidFill>
                  <a:srgbClr val="0070C0"/>
                </a:solidFill>
                <a:latin typeface="CiscoSerif-Italic-Regular"/>
              </a:rPr>
              <a:t> IoT Architecture - 2014</a:t>
            </a:r>
            <a:endParaRPr lang="en-US" sz="2000" b="1" dirty="0">
              <a:solidFill>
                <a:srgbClr val="0070C0"/>
              </a:solidFill>
            </a:endParaRPr>
          </a:p>
        </p:txBody>
      </p:sp>
    </p:spTree>
    <p:extLst>
      <p:ext uri="{BB962C8B-B14F-4D97-AF65-F5344CB8AC3E}">
        <p14:creationId xmlns:p14="http://schemas.microsoft.com/office/powerpoint/2010/main" val="2095071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E6AA4-3EFA-A564-3F3C-3FB0A13F1379}"/>
              </a:ext>
            </a:extLst>
          </p:cNvPr>
          <p:cNvSpPr>
            <a:spLocks noGrp="1"/>
          </p:cNvSpPr>
          <p:nvPr>
            <p:ph type="title"/>
          </p:nvPr>
        </p:nvSpPr>
        <p:spPr/>
        <p:txBody>
          <a:bodyPr/>
          <a:lstStyle/>
          <a:p>
            <a:r>
              <a:rPr lang="en-US" b="1" dirty="0"/>
              <a:t>Robot communication</a:t>
            </a:r>
          </a:p>
        </p:txBody>
      </p:sp>
      <p:sp>
        <p:nvSpPr>
          <p:cNvPr id="3" name="Content Placeholder 2">
            <a:extLst>
              <a:ext uri="{FF2B5EF4-FFF2-40B4-BE49-F238E27FC236}">
                <a16:creationId xmlns:a16="http://schemas.microsoft.com/office/drawing/2014/main" id="{E655AEF7-0CE7-A275-7819-BEEC5FD1FC9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121C3C9-4F08-A475-6E79-C5E2E4A41823}"/>
              </a:ext>
            </a:extLst>
          </p:cNvPr>
          <p:cNvSpPr>
            <a:spLocks noGrp="1"/>
          </p:cNvSpPr>
          <p:nvPr>
            <p:ph type="sldNum" sz="quarter" idx="12"/>
          </p:nvPr>
        </p:nvSpPr>
        <p:spPr/>
        <p:txBody>
          <a:bodyPr/>
          <a:lstStyle/>
          <a:p>
            <a:fld id="{3957FE44-DABC-424D-A234-74BB9410FF27}" type="slidenum">
              <a:rPr lang="en-US" smtClean="0"/>
              <a:pPr/>
              <a:t>17</a:t>
            </a:fld>
            <a:endParaRPr lang="en-US" dirty="0"/>
          </a:p>
        </p:txBody>
      </p:sp>
      <p:sp>
        <p:nvSpPr>
          <p:cNvPr id="5" name="TextBox 4">
            <a:extLst>
              <a:ext uri="{FF2B5EF4-FFF2-40B4-BE49-F238E27FC236}">
                <a16:creationId xmlns:a16="http://schemas.microsoft.com/office/drawing/2014/main" id="{2CDAC9CD-6261-CC06-EF94-864463874212}"/>
              </a:ext>
            </a:extLst>
          </p:cNvPr>
          <p:cNvSpPr txBox="1"/>
          <p:nvPr/>
        </p:nvSpPr>
        <p:spPr>
          <a:xfrm>
            <a:off x="4782890" y="5838871"/>
            <a:ext cx="3392128" cy="400110"/>
          </a:xfrm>
          <a:prstGeom prst="rect">
            <a:avLst/>
          </a:prstGeom>
          <a:noFill/>
        </p:spPr>
        <p:txBody>
          <a:bodyPr wrap="square">
            <a:spAutoFit/>
          </a:bodyPr>
          <a:lstStyle/>
          <a:p>
            <a:r>
              <a:rPr lang="en-US" sz="2000" b="1" u="none" strike="noStrike" baseline="0" dirty="0">
                <a:solidFill>
                  <a:srgbClr val="0070C0"/>
                </a:solidFill>
                <a:latin typeface="CiscoSerif-Italic-Regular"/>
              </a:rPr>
              <a:t>Simplified IoT Architecture</a:t>
            </a:r>
            <a:endParaRPr lang="en-US" sz="2800" b="1" dirty="0">
              <a:solidFill>
                <a:srgbClr val="0070C0"/>
              </a:solidFill>
            </a:endParaRPr>
          </a:p>
        </p:txBody>
      </p:sp>
      <p:pic>
        <p:nvPicPr>
          <p:cNvPr id="6" name="Picture 5">
            <a:extLst>
              <a:ext uri="{FF2B5EF4-FFF2-40B4-BE49-F238E27FC236}">
                <a16:creationId xmlns:a16="http://schemas.microsoft.com/office/drawing/2014/main" id="{2ADCF547-96A6-A108-D477-7ECE2F245A01}"/>
              </a:ext>
            </a:extLst>
          </p:cNvPr>
          <p:cNvPicPr>
            <a:picLocks noChangeAspect="1"/>
          </p:cNvPicPr>
          <p:nvPr/>
        </p:nvPicPr>
        <p:blipFill>
          <a:blip r:embed="rId2"/>
          <a:stretch>
            <a:fillRect/>
          </a:stretch>
        </p:blipFill>
        <p:spPr>
          <a:xfrm>
            <a:off x="2343751" y="1623420"/>
            <a:ext cx="7504497" cy="3980534"/>
          </a:xfrm>
          <a:prstGeom prst="rect">
            <a:avLst/>
          </a:prstGeom>
        </p:spPr>
      </p:pic>
    </p:spTree>
    <p:extLst>
      <p:ext uri="{BB962C8B-B14F-4D97-AF65-F5344CB8AC3E}">
        <p14:creationId xmlns:p14="http://schemas.microsoft.com/office/powerpoint/2010/main" val="2737091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40969-B14B-E99B-3DBA-82AE7C5D99B6}"/>
              </a:ext>
            </a:extLst>
          </p:cNvPr>
          <p:cNvSpPr>
            <a:spLocks noGrp="1"/>
          </p:cNvSpPr>
          <p:nvPr>
            <p:ph type="title"/>
          </p:nvPr>
        </p:nvSpPr>
        <p:spPr/>
        <p:txBody>
          <a:bodyPr/>
          <a:lstStyle/>
          <a:p>
            <a:r>
              <a:rPr lang="en-US" b="1" dirty="0"/>
              <a:t>Design considerations</a:t>
            </a:r>
          </a:p>
        </p:txBody>
      </p:sp>
      <p:sp>
        <p:nvSpPr>
          <p:cNvPr id="3" name="Slide Number Placeholder 2">
            <a:extLst>
              <a:ext uri="{FF2B5EF4-FFF2-40B4-BE49-F238E27FC236}">
                <a16:creationId xmlns:a16="http://schemas.microsoft.com/office/drawing/2014/main" id="{BCA05874-E467-B24D-A393-E9BC682BB8E9}"/>
              </a:ext>
            </a:extLst>
          </p:cNvPr>
          <p:cNvSpPr>
            <a:spLocks noGrp="1"/>
          </p:cNvSpPr>
          <p:nvPr>
            <p:ph type="sldNum" sz="quarter" idx="12"/>
          </p:nvPr>
        </p:nvSpPr>
        <p:spPr/>
        <p:txBody>
          <a:bodyPr/>
          <a:lstStyle/>
          <a:p>
            <a:fld id="{9860EDB8-5305-433F-BE41-D7A86D811DB3}" type="slidenum">
              <a:rPr lang="en-US" smtClean="0"/>
              <a:pPr/>
              <a:t>18</a:t>
            </a:fld>
            <a:endParaRPr lang="en-US"/>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B8FAD0A-3F23-B6D3-8BA0-1F00EB95B1AE}"/>
                  </a:ext>
                </a:extLst>
              </p:cNvPr>
              <p:cNvSpPr>
                <a:spLocks noGrp="1"/>
              </p:cNvSpPr>
              <p:nvPr>
                <p:ph sz="quarter" idx="13"/>
              </p:nvPr>
            </p:nvSpPr>
            <p:spPr/>
            <p:txBody>
              <a:bodyPr>
                <a:normAutofit/>
              </a:bodyPr>
              <a:lstStyle/>
              <a:p>
                <a:pPr marL="342900" indent="-342900">
                  <a:buFont typeface="Wingdings" panose="05000000000000000000" pitchFamily="2" charset="2"/>
                  <a:buChar char="q"/>
                </a:pPr>
                <a:r>
                  <a:rPr lang="en-US" dirty="0"/>
                  <a:t> </a:t>
                </a:r>
                <a:r>
                  <a:rPr lang="en-US" sz="2000" dirty="0"/>
                  <a:t>Battery-powered or power-connected</a:t>
                </a:r>
              </a:p>
              <a:p>
                <a:pPr marL="804863" lvl="1" indent="-342900">
                  <a:buFont typeface="Arial" panose="020B0604020202020204" pitchFamily="34" charset="0"/>
                  <a:buChar char="•"/>
                </a:pPr>
                <a:r>
                  <a:rPr lang="en-US" sz="1800" dirty="0"/>
                  <a:t>Energy Budget: how much power a given device requires for operation.</a:t>
                </a:r>
              </a:p>
              <a:p>
                <a:pPr lvl="1" indent="0">
                  <a:buNone/>
                </a:pPr>
                <a:r>
                  <a:rPr lang="en-US" sz="1800" dirty="0"/>
                  <a:t>         </a:t>
                </a:r>
                <a14:m>
                  <m:oMath xmlns:m="http://schemas.openxmlformats.org/officeDocument/2006/math">
                    <m:r>
                      <a:rPr lang="en-US" sz="1800" b="0" i="1" smtClean="0">
                        <a:latin typeface="Cambria Math" panose="02040503050406030204" pitchFamily="18" charset="0"/>
                      </a:rPr>
                      <m:t>𝑂𝑝𝑒𝑟𝑎𝑡𝑖𝑜𝑛</m:t>
                    </m:r>
                    <m:r>
                      <a:rPr lang="en-US" sz="1800" b="0" i="1" smtClean="0">
                        <a:latin typeface="Cambria Math" panose="02040503050406030204" pitchFamily="18" charset="0"/>
                      </a:rPr>
                      <m:t> </m:t>
                    </m:r>
                    <m:r>
                      <a:rPr lang="en-US" sz="1800" b="0" i="1" smtClean="0">
                        <a:latin typeface="Cambria Math" panose="02040503050406030204" pitchFamily="18" charset="0"/>
                      </a:rPr>
                      <m:t>𝑡𝑖𝑚𝑒</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𝐵𝑎𝑡𝑡𝑒𝑟𝑦</m:t>
                        </m:r>
                        <m:r>
                          <a:rPr lang="en-US" sz="1800" b="0" i="1" smtClean="0">
                            <a:latin typeface="Cambria Math" panose="02040503050406030204" pitchFamily="18" charset="0"/>
                          </a:rPr>
                          <m:t> </m:t>
                        </m:r>
                        <m:r>
                          <a:rPr lang="en-US" sz="1800" b="0" i="1" smtClean="0">
                            <a:latin typeface="Cambria Math" panose="02040503050406030204" pitchFamily="18" charset="0"/>
                          </a:rPr>
                          <m:t>𝑐𝑎𝑝𝑎𝑐𝑖𝑡𝑦</m:t>
                        </m:r>
                      </m:num>
                      <m:den>
                        <m:r>
                          <a:rPr lang="en-US" sz="1800" b="0" i="1" smtClean="0">
                            <a:latin typeface="Cambria Math" panose="02040503050406030204" pitchFamily="18" charset="0"/>
                          </a:rPr>
                          <m:t>𝐴𝑣𝑒𝑟𝑎𝑔𝑒</m:t>
                        </m:r>
                        <m:r>
                          <a:rPr lang="en-US" sz="1800" b="0" i="1" smtClean="0">
                            <a:latin typeface="Cambria Math" panose="02040503050406030204" pitchFamily="18" charset="0"/>
                          </a:rPr>
                          <m:t> </m:t>
                        </m:r>
                        <m:r>
                          <a:rPr lang="en-US" sz="1800" b="0" i="1" smtClean="0">
                            <a:latin typeface="Cambria Math" panose="02040503050406030204" pitchFamily="18" charset="0"/>
                          </a:rPr>
                          <m:t>𝑐𝑢𝑟𝑟𝑒𝑛𝑡</m:t>
                        </m:r>
                      </m:den>
                    </m:f>
                  </m:oMath>
                </a14:m>
                <a:endParaRPr lang="en-US" sz="1800" dirty="0"/>
              </a:p>
              <a:p>
                <a:pPr lvl="1" indent="0">
                  <a:buNone/>
                </a:pPr>
                <a:r>
                  <a:rPr lang="en-US" sz="1800" dirty="0"/>
                  <a:t>         </a:t>
                </a:r>
                <a14:m>
                  <m:oMath xmlns:m="http://schemas.openxmlformats.org/officeDocument/2006/math">
                    <m:r>
                      <a:rPr lang="en-US" sz="1800" b="0" i="1" smtClean="0">
                        <a:latin typeface="Cambria Math" panose="02040503050406030204" pitchFamily="18" charset="0"/>
                      </a:rPr>
                      <m:t>𝐴𝑣𝑒𝑟𝑎𝑔𝑒</m:t>
                    </m:r>
                    <m:r>
                      <a:rPr lang="en-US" sz="1800" b="0" i="1" smtClean="0">
                        <a:latin typeface="Cambria Math" panose="02040503050406030204" pitchFamily="18" charset="0"/>
                      </a:rPr>
                      <m:t> </m:t>
                    </m:r>
                    <m:r>
                      <a:rPr lang="en-US" sz="1800" b="0" i="1" smtClean="0">
                        <a:latin typeface="Cambria Math" panose="02040503050406030204" pitchFamily="18" charset="0"/>
                      </a:rPr>
                      <m:t>𝑐𝑢𝑟𝑟𝑒𝑛𝑡</m:t>
                    </m:r>
                    <m:r>
                      <a:rPr lang="en-US" sz="1800" b="0" i="1" smtClean="0">
                        <a:latin typeface="Cambria Math" panose="02040503050406030204" pitchFamily="18" charset="0"/>
                      </a:rPr>
                      <m:t> </m:t>
                    </m:r>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𝐼</m:t>
                            </m:r>
                          </m:e>
                          <m:sub>
                            <m:r>
                              <a:rPr lang="en-US" sz="1800" b="0" i="1" smtClean="0">
                                <a:latin typeface="Cambria Math" panose="02040503050406030204" pitchFamily="18" charset="0"/>
                              </a:rPr>
                              <m:t>𝑎𝑣𝑔</m:t>
                            </m:r>
                          </m:sub>
                        </m:sSub>
                      </m:e>
                    </m:d>
                    <m:r>
                      <a:rPr lang="en-US" sz="1800" b="0" i="1" smtClean="0">
                        <a:latin typeface="Cambria Math" panose="02040503050406030204" pitchFamily="18" charset="0"/>
                      </a:rPr>
                      <m:t>= </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𝐼</m:t>
                            </m:r>
                          </m:e>
                          <m:sub>
                            <m:r>
                              <a:rPr lang="en-US" sz="1800" b="0" i="1" smtClean="0">
                                <a:latin typeface="Cambria Math" panose="02040503050406030204" pitchFamily="18" charset="0"/>
                              </a:rPr>
                              <m:t>𝑠𝑙𝑒𝑒𝑝</m:t>
                            </m:r>
                          </m:sub>
                        </m:sSub>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𝑡</m:t>
                            </m:r>
                          </m:e>
                          <m:sub>
                            <m:r>
                              <a:rPr lang="en-US" sz="1800" b="0" i="1" smtClean="0">
                                <a:latin typeface="Cambria Math" panose="02040503050406030204" pitchFamily="18" charset="0"/>
                                <a:ea typeface="Cambria Math" panose="02040503050406030204" pitchFamily="18" charset="0"/>
                              </a:rPr>
                              <m:t>𝑠𝑙𝑒𝑒𝑝</m:t>
                            </m:r>
                          </m:sub>
                        </m:sSub>
                        <m:r>
                          <a:rPr lang="en-US" sz="1800" b="0" i="1" smtClean="0">
                            <a:latin typeface="Cambria Math" panose="02040503050406030204" pitchFamily="18" charset="0"/>
                            <a:ea typeface="Cambria Math" panose="02040503050406030204" pitchFamily="18" charset="0"/>
                          </a:rPr>
                          <m:t>+ </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𝐼</m:t>
                            </m:r>
                          </m:e>
                          <m:sub>
                            <m:r>
                              <a:rPr lang="en-US" sz="1800" b="0" i="1" smtClean="0">
                                <a:latin typeface="Cambria Math" panose="02040503050406030204" pitchFamily="18" charset="0"/>
                                <a:ea typeface="Cambria Math" panose="02040503050406030204" pitchFamily="18" charset="0"/>
                              </a:rPr>
                              <m:t>𝑟𝑢𝑛</m:t>
                            </m:r>
                          </m:sub>
                        </m:sSub>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𝑡</m:t>
                            </m:r>
                          </m:e>
                          <m:sub>
                            <m:r>
                              <a:rPr lang="en-US" sz="1800" b="0" i="1" smtClean="0">
                                <a:latin typeface="Cambria Math" panose="02040503050406030204" pitchFamily="18" charset="0"/>
                                <a:ea typeface="Cambria Math" panose="02040503050406030204" pitchFamily="18" charset="0"/>
                              </a:rPr>
                              <m:t>𝑟𝑢𝑛</m:t>
                            </m:r>
                          </m:sub>
                        </m:sSub>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𝑠𝑙𝑒𝑒𝑝</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rPr>
                              <m:t>𝑟𝑢𝑛</m:t>
                            </m:r>
                          </m:sub>
                        </m:sSub>
                      </m:den>
                    </m:f>
                  </m:oMath>
                </a14:m>
                <a:endParaRPr lang="en-US" sz="1800" dirty="0"/>
              </a:p>
              <a:p>
                <a:pPr marL="342900" indent="-342900">
                  <a:buFont typeface="Wingdings" panose="05000000000000000000" pitchFamily="2" charset="2"/>
                  <a:buChar char="q"/>
                </a:pPr>
                <a:r>
                  <a:rPr lang="en-US" sz="2000" dirty="0"/>
                  <a:t> Mobile or static</a:t>
                </a:r>
              </a:p>
            </p:txBody>
          </p:sp>
        </mc:Choice>
        <mc:Fallback xmlns="">
          <p:sp>
            <p:nvSpPr>
              <p:cNvPr id="4" name="Content Placeholder 3">
                <a:extLst>
                  <a:ext uri="{FF2B5EF4-FFF2-40B4-BE49-F238E27FC236}">
                    <a16:creationId xmlns:a16="http://schemas.microsoft.com/office/drawing/2014/main" id="{5B8FAD0A-3F23-B6D3-8BA0-1F00EB95B1AE}"/>
                  </a:ext>
                </a:extLst>
              </p:cNvPr>
              <p:cNvSpPr>
                <a:spLocks noGrp="1" noRot="1" noChangeAspect="1" noMove="1" noResize="1" noEditPoints="1" noAdjustHandles="1" noChangeArrowheads="1" noChangeShapeType="1" noTextEdit="1"/>
              </p:cNvSpPr>
              <p:nvPr>
                <p:ph sz="quarter" idx="13"/>
              </p:nvPr>
            </p:nvSpPr>
            <p:spPr>
              <a:blipFill>
                <a:blip r:embed="rId2"/>
                <a:stretch>
                  <a:fillRect l="-761" t="-39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F2746E2C-B20A-B892-9506-37B43FC74424}"/>
              </a:ext>
            </a:extLst>
          </p:cNvPr>
          <p:cNvPicPr>
            <a:picLocks noChangeAspect="1"/>
          </p:cNvPicPr>
          <p:nvPr/>
        </p:nvPicPr>
        <p:blipFill>
          <a:blip r:embed="rId3"/>
          <a:stretch>
            <a:fillRect/>
          </a:stretch>
        </p:blipFill>
        <p:spPr>
          <a:xfrm>
            <a:off x="2836425" y="3930294"/>
            <a:ext cx="5280360" cy="2856454"/>
          </a:xfrm>
          <a:prstGeom prst="rect">
            <a:avLst/>
          </a:prstGeom>
        </p:spPr>
      </p:pic>
    </p:spTree>
    <p:extLst>
      <p:ext uri="{BB962C8B-B14F-4D97-AF65-F5344CB8AC3E}">
        <p14:creationId xmlns:p14="http://schemas.microsoft.com/office/powerpoint/2010/main" val="1413707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40969-B14B-E99B-3DBA-82AE7C5D99B6}"/>
              </a:ext>
            </a:extLst>
          </p:cNvPr>
          <p:cNvSpPr>
            <a:spLocks noGrp="1"/>
          </p:cNvSpPr>
          <p:nvPr>
            <p:ph type="title"/>
          </p:nvPr>
        </p:nvSpPr>
        <p:spPr/>
        <p:txBody>
          <a:bodyPr/>
          <a:lstStyle/>
          <a:p>
            <a:r>
              <a:rPr lang="en-US" b="1" dirty="0"/>
              <a:t>Design considerations</a:t>
            </a:r>
          </a:p>
        </p:txBody>
      </p:sp>
      <p:sp>
        <p:nvSpPr>
          <p:cNvPr id="3" name="Slide Number Placeholder 2">
            <a:extLst>
              <a:ext uri="{FF2B5EF4-FFF2-40B4-BE49-F238E27FC236}">
                <a16:creationId xmlns:a16="http://schemas.microsoft.com/office/drawing/2014/main" id="{BCA05874-E467-B24D-A393-E9BC682BB8E9}"/>
              </a:ext>
            </a:extLst>
          </p:cNvPr>
          <p:cNvSpPr>
            <a:spLocks noGrp="1"/>
          </p:cNvSpPr>
          <p:nvPr>
            <p:ph type="sldNum" sz="quarter" idx="12"/>
          </p:nvPr>
        </p:nvSpPr>
        <p:spPr/>
        <p:txBody>
          <a:bodyPr/>
          <a:lstStyle/>
          <a:p>
            <a:fld id="{9860EDB8-5305-433F-BE41-D7A86D811DB3}" type="slidenum">
              <a:rPr lang="en-US" smtClean="0"/>
              <a:pPr/>
              <a:t>19</a:t>
            </a:fld>
            <a:endParaRPr lang="en-US"/>
          </a:p>
        </p:txBody>
      </p:sp>
      <p:sp>
        <p:nvSpPr>
          <p:cNvPr id="4" name="Content Placeholder 3">
            <a:extLst>
              <a:ext uri="{FF2B5EF4-FFF2-40B4-BE49-F238E27FC236}">
                <a16:creationId xmlns:a16="http://schemas.microsoft.com/office/drawing/2014/main" id="{5B8FAD0A-3F23-B6D3-8BA0-1F00EB95B1AE}"/>
              </a:ext>
            </a:extLst>
          </p:cNvPr>
          <p:cNvSpPr>
            <a:spLocks noGrp="1"/>
          </p:cNvSpPr>
          <p:nvPr>
            <p:ph sz="quarter" idx="13"/>
          </p:nvPr>
        </p:nvSpPr>
        <p:spPr/>
        <p:txBody>
          <a:bodyPr>
            <a:normAutofit/>
          </a:bodyPr>
          <a:lstStyle/>
          <a:p>
            <a:pPr marL="342900" indent="-342900">
              <a:buFont typeface="Wingdings" panose="05000000000000000000" pitchFamily="2" charset="2"/>
              <a:buChar char="q"/>
            </a:pPr>
            <a:r>
              <a:rPr lang="en-US" dirty="0"/>
              <a:t>Low or high reporting frequency</a:t>
            </a:r>
          </a:p>
          <a:p>
            <a:pPr marL="804863" lvl="1" indent="-342900">
              <a:buFont typeface="Arial" panose="020B0604020202020204" pitchFamily="34" charset="0"/>
              <a:buChar char="•"/>
            </a:pPr>
            <a:r>
              <a:rPr lang="en-US" dirty="0"/>
              <a:t>A rust sensor reports values once a month, a motion sensor reports hundred times per second</a:t>
            </a:r>
          </a:p>
          <a:p>
            <a:pPr marL="342900" indent="-342900">
              <a:buFont typeface="Wingdings" panose="05000000000000000000" pitchFamily="2" charset="2"/>
              <a:buChar char="q"/>
            </a:pPr>
            <a:r>
              <a:rPr lang="en-US" dirty="0"/>
              <a:t> Simple or rich data</a:t>
            </a:r>
          </a:p>
          <a:p>
            <a:pPr marL="804863" lvl="1" indent="-342900">
              <a:buFont typeface="Arial" panose="020B0604020202020204" pitchFamily="34" charset="0"/>
              <a:buChar char="•"/>
            </a:pPr>
            <a:r>
              <a:rPr lang="en-US" dirty="0"/>
              <a:t>A humidity sensor may report an integer value, while and engine sensors may report hundreds of parameters</a:t>
            </a:r>
          </a:p>
        </p:txBody>
      </p:sp>
    </p:spTree>
    <p:extLst>
      <p:ext uri="{BB962C8B-B14F-4D97-AF65-F5344CB8AC3E}">
        <p14:creationId xmlns:p14="http://schemas.microsoft.com/office/powerpoint/2010/main" val="3893221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09F7B9E-8608-D916-810E-2DB7748F8845}"/>
              </a:ext>
            </a:extLst>
          </p:cNvPr>
          <p:cNvPicPr>
            <a:picLocks noChangeAspect="1"/>
          </p:cNvPicPr>
          <p:nvPr/>
        </p:nvPicPr>
        <p:blipFill>
          <a:blip r:embed="rId2"/>
          <a:stretch>
            <a:fillRect/>
          </a:stretch>
        </p:blipFill>
        <p:spPr>
          <a:xfrm>
            <a:off x="3129526" y="4063852"/>
            <a:ext cx="5028822" cy="2744916"/>
          </a:xfrm>
          <a:prstGeom prst="rect">
            <a:avLst/>
          </a:prstGeom>
        </p:spPr>
      </p:pic>
      <p:sp>
        <p:nvSpPr>
          <p:cNvPr id="2" name="Title 1">
            <a:extLst>
              <a:ext uri="{FF2B5EF4-FFF2-40B4-BE49-F238E27FC236}">
                <a16:creationId xmlns:a16="http://schemas.microsoft.com/office/drawing/2014/main" id="{17F40969-B14B-E99B-3DBA-82AE7C5D99B6}"/>
              </a:ext>
            </a:extLst>
          </p:cNvPr>
          <p:cNvSpPr>
            <a:spLocks noGrp="1"/>
          </p:cNvSpPr>
          <p:nvPr>
            <p:ph type="title"/>
          </p:nvPr>
        </p:nvSpPr>
        <p:spPr/>
        <p:txBody>
          <a:bodyPr/>
          <a:lstStyle/>
          <a:p>
            <a:r>
              <a:rPr lang="en-US" b="1" dirty="0"/>
              <a:t>Design considerations</a:t>
            </a:r>
          </a:p>
        </p:txBody>
      </p:sp>
      <p:sp>
        <p:nvSpPr>
          <p:cNvPr id="3" name="Slide Number Placeholder 2">
            <a:extLst>
              <a:ext uri="{FF2B5EF4-FFF2-40B4-BE49-F238E27FC236}">
                <a16:creationId xmlns:a16="http://schemas.microsoft.com/office/drawing/2014/main" id="{BCA05874-E467-B24D-A393-E9BC682BB8E9}"/>
              </a:ext>
            </a:extLst>
          </p:cNvPr>
          <p:cNvSpPr>
            <a:spLocks noGrp="1"/>
          </p:cNvSpPr>
          <p:nvPr>
            <p:ph type="sldNum" sz="quarter" idx="12"/>
          </p:nvPr>
        </p:nvSpPr>
        <p:spPr/>
        <p:txBody>
          <a:bodyPr/>
          <a:lstStyle/>
          <a:p>
            <a:fld id="{9860EDB8-5305-433F-BE41-D7A86D811DB3}" type="slidenum">
              <a:rPr lang="en-US" smtClean="0"/>
              <a:pPr/>
              <a:t>20</a:t>
            </a:fld>
            <a:endParaRPr lang="en-US"/>
          </a:p>
        </p:txBody>
      </p:sp>
      <p:sp>
        <p:nvSpPr>
          <p:cNvPr id="4" name="Content Placeholder 3">
            <a:extLst>
              <a:ext uri="{FF2B5EF4-FFF2-40B4-BE49-F238E27FC236}">
                <a16:creationId xmlns:a16="http://schemas.microsoft.com/office/drawing/2014/main" id="{5B8FAD0A-3F23-B6D3-8BA0-1F00EB95B1AE}"/>
              </a:ext>
            </a:extLst>
          </p:cNvPr>
          <p:cNvSpPr>
            <a:spLocks noGrp="1"/>
          </p:cNvSpPr>
          <p:nvPr>
            <p:ph sz="quarter" idx="13"/>
          </p:nvPr>
        </p:nvSpPr>
        <p:spPr/>
        <p:txBody>
          <a:bodyPr>
            <a:normAutofit/>
          </a:bodyPr>
          <a:lstStyle/>
          <a:p>
            <a:pPr marL="342900" indent="-342900">
              <a:buFont typeface="Wingdings" panose="05000000000000000000" pitchFamily="2" charset="2"/>
              <a:buChar char="q"/>
            </a:pPr>
            <a:r>
              <a:rPr lang="en-US" dirty="0"/>
              <a:t>Report range</a:t>
            </a:r>
          </a:p>
          <a:p>
            <a:pPr marL="342900" indent="-342900">
              <a:buFont typeface="Wingdings" panose="05000000000000000000" pitchFamily="2" charset="2"/>
              <a:buChar char="q"/>
            </a:pPr>
            <a:endParaRPr lang="en-US" dirty="0"/>
          </a:p>
          <a:p>
            <a:pPr marL="342900" indent="-342900">
              <a:buFont typeface="Wingdings" panose="05000000000000000000" pitchFamily="2" charset="2"/>
              <a:buChar char="q"/>
            </a:pPr>
            <a:endParaRPr lang="en-US" dirty="0"/>
          </a:p>
          <a:p>
            <a:pPr marL="342900" indent="-342900">
              <a:buFont typeface="Wingdings" panose="05000000000000000000" pitchFamily="2" charset="2"/>
              <a:buChar char="q"/>
            </a:pPr>
            <a:endParaRPr lang="en-US" dirty="0"/>
          </a:p>
          <a:p>
            <a:pPr marL="342900" indent="-342900">
              <a:buFont typeface="Wingdings" panose="05000000000000000000" pitchFamily="2" charset="2"/>
              <a:buChar char="q"/>
            </a:pPr>
            <a:endParaRPr lang="en-US" dirty="0"/>
          </a:p>
          <a:p>
            <a:pPr marL="342900" indent="-342900">
              <a:buFont typeface="Wingdings" panose="05000000000000000000" pitchFamily="2" charset="2"/>
              <a:buChar char="q"/>
            </a:pPr>
            <a:endParaRPr lang="en-US" dirty="0"/>
          </a:p>
          <a:p>
            <a:pPr marL="342900" indent="-342900">
              <a:buFont typeface="Wingdings" panose="05000000000000000000" pitchFamily="2" charset="2"/>
              <a:buChar char="q"/>
            </a:pPr>
            <a:r>
              <a:rPr lang="en-US" dirty="0"/>
              <a:t> Object density per cell</a:t>
            </a:r>
          </a:p>
        </p:txBody>
      </p:sp>
      <p:pic>
        <p:nvPicPr>
          <p:cNvPr id="10" name="Picture 9">
            <a:extLst>
              <a:ext uri="{FF2B5EF4-FFF2-40B4-BE49-F238E27FC236}">
                <a16:creationId xmlns:a16="http://schemas.microsoft.com/office/drawing/2014/main" id="{F69B37CD-0666-5466-F824-89A00FD8467D}"/>
              </a:ext>
            </a:extLst>
          </p:cNvPr>
          <p:cNvPicPr>
            <a:picLocks noChangeAspect="1"/>
          </p:cNvPicPr>
          <p:nvPr/>
        </p:nvPicPr>
        <p:blipFill>
          <a:blip r:embed="rId3"/>
          <a:stretch>
            <a:fillRect/>
          </a:stretch>
        </p:blipFill>
        <p:spPr>
          <a:xfrm>
            <a:off x="3276600" y="1515035"/>
            <a:ext cx="4545580" cy="2357469"/>
          </a:xfrm>
          <a:prstGeom prst="rect">
            <a:avLst/>
          </a:prstGeom>
        </p:spPr>
      </p:pic>
    </p:spTree>
    <p:extLst>
      <p:ext uri="{BB962C8B-B14F-4D97-AF65-F5344CB8AC3E}">
        <p14:creationId xmlns:p14="http://schemas.microsoft.com/office/powerpoint/2010/main" val="1583285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C6346-F5AB-2E5A-22DD-A58D97CEBF0A}"/>
              </a:ext>
            </a:extLst>
          </p:cNvPr>
          <p:cNvSpPr>
            <a:spLocks noGrp="1"/>
          </p:cNvSpPr>
          <p:nvPr>
            <p:ph type="title"/>
          </p:nvPr>
        </p:nvSpPr>
        <p:spPr/>
        <p:txBody>
          <a:bodyPr/>
          <a:lstStyle/>
          <a:p>
            <a:r>
              <a:rPr lang="en-US" b="1" dirty="0"/>
              <a:t>First Wireless communication</a:t>
            </a:r>
          </a:p>
        </p:txBody>
      </p:sp>
      <p:sp>
        <p:nvSpPr>
          <p:cNvPr id="4" name="Slide Number Placeholder 3">
            <a:extLst>
              <a:ext uri="{FF2B5EF4-FFF2-40B4-BE49-F238E27FC236}">
                <a16:creationId xmlns:a16="http://schemas.microsoft.com/office/drawing/2014/main" id="{6F8B31AA-6630-4273-D33B-3ABF17C02406}"/>
              </a:ext>
            </a:extLst>
          </p:cNvPr>
          <p:cNvSpPr>
            <a:spLocks noGrp="1"/>
          </p:cNvSpPr>
          <p:nvPr>
            <p:ph type="sldNum" sz="quarter" idx="12"/>
          </p:nvPr>
        </p:nvSpPr>
        <p:spPr/>
        <p:txBody>
          <a:bodyPr/>
          <a:lstStyle/>
          <a:p>
            <a:fld id="{3957FE44-DABC-424D-A234-74BB9410FF27}" type="slidenum">
              <a:rPr lang="en-US" smtClean="0"/>
              <a:pPr/>
              <a:t>21</a:t>
            </a:fld>
            <a:endParaRPr lang="en-US" dirty="0"/>
          </a:p>
        </p:txBody>
      </p:sp>
      <p:pic>
        <p:nvPicPr>
          <p:cNvPr id="5" name="Content Placeholder 4">
            <a:extLst>
              <a:ext uri="{FF2B5EF4-FFF2-40B4-BE49-F238E27FC236}">
                <a16:creationId xmlns:a16="http://schemas.microsoft.com/office/drawing/2014/main" id="{CFACCEC6-D203-45BF-ADA1-ED90FF8CD7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8315" y="1905000"/>
            <a:ext cx="4037085" cy="3048000"/>
          </a:xfrm>
        </p:spPr>
      </p:pic>
      <p:sp>
        <p:nvSpPr>
          <p:cNvPr id="6" name="Rectangle 5">
            <a:extLst>
              <a:ext uri="{FF2B5EF4-FFF2-40B4-BE49-F238E27FC236}">
                <a16:creationId xmlns:a16="http://schemas.microsoft.com/office/drawing/2014/main" id="{142FA218-BDE3-C37C-9013-FF4894C5209E}"/>
              </a:ext>
            </a:extLst>
          </p:cNvPr>
          <p:cNvSpPr/>
          <p:nvPr/>
        </p:nvSpPr>
        <p:spPr>
          <a:xfrm>
            <a:off x="1295341" y="4966845"/>
            <a:ext cx="3583032" cy="369332"/>
          </a:xfrm>
          <a:prstGeom prst="rect">
            <a:avLst/>
          </a:prstGeom>
        </p:spPr>
        <p:txBody>
          <a:bodyPr wrap="none">
            <a:spAutoFit/>
          </a:bodyPr>
          <a:lstStyle/>
          <a:p>
            <a:r>
              <a:rPr lang="en-US" b="1" dirty="0" err="1"/>
              <a:t>Guglielmo</a:t>
            </a:r>
            <a:r>
              <a:rPr lang="en-US" b="1" dirty="0"/>
              <a:t> Marconi (1874-1937)</a:t>
            </a:r>
          </a:p>
        </p:txBody>
      </p:sp>
      <p:pic>
        <p:nvPicPr>
          <p:cNvPr id="7" name="Picture 6">
            <a:extLst>
              <a:ext uri="{FF2B5EF4-FFF2-40B4-BE49-F238E27FC236}">
                <a16:creationId xmlns:a16="http://schemas.microsoft.com/office/drawing/2014/main" id="{4D7B535B-60CF-9A5E-E576-563103BAF4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7000" y="1500996"/>
            <a:ext cx="4219575" cy="2381250"/>
          </a:xfrm>
          <a:prstGeom prst="rect">
            <a:avLst/>
          </a:prstGeom>
        </p:spPr>
      </p:pic>
      <p:sp>
        <p:nvSpPr>
          <p:cNvPr id="8" name="Rectangle 7">
            <a:extLst>
              <a:ext uri="{FF2B5EF4-FFF2-40B4-BE49-F238E27FC236}">
                <a16:creationId xmlns:a16="http://schemas.microsoft.com/office/drawing/2014/main" id="{DE78A7ED-16A0-10B0-DF91-4B22460980C6}"/>
              </a:ext>
            </a:extLst>
          </p:cNvPr>
          <p:cNvSpPr/>
          <p:nvPr/>
        </p:nvSpPr>
        <p:spPr>
          <a:xfrm>
            <a:off x="6400800" y="4332008"/>
            <a:ext cx="4572000" cy="461665"/>
          </a:xfrm>
          <a:prstGeom prst="rect">
            <a:avLst/>
          </a:prstGeom>
        </p:spPr>
        <p:txBody>
          <a:bodyPr>
            <a:spAutoFit/>
          </a:bodyPr>
          <a:lstStyle/>
          <a:p>
            <a:r>
              <a:rPr lang="en-US" sz="1200" i="1" dirty="0">
                <a:solidFill>
                  <a:srgbClr val="0070C0"/>
                </a:solidFill>
              </a:rPr>
              <a:t>http://people.seas.harvard.edu/~jones/cscie129/nu_lectures/lecture6/marconi/marconi.html</a:t>
            </a:r>
          </a:p>
        </p:txBody>
      </p:sp>
      <p:sp>
        <p:nvSpPr>
          <p:cNvPr id="9" name="Rectangle 8">
            <a:extLst>
              <a:ext uri="{FF2B5EF4-FFF2-40B4-BE49-F238E27FC236}">
                <a16:creationId xmlns:a16="http://schemas.microsoft.com/office/drawing/2014/main" id="{50D1ADE1-895A-1458-FC40-A37C1F1E9A71}"/>
              </a:ext>
            </a:extLst>
          </p:cNvPr>
          <p:cNvSpPr/>
          <p:nvPr/>
        </p:nvSpPr>
        <p:spPr>
          <a:xfrm>
            <a:off x="6723136" y="3882246"/>
            <a:ext cx="3727302" cy="369332"/>
          </a:xfrm>
          <a:prstGeom prst="rect">
            <a:avLst/>
          </a:prstGeom>
        </p:spPr>
        <p:txBody>
          <a:bodyPr wrap="none">
            <a:spAutoFit/>
          </a:bodyPr>
          <a:lstStyle/>
          <a:p>
            <a:r>
              <a:rPr lang="en-US" b="1" dirty="0"/>
              <a:t>Marconi's 1901 wireless system </a:t>
            </a:r>
            <a:endParaRPr lang="en-US" dirty="0"/>
          </a:p>
        </p:txBody>
      </p:sp>
      <p:pic>
        <p:nvPicPr>
          <p:cNvPr id="10" name="Picture 9">
            <a:extLst>
              <a:ext uri="{FF2B5EF4-FFF2-40B4-BE49-F238E27FC236}">
                <a16:creationId xmlns:a16="http://schemas.microsoft.com/office/drawing/2014/main" id="{04D0A526-2D12-D8E8-6673-464B174F69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5819" y="4816677"/>
            <a:ext cx="2481618" cy="1935662"/>
          </a:xfrm>
          <a:prstGeom prst="rect">
            <a:avLst/>
          </a:prstGeom>
        </p:spPr>
      </p:pic>
    </p:spTree>
    <p:extLst>
      <p:ext uri="{BB962C8B-B14F-4D97-AF65-F5344CB8AC3E}">
        <p14:creationId xmlns:p14="http://schemas.microsoft.com/office/powerpoint/2010/main" val="1627492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RF - Radio frequency</a:t>
            </a:r>
            <a:endParaRPr lang="en-US" dirty="0"/>
          </a:p>
        </p:txBody>
      </p:sp>
      <p:sp>
        <p:nvSpPr>
          <p:cNvPr id="3" name="Content Placeholder 2"/>
          <p:cNvSpPr>
            <a:spLocks noGrp="1"/>
          </p:cNvSpPr>
          <p:nvPr>
            <p:ph idx="1"/>
          </p:nvPr>
        </p:nvSpPr>
        <p:spPr>
          <a:xfrm>
            <a:off x="1981200" y="1614908"/>
            <a:ext cx="8229600" cy="4876800"/>
          </a:xfrm>
        </p:spPr>
        <p:txBody>
          <a:bodyPr/>
          <a:lstStyle/>
          <a:p>
            <a:r>
              <a:rPr lang="en-US" dirty="0"/>
              <a:t>RF: frequency from few KHz to 300GHz</a:t>
            </a:r>
          </a:p>
          <a:p>
            <a:endParaRPr lang="en-US" dirty="0"/>
          </a:p>
          <a:p>
            <a:endParaRPr lang="en-US" dirty="0"/>
          </a:p>
          <a:p>
            <a:endParaRPr lang="en-US" dirty="0"/>
          </a:p>
          <a:p>
            <a:endParaRPr lang="en-US" dirty="0"/>
          </a:p>
          <a:p>
            <a:endParaRPr lang="en-US" dirty="0"/>
          </a:p>
          <a:p>
            <a:endParaRPr lang="en-US" dirty="0"/>
          </a:p>
          <a:p>
            <a:endParaRPr lang="en-US" sz="1400"/>
          </a:p>
          <a:p>
            <a:r>
              <a:rPr lang="en-US"/>
              <a:t>Relationship </a:t>
            </a:r>
            <a:r>
              <a:rPr lang="en-US" dirty="0"/>
              <a:t>between frequency f and wavelength </a:t>
            </a:r>
            <a:r>
              <a:rPr lang="en-US" dirty="0">
                <a:sym typeface="Symbol" panose="05050102010706020507" pitchFamily="18" charset="2"/>
              </a:rPr>
              <a:t></a:t>
            </a:r>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22</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1" y="2074187"/>
            <a:ext cx="7191375" cy="2857500"/>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3249144" y="5390965"/>
                <a:ext cx="4365554" cy="369332"/>
              </a:xfrm>
              <a:prstGeom prst="rect">
                <a:avLst/>
              </a:prstGeom>
              <a:noFill/>
            </p:spPr>
            <p:txBody>
              <a:bodyPr wrap="none" lIns="0" tIns="0" rIns="0" bIns="0" rtlCol="0">
                <a:spAutoFit/>
              </a:bodyPr>
              <a:lstStyle/>
              <a:p>
                <a14:m>
                  <m:oMath xmlns:m="http://schemas.openxmlformats.org/officeDocument/2006/math">
                    <m:r>
                      <a:rPr lang="en-US" sz="2400" i="1">
                        <a:latin typeface="Cambria Math" panose="02040503050406030204" pitchFamily="18" charset="0"/>
                      </a:rPr>
                      <m:t>𝐶</m:t>
                    </m:r>
                    <m:r>
                      <a:rPr lang="en-US" sz="2400" i="1">
                        <a:latin typeface="Cambria Math" panose="02040503050406030204" pitchFamily="18" charset="0"/>
                      </a:rPr>
                      <m:t>=</m:t>
                    </m:r>
                    <m:r>
                      <a:rPr lang="en-US" sz="2400" i="1">
                        <a:latin typeface="Cambria Math" panose="02040503050406030204" pitchFamily="18" charset="0"/>
                      </a:rPr>
                      <m:t>𝑓</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𝜆</m:t>
                    </m:r>
                  </m:oMath>
                </a14:m>
                <a:r>
                  <a:rPr lang="en-US" sz="2400" dirty="0"/>
                  <a:t>          </a:t>
                </a:r>
                <a:r>
                  <a:rPr lang="en-US" dirty="0"/>
                  <a:t>C is the speed of light</a:t>
                </a:r>
              </a:p>
            </p:txBody>
          </p:sp>
        </mc:Choice>
        <mc:Fallback xmlns="">
          <p:sp>
            <p:nvSpPr>
              <p:cNvPr id="6" name="TextBox 5"/>
              <p:cNvSpPr txBox="1">
                <a:spLocks noRot="1" noChangeAspect="1" noMove="1" noResize="1" noEditPoints="1" noAdjustHandles="1" noChangeArrowheads="1" noChangeShapeType="1" noTextEdit="1"/>
              </p:cNvSpPr>
              <p:nvPr/>
            </p:nvSpPr>
            <p:spPr>
              <a:xfrm>
                <a:off x="3249144" y="5390965"/>
                <a:ext cx="4365554" cy="369332"/>
              </a:xfrm>
              <a:prstGeom prst="rect">
                <a:avLst/>
              </a:prstGeom>
              <a:blipFill>
                <a:blip r:embed="rId4"/>
                <a:stretch>
                  <a:fillRect l="-2514" r="-2654" b="-3770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EFDAEFEE-5209-4399-9D01-9CD089257A1C}"/>
              </a:ext>
            </a:extLst>
          </p:cNvPr>
          <p:cNvSpPr txBox="1"/>
          <p:nvPr/>
        </p:nvSpPr>
        <p:spPr>
          <a:xfrm>
            <a:off x="2209801" y="6019369"/>
            <a:ext cx="5788829" cy="646331"/>
          </a:xfrm>
          <a:prstGeom prst="rect">
            <a:avLst/>
          </a:prstGeom>
          <a:noFill/>
        </p:spPr>
        <p:txBody>
          <a:bodyPr wrap="none" rtlCol="0">
            <a:spAutoFit/>
          </a:bodyPr>
          <a:lstStyle/>
          <a:p>
            <a:r>
              <a:rPr lang="en-US"/>
              <a:t>Diffraction: </a:t>
            </a:r>
            <a:r>
              <a:rPr lang="en-US">
                <a:hlinkClick r:id="rId5"/>
              </a:rPr>
              <a:t>Radio Wave Diffraction vs Wavelength</a:t>
            </a:r>
            <a:endParaRPr lang="en-US"/>
          </a:p>
          <a:p>
            <a:r>
              <a:rPr lang="en-US"/>
              <a:t>How does antenna work: </a:t>
            </a:r>
            <a:r>
              <a:rPr lang="en-US">
                <a:hlinkClick r:id="rId6"/>
              </a:rPr>
              <a:t>How does an Antenna work? </a:t>
            </a:r>
            <a:endParaRPr lang="en-US"/>
          </a:p>
        </p:txBody>
      </p:sp>
      <p:pic>
        <p:nvPicPr>
          <p:cNvPr id="10" name="Picture 9">
            <a:extLst>
              <a:ext uri="{FF2B5EF4-FFF2-40B4-BE49-F238E27FC236}">
                <a16:creationId xmlns:a16="http://schemas.microsoft.com/office/drawing/2014/main" id="{D8D913A6-9868-4821-AA8F-A9523DB17E6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32146" y="5390965"/>
            <a:ext cx="2586038" cy="1274734"/>
          </a:xfrm>
          <a:prstGeom prst="rect">
            <a:avLst/>
          </a:prstGeom>
        </p:spPr>
      </p:pic>
    </p:spTree>
    <p:extLst>
      <p:ext uri="{BB962C8B-B14F-4D97-AF65-F5344CB8AC3E}">
        <p14:creationId xmlns:p14="http://schemas.microsoft.com/office/powerpoint/2010/main" val="3142030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ISM band – 2.4GHz</a:t>
            </a:r>
          </a:p>
        </p:txBody>
      </p:sp>
      <p:sp>
        <p:nvSpPr>
          <p:cNvPr id="3" name="Content Placeholder 2"/>
          <p:cNvSpPr>
            <a:spLocks noGrp="1"/>
          </p:cNvSpPr>
          <p:nvPr>
            <p:ph idx="1"/>
          </p:nvPr>
        </p:nvSpPr>
        <p:spPr/>
        <p:txBody>
          <a:bodyPr/>
          <a:lstStyle/>
          <a:p>
            <a:r>
              <a:rPr lang="en-US" dirty="0"/>
              <a:t>ISM: Industry, Science and Medical</a:t>
            </a:r>
          </a:p>
          <a:p>
            <a:r>
              <a:rPr lang="en-US" dirty="0"/>
              <a:t>ISM band:  </a:t>
            </a:r>
            <a:r>
              <a:rPr lang="en-US" b="1" dirty="0">
                <a:solidFill>
                  <a:srgbClr val="0070C0"/>
                </a:solidFill>
              </a:rPr>
              <a:t>2.4GHz – 2.483 GHz</a:t>
            </a:r>
          </a:p>
          <a:p>
            <a:r>
              <a:rPr lang="en-US" dirty="0"/>
              <a:t>getting more crowded day by day</a:t>
            </a:r>
          </a:p>
          <a:p>
            <a:pPr marL="0" indent="0">
              <a:buNone/>
            </a:pPr>
            <a:r>
              <a:rPr lang="en-US" b="1" dirty="0">
                <a:solidFill>
                  <a:srgbClr val="FF0000"/>
                </a:solidFill>
              </a:rPr>
              <a:t>Why use this band?</a:t>
            </a:r>
          </a:p>
          <a:p>
            <a:r>
              <a:rPr lang="en-US" dirty="0"/>
              <a:t>Free</a:t>
            </a:r>
          </a:p>
          <a:p>
            <a:r>
              <a:rPr lang="en-US" dirty="0"/>
              <a:t>Avoid Radio, TV, mobile phone band</a:t>
            </a:r>
          </a:p>
          <a:p>
            <a:r>
              <a:rPr lang="en-US" dirty="0"/>
              <a:t>Long range</a:t>
            </a:r>
          </a:p>
          <a:p>
            <a:r>
              <a:rPr lang="en-US" dirty="0"/>
              <a:t>Small antenna</a:t>
            </a:r>
          </a:p>
          <a:p>
            <a:r>
              <a:rPr lang="en-US" dirty="0"/>
              <a:t>Cost</a:t>
            </a:r>
          </a:p>
          <a:p>
            <a:r>
              <a:rPr lang="en-US" dirty="0"/>
              <a:t>Microwave frequency 2.5GHz</a:t>
            </a:r>
          </a:p>
        </p:txBody>
      </p:sp>
      <p:sp>
        <p:nvSpPr>
          <p:cNvPr id="4" name="Slide Number Placeholder 3"/>
          <p:cNvSpPr>
            <a:spLocks noGrp="1"/>
          </p:cNvSpPr>
          <p:nvPr>
            <p:ph type="sldNum" sz="quarter" idx="12"/>
          </p:nvPr>
        </p:nvSpPr>
        <p:spPr/>
        <p:txBody>
          <a:bodyPr/>
          <a:lstStyle/>
          <a:p>
            <a:fld id="{3957FE44-DABC-424D-A234-74BB9410FF27}" type="slidenum">
              <a:rPr lang="en-US" smtClean="0"/>
              <a:pPr/>
              <a:t>23</a:t>
            </a:fld>
            <a:endParaRPr lang="en-US" dirty="0"/>
          </a:p>
        </p:txBody>
      </p:sp>
    </p:spTree>
    <p:extLst>
      <p:ext uri="{BB962C8B-B14F-4D97-AF65-F5344CB8AC3E}">
        <p14:creationId xmlns:p14="http://schemas.microsoft.com/office/powerpoint/2010/main" val="165432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5B0C5-686E-BCDE-BD47-8E94EA9371BE}"/>
              </a:ext>
            </a:extLst>
          </p:cNvPr>
          <p:cNvSpPr>
            <a:spLocks noGrp="1"/>
          </p:cNvSpPr>
          <p:nvPr>
            <p:ph type="title"/>
          </p:nvPr>
        </p:nvSpPr>
        <p:spPr/>
        <p:txBody>
          <a:bodyPr/>
          <a:lstStyle/>
          <a:p>
            <a:r>
              <a:rPr lang="en-US" b="1" dirty="0"/>
              <a:t>Sub-GHz band (&lt;1GHz)</a:t>
            </a:r>
          </a:p>
        </p:txBody>
      </p:sp>
      <p:sp>
        <p:nvSpPr>
          <p:cNvPr id="3" name="Content Placeholder 2">
            <a:extLst>
              <a:ext uri="{FF2B5EF4-FFF2-40B4-BE49-F238E27FC236}">
                <a16:creationId xmlns:a16="http://schemas.microsoft.com/office/drawing/2014/main" id="{FB649766-CB0D-C662-5FD6-781BD245F94B}"/>
              </a:ext>
            </a:extLst>
          </p:cNvPr>
          <p:cNvSpPr>
            <a:spLocks noGrp="1"/>
          </p:cNvSpPr>
          <p:nvPr>
            <p:ph idx="1"/>
          </p:nvPr>
        </p:nvSpPr>
        <p:spPr/>
        <p:txBody>
          <a:bodyPr/>
          <a:lstStyle/>
          <a:p>
            <a:r>
              <a:rPr lang="en-US" sz="2800" i="0" dirty="0">
                <a:effectLst/>
                <a:latin typeface="Open Sans"/>
              </a:rPr>
              <a:t>licensed free</a:t>
            </a:r>
            <a:endParaRPr lang="en-US" sz="2800" dirty="0">
              <a:latin typeface="Open Sans"/>
            </a:endParaRPr>
          </a:p>
          <a:p>
            <a:r>
              <a:rPr lang="en-US" sz="2800" dirty="0">
                <a:latin typeface="Open Sans"/>
              </a:rPr>
              <a:t>F</a:t>
            </a:r>
            <a:r>
              <a:rPr lang="en-US" sz="2800" i="0" dirty="0">
                <a:effectLst/>
                <a:latin typeface="Open Sans"/>
              </a:rPr>
              <a:t>requency less than 1 GHz</a:t>
            </a:r>
          </a:p>
          <a:p>
            <a:pPr lvl="1"/>
            <a:r>
              <a:rPr lang="en-US" sz="2400" i="0" dirty="0">
                <a:effectLst/>
                <a:latin typeface="Open Sans"/>
              </a:rPr>
              <a:t>North America and Australia 915 MHz, </a:t>
            </a:r>
          </a:p>
          <a:p>
            <a:pPr lvl="1"/>
            <a:r>
              <a:rPr lang="en-US" sz="2400" i="0" dirty="0">
                <a:effectLst/>
                <a:latin typeface="Open Sans"/>
              </a:rPr>
              <a:t>Europe 868 MHz, </a:t>
            </a:r>
          </a:p>
          <a:p>
            <a:pPr lvl="1"/>
            <a:r>
              <a:rPr lang="en-US" sz="2400" i="0" dirty="0">
                <a:effectLst/>
                <a:latin typeface="Open Sans"/>
              </a:rPr>
              <a:t>China 470 MHz, and 779 MHz, </a:t>
            </a:r>
          </a:p>
          <a:p>
            <a:pPr lvl="1"/>
            <a:r>
              <a:rPr lang="en-US" sz="2400" i="0" dirty="0">
                <a:effectLst/>
                <a:latin typeface="Open Sans"/>
              </a:rPr>
              <a:t>Japan 426 MHz and 920 </a:t>
            </a:r>
            <a:r>
              <a:rPr lang="en-US" sz="2400" i="0" dirty="0" err="1">
                <a:effectLst/>
                <a:latin typeface="Open Sans"/>
              </a:rPr>
              <a:t>MHz.</a:t>
            </a:r>
            <a:endParaRPr lang="en-US" sz="2400" i="0" dirty="0">
              <a:effectLst/>
              <a:latin typeface="Open Sans"/>
            </a:endParaRPr>
          </a:p>
          <a:p>
            <a:pPr lvl="1"/>
            <a:r>
              <a:rPr lang="en-US" sz="2400" dirty="0">
                <a:latin typeface="Open Sans"/>
              </a:rPr>
              <a:t>The rest </a:t>
            </a:r>
            <a:r>
              <a:rPr lang="en-US" sz="2400" dirty="0" err="1">
                <a:latin typeface="Open Sans"/>
              </a:rPr>
              <a:t>433MHz</a:t>
            </a:r>
            <a:endParaRPr lang="en-US" sz="2400" dirty="0">
              <a:latin typeface="Open Sans"/>
            </a:endParaRPr>
          </a:p>
          <a:p>
            <a:r>
              <a:rPr lang="en-US" sz="2800" i="0" dirty="0">
                <a:effectLst/>
                <a:latin typeface="Open Sans"/>
              </a:rPr>
              <a:t> Mostly use for low power, long range network</a:t>
            </a:r>
          </a:p>
          <a:p>
            <a:pPr lvl="1"/>
            <a:r>
              <a:rPr lang="en-US" sz="2400" b="0" i="0" dirty="0">
                <a:solidFill>
                  <a:srgbClr val="111111"/>
                </a:solidFill>
                <a:effectLst/>
                <a:latin typeface="medium-content-serif-font"/>
              </a:rPr>
              <a:t>hundreds of meters indoors</a:t>
            </a:r>
            <a:r>
              <a:rPr lang="en-US" sz="2400" b="0" dirty="0">
                <a:solidFill>
                  <a:srgbClr val="111111"/>
                </a:solidFill>
                <a:latin typeface="Open Sans"/>
              </a:rPr>
              <a:t>, kilometers outdoors.</a:t>
            </a:r>
          </a:p>
          <a:p>
            <a:pPr lvl="1"/>
            <a:r>
              <a:rPr lang="en-US" sz="2400" dirty="0">
                <a:solidFill>
                  <a:srgbClr val="111111"/>
                </a:solidFill>
                <a:latin typeface="Open Sans"/>
              </a:rPr>
              <a:t>Low data speed (~50kbit/s)</a:t>
            </a:r>
          </a:p>
          <a:p>
            <a:pPr lvl="1"/>
            <a:endParaRPr lang="en-US" dirty="0"/>
          </a:p>
        </p:txBody>
      </p:sp>
      <p:sp>
        <p:nvSpPr>
          <p:cNvPr id="4" name="Slide Number Placeholder 3">
            <a:extLst>
              <a:ext uri="{FF2B5EF4-FFF2-40B4-BE49-F238E27FC236}">
                <a16:creationId xmlns:a16="http://schemas.microsoft.com/office/drawing/2014/main" id="{53AF9D0D-37AE-790E-EFB8-5CF2BEE4079D}"/>
              </a:ext>
            </a:extLst>
          </p:cNvPr>
          <p:cNvSpPr>
            <a:spLocks noGrp="1"/>
          </p:cNvSpPr>
          <p:nvPr>
            <p:ph type="sldNum" sz="quarter" idx="12"/>
          </p:nvPr>
        </p:nvSpPr>
        <p:spPr/>
        <p:txBody>
          <a:bodyPr/>
          <a:lstStyle/>
          <a:p>
            <a:fld id="{3957FE44-DABC-424D-A234-74BB9410FF27}" type="slidenum">
              <a:rPr lang="en-US" smtClean="0"/>
              <a:pPr/>
              <a:t>24</a:t>
            </a:fld>
            <a:endParaRPr lang="en-US" dirty="0"/>
          </a:p>
        </p:txBody>
      </p:sp>
    </p:spTree>
    <p:extLst>
      <p:ext uri="{BB962C8B-B14F-4D97-AF65-F5344CB8AC3E}">
        <p14:creationId xmlns:p14="http://schemas.microsoft.com/office/powerpoint/2010/main" val="361750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Modulation</a:t>
            </a:r>
          </a:p>
        </p:txBody>
      </p:sp>
      <p:sp>
        <p:nvSpPr>
          <p:cNvPr id="4" name="Slide Number Placeholder 3"/>
          <p:cNvSpPr>
            <a:spLocks noGrp="1"/>
          </p:cNvSpPr>
          <p:nvPr>
            <p:ph type="sldNum" sz="quarter" idx="12"/>
          </p:nvPr>
        </p:nvSpPr>
        <p:spPr/>
        <p:txBody>
          <a:bodyPr/>
          <a:lstStyle/>
          <a:p>
            <a:fld id="{3957FE44-DABC-424D-A234-74BB9410FF27}" type="slidenum">
              <a:rPr lang="en-US" smtClean="0"/>
              <a:pPr/>
              <a:t>25</a:t>
            </a:fld>
            <a:endParaRPr lang="en-US" dirty="0"/>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b="21928"/>
          <a:stretch/>
        </p:blipFill>
        <p:spPr>
          <a:xfrm>
            <a:off x="4191000" y="3048000"/>
            <a:ext cx="3840480" cy="1469772"/>
          </a:xfrm>
          <a:prstGeom prst="rect">
            <a:avLst/>
          </a:prstGeom>
        </p:spPr>
      </p:pic>
      <p:sp>
        <p:nvSpPr>
          <p:cNvPr id="8" name="TextBox 7"/>
          <p:cNvSpPr txBox="1"/>
          <p:nvPr/>
        </p:nvSpPr>
        <p:spPr>
          <a:xfrm>
            <a:off x="1752600" y="3459721"/>
            <a:ext cx="1928734" cy="646331"/>
          </a:xfrm>
          <a:prstGeom prst="rect">
            <a:avLst/>
          </a:prstGeom>
          <a:noFill/>
        </p:spPr>
        <p:txBody>
          <a:bodyPr wrap="none" rtlCol="0">
            <a:spAutoFit/>
          </a:bodyPr>
          <a:lstStyle/>
          <a:p>
            <a:pPr algn="ctr"/>
            <a:r>
              <a:rPr lang="en-US" b="1" dirty="0"/>
              <a:t>Frequency Shift</a:t>
            </a:r>
          </a:p>
          <a:p>
            <a:pPr algn="ctr"/>
            <a:r>
              <a:rPr lang="en-US" b="1" dirty="0"/>
              <a:t>Keying (FSK)</a:t>
            </a:r>
          </a:p>
        </p:txBody>
      </p:sp>
      <p:pic>
        <p:nvPicPr>
          <p:cNvPr id="9" name="Picture 8"/>
          <p:cNvPicPr>
            <a:picLocks noChangeAspect="1"/>
          </p:cNvPicPr>
          <p:nvPr/>
        </p:nvPicPr>
        <p:blipFill rotWithShape="1">
          <a:blip r:embed="rId4" cstate="print">
            <a:extLst>
              <a:ext uri="{28A0092B-C50C-407E-A947-70E740481C1C}">
                <a14:useLocalDpi xmlns:a14="http://schemas.microsoft.com/office/drawing/2010/main" val="0"/>
              </a:ext>
            </a:extLst>
          </a:blip>
          <a:srcRect b="16311"/>
          <a:stretch/>
        </p:blipFill>
        <p:spPr>
          <a:xfrm>
            <a:off x="4191000" y="1369860"/>
            <a:ext cx="3840480" cy="1507790"/>
          </a:xfrm>
          <a:prstGeom prst="rect">
            <a:avLst/>
          </a:prstGeom>
        </p:spPr>
      </p:pic>
      <p:sp>
        <p:nvSpPr>
          <p:cNvPr id="10" name="TextBox 9"/>
          <p:cNvSpPr txBox="1"/>
          <p:nvPr/>
        </p:nvSpPr>
        <p:spPr>
          <a:xfrm>
            <a:off x="1752600" y="1800590"/>
            <a:ext cx="1890262" cy="646331"/>
          </a:xfrm>
          <a:prstGeom prst="rect">
            <a:avLst/>
          </a:prstGeom>
          <a:noFill/>
        </p:spPr>
        <p:txBody>
          <a:bodyPr wrap="none" rtlCol="0">
            <a:spAutoFit/>
          </a:bodyPr>
          <a:lstStyle/>
          <a:p>
            <a:pPr algn="ctr"/>
            <a:r>
              <a:rPr lang="en-US" b="1" dirty="0"/>
              <a:t>Amplitude Shift</a:t>
            </a:r>
          </a:p>
          <a:p>
            <a:pPr algn="ctr"/>
            <a:r>
              <a:rPr lang="en-US" b="1" dirty="0"/>
              <a:t>Keying (ASK)</a:t>
            </a:r>
          </a:p>
        </p:txBody>
      </p:sp>
      <p:pic>
        <p:nvPicPr>
          <p:cNvPr id="11" name="Picture 10"/>
          <p:cNvPicPr>
            <a:picLocks noChangeAspect="1"/>
          </p:cNvPicPr>
          <p:nvPr/>
        </p:nvPicPr>
        <p:blipFill rotWithShape="1">
          <a:blip r:embed="rId5" cstate="print">
            <a:extLst>
              <a:ext uri="{28A0092B-C50C-407E-A947-70E740481C1C}">
                <a14:useLocalDpi xmlns:a14="http://schemas.microsoft.com/office/drawing/2010/main" val="0"/>
              </a:ext>
            </a:extLst>
          </a:blip>
          <a:srcRect b="21485"/>
          <a:stretch/>
        </p:blipFill>
        <p:spPr>
          <a:xfrm>
            <a:off x="4203700" y="4687838"/>
            <a:ext cx="3840480" cy="1560563"/>
          </a:xfrm>
          <a:prstGeom prst="rect">
            <a:avLst/>
          </a:prstGeom>
        </p:spPr>
      </p:pic>
      <p:sp>
        <p:nvSpPr>
          <p:cNvPr id="12" name="TextBox 11"/>
          <p:cNvSpPr txBox="1"/>
          <p:nvPr/>
        </p:nvSpPr>
        <p:spPr>
          <a:xfrm>
            <a:off x="1900077" y="5144953"/>
            <a:ext cx="1633781" cy="646331"/>
          </a:xfrm>
          <a:prstGeom prst="rect">
            <a:avLst/>
          </a:prstGeom>
          <a:noFill/>
        </p:spPr>
        <p:txBody>
          <a:bodyPr wrap="none" rtlCol="0">
            <a:spAutoFit/>
          </a:bodyPr>
          <a:lstStyle/>
          <a:p>
            <a:pPr algn="ctr"/>
            <a:r>
              <a:rPr lang="en-US" b="1" dirty="0"/>
              <a:t>Phase Shift</a:t>
            </a:r>
          </a:p>
          <a:p>
            <a:pPr algn="ctr"/>
            <a:r>
              <a:rPr lang="en-US" b="1" dirty="0"/>
              <a:t>Keying (PSK)</a:t>
            </a:r>
          </a:p>
        </p:txBody>
      </p:sp>
      <p:sp>
        <p:nvSpPr>
          <p:cNvPr id="13" name="Rectangle 12"/>
          <p:cNvSpPr/>
          <p:nvPr/>
        </p:nvSpPr>
        <p:spPr>
          <a:xfrm>
            <a:off x="3624888" y="6357923"/>
            <a:ext cx="4572000" cy="307777"/>
          </a:xfrm>
          <a:prstGeom prst="rect">
            <a:avLst/>
          </a:prstGeom>
        </p:spPr>
        <p:txBody>
          <a:bodyPr>
            <a:spAutoFit/>
          </a:bodyPr>
          <a:lstStyle/>
          <a:p>
            <a:r>
              <a:rPr lang="en-US" sz="1400" i="1" dirty="0">
                <a:solidFill>
                  <a:srgbClr val="0070C0"/>
                </a:solidFill>
              </a:rPr>
              <a:t>http://ironbark.xtelco.com.au/subjects/DC/lectures/7/</a:t>
            </a:r>
          </a:p>
        </p:txBody>
      </p:sp>
      <p:sp>
        <p:nvSpPr>
          <p:cNvPr id="14" name="Rectangle 13"/>
          <p:cNvSpPr/>
          <p:nvPr/>
        </p:nvSpPr>
        <p:spPr>
          <a:xfrm>
            <a:off x="8077200" y="1477629"/>
            <a:ext cx="1454244" cy="369332"/>
          </a:xfrm>
          <a:prstGeom prst="rect">
            <a:avLst/>
          </a:prstGeom>
        </p:spPr>
        <p:txBody>
          <a:bodyPr wrap="none">
            <a:spAutoFit/>
          </a:bodyPr>
          <a:lstStyle/>
          <a:p>
            <a:r>
              <a:rPr lang="en-US" dirty="0">
                <a:latin typeface="Arial" panose="020B0604020202020204" pitchFamily="34" charset="0"/>
              </a:rPr>
              <a:t>Pros: simple</a:t>
            </a:r>
            <a:endParaRPr lang="en-US" dirty="0"/>
          </a:p>
        </p:txBody>
      </p:sp>
      <p:sp>
        <p:nvSpPr>
          <p:cNvPr id="15" name="Rectangle 14"/>
          <p:cNvSpPr/>
          <p:nvPr/>
        </p:nvSpPr>
        <p:spPr>
          <a:xfrm>
            <a:off x="8113122" y="1821899"/>
            <a:ext cx="2326278" cy="646331"/>
          </a:xfrm>
          <a:prstGeom prst="rect">
            <a:avLst/>
          </a:prstGeom>
        </p:spPr>
        <p:txBody>
          <a:bodyPr wrap="none">
            <a:spAutoFit/>
          </a:bodyPr>
          <a:lstStyle/>
          <a:p>
            <a:r>
              <a:rPr lang="en-US" dirty="0">
                <a:latin typeface="Arial" panose="020B0604020202020204" pitchFamily="34" charset="0"/>
              </a:rPr>
              <a:t>Cons: susceptible to </a:t>
            </a:r>
          </a:p>
          <a:p>
            <a:r>
              <a:rPr lang="en-US" dirty="0">
                <a:latin typeface="Arial" panose="020B0604020202020204" pitchFamily="34" charset="0"/>
              </a:rPr>
              <a:t>noise</a:t>
            </a:r>
            <a:endParaRPr lang="en-US" dirty="0"/>
          </a:p>
        </p:txBody>
      </p:sp>
      <p:sp>
        <p:nvSpPr>
          <p:cNvPr id="16" name="Rectangle 15"/>
          <p:cNvSpPr/>
          <p:nvPr/>
        </p:nvSpPr>
        <p:spPr>
          <a:xfrm>
            <a:off x="8133388" y="3087792"/>
            <a:ext cx="2416046" cy="646331"/>
          </a:xfrm>
          <a:prstGeom prst="rect">
            <a:avLst/>
          </a:prstGeom>
        </p:spPr>
        <p:txBody>
          <a:bodyPr wrap="none">
            <a:spAutoFit/>
          </a:bodyPr>
          <a:lstStyle/>
          <a:p>
            <a:r>
              <a:rPr lang="en-US" dirty="0">
                <a:latin typeface="Arial" panose="020B0604020202020204" pitchFamily="34" charset="0"/>
              </a:rPr>
              <a:t>Pros: less susceptible</a:t>
            </a:r>
          </a:p>
          <a:p>
            <a:r>
              <a:rPr lang="en-US" dirty="0">
                <a:latin typeface="Arial" panose="020B0604020202020204" pitchFamily="34" charset="0"/>
              </a:rPr>
              <a:t> to noise</a:t>
            </a:r>
            <a:endParaRPr lang="en-US" dirty="0"/>
          </a:p>
        </p:txBody>
      </p:sp>
      <p:sp>
        <p:nvSpPr>
          <p:cNvPr id="18" name="Rectangle 17"/>
          <p:cNvSpPr/>
          <p:nvPr/>
        </p:nvSpPr>
        <p:spPr>
          <a:xfrm>
            <a:off x="8113997" y="3733919"/>
            <a:ext cx="2685164" cy="646331"/>
          </a:xfrm>
          <a:prstGeom prst="rect">
            <a:avLst/>
          </a:prstGeom>
        </p:spPr>
        <p:txBody>
          <a:bodyPr wrap="square">
            <a:spAutoFit/>
          </a:bodyPr>
          <a:lstStyle/>
          <a:p>
            <a:r>
              <a:rPr lang="en-US" dirty="0">
                <a:latin typeface="Arial" panose="020B0604020202020204" pitchFamily="34" charset="0"/>
              </a:rPr>
              <a:t>Cons: requires larger bandwidth/bit than ASK</a:t>
            </a:r>
            <a:endParaRPr lang="en-US" dirty="0"/>
          </a:p>
        </p:txBody>
      </p:sp>
      <p:sp>
        <p:nvSpPr>
          <p:cNvPr id="19" name="Rectangle 18"/>
          <p:cNvSpPr/>
          <p:nvPr/>
        </p:nvSpPr>
        <p:spPr>
          <a:xfrm>
            <a:off x="8153401" y="4714611"/>
            <a:ext cx="2645761" cy="923330"/>
          </a:xfrm>
          <a:prstGeom prst="rect">
            <a:avLst/>
          </a:prstGeom>
        </p:spPr>
        <p:txBody>
          <a:bodyPr wrap="square">
            <a:spAutoFit/>
          </a:bodyPr>
          <a:lstStyle/>
          <a:p>
            <a:r>
              <a:rPr lang="en-US" dirty="0">
                <a:latin typeface="Arial" panose="020B0604020202020204" pitchFamily="34" charset="0"/>
              </a:rPr>
              <a:t>Pros:</a:t>
            </a:r>
            <a:r>
              <a:rPr lang="en-US" dirty="0">
                <a:latin typeface="Times New Roman" panose="02020603050405020304" pitchFamily="18" charset="0"/>
              </a:rPr>
              <a:t> </a:t>
            </a:r>
            <a:r>
              <a:rPr lang="en-US" dirty="0">
                <a:latin typeface="Arial" panose="020B0604020202020204" pitchFamily="34" charset="0"/>
              </a:rPr>
              <a:t>Less susceptible to noise,</a:t>
            </a:r>
            <a:r>
              <a:rPr lang="en-US" dirty="0">
                <a:latin typeface="Times New Roman" panose="02020603050405020304" pitchFamily="18" charset="0"/>
              </a:rPr>
              <a:t> </a:t>
            </a:r>
            <a:r>
              <a:rPr lang="en-US" dirty="0">
                <a:latin typeface="Arial" panose="020B0604020202020204" pitchFamily="34" charset="0"/>
              </a:rPr>
              <a:t>Bandwidth efficient</a:t>
            </a:r>
            <a:endParaRPr lang="en-US" dirty="0"/>
          </a:p>
        </p:txBody>
      </p:sp>
      <p:sp>
        <p:nvSpPr>
          <p:cNvPr id="20" name="Rectangle 19"/>
          <p:cNvSpPr/>
          <p:nvPr/>
        </p:nvSpPr>
        <p:spPr>
          <a:xfrm>
            <a:off x="8153401" y="5545817"/>
            <a:ext cx="2627673" cy="923330"/>
          </a:xfrm>
          <a:prstGeom prst="rect">
            <a:avLst/>
          </a:prstGeom>
        </p:spPr>
        <p:txBody>
          <a:bodyPr wrap="square">
            <a:spAutoFit/>
          </a:bodyPr>
          <a:lstStyle/>
          <a:p>
            <a:r>
              <a:rPr lang="en-US" dirty="0">
                <a:latin typeface="Arial" panose="020B0604020202020204" pitchFamily="34" charset="0"/>
              </a:rPr>
              <a:t>Cons: Require synchronization in frequency and phase</a:t>
            </a:r>
            <a:endParaRPr lang="en-US" dirty="0"/>
          </a:p>
        </p:txBody>
      </p:sp>
    </p:spTree>
    <p:extLst>
      <p:ext uri="{BB962C8B-B14F-4D97-AF65-F5344CB8AC3E}">
        <p14:creationId xmlns:p14="http://schemas.microsoft.com/office/powerpoint/2010/main" val="4253231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Wireless Communication Systems</a:t>
            </a:r>
          </a:p>
        </p:txBody>
      </p:sp>
      <p:sp>
        <p:nvSpPr>
          <p:cNvPr id="4" name="Slide Number Placeholder 3"/>
          <p:cNvSpPr>
            <a:spLocks noGrp="1"/>
          </p:cNvSpPr>
          <p:nvPr>
            <p:ph type="sldNum" sz="quarter" idx="12"/>
          </p:nvPr>
        </p:nvSpPr>
        <p:spPr/>
        <p:txBody>
          <a:bodyPr/>
          <a:lstStyle/>
          <a:p>
            <a:fld id="{3957FE44-DABC-424D-A234-74BB9410FF27}" type="slidenum">
              <a:rPr lang="en-US" smtClean="0"/>
              <a:pPr/>
              <a:t>26</a:t>
            </a:fld>
            <a:endParaRPr lang="en-US" dirty="0"/>
          </a:p>
        </p:txBody>
      </p:sp>
      <p:pic>
        <p:nvPicPr>
          <p:cNvPr id="9" name="Picture 8"/>
          <p:cNvPicPr>
            <a:picLocks noChangeAspect="1"/>
          </p:cNvPicPr>
          <p:nvPr/>
        </p:nvPicPr>
        <p:blipFill>
          <a:blip r:embed="rId2"/>
          <a:stretch>
            <a:fillRect/>
          </a:stretch>
        </p:blipFill>
        <p:spPr>
          <a:xfrm>
            <a:off x="1981200" y="1633833"/>
            <a:ext cx="6629400" cy="4867275"/>
          </a:xfrm>
          <a:prstGeom prst="rect">
            <a:avLst/>
          </a:prstGeom>
        </p:spPr>
      </p:pic>
      <p:sp>
        <p:nvSpPr>
          <p:cNvPr id="10" name="Rectangle 9"/>
          <p:cNvSpPr/>
          <p:nvPr/>
        </p:nvSpPr>
        <p:spPr>
          <a:xfrm>
            <a:off x="8521194" y="2438400"/>
            <a:ext cx="2146806" cy="369332"/>
          </a:xfrm>
          <a:prstGeom prst="rect">
            <a:avLst/>
          </a:prstGeom>
        </p:spPr>
        <p:txBody>
          <a:bodyPr wrap="none">
            <a:spAutoFit/>
          </a:bodyPr>
          <a:lstStyle/>
          <a:p>
            <a:r>
              <a:rPr lang="en-US" b="1">
                <a:solidFill>
                  <a:srgbClr val="FF0000"/>
                </a:solidFill>
                <a:latin typeface="Arial" panose="020B0604020202020204" pitchFamily="34" charset="0"/>
              </a:rPr>
              <a:t>Radio Transmitter</a:t>
            </a:r>
            <a:endParaRPr lang="en-US" dirty="0"/>
          </a:p>
        </p:txBody>
      </p:sp>
      <p:sp>
        <p:nvSpPr>
          <p:cNvPr id="11" name="Rectangle 10"/>
          <p:cNvSpPr/>
          <p:nvPr/>
        </p:nvSpPr>
        <p:spPr>
          <a:xfrm>
            <a:off x="8751506" y="5562600"/>
            <a:ext cx="1851789" cy="369332"/>
          </a:xfrm>
          <a:prstGeom prst="rect">
            <a:avLst/>
          </a:prstGeom>
        </p:spPr>
        <p:txBody>
          <a:bodyPr wrap="none">
            <a:spAutoFit/>
          </a:bodyPr>
          <a:lstStyle/>
          <a:p>
            <a:r>
              <a:rPr lang="en-US" b="1" dirty="0">
                <a:solidFill>
                  <a:srgbClr val="FF0000"/>
                </a:solidFill>
                <a:latin typeface="Arial" panose="020B0604020202020204" pitchFamily="34" charset="0"/>
              </a:rPr>
              <a:t>Radio Receiver</a:t>
            </a:r>
            <a:endParaRPr lang="en-US" dirty="0"/>
          </a:p>
        </p:txBody>
      </p:sp>
    </p:spTree>
    <p:extLst>
      <p:ext uri="{BB962C8B-B14F-4D97-AF65-F5344CB8AC3E}">
        <p14:creationId xmlns:p14="http://schemas.microsoft.com/office/powerpoint/2010/main" val="2141252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B1E22-A92C-7161-892E-BB93AB94B71D}"/>
              </a:ext>
            </a:extLst>
          </p:cNvPr>
          <p:cNvSpPr>
            <a:spLocks noGrp="1"/>
          </p:cNvSpPr>
          <p:nvPr>
            <p:ph type="title"/>
          </p:nvPr>
        </p:nvSpPr>
        <p:spPr/>
        <p:txBody>
          <a:bodyPr>
            <a:normAutofit/>
          </a:bodyPr>
          <a:lstStyle/>
          <a:p>
            <a:r>
              <a:rPr lang="en-US" b="1" dirty="0"/>
              <a:t>Link budget</a:t>
            </a:r>
          </a:p>
        </p:txBody>
      </p:sp>
      <p:sp>
        <p:nvSpPr>
          <p:cNvPr id="3" name="Content Placeholder 2">
            <a:extLst>
              <a:ext uri="{FF2B5EF4-FFF2-40B4-BE49-F238E27FC236}">
                <a16:creationId xmlns:a16="http://schemas.microsoft.com/office/drawing/2014/main" id="{853CD537-5422-EECF-AC3D-0C7022BA9CF9}"/>
              </a:ext>
            </a:extLst>
          </p:cNvPr>
          <p:cNvSpPr>
            <a:spLocks noGrp="1"/>
          </p:cNvSpPr>
          <p:nvPr>
            <p:ph idx="1"/>
          </p:nvPr>
        </p:nvSpPr>
        <p:spPr/>
        <p:txBody>
          <a:bodyPr/>
          <a:lstStyle/>
          <a:p>
            <a:r>
              <a:rPr lang="en-US" dirty="0"/>
              <a:t>Link budget is a way of quantifying the connection performance</a:t>
            </a:r>
          </a:p>
          <a:p>
            <a:pPr marL="0" indent="0" algn="ctr">
              <a:buNone/>
            </a:pPr>
            <a:r>
              <a:rPr lang="en-US" sz="1600" b="1" dirty="0">
                <a:solidFill>
                  <a:srgbClr val="0070C0"/>
                </a:solidFill>
                <a:latin typeface="Arial" panose="020B0604020202020204" pitchFamily="34" charset="0"/>
              </a:rPr>
              <a:t>Received power (dBm) = Transmitted power (dBm) + gains (dB) - losses (dB)</a:t>
            </a:r>
            <a:endParaRPr lang="en-US" sz="1600" dirty="0">
              <a:solidFill>
                <a:srgbClr val="0070C0"/>
              </a:solidFill>
            </a:endParaRPr>
          </a:p>
        </p:txBody>
      </p:sp>
      <p:sp>
        <p:nvSpPr>
          <p:cNvPr id="4" name="Slide Number Placeholder 3">
            <a:extLst>
              <a:ext uri="{FF2B5EF4-FFF2-40B4-BE49-F238E27FC236}">
                <a16:creationId xmlns:a16="http://schemas.microsoft.com/office/drawing/2014/main" id="{4D6809AF-497E-7B44-6B80-524DC1E7B206}"/>
              </a:ext>
            </a:extLst>
          </p:cNvPr>
          <p:cNvSpPr>
            <a:spLocks noGrp="1"/>
          </p:cNvSpPr>
          <p:nvPr>
            <p:ph type="sldNum" sz="quarter" idx="12"/>
          </p:nvPr>
        </p:nvSpPr>
        <p:spPr/>
        <p:txBody>
          <a:bodyPr/>
          <a:lstStyle/>
          <a:p>
            <a:fld id="{3957FE44-DABC-424D-A234-74BB9410FF27}" type="slidenum">
              <a:rPr lang="en-US" smtClean="0"/>
              <a:pPr/>
              <a:t>27</a:t>
            </a:fld>
            <a:endParaRPr lang="en-US" dirty="0"/>
          </a:p>
        </p:txBody>
      </p:sp>
      <p:pic>
        <p:nvPicPr>
          <p:cNvPr id="5" name="Picture 4">
            <a:extLst>
              <a:ext uri="{FF2B5EF4-FFF2-40B4-BE49-F238E27FC236}">
                <a16:creationId xmlns:a16="http://schemas.microsoft.com/office/drawing/2014/main" id="{5D734B6F-5FA5-482C-81C8-A7E7833D57DD}"/>
              </a:ext>
            </a:extLst>
          </p:cNvPr>
          <p:cNvPicPr>
            <a:picLocks noChangeAspect="1"/>
          </p:cNvPicPr>
          <p:nvPr/>
        </p:nvPicPr>
        <p:blipFill>
          <a:blip r:embed="rId2"/>
          <a:stretch>
            <a:fillRect/>
          </a:stretch>
        </p:blipFill>
        <p:spPr>
          <a:xfrm>
            <a:off x="3429000" y="2793792"/>
            <a:ext cx="4800600" cy="2006808"/>
          </a:xfrm>
          <a:prstGeom prst="rect">
            <a:avLst/>
          </a:prstGeom>
        </p:spPr>
      </p:pic>
      <p:pic>
        <p:nvPicPr>
          <p:cNvPr id="2050" name="Picture 2">
            <a:extLst>
              <a:ext uri="{FF2B5EF4-FFF2-40B4-BE49-F238E27FC236}">
                <a16:creationId xmlns:a16="http://schemas.microsoft.com/office/drawing/2014/main" id="{18EC05DE-AD09-EEEC-4EEC-5EAF0EDDC0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9600" y="4782553"/>
            <a:ext cx="281940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0835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B1E22-A92C-7161-892E-BB93AB94B71D}"/>
              </a:ext>
            </a:extLst>
          </p:cNvPr>
          <p:cNvSpPr>
            <a:spLocks noGrp="1"/>
          </p:cNvSpPr>
          <p:nvPr>
            <p:ph type="title"/>
          </p:nvPr>
        </p:nvSpPr>
        <p:spPr/>
        <p:txBody>
          <a:bodyPr>
            <a:normAutofit/>
          </a:bodyPr>
          <a:lstStyle/>
          <a:p>
            <a:r>
              <a:rPr lang="en-US" b="1" dirty="0"/>
              <a:t>Link budget</a:t>
            </a:r>
          </a:p>
        </p:txBody>
      </p:sp>
      <p:sp>
        <p:nvSpPr>
          <p:cNvPr id="3" name="Content Placeholder 2">
            <a:extLst>
              <a:ext uri="{FF2B5EF4-FFF2-40B4-BE49-F238E27FC236}">
                <a16:creationId xmlns:a16="http://schemas.microsoft.com/office/drawing/2014/main" id="{853CD537-5422-EECF-AC3D-0C7022BA9CF9}"/>
              </a:ext>
            </a:extLst>
          </p:cNvPr>
          <p:cNvSpPr>
            <a:spLocks noGrp="1"/>
          </p:cNvSpPr>
          <p:nvPr>
            <p:ph idx="1"/>
          </p:nvPr>
        </p:nvSpPr>
        <p:spPr/>
        <p:txBody>
          <a:bodyPr/>
          <a:lstStyle/>
          <a:p>
            <a:pPr marL="0" indent="0" algn="ctr">
              <a:buNone/>
            </a:pPr>
            <a:endParaRPr lang="en-US" sz="1600" b="1" dirty="0">
              <a:solidFill>
                <a:srgbClr val="0070C0"/>
              </a:solidFill>
              <a:latin typeface="Arial" panose="020B0604020202020204" pitchFamily="34" charset="0"/>
            </a:endParaRPr>
          </a:p>
          <a:p>
            <a:pPr marL="0" indent="0" algn="ctr">
              <a:buNone/>
            </a:pPr>
            <a:endParaRPr lang="en-US" sz="1600" b="1" dirty="0">
              <a:solidFill>
                <a:srgbClr val="0070C0"/>
              </a:solidFill>
              <a:latin typeface="Arial" panose="020B0604020202020204" pitchFamily="34" charset="0"/>
            </a:endParaRPr>
          </a:p>
          <a:p>
            <a:pPr marL="0" indent="0" algn="ctr">
              <a:buNone/>
            </a:pPr>
            <a:endParaRPr lang="en-US" sz="1600" b="1" dirty="0">
              <a:solidFill>
                <a:srgbClr val="0070C0"/>
              </a:solidFill>
              <a:latin typeface="Arial" panose="020B0604020202020204" pitchFamily="34" charset="0"/>
            </a:endParaRPr>
          </a:p>
          <a:p>
            <a:pPr marL="0" indent="0" algn="ctr">
              <a:buNone/>
            </a:pPr>
            <a:endParaRPr lang="en-US" sz="1600" b="1" dirty="0">
              <a:solidFill>
                <a:srgbClr val="0070C0"/>
              </a:solidFill>
              <a:latin typeface="Arial" panose="020B0604020202020204" pitchFamily="34" charset="0"/>
            </a:endParaRPr>
          </a:p>
          <a:p>
            <a:pPr marL="0" indent="0" algn="ctr">
              <a:buNone/>
            </a:pPr>
            <a:endParaRPr lang="en-US" sz="1600" b="1" dirty="0">
              <a:solidFill>
                <a:srgbClr val="0070C0"/>
              </a:solidFill>
              <a:latin typeface="Arial" panose="020B0604020202020204" pitchFamily="34" charset="0"/>
            </a:endParaRPr>
          </a:p>
          <a:p>
            <a:pPr marL="0" indent="0" algn="ctr">
              <a:buNone/>
            </a:pPr>
            <a:endParaRPr lang="en-US" sz="1600" b="1" dirty="0">
              <a:solidFill>
                <a:srgbClr val="0070C0"/>
              </a:solidFill>
              <a:latin typeface="Arial" panose="020B0604020202020204" pitchFamily="34" charset="0"/>
            </a:endParaRPr>
          </a:p>
          <a:p>
            <a:pPr marL="0" indent="0" algn="ctr">
              <a:buNone/>
            </a:pPr>
            <a:endParaRPr lang="en-US" sz="1600" b="1" dirty="0">
              <a:solidFill>
                <a:srgbClr val="0070C0"/>
              </a:solidFill>
              <a:latin typeface="Arial" panose="020B0604020202020204" pitchFamily="34" charset="0"/>
            </a:endParaRPr>
          </a:p>
          <a:p>
            <a:pPr marL="0" indent="0" algn="ctr">
              <a:buNone/>
            </a:pPr>
            <a:r>
              <a:rPr lang="en-US" sz="1600" b="1" dirty="0" err="1">
                <a:latin typeface="Arial" panose="020B0604020202020204" pitchFamily="34" charset="0"/>
              </a:rPr>
              <a:t>P</a:t>
            </a:r>
            <a:r>
              <a:rPr lang="en-US" sz="1600" b="1" baseline="-25000" dirty="0" err="1">
                <a:latin typeface="Arial" panose="020B0604020202020204" pitchFamily="34" charset="0"/>
              </a:rPr>
              <a:t>Rx</a:t>
            </a:r>
            <a:r>
              <a:rPr lang="en-US" sz="1600" b="1" dirty="0">
                <a:latin typeface="Arial" panose="020B0604020202020204" pitchFamily="34" charset="0"/>
              </a:rPr>
              <a:t>(dBm) = P</a:t>
            </a:r>
            <a:r>
              <a:rPr lang="en-US" sz="1600" b="1" baseline="-25000" dirty="0">
                <a:latin typeface="Arial" panose="020B0604020202020204" pitchFamily="34" charset="0"/>
              </a:rPr>
              <a:t>TX</a:t>
            </a:r>
            <a:r>
              <a:rPr lang="en-US" sz="1600" b="1" dirty="0">
                <a:latin typeface="Arial" panose="020B0604020202020204" pitchFamily="34" charset="0"/>
              </a:rPr>
              <a:t> (dBm) + G</a:t>
            </a:r>
            <a:r>
              <a:rPr lang="en-US" sz="1600" b="1" baseline="-25000" dirty="0">
                <a:latin typeface="Arial" panose="020B0604020202020204" pitchFamily="34" charset="0"/>
              </a:rPr>
              <a:t>TX</a:t>
            </a:r>
            <a:r>
              <a:rPr lang="en-US" sz="1600" b="1" dirty="0">
                <a:latin typeface="Arial" panose="020B0604020202020204" pitchFamily="34" charset="0"/>
              </a:rPr>
              <a:t> (</a:t>
            </a:r>
            <a:r>
              <a:rPr lang="en-US" sz="1600" b="1" dirty="0" err="1">
                <a:latin typeface="Arial" panose="020B0604020202020204" pitchFamily="34" charset="0"/>
              </a:rPr>
              <a:t>dBi</a:t>
            </a:r>
            <a:r>
              <a:rPr lang="en-US" sz="1600" b="1" dirty="0">
                <a:latin typeface="Arial" panose="020B0604020202020204" pitchFamily="34" charset="0"/>
              </a:rPr>
              <a:t>) + G</a:t>
            </a:r>
            <a:r>
              <a:rPr lang="en-US" sz="1600" b="1" baseline="-25000" dirty="0">
                <a:latin typeface="Arial" panose="020B0604020202020204" pitchFamily="34" charset="0"/>
              </a:rPr>
              <a:t>RX</a:t>
            </a:r>
            <a:r>
              <a:rPr lang="en-US" sz="1600" b="1" dirty="0">
                <a:latin typeface="Arial" panose="020B0604020202020204" pitchFamily="34" charset="0"/>
              </a:rPr>
              <a:t> (</a:t>
            </a:r>
            <a:r>
              <a:rPr lang="en-US" sz="1600" b="1" dirty="0" err="1">
                <a:latin typeface="Arial" panose="020B0604020202020204" pitchFamily="34" charset="0"/>
              </a:rPr>
              <a:t>dBi</a:t>
            </a:r>
            <a:r>
              <a:rPr lang="en-US" sz="1600" b="1" dirty="0">
                <a:latin typeface="Arial" panose="020B0604020202020204" pitchFamily="34" charset="0"/>
              </a:rPr>
              <a:t>) – L</a:t>
            </a:r>
            <a:r>
              <a:rPr lang="en-US" sz="1600" b="1" baseline="-25000" dirty="0">
                <a:latin typeface="Arial" panose="020B0604020202020204" pitchFamily="34" charset="0"/>
              </a:rPr>
              <a:t>FS</a:t>
            </a:r>
            <a:r>
              <a:rPr lang="en-US" sz="1600" b="1" dirty="0">
                <a:latin typeface="Arial" panose="020B0604020202020204" pitchFamily="34" charset="0"/>
              </a:rPr>
              <a:t> (dB) – L</a:t>
            </a:r>
            <a:r>
              <a:rPr lang="en-US" sz="1600" b="1" baseline="-25000" dirty="0">
                <a:latin typeface="Arial" panose="020B0604020202020204" pitchFamily="34" charset="0"/>
              </a:rPr>
              <a:t>TX</a:t>
            </a:r>
            <a:r>
              <a:rPr lang="en-US" sz="1600" b="1" dirty="0">
                <a:latin typeface="Arial" panose="020B0604020202020204" pitchFamily="34" charset="0"/>
              </a:rPr>
              <a:t> (dB) – L</a:t>
            </a:r>
            <a:r>
              <a:rPr lang="en-US" sz="1600" b="1" baseline="-25000" dirty="0">
                <a:latin typeface="Arial" panose="020B0604020202020204" pitchFamily="34" charset="0"/>
              </a:rPr>
              <a:t>RX</a:t>
            </a:r>
            <a:r>
              <a:rPr lang="en-US" sz="1600" b="1" dirty="0">
                <a:latin typeface="Arial" panose="020B0604020202020204" pitchFamily="34" charset="0"/>
              </a:rPr>
              <a:t> (dB)</a:t>
            </a:r>
          </a:p>
          <a:p>
            <a:pPr marL="0" indent="0" algn="ctr">
              <a:buNone/>
            </a:pPr>
            <a:endParaRPr lang="en-US" sz="1600" b="1" dirty="0">
              <a:latin typeface="Arial" panose="020B0604020202020204" pitchFamily="34" charset="0"/>
            </a:endParaRPr>
          </a:p>
          <a:p>
            <a:pPr marL="0" indent="0">
              <a:buNone/>
            </a:pPr>
            <a:r>
              <a:rPr lang="en-US" sz="1600" b="1" dirty="0">
                <a:latin typeface="Arial" panose="020B0604020202020204" pitchFamily="34" charset="0"/>
              </a:rPr>
              <a:t>     where L</a:t>
            </a:r>
            <a:r>
              <a:rPr lang="en-US" sz="1600" b="1" baseline="-25000" dirty="0">
                <a:latin typeface="Arial" panose="020B0604020202020204" pitchFamily="34" charset="0"/>
              </a:rPr>
              <a:t>FS</a:t>
            </a:r>
            <a:r>
              <a:rPr lang="en-US" sz="1600" b="1" dirty="0">
                <a:latin typeface="Arial" panose="020B0604020202020204" pitchFamily="34" charset="0"/>
              </a:rPr>
              <a:t>: Free-space Loss (propagation loss)</a:t>
            </a:r>
            <a:endParaRPr lang="en-US" sz="1600" dirty="0"/>
          </a:p>
        </p:txBody>
      </p:sp>
      <p:sp>
        <p:nvSpPr>
          <p:cNvPr id="4" name="Slide Number Placeholder 3">
            <a:extLst>
              <a:ext uri="{FF2B5EF4-FFF2-40B4-BE49-F238E27FC236}">
                <a16:creationId xmlns:a16="http://schemas.microsoft.com/office/drawing/2014/main" id="{4D6809AF-497E-7B44-6B80-524DC1E7B206}"/>
              </a:ext>
            </a:extLst>
          </p:cNvPr>
          <p:cNvSpPr>
            <a:spLocks noGrp="1"/>
          </p:cNvSpPr>
          <p:nvPr>
            <p:ph type="sldNum" sz="quarter" idx="12"/>
          </p:nvPr>
        </p:nvSpPr>
        <p:spPr/>
        <p:txBody>
          <a:bodyPr/>
          <a:lstStyle/>
          <a:p>
            <a:fld id="{3957FE44-DABC-424D-A234-74BB9410FF27}" type="slidenum">
              <a:rPr lang="en-US" smtClean="0"/>
              <a:pPr/>
              <a:t>28</a:t>
            </a:fld>
            <a:endParaRPr lang="en-US" dirty="0"/>
          </a:p>
        </p:txBody>
      </p:sp>
      <p:pic>
        <p:nvPicPr>
          <p:cNvPr id="5" name="Picture 4">
            <a:extLst>
              <a:ext uri="{FF2B5EF4-FFF2-40B4-BE49-F238E27FC236}">
                <a16:creationId xmlns:a16="http://schemas.microsoft.com/office/drawing/2014/main" id="{5D734B6F-5FA5-482C-81C8-A7E7833D57DD}"/>
              </a:ext>
            </a:extLst>
          </p:cNvPr>
          <p:cNvPicPr>
            <a:picLocks noChangeAspect="1"/>
          </p:cNvPicPr>
          <p:nvPr/>
        </p:nvPicPr>
        <p:blipFill>
          <a:blip r:embed="rId2"/>
          <a:stretch>
            <a:fillRect/>
          </a:stretch>
        </p:blipFill>
        <p:spPr>
          <a:xfrm>
            <a:off x="3695700" y="1576093"/>
            <a:ext cx="4800600" cy="2006808"/>
          </a:xfrm>
          <a:prstGeom prst="rect">
            <a:avLst/>
          </a:prstGeom>
        </p:spPr>
      </p:pic>
      <p:pic>
        <p:nvPicPr>
          <p:cNvPr id="7" name="Picture 6">
            <a:extLst>
              <a:ext uri="{FF2B5EF4-FFF2-40B4-BE49-F238E27FC236}">
                <a16:creationId xmlns:a16="http://schemas.microsoft.com/office/drawing/2014/main" id="{756F2ACD-E7D1-FB86-B18D-F16331D03483}"/>
              </a:ext>
            </a:extLst>
          </p:cNvPr>
          <p:cNvPicPr>
            <a:picLocks noChangeAspect="1"/>
          </p:cNvPicPr>
          <p:nvPr/>
        </p:nvPicPr>
        <p:blipFill>
          <a:blip r:embed="rId3"/>
          <a:stretch>
            <a:fillRect/>
          </a:stretch>
        </p:blipFill>
        <p:spPr>
          <a:xfrm>
            <a:off x="2743200" y="4678424"/>
            <a:ext cx="6248400" cy="351527"/>
          </a:xfrm>
          <a:prstGeom prst="rect">
            <a:avLst/>
          </a:prstGeom>
        </p:spPr>
      </p:pic>
    </p:spTree>
    <p:extLst>
      <p:ext uri="{BB962C8B-B14F-4D97-AF65-F5344CB8AC3E}">
        <p14:creationId xmlns:p14="http://schemas.microsoft.com/office/powerpoint/2010/main" val="503165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CFAD7-06E5-4967-8103-1C12F59B1A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A89A14-CCDF-46A3-94DF-C816142E43C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38AA4D95-74B1-4435-A987-271D9352063E}"/>
              </a:ext>
            </a:extLst>
          </p:cNvPr>
          <p:cNvSpPr>
            <a:spLocks noGrp="1"/>
          </p:cNvSpPr>
          <p:nvPr>
            <p:ph type="sldNum" sz="quarter" idx="12"/>
          </p:nvPr>
        </p:nvSpPr>
        <p:spPr/>
        <p:txBody>
          <a:bodyPr/>
          <a:lstStyle/>
          <a:p>
            <a:fld id="{3957FE44-DABC-424D-A234-74BB9410FF27}" type="slidenum">
              <a:rPr lang="en-US" smtClean="0"/>
              <a:pPr/>
              <a:t>29</a:t>
            </a:fld>
            <a:endParaRPr lang="en-US" dirty="0"/>
          </a:p>
        </p:txBody>
      </p:sp>
      <p:pic>
        <p:nvPicPr>
          <p:cNvPr id="6" name="Picture 5">
            <a:extLst>
              <a:ext uri="{FF2B5EF4-FFF2-40B4-BE49-F238E27FC236}">
                <a16:creationId xmlns:a16="http://schemas.microsoft.com/office/drawing/2014/main" id="{840FC1F0-1595-4D9A-9158-E78AC5B1161B}"/>
              </a:ext>
            </a:extLst>
          </p:cNvPr>
          <p:cNvPicPr>
            <a:picLocks noChangeAspect="1"/>
          </p:cNvPicPr>
          <p:nvPr/>
        </p:nvPicPr>
        <p:blipFill>
          <a:blip r:embed="rId2"/>
          <a:stretch>
            <a:fillRect/>
          </a:stretch>
        </p:blipFill>
        <p:spPr>
          <a:xfrm>
            <a:off x="1993154" y="457200"/>
            <a:ext cx="8217647" cy="3435246"/>
          </a:xfrm>
          <a:prstGeom prst="rect">
            <a:avLst/>
          </a:prstGeom>
        </p:spPr>
      </p:pic>
      <p:pic>
        <p:nvPicPr>
          <p:cNvPr id="8" name="Picture 7">
            <a:extLst>
              <a:ext uri="{FF2B5EF4-FFF2-40B4-BE49-F238E27FC236}">
                <a16:creationId xmlns:a16="http://schemas.microsoft.com/office/drawing/2014/main" id="{028C5065-8EE0-49AE-B920-E1D853F742BB}"/>
              </a:ext>
            </a:extLst>
          </p:cNvPr>
          <p:cNvPicPr>
            <a:picLocks noChangeAspect="1"/>
          </p:cNvPicPr>
          <p:nvPr/>
        </p:nvPicPr>
        <p:blipFill>
          <a:blip r:embed="rId3"/>
          <a:stretch>
            <a:fillRect/>
          </a:stretch>
        </p:blipFill>
        <p:spPr>
          <a:xfrm>
            <a:off x="2001779" y="4279581"/>
            <a:ext cx="8458200" cy="1956439"/>
          </a:xfrm>
          <a:prstGeom prst="rect">
            <a:avLst/>
          </a:prstGeom>
        </p:spPr>
      </p:pic>
    </p:spTree>
    <p:extLst>
      <p:ext uri="{BB962C8B-B14F-4D97-AF65-F5344CB8AC3E}">
        <p14:creationId xmlns:p14="http://schemas.microsoft.com/office/powerpoint/2010/main" val="1623914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Bluetooth</a:t>
            </a:r>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30</a:t>
            </a:fld>
            <a:endParaRPr lang="en-US" dirty="0"/>
          </a:p>
        </p:txBody>
      </p:sp>
      <p:sp>
        <p:nvSpPr>
          <p:cNvPr id="3" name="Content Placeholder 2"/>
          <p:cNvSpPr>
            <a:spLocks noGrp="1"/>
          </p:cNvSpPr>
          <p:nvPr>
            <p:ph idx="1"/>
          </p:nvPr>
        </p:nvSpPr>
        <p:spPr/>
        <p:txBody>
          <a:bodyPr/>
          <a:lstStyle/>
          <a:p>
            <a:endParaRPr lang="en-US"/>
          </a:p>
        </p:txBody>
      </p:sp>
      <p:pic>
        <p:nvPicPr>
          <p:cNvPr id="1026" name="Picture 2" descr="Comparison among Bluetooth version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905000"/>
            <a:ext cx="10969113"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422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Bluetooth Classic</a:t>
            </a:r>
          </a:p>
        </p:txBody>
      </p:sp>
      <p:sp>
        <p:nvSpPr>
          <p:cNvPr id="3" name="Content Placeholder 2"/>
          <p:cNvSpPr>
            <a:spLocks noGrp="1"/>
          </p:cNvSpPr>
          <p:nvPr>
            <p:ph idx="1"/>
          </p:nvPr>
        </p:nvSpPr>
        <p:spPr/>
        <p:txBody>
          <a:bodyPr/>
          <a:lstStyle/>
          <a:p>
            <a:r>
              <a:rPr lang="en-US" dirty="0"/>
              <a:t>Bluetooth classic is like a RF version of serial communication</a:t>
            </a:r>
          </a:p>
          <a:p>
            <a:r>
              <a:rPr lang="en-US" dirty="0"/>
              <a:t>Bluetooth focus on enhancing </a:t>
            </a:r>
            <a:r>
              <a:rPr lang="en-US" dirty="0">
                <a:solidFill>
                  <a:srgbClr val="0070C0"/>
                </a:solidFill>
              </a:rPr>
              <a:t>data rate</a:t>
            </a:r>
          </a:p>
          <a:p>
            <a:pPr lvl="1"/>
            <a:r>
              <a:rPr lang="en-US" dirty="0"/>
              <a:t>V1.2: 1 Mbps</a:t>
            </a:r>
          </a:p>
          <a:p>
            <a:pPr lvl="1"/>
            <a:r>
              <a:rPr lang="en-US" dirty="0"/>
              <a:t>V2.1:  3 Mbps in theory – around 2.1 Mbps in practice </a:t>
            </a:r>
          </a:p>
          <a:p>
            <a:pPr lvl="1"/>
            <a:r>
              <a:rPr lang="en-US" dirty="0"/>
              <a:t>V3.0:  up to 24Mbps </a:t>
            </a:r>
          </a:p>
          <a:p>
            <a:pPr lvl="2"/>
            <a:r>
              <a:rPr lang="en-US" dirty="0"/>
              <a:t>Bluetooth is use to establish and manage a connection</a:t>
            </a:r>
          </a:p>
          <a:p>
            <a:pPr lvl="2"/>
            <a:r>
              <a:rPr lang="en-US" dirty="0"/>
              <a:t>Data is transmitted over </a:t>
            </a:r>
            <a:r>
              <a:rPr lang="en-US" dirty="0" err="1"/>
              <a:t>Wifi</a:t>
            </a:r>
            <a:r>
              <a:rPr lang="en-US" dirty="0"/>
              <a:t> connection</a:t>
            </a:r>
          </a:p>
          <a:p>
            <a:endParaRPr lang="en-US" dirty="0"/>
          </a:p>
          <a:p>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31</a:t>
            </a:fld>
            <a:endParaRPr lang="en-US" dirty="0"/>
          </a:p>
        </p:txBody>
      </p:sp>
      <p:pic>
        <p:nvPicPr>
          <p:cNvPr id="5" name="Picture 4"/>
          <p:cNvPicPr>
            <a:picLocks noChangeAspect="1"/>
          </p:cNvPicPr>
          <p:nvPr/>
        </p:nvPicPr>
        <p:blipFill>
          <a:blip r:embed="rId2"/>
          <a:stretch>
            <a:fillRect/>
          </a:stretch>
        </p:blipFill>
        <p:spPr>
          <a:xfrm>
            <a:off x="3200400" y="5029201"/>
            <a:ext cx="2458464" cy="131689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6509" y="4939324"/>
            <a:ext cx="1496647" cy="1496647"/>
          </a:xfrm>
          <a:prstGeom prst="rect">
            <a:avLst/>
          </a:prstGeom>
        </p:spPr>
      </p:pic>
    </p:spTree>
    <p:extLst>
      <p:ext uri="{BB962C8B-B14F-4D97-AF65-F5344CB8AC3E}">
        <p14:creationId xmlns:p14="http://schemas.microsoft.com/office/powerpoint/2010/main" val="325341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Bluetooth Channel Hopping</a:t>
            </a:r>
          </a:p>
        </p:txBody>
      </p:sp>
      <p:sp>
        <p:nvSpPr>
          <p:cNvPr id="3" name="Content Placeholder 2"/>
          <p:cNvSpPr>
            <a:spLocks noGrp="1"/>
          </p:cNvSpPr>
          <p:nvPr>
            <p:ph idx="1"/>
          </p:nvPr>
        </p:nvSpPr>
        <p:spPr/>
        <p:txBody>
          <a:bodyPr/>
          <a:lstStyle/>
          <a:p>
            <a:r>
              <a:rPr lang="en-US" dirty="0"/>
              <a:t>Bluetooth has 79 channels, each channel is 1MHz wide, from 2.402 GHz to 2.480 GHz.</a:t>
            </a:r>
          </a:p>
          <a:p>
            <a:r>
              <a:rPr lang="en-US" dirty="0"/>
              <a:t>Bluetooth devices never </a:t>
            </a:r>
          </a:p>
          <a:p>
            <a:pPr marL="0" indent="0">
              <a:buNone/>
            </a:pPr>
            <a:r>
              <a:rPr lang="en-US" dirty="0"/>
              <a:t>stay on the same channel</a:t>
            </a:r>
          </a:p>
          <a:p>
            <a:r>
              <a:rPr lang="en-US" dirty="0"/>
              <a:t>Change channel 1600 times</a:t>
            </a:r>
          </a:p>
          <a:p>
            <a:pPr marL="0" indent="0">
              <a:buNone/>
            </a:pPr>
            <a:r>
              <a:rPr lang="en-US" dirty="0"/>
              <a:t>per second</a:t>
            </a:r>
          </a:p>
          <a:p>
            <a:pPr marL="0" indent="0">
              <a:buNone/>
            </a:pPr>
            <a:r>
              <a:rPr lang="en-US" dirty="0"/>
              <a:t>-&gt; unaffected by other </a:t>
            </a:r>
          </a:p>
          <a:p>
            <a:pPr marL="0" indent="0">
              <a:buNone/>
            </a:pPr>
            <a:r>
              <a:rPr lang="en-US" dirty="0"/>
              <a:t>electronic </a:t>
            </a:r>
            <a:r>
              <a:rPr lang="en-US" dirty="0" err="1"/>
              <a:t>radiowaves</a:t>
            </a:r>
            <a:endParaRPr lang="en-US" dirty="0"/>
          </a:p>
          <a:p>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32</a:t>
            </a:fld>
            <a:endParaRPr lang="en-US" dirty="0"/>
          </a:p>
        </p:txBody>
      </p:sp>
      <p:pic>
        <p:nvPicPr>
          <p:cNvPr id="5" name="Picture 4"/>
          <p:cNvPicPr>
            <a:picLocks noChangeAspect="1"/>
          </p:cNvPicPr>
          <p:nvPr/>
        </p:nvPicPr>
        <p:blipFill>
          <a:blip r:embed="rId2"/>
          <a:stretch>
            <a:fillRect/>
          </a:stretch>
        </p:blipFill>
        <p:spPr>
          <a:xfrm>
            <a:off x="6108701" y="2514601"/>
            <a:ext cx="4016127" cy="3452599"/>
          </a:xfrm>
          <a:prstGeom prst="rect">
            <a:avLst/>
          </a:prstGeom>
        </p:spPr>
      </p:pic>
    </p:spTree>
    <p:extLst>
      <p:ext uri="{BB962C8B-B14F-4D97-AF65-F5344CB8AC3E}">
        <p14:creationId xmlns:p14="http://schemas.microsoft.com/office/powerpoint/2010/main" val="32505870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BLE Evolution</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33</a:t>
            </a:fld>
            <a:endParaRPr lang="en-US" dirty="0"/>
          </a:p>
        </p:txBody>
      </p:sp>
      <p:pic>
        <p:nvPicPr>
          <p:cNvPr id="5" name="Picture 4"/>
          <p:cNvPicPr>
            <a:picLocks noChangeAspect="1"/>
          </p:cNvPicPr>
          <p:nvPr/>
        </p:nvPicPr>
        <p:blipFill>
          <a:blip r:embed="rId2"/>
          <a:stretch>
            <a:fillRect/>
          </a:stretch>
        </p:blipFill>
        <p:spPr>
          <a:xfrm>
            <a:off x="1371600" y="1828800"/>
            <a:ext cx="9617258" cy="4267199"/>
          </a:xfrm>
          <a:prstGeom prst="rect">
            <a:avLst/>
          </a:prstGeom>
        </p:spPr>
      </p:pic>
    </p:spTree>
    <p:extLst>
      <p:ext uri="{BB962C8B-B14F-4D97-AF65-F5344CB8AC3E}">
        <p14:creationId xmlns:p14="http://schemas.microsoft.com/office/powerpoint/2010/main" val="32028573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Bluetooth Low Energy</a:t>
            </a:r>
          </a:p>
        </p:txBody>
      </p:sp>
      <p:sp>
        <p:nvSpPr>
          <p:cNvPr id="3" name="Content Placeholder 2"/>
          <p:cNvSpPr>
            <a:spLocks noGrp="1"/>
          </p:cNvSpPr>
          <p:nvPr>
            <p:ph idx="1"/>
          </p:nvPr>
        </p:nvSpPr>
        <p:spPr>
          <a:xfrm>
            <a:off x="1981200" y="1600200"/>
            <a:ext cx="5029200" cy="4876800"/>
          </a:xfrm>
        </p:spPr>
        <p:txBody>
          <a:bodyPr/>
          <a:lstStyle/>
          <a:p>
            <a:r>
              <a:rPr lang="en-US" dirty="0"/>
              <a:t>BLE aims to operate at very low power</a:t>
            </a:r>
          </a:p>
          <a:p>
            <a:r>
              <a:rPr lang="en-US" dirty="0"/>
              <a:t>BLE compromises in data rate</a:t>
            </a:r>
          </a:p>
          <a:p>
            <a:pPr lvl="1"/>
            <a:r>
              <a:rPr lang="en-US" dirty="0"/>
              <a:t>1 Mbps in theory – 0.27 Mbps in practice</a:t>
            </a:r>
          </a:p>
          <a:p>
            <a:r>
              <a:rPr lang="en-US" dirty="0"/>
              <a:t>BLE devices switch between sleep state and working state continuously to save energy</a:t>
            </a:r>
          </a:p>
          <a:p>
            <a:r>
              <a:rPr lang="en-US" dirty="0"/>
              <a:t>BLE requires rapid connection, small package </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34</a:t>
            </a:fld>
            <a:endParaRPr lang="en-US" dirty="0"/>
          </a:p>
        </p:txBody>
      </p:sp>
      <p:pic>
        <p:nvPicPr>
          <p:cNvPr id="2050" name="Picture 2" descr="https://www.plugintoiot.com/wp-content/uploads/ble-why-low-power-696x33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0132" y="2819400"/>
            <a:ext cx="3237464" cy="15396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native development kit | App Developer Magaz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1" y="897403"/>
            <a:ext cx="2477729" cy="22313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5"/>
          <a:stretch>
            <a:fillRect/>
          </a:stretch>
        </p:blipFill>
        <p:spPr>
          <a:xfrm>
            <a:off x="7924800" y="4429043"/>
            <a:ext cx="1804264" cy="1752600"/>
          </a:xfrm>
          <a:prstGeom prst="rect">
            <a:avLst/>
          </a:prstGeom>
        </p:spPr>
      </p:pic>
    </p:spTree>
    <p:extLst>
      <p:ext uri="{BB962C8B-B14F-4D97-AF65-F5344CB8AC3E}">
        <p14:creationId xmlns:p14="http://schemas.microsoft.com/office/powerpoint/2010/main" val="18254749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BLE Modes</a:t>
            </a:r>
          </a:p>
        </p:txBody>
      </p:sp>
      <p:sp>
        <p:nvSpPr>
          <p:cNvPr id="4" name="Slide Number Placeholder 3"/>
          <p:cNvSpPr>
            <a:spLocks noGrp="1"/>
          </p:cNvSpPr>
          <p:nvPr>
            <p:ph type="sldNum" sz="quarter" idx="12"/>
          </p:nvPr>
        </p:nvSpPr>
        <p:spPr/>
        <p:txBody>
          <a:bodyPr/>
          <a:lstStyle/>
          <a:p>
            <a:fld id="{3957FE44-DABC-424D-A234-74BB9410FF27}" type="slidenum">
              <a:rPr lang="en-US" smtClean="0"/>
              <a:pPr/>
              <a:t>35</a:t>
            </a:fld>
            <a:endParaRPr lang="en-US" dirty="0"/>
          </a:p>
        </p:txBody>
      </p:sp>
      <p:pic>
        <p:nvPicPr>
          <p:cNvPr id="5" name="Picture 4"/>
          <p:cNvPicPr>
            <a:picLocks noChangeAspect="1"/>
          </p:cNvPicPr>
          <p:nvPr/>
        </p:nvPicPr>
        <p:blipFill>
          <a:blip r:embed="rId2"/>
          <a:stretch>
            <a:fillRect/>
          </a:stretch>
        </p:blipFill>
        <p:spPr>
          <a:xfrm>
            <a:off x="1784555" y="1981200"/>
            <a:ext cx="8458200" cy="4076338"/>
          </a:xfrm>
          <a:prstGeom prst="rect">
            <a:avLst/>
          </a:prstGeom>
        </p:spPr>
      </p:pic>
    </p:spTree>
    <p:extLst>
      <p:ext uri="{BB962C8B-B14F-4D97-AF65-F5344CB8AC3E}">
        <p14:creationId xmlns:p14="http://schemas.microsoft.com/office/powerpoint/2010/main" val="36962157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BLE Direction Finding</a:t>
            </a:r>
          </a:p>
        </p:txBody>
      </p:sp>
      <p:sp>
        <p:nvSpPr>
          <p:cNvPr id="3" name="Content Placeholder 2"/>
          <p:cNvSpPr>
            <a:spLocks noGrp="1"/>
          </p:cNvSpPr>
          <p:nvPr>
            <p:ph idx="1"/>
          </p:nvPr>
        </p:nvSpPr>
        <p:spPr/>
        <p:txBody>
          <a:bodyPr/>
          <a:lstStyle/>
          <a:p>
            <a:r>
              <a:rPr lang="en-US" dirty="0"/>
              <a:t>Direction finding is feature of BLE 5.1</a:t>
            </a:r>
          </a:p>
          <a:p>
            <a:r>
              <a:rPr lang="en-US" dirty="0"/>
              <a:t>Enables positioning solution</a:t>
            </a:r>
          </a:p>
          <a:p>
            <a:pPr lvl="1"/>
            <a:r>
              <a:rPr lang="en-US" dirty="0"/>
              <a:t>Old BLE rely on receive signal strength indicator (RSSI)</a:t>
            </a:r>
          </a:p>
          <a:p>
            <a:pPr lvl="1"/>
            <a:r>
              <a:rPr lang="en-US" dirty="0"/>
              <a:t>New BLE knows the actual direction of signal</a:t>
            </a:r>
          </a:p>
        </p:txBody>
      </p:sp>
      <p:sp>
        <p:nvSpPr>
          <p:cNvPr id="4" name="Slide Number Placeholder 3"/>
          <p:cNvSpPr>
            <a:spLocks noGrp="1"/>
          </p:cNvSpPr>
          <p:nvPr>
            <p:ph type="sldNum" sz="quarter" idx="12"/>
          </p:nvPr>
        </p:nvSpPr>
        <p:spPr/>
        <p:txBody>
          <a:bodyPr/>
          <a:lstStyle/>
          <a:p>
            <a:fld id="{3957FE44-DABC-424D-A234-74BB9410FF27}" type="slidenum">
              <a:rPr lang="en-US" smtClean="0"/>
              <a:pPr/>
              <a:t>36</a:t>
            </a:fld>
            <a:endParaRPr lang="en-US" dirty="0"/>
          </a:p>
        </p:txBody>
      </p:sp>
      <p:pic>
        <p:nvPicPr>
          <p:cNvPr id="5" name="Picture 4"/>
          <p:cNvPicPr>
            <a:picLocks noChangeAspect="1"/>
          </p:cNvPicPr>
          <p:nvPr/>
        </p:nvPicPr>
        <p:blipFill>
          <a:blip r:embed="rId2"/>
          <a:stretch>
            <a:fillRect/>
          </a:stretch>
        </p:blipFill>
        <p:spPr>
          <a:xfrm>
            <a:off x="3124201" y="3505200"/>
            <a:ext cx="2143125" cy="2650374"/>
          </a:xfrm>
          <a:prstGeom prst="rect">
            <a:avLst/>
          </a:prstGeom>
        </p:spPr>
      </p:pic>
      <p:sp>
        <p:nvSpPr>
          <p:cNvPr id="6" name="Rectangle 5"/>
          <p:cNvSpPr/>
          <p:nvPr/>
        </p:nvSpPr>
        <p:spPr>
          <a:xfrm>
            <a:off x="3124200" y="6183868"/>
            <a:ext cx="2586990" cy="369332"/>
          </a:xfrm>
          <a:prstGeom prst="rect">
            <a:avLst/>
          </a:prstGeom>
        </p:spPr>
        <p:txBody>
          <a:bodyPr wrap="none">
            <a:spAutoFit/>
          </a:bodyPr>
          <a:lstStyle/>
          <a:p>
            <a:r>
              <a:rPr lang="en-US" b="1" dirty="0">
                <a:solidFill>
                  <a:srgbClr val="0070C0"/>
                </a:solidFill>
              </a:rPr>
              <a:t>Angle of Arrival (</a:t>
            </a:r>
            <a:r>
              <a:rPr lang="en-US" b="1" dirty="0" err="1">
                <a:solidFill>
                  <a:srgbClr val="0070C0"/>
                </a:solidFill>
              </a:rPr>
              <a:t>AoA</a:t>
            </a:r>
            <a:r>
              <a:rPr lang="en-US" b="1" dirty="0">
                <a:solidFill>
                  <a:srgbClr val="0070C0"/>
                </a:solidFill>
              </a:rPr>
              <a:t>)</a:t>
            </a:r>
            <a:endParaRPr lang="en-US" dirty="0">
              <a:solidFill>
                <a:srgbClr val="0070C0"/>
              </a:solidFill>
            </a:endParaRPr>
          </a:p>
        </p:txBody>
      </p:sp>
      <p:pic>
        <p:nvPicPr>
          <p:cNvPr id="7" name="Picture 6"/>
          <p:cNvPicPr>
            <a:picLocks noChangeAspect="1"/>
          </p:cNvPicPr>
          <p:nvPr/>
        </p:nvPicPr>
        <p:blipFill>
          <a:blip r:embed="rId3"/>
          <a:stretch>
            <a:fillRect/>
          </a:stretch>
        </p:blipFill>
        <p:spPr>
          <a:xfrm>
            <a:off x="7162800" y="3505200"/>
            <a:ext cx="2192708" cy="2650375"/>
          </a:xfrm>
          <a:prstGeom prst="rect">
            <a:avLst/>
          </a:prstGeom>
        </p:spPr>
      </p:pic>
      <p:sp>
        <p:nvSpPr>
          <p:cNvPr id="8" name="Rectangle 7"/>
          <p:cNvSpPr/>
          <p:nvPr/>
        </p:nvSpPr>
        <p:spPr>
          <a:xfrm>
            <a:off x="6965660" y="6183868"/>
            <a:ext cx="2954655" cy="369332"/>
          </a:xfrm>
          <a:prstGeom prst="rect">
            <a:avLst/>
          </a:prstGeom>
        </p:spPr>
        <p:txBody>
          <a:bodyPr wrap="none">
            <a:spAutoFit/>
          </a:bodyPr>
          <a:lstStyle/>
          <a:p>
            <a:r>
              <a:rPr lang="en-US" b="1" dirty="0">
                <a:solidFill>
                  <a:srgbClr val="0070C0"/>
                </a:solidFill>
              </a:rPr>
              <a:t>Angle of Departure (</a:t>
            </a:r>
            <a:r>
              <a:rPr lang="en-US" b="1" dirty="0" err="1">
                <a:solidFill>
                  <a:srgbClr val="0070C0"/>
                </a:solidFill>
              </a:rPr>
              <a:t>AoD</a:t>
            </a:r>
            <a:r>
              <a:rPr lang="en-US" b="1" dirty="0">
                <a:solidFill>
                  <a:srgbClr val="0070C0"/>
                </a:solidFill>
              </a:rPr>
              <a:t>)</a:t>
            </a:r>
            <a:endParaRPr lang="en-US" dirty="0">
              <a:solidFill>
                <a:srgbClr val="0070C0"/>
              </a:solidFill>
            </a:endParaRPr>
          </a:p>
        </p:txBody>
      </p:sp>
    </p:spTree>
    <p:extLst>
      <p:ext uri="{BB962C8B-B14F-4D97-AF65-F5344CB8AC3E}">
        <p14:creationId xmlns:p14="http://schemas.microsoft.com/office/powerpoint/2010/main" val="29436711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BLE Direction Finding</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3957FE44-DABC-424D-A234-74BB9410FF27}" type="slidenum">
              <a:rPr lang="en-US" smtClean="0"/>
              <a:pPr/>
              <a:t>37</a:t>
            </a:fld>
            <a:endParaRPr lang="en-US" dirty="0"/>
          </a:p>
        </p:txBody>
      </p:sp>
      <p:pic>
        <p:nvPicPr>
          <p:cNvPr id="5" name="Picture 4"/>
          <p:cNvPicPr>
            <a:picLocks noChangeAspect="1"/>
          </p:cNvPicPr>
          <p:nvPr/>
        </p:nvPicPr>
        <p:blipFill>
          <a:blip r:embed="rId2"/>
          <a:stretch>
            <a:fillRect/>
          </a:stretch>
        </p:blipFill>
        <p:spPr>
          <a:xfrm>
            <a:off x="1893792" y="2057400"/>
            <a:ext cx="8329299" cy="3378450"/>
          </a:xfrm>
          <a:prstGeom prst="rect">
            <a:avLst/>
          </a:prstGeom>
        </p:spPr>
      </p:pic>
    </p:spTree>
    <p:extLst>
      <p:ext uri="{BB962C8B-B14F-4D97-AF65-F5344CB8AC3E}">
        <p14:creationId xmlns:p14="http://schemas.microsoft.com/office/powerpoint/2010/main" val="10467277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BLE works</a:t>
            </a:r>
          </a:p>
        </p:txBody>
      </p:sp>
      <p:sp>
        <p:nvSpPr>
          <p:cNvPr id="3" name="Content Placeholder 2"/>
          <p:cNvSpPr>
            <a:spLocks noGrp="1"/>
          </p:cNvSpPr>
          <p:nvPr>
            <p:ph idx="1"/>
          </p:nvPr>
        </p:nvSpPr>
        <p:spPr/>
        <p:txBody>
          <a:bodyPr/>
          <a:lstStyle/>
          <a:p>
            <a:r>
              <a:rPr lang="en-US" b="1" dirty="0"/>
              <a:t>Physical layer</a:t>
            </a:r>
          </a:p>
          <a:p>
            <a:pPr lvl="1"/>
            <a:r>
              <a:rPr lang="en-US" dirty="0"/>
              <a:t>BLE can communicate over 40 channels from 2.4000 GHz to 2.4835 GHz.</a:t>
            </a:r>
          </a:p>
          <a:p>
            <a:pPr lvl="1"/>
            <a:r>
              <a:rPr lang="en-US" dirty="0"/>
              <a:t>37 of these channels are used for connection data</a:t>
            </a:r>
          </a:p>
          <a:p>
            <a:pPr lvl="1"/>
            <a:r>
              <a:rPr lang="en-US" dirty="0"/>
              <a:t>the last three channels (37, 38, and 39) are used as advertising channels</a:t>
            </a:r>
          </a:p>
        </p:txBody>
      </p:sp>
      <p:sp>
        <p:nvSpPr>
          <p:cNvPr id="4" name="Slide Number Placeholder 3"/>
          <p:cNvSpPr>
            <a:spLocks noGrp="1"/>
          </p:cNvSpPr>
          <p:nvPr>
            <p:ph type="sldNum" sz="quarter" idx="12"/>
          </p:nvPr>
        </p:nvSpPr>
        <p:spPr/>
        <p:txBody>
          <a:bodyPr/>
          <a:lstStyle/>
          <a:p>
            <a:fld id="{3957FE44-DABC-424D-A234-74BB9410FF27}" type="slidenum">
              <a:rPr lang="en-US" smtClean="0"/>
              <a:pPr/>
              <a:t>38</a:t>
            </a:fld>
            <a:endParaRPr lang="en-US" dirty="0"/>
          </a:p>
        </p:txBody>
      </p:sp>
      <p:pic>
        <p:nvPicPr>
          <p:cNvPr id="5" name="Content Placeholder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1675" y="4005262"/>
            <a:ext cx="8229600" cy="2185030"/>
          </a:xfrm>
          <a:prstGeom prst="rect">
            <a:avLst/>
          </a:prstGeom>
        </p:spPr>
      </p:pic>
    </p:spTree>
    <p:extLst>
      <p:ext uri="{BB962C8B-B14F-4D97-AF65-F5344CB8AC3E}">
        <p14:creationId xmlns:p14="http://schemas.microsoft.com/office/powerpoint/2010/main" val="3039752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BLE works</a:t>
            </a:r>
          </a:p>
        </p:txBody>
      </p:sp>
      <p:sp>
        <p:nvSpPr>
          <p:cNvPr id="3" name="Content Placeholder 2"/>
          <p:cNvSpPr>
            <a:spLocks noGrp="1"/>
          </p:cNvSpPr>
          <p:nvPr>
            <p:ph idx="1"/>
          </p:nvPr>
        </p:nvSpPr>
        <p:spPr/>
        <p:txBody>
          <a:bodyPr/>
          <a:lstStyle/>
          <a:p>
            <a:r>
              <a:rPr lang="en-US" dirty="0"/>
              <a:t> BLE uses </a:t>
            </a:r>
            <a:r>
              <a:rPr lang="en-US" b="1" dirty="0"/>
              <a:t>frequency hopping spread spectrum </a:t>
            </a:r>
            <a:r>
              <a:rPr lang="en-US" dirty="0"/>
              <a:t>technique to send and receive data</a:t>
            </a:r>
          </a:p>
          <a:p>
            <a:r>
              <a:rPr lang="en-US" dirty="0"/>
              <a:t>Frequency (channel) to use on the next connection event:</a:t>
            </a:r>
          </a:p>
          <a:p>
            <a:endParaRPr lang="en-US" dirty="0"/>
          </a:p>
          <a:p>
            <a:pPr lvl="1"/>
            <a:endParaRPr lang="en-US" i="1" dirty="0"/>
          </a:p>
          <a:p>
            <a:pPr lvl="1"/>
            <a:r>
              <a:rPr lang="en-US" i="1" dirty="0"/>
              <a:t>hop</a:t>
            </a:r>
            <a:r>
              <a:rPr lang="en-US" dirty="0"/>
              <a:t> is a value that can range from 5-16</a:t>
            </a:r>
          </a:p>
        </p:txBody>
      </p:sp>
      <p:sp>
        <p:nvSpPr>
          <p:cNvPr id="4" name="Slide Number Placeholder 3"/>
          <p:cNvSpPr>
            <a:spLocks noGrp="1"/>
          </p:cNvSpPr>
          <p:nvPr>
            <p:ph type="sldNum" sz="quarter" idx="12"/>
          </p:nvPr>
        </p:nvSpPr>
        <p:spPr/>
        <p:txBody>
          <a:bodyPr/>
          <a:lstStyle/>
          <a:p>
            <a:fld id="{3957FE44-DABC-424D-A234-74BB9410FF27}" type="slidenum">
              <a:rPr lang="en-US" smtClean="0"/>
              <a:pPr/>
              <a:t>39</a:t>
            </a:fld>
            <a:endParaRPr lang="en-US" dirty="0"/>
          </a:p>
        </p:txBody>
      </p:sp>
      <p:pic>
        <p:nvPicPr>
          <p:cNvPr id="5" name="Picture 4"/>
          <p:cNvPicPr>
            <a:picLocks noChangeAspect="1"/>
          </p:cNvPicPr>
          <p:nvPr/>
        </p:nvPicPr>
        <p:blipFill>
          <a:blip r:embed="rId2"/>
          <a:stretch>
            <a:fillRect/>
          </a:stretch>
        </p:blipFill>
        <p:spPr>
          <a:xfrm>
            <a:off x="4038600" y="2895601"/>
            <a:ext cx="4114800" cy="607351"/>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3800" y="4023615"/>
            <a:ext cx="4845478" cy="2773339"/>
          </a:xfrm>
          <a:prstGeom prst="rect">
            <a:avLst/>
          </a:prstGeom>
        </p:spPr>
      </p:pic>
    </p:spTree>
    <p:extLst>
      <p:ext uri="{BB962C8B-B14F-4D97-AF65-F5344CB8AC3E}">
        <p14:creationId xmlns:p14="http://schemas.microsoft.com/office/powerpoint/2010/main" val="7976175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BLE works</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33600" y="1916497"/>
            <a:ext cx="8229600" cy="4173062"/>
          </a:xfrm>
        </p:spPr>
      </p:pic>
      <p:sp>
        <p:nvSpPr>
          <p:cNvPr id="4" name="Slide Number Placeholder 3"/>
          <p:cNvSpPr>
            <a:spLocks noGrp="1"/>
          </p:cNvSpPr>
          <p:nvPr>
            <p:ph type="sldNum" sz="quarter" idx="12"/>
          </p:nvPr>
        </p:nvSpPr>
        <p:spPr/>
        <p:txBody>
          <a:bodyPr/>
          <a:lstStyle/>
          <a:p>
            <a:fld id="{3957FE44-DABC-424D-A234-74BB9410FF27}" type="slidenum">
              <a:rPr lang="en-US" smtClean="0"/>
              <a:pPr/>
              <a:t>40</a:t>
            </a:fld>
            <a:endParaRPr lang="en-US" dirty="0"/>
          </a:p>
        </p:txBody>
      </p:sp>
    </p:spTree>
    <p:extLst>
      <p:ext uri="{BB962C8B-B14F-4D97-AF65-F5344CB8AC3E}">
        <p14:creationId xmlns:p14="http://schemas.microsoft.com/office/powerpoint/2010/main" val="21716120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Wi-Fi</a:t>
            </a:r>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239000" y="314444"/>
            <a:ext cx="3569994" cy="2571512"/>
          </a:xfrm>
        </p:spPr>
      </p:pic>
      <p:sp>
        <p:nvSpPr>
          <p:cNvPr id="4" name="Slide Number Placeholder 3"/>
          <p:cNvSpPr>
            <a:spLocks noGrp="1"/>
          </p:cNvSpPr>
          <p:nvPr>
            <p:ph type="sldNum" sz="quarter" idx="12"/>
          </p:nvPr>
        </p:nvSpPr>
        <p:spPr/>
        <p:txBody>
          <a:bodyPr/>
          <a:lstStyle/>
          <a:p>
            <a:fld id="{3957FE44-DABC-424D-A234-74BB9410FF27}" type="slidenum">
              <a:rPr lang="en-US" smtClean="0"/>
              <a:pPr/>
              <a:t>41</a:t>
            </a:fld>
            <a:endParaRPr lang="en-US" dirty="0"/>
          </a:p>
        </p:txBody>
      </p:sp>
      <p:sp>
        <p:nvSpPr>
          <p:cNvPr id="6" name="Content Placeholder 2"/>
          <p:cNvSpPr txBox="1">
            <a:spLocks/>
          </p:cNvSpPr>
          <p:nvPr/>
        </p:nvSpPr>
        <p:spPr>
          <a:xfrm>
            <a:off x="609600" y="1600200"/>
            <a:ext cx="9601200" cy="4876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spcAft>
                <a:spcPts val="1200"/>
              </a:spcAft>
            </a:pPr>
            <a:r>
              <a:rPr lang="en" dirty="0"/>
              <a:t>“Wireless Fidelity”</a:t>
            </a:r>
          </a:p>
          <a:p>
            <a:pPr marL="182880" lvl="1">
              <a:spcAft>
                <a:spcPts val="1200"/>
              </a:spcAft>
            </a:pPr>
            <a:r>
              <a:rPr lang="en" sz="2400" dirty="0"/>
              <a:t>exchanges data wirelessly in Wireless </a:t>
            </a:r>
          </a:p>
          <a:p>
            <a:pPr marL="0" lvl="1" indent="0">
              <a:spcAft>
                <a:spcPts val="1200"/>
              </a:spcAft>
              <a:buNone/>
            </a:pPr>
            <a:r>
              <a:rPr lang="en-US" sz="2400" dirty="0"/>
              <a:t>L</a:t>
            </a:r>
            <a:r>
              <a:rPr lang="en" sz="2400" dirty="0"/>
              <a:t>ocal Area Network</a:t>
            </a:r>
          </a:p>
          <a:p>
            <a:pPr>
              <a:spcAft>
                <a:spcPts val="1200"/>
              </a:spcAft>
            </a:pPr>
            <a:r>
              <a:rPr lang="en" dirty="0"/>
              <a:t>IEEE 802.11</a:t>
            </a:r>
          </a:p>
          <a:p>
            <a:pPr lvl="1">
              <a:spcAft>
                <a:spcPts val="1200"/>
              </a:spcAft>
            </a:pPr>
            <a:r>
              <a:rPr lang="en-US" dirty="0"/>
              <a:t>links two or more devices using some wireless distribution method, and provides a connection through an </a:t>
            </a:r>
            <a:r>
              <a:rPr lang="en-US" b="1" dirty="0"/>
              <a:t>access point </a:t>
            </a:r>
            <a:r>
              <a:rPr lang="en-US" dirty="0"/>
              <a:t>to the wider internet. </a:t>
            </a:r>
            <a:endParaRPr lang="en" dirty="0"/>
          </a:p>
          <a:p>
            <a:pPr>
              <a:spcAft>
                <a:spcPts val="1200"/>
              </a:spcAft>
            </a:pPr>
            <a:r>
              <a:rPr lang="en" dirty="0"/>
              <a:t>High Speed, wide range (50m indoor, 100m out door)</a:t>
            </a:r>
          </a:p>
          <a:p>
            <a:pPr>
              <a:spcAft>
                <a:spcPts val="1200"/>
              </a:spcAft>
            </a:pPr>
            <a:r>
              <a:rPr lang="en" dirty="0"/>
              <a:t>Power consumption: chipsets 0.5-1w; wifi device 1-2w, router 4-5w,</a:t>
            </a:r>
          </a:p>
          <a:p>
            <a:endParaRPr lang="en-US" dirty="0"/>
          </a:p>
        </p:txBody>
      </p:sp>
    </p:spTree>
    <p:extLst>
      <p:ext uri="{BB962C8B-B14F-4D97-AF65-F5344CB8AC3E}">
        <p14:creationId xmlns:p14="http://schemas.microsoft.com/office/powerpoint/2010/main" val="33526707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b="1" dirty="0"/>
              <a:t>IEEE 802.11</a:t>
            </a:r>
            <a:endParaRPr lang="en-US" b="1" dirty="0"/>
          </a:p>
        </p:txBody>
      </p:sp>
      <p:sp>
        <p:nvSpPr>
          <p:cNvPr id="3" name="Content Placeholder 2"/>
          <p:cNvSpPr>
            <a:spLocks noGrp="1"/>
          </p:cNvSpPr>
          <p:nvPr>
            <p:ph idx="1"/>
          </p:nvPr>
        </p:nvSpPr>
        <p:spPr/>
        <p:txBody>
          <a:bodyPr/>
          <a:lstStyle/>
          <a:p>
            <a:pPr marL="457200" indent="-419100">
              <a:buClr>
                <a:schemeClr val="dk1"/>
              </a:buClr>
              <a:buSzPct val="166666"/>
              <a:buFont typeface="Arial"/>
              <a:buChar char="•"/>
            </a:pPr>
            <a:r>
              <a:rPr lang="en-US" dirty="0"/>
              <a:t>Set of MAC and physical layer (PHY) specifications for implementing </a:t>
            </a:r>
            <a:r>
              <a:rPr lang="en" dirty="0"/>
              <a:t>WLAN standards (2.4, 3.6, 5GHz)</a:t>
            </a:r>
          </a:p>
          <a:p>
            <a:pPr marL="457200" indent="-419100">
              <a:buClr>
                <a:schemeClr val="dk1"/>
              </a:buClr>
              <a:buSzPct val="166666"/>
              <a:buFont typeface="Arial"/>
              <a:buChar char="•"/>
            </a:pPr>
            <a:r>
              <a:rPr lang="en" dirty="0"/>
              <a:t>History (Wi-Fi)</a:t>
            </a:r>
          </a:p>
          <a:p>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42</a:t>
            </a:fld>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65324438"/>
              </p:ext>
            </p:extLst>
          </p:nvPr>
        </p:nvGraphicFramePr>
        <p:xfrm>
          <a:off x="2438400" y="2951942"/>
          <a:ext cx="6934200" cy="3411220"/>
        </p:xfrm>
        <a:graphic>
          <a:graphicData uri="http://schemas.openxmlformats.org/drawingml/2006/table">
            <a:tbl>
              <a:tblPr firstRow="1" bandRow="1">
                <a:tableStyleId>{0E3FDE45-AF77-4B5C-9715-49D594BDF05E}</a:tableStyleId>
              </a:tblPr>
              <a:tblGrid>
                <a:gridCol w="1386840">
                  <a:extLst>
                    <a:ext uri="{9D8B030D-6E8A-4147-A177-3AD203B41FA5}">
                      <a16:colId xmlns:a16="http://schemas.microsoft.com/office/drawing/2014/main" val="20000"/>
                    </a:ext>
                  </a:extLst>
                </a:gridCol>
                <a:gridCol w="1386840">
                  <a:extLst>
                    <a:ext uri="{9D8B030D-6E8A-4147-A177-3AD203B41FA5}">
                      <a16:colId xmlns:a16="http://schemas.microsoft.com/office/drawing/2014/main" val="20001"/>
                    </a:ext>
                  </a:extLst>
                </a:gridCol>
                <a:gridCol w="1560195">
                  <a:extLst>
                    <a:ext uri="{9D8B030D-6E8A-4147-A177-3AD203B41FA5}">
                      <a16:colId xmlns:a16="http://schemas.microsoft.com/office/drawing/2014/main" val="20002"/>
                    </a:ext>
                  </a:extLst>
                </a:gridCol>
                <a:gridCol w="1213485">
                  <a:extLst>
                    <a:ext uri="{9D8B030D-6E8A-4147-A177-3AD203B41FA5}">
                      <a16:colId xmlns:a16="http://schemas.microsoft.com/office/drawing/2014/main" val="20003"/>
                    </a:ext>
                  </a:extLst>
                </a:gridCol>
                <a:gridCol w="1386840">
                  <a:extLst>
                    <a:ext uri="{9D8B030D-6E8A-4147-A177-3AD203B41FA5}">
                      <a16:colId xmlns:a16="http://schemas.microsoft.com/office/drawing/2014/main" val="20004"/>
                    </a:ext>
                  </a:extLst>
                </a:gridCol>
              </a:tblGrid>
              <a:tr h="370840">
                <a:tc>
                  <a:txBody>
                    <a:bodyPr/>
                    <a:lstStyle/>
                    <a:p>
                      <a:pPr algn="ctr"/>
                      <a:r>
                        <a:rPr lang="en-US" dirty="0"/>
                        <a:t>Release Year</a:t>
                      </a:r>
                    </a:p>
                  </a:txBody>
                  <a:tcPr/>
                </a:tc>
                <a:tc>
                  <a:txBody>
                    <a:bodyPr/>
                    <a:lstStyle/>
                    <a:p>
                      <a:pPr algn="ctr"/>
                      <a:r>
                        <a:rPr lang="en-US" dirty="0"/>
                        <a:t>Protocol</a:t>
                      </a:r>
                    </a:p>
                  </a:txBody>
                  <a:tcPr/>
                </a:tc>
                <a:tc>
                  <a:txBody>
                    <a:bodyPr/>
                    <a:lstStyle/>
                    <a:p>
                      <a:pPr algn="ctr"/>
                      <a:r>
                        <a:rPr lang="en-US" dirty="0"/>
                        <a:t>Frequency</a:t>
                      </a:r>
                    </a:p>
                  </a:txBody>
                  <a:tcPr/>
                </a:tc>
                <a:tc>
                  <a:txBody>
                    <a:bodyPr/>
                    <a:lstStyle/>
                    <a:p>
                      <a:pPr algn="ctr"/>
                      <a:r>
                        <a:rPr lang="en-US" dirty="0"/>
                        <a:t>Signal</a:t>
                      </a:r>
                    </a:p>
                  </a:txBody>
                  <a:tcPr/>
                </a:tc>
                <a:tc>
                  <a:txBody>
                    <a:bodyPr/>
                    <a:lstStyle/>
                    <a:p>
                      <a:pPr algn="ctr"/>
                      <a:r>
                        <a:rPr lang="en-US" dirty="0" err="1"/>
                        <a:t>Maximun</a:t>
                      </a:r>
                      <a:r>
                        <a:rPr lang="en-US" dirty="0"/>
                        <a:t> data</a:t>
                      </a:r>
                      <a:r>
                        <a:rPr lang="en-US" baseline="0" dirty="0"/>
                        <a:t> rate</a:t>
                      </a:r>
                      <a:endParaRPr lang="en-US" dirty="0"/>
                    </a:p>
                  </a:txBody>
                  <a:tcPr/>
                </a:tc>
                <a:extLst>
                  <a:ext uri="{0D108BD9-81ED-4DB2-BD59-A6C34878D82A}">
                    <a16:rowId xmlns:a16="http://schemas.microsoft.com/office/drawing/2014/main" val="10000"/>
                  </a:ext>
                </a:extLst>
              </a:tr>
              <a:tr h="370840">
                <a:tc>
                  <a:txBody>
                    <a:bodyPr/>
                    <a:lstStyle/>
                    <a:p>
                      <a:pPr algn="ctr"/>
                      <a:r>
                        <a:rPr lang="en-US" dirty="0"/>
                        <a:t>1997</a:t>
                      </a:r>
                    </a:p>
                  </a:txBody>
                  <a:tcPr/>
                </a:tc>
                <a:tc>
                  <a:txBody>
                    <a:bodyPr/>
                    <a:lstStyle/>
                    <a:p>
                      <a:pPr algn="ctr"/>
                      <a:r>
                        <a:rPr lang="en-US" u="none" dirty="0"/>
                        <a:t>Legacy 802.11</a:t>
                      </a:r>
                      <a:endParaRPr lang="en-US" i="0" u="none" dirty="0"/>
                    </a:p>
                  </a:txBody>
                  <a:tcPr marL="47625" marR="47625" marT="47625" marB="47625" anchor="ctr"/>
                </a:tc>
                <a:tc>
                  <a:txBody>
                    <a:bodyPr/>
                    <a:lstStyle/>
                    <a:p>
                      <a:pPr algn="ctr"/>
                      <a:r>
                        <a:rPr lang="en-US" dirty="0"/>
                        <a:t>2.4 GHz</a:t>
                      </a:r>
                    </a:p>
                  </a:txBody>
                  <a:tcPr marL="47625" marR="47625" marT="47625" marB="47625" anchor="ctr"/>
                </a:tc>
                <a:tc>
                  <a:txBody>
                    <a:bodyPr/>
                    <a:lstStyle/>
                    <a:p>
                      <a:pPr algn="ctr"/>
                      <a:r>
                        <a:rPr lang="en-US" dirty="0"/>
                        <a:t>FHSS or DSSS</a:t>
                      </a:r>
                    </a:p>
                  </a:txBody>
                  <a:tcPr marL="47625" marR="47625" marT="47625" marB="47625" anchor="ctr"/>
                </a:tc>
                <a:tc>
                  <a:txBody>
                    <a:bodyPr/>
                    <a:lstStyle/>
                    <a:p>
                      <a:pPr algn="ctr"/>
                      <a:r>
                        <a:rPr lang="en-US" dirty="0"/>
                        <a:t>2 Mbps</a:t>
                      </a:r>
                    </a:p>
                  </a:txBody>
                  <a:tcPr marL="47625" marR="47625" marT="47625" marB="47625" anchor="ctr"/>
                </a:tc>
                <a:extLst>
                  <a:ext uri="{0D108BD9-81ED-4DB2-BD59-A6C34878D82A}">
                    <a16:rowId xmlns:a16="http://schemas.microsoft.com/office/drawing/2014/main" val="10001"/>
                  </a:ext>
                </a:extLst>
              </a:tr>
              <a:tr h="370840">
                <a:tc>
                  <a:txBody>
                    <a:bodyPr/>
                    <a:lstStyle/>
                    <a:p>
                      <a:pPr algn="ctr"/>
                      <a:r>
                        <a:rPr lang="en-US" dirty="0"/>
                        <a:t>1999</a:t>
                      </a:r>
                    </a:p>
                  </a:txBody>
                  <a:tcPr/>
                </a:tc>
                <a:tc>
                  <a:txBody>
                    <a:bodyPr/>
                    <a:lstStyle/>
                    <a:p>
                      <a:pPr algn="ctr"/>
                      <a:r>
                        <a:rPr lang="en-US" u="none" dirty="0"/>
                        <a:t>802.11a</a:t>
                      </a:r>
                      <a:endParaRPr lang="en-US" i="0" u="none" dirty="0"/>
                    </a:p>
                  </a:txBody>
                  <a:tcPr marL="47625" marR="47625" marT="47625" marB="47625" anchor="ctr"/>
                </a:tc>
                <a:tc>
                  <a:txBody>
                    <a:bodyPr/>
                    <a:lstStyle/>
                    <a:p>
                      <a:pPr algn="ctr"/>
                      <a:r>
                        <a:rPr lang="en-US" dirty="0"/>
                        <a:t>5 GHz</a:t>
                      </a:r>
                    </a:p>
                  </a:txBody>
                  <a:tcPr marL="47625" marR="47625" marT="47625" marB="47625" anchor="ctr"/>
                </a:tc>
                <a:tc>
                  <a:txBody>
                    <a:bodyPr/>
                    <a:lstStyle/>
                    <a:p>
                      <a:pPr algn="ctr"/>
                      <a:r>
                        <a:rPr lang="en-US" dirty="0"/>
                        <a:t>OFDM</a:t>
                      </a:r>
                    </a:p>
                  </a:txBody>
                  <a:tcPr marL="47625" marR="47625" marT="47625" marB="47625" anchor="ctr"/>
                </a:tc>
                <a:tc>
                  <a:txBody>
                    <a:bodyPr/>
                    <a:lstStyle/>
                    <a:p>
                      <a:pPr algn="ctr"/>
                      <a:r>
                        <a:rPr lang="en-US" dirty="0"/>
                        <a:t>54 Mbps</a:t>
                      </a:r>
                    </a:p>
                  </a:txBody>
                  <a:tcPr marL="47625" marR="47625" marT="47625" marB="47625" anchor="ctr"/>
                </a:tc>
                <a:extLst>
                  <a:ext uri="{0D108BD9-81ED-4DB2-BD59-A6C34878D82A}">
                    <a16:rowId xmlns:a16="http://schemas.microsoft.com/office/drawing/2014/main" val="10002"/>
                  </a:ext>
                </a:extLst>
              </a:tr>
              <a:tr h="370840">
                <a:tc>
                  <a:txBody>
                    <a:bodyPr/>
                    <a:lstStyle/>
                    <a:p>
                      <a:pPr algn="ctr"/>
                      <a:r>
                        <a:rPr lang="en-US" dirty="0"/>
                        <a:t>1999</a:t>
                      </a:r>
                    </a:p>
                  </a:txBody>
                  <a:tcPr/>
                </a:tc>
                <a:tc>
                  <a:txBody>
                    <a:bodyPr/>
                    <a:lstStyle/>
                    <a:p>
                      <a:pPr algn="ctr"/>
                      <a:r>
                        <a:rPr lang="en-US" u="none" dirty="0"/>
                        <a:t>802.11b</a:t>
                      </a:r>
                      <a:endParaRPr lang="en-US" i="0" u="none" dirty="0"/>
                    </a:p>
                  </a:txBody>
                  <a:tcPr marL="47625" marR="47625" marT="47625" marB="47625" anchor="ctr"/>
                </a:tc>
                <a:tc>
                  <a:txBody>
                    <a:bodyPr/>
                    <a:lstStyle/>
                    <a:p>
                      <a:pPr algn="ctr"/>
                      <a:r>
                        <a:rPr lang="en-US" dirty="0"/>
                        <a:t>2.4 GHz</a:t>
                      </a:r>
                    </a:p>
                  </a:txBody>
                  <a:tcPr marL="47625" marR="47625" marT="47625" marB="47625" anchor="ctr"/>
                </a:tc>
                <a:tc>
                  <a:txBody>
                    <a:bodyPr/>
                    <a:lstStyle/>
                    <a:p>
                      <a:pPr algn="ctr"/>
                      <a:r>
                        <a:rPr lang="en-US" dirty="0"/>
                        <a:t>HR-DSSS</a:t>
                      </a:r>
                    </a:p>
                  </a:txBody>
                  <a:tcPr marL="47625" marR="47625" marT="47625" marB="47625" anchor="ctr"/>
                </a:tc>
                <a:tc>
                  <a:txBody>
                    <a:bodyPr/>
                    <a:lstStyle/>
                    <a:p>
                      <a:pPr algn="ctr"/>
                      <a:r>
                        <a:rPr lang="en-US"/>
                        <a:t>11 Mbps</a:t>
                      </a:r>
                    </a:p>
                  </a:txBody>
                  <a:tcPr marL="47625" marR="47625" marT="47625" marB="47625" anchor="ctr"/>
                </a:tc>
                <a:extLst>
                  <a:ext uri="{0D108BD9-81ED-4DB2-BD59-A6C34878D82A}">
                    <a16:rowId xmlns:a16="http://schemas.microsoft.com/office/drawing/2014/main" val="10003"/>
                  </a:ext>
                </a:extLst>
              </a:tr>
              <a:tr h="370840">
                <a:tc>
                  <a:txBody>
                    <a:bodyPr/>
                    <a:lstStyle/>
                    <a:p>
                      <a:pPr algn="ctr"/>
                      <a:r>
                        <a:rPr lang="en-US" dirty="0"/>
                        <a:t>2003</a:t>
                      </a:r>
                    </a:p>
                  </a:txBody>
                  <a:tcPr/>
                </a:tc>
                <a:tc>
                  <a:txBody>
                    <a:bodyPr/>
                    <a:lstStyle/>
                    <a:p>
                      <a:pPr algn="ctr"/>
                      <a:r>
                        <a:rPr lang="en-US" u="none" dirty="0"/>
                        <a:t>802.11g</a:t>
                      </a:r>
                      <a:endParaRPr lang="en-US" i="0" u="none" dirty="0"/>
                    </a:p>
                  </a:txBody>
                  <a:tcPr marL="47625" marR="47625" marT="47625" marB="47625" anchor="ctr"/>
                </a:tc>
                <a:tc>
                  <a:txBody>
                    <a:bodyPr/>
                    <a:lstStyle/>
                    <a:p>
                      <a:pPr algn="ctr"/>
                      <a:r>
                        <a:rPr lang="en-US" dirty="0"/>
                        <a:t>2.4 GHz</a:t>
                      </a:r>
                    </a:p>
                  </a:txBody>
                  <a:tcPr marL="47625" marR="47625" marT="47625" marB="47625" anchor="ctr"/>
                </a:tc>
                <a:tc>
                  <a:txBody>
                    <a:bodyPr/>
                    <a:lstStyle/>
                    <a:p>
                      <a:pPr algn="ctr"/>
                      <a:r>
                        <a:rPr lang="en-US" dirty="0"/>
                        <a:t>OFDM</a:t>
                      </a:r>
                    </a:p>
                  </a:txBody>
                  <a:tcPr marL="47625" marR="47625" marT="47625" marB="47625" anchor="ctr"/>
                </a:tc>
                <a:tc>
                  <a:txBody>
                    <a:bodyPr/>
                    <a:lstStyle/>
                    <a:p>
                      <a:pPr algn="ctr"/>
                      <a:r>
                        <a:rPr lang="en-US"/>
                        <a:t>54 Mbps</a:t>
                      </a:r>
                    </a:p>
                  </a:txBody>
                  <a:tcPr marL="47625" marR="47625" marT="47625" marB="47625" anchor="ctr"/>
                </a:tc>
                <a:extLst>
                  <a:ext uri="{0D108BD9-81ED-4DB2-BD59-A6C34878D82A}">
                    <a16:rowId xmlns:a16="http://schemas.microsoft.com/office/drawing/2014/main" val="10004"/>
                  </a:ext>
                </a:extLst>
              </a:tr>
              <a:tr h="370840">
                <a:tc>
                  <a:txBody>
                    <a:bodyPr/>
                    <a:lstStyle/>
                    <a:p>
                      <a:pPr algn="ctr"/>
                      <a:r>
                        <a:rPr lang="en-US" dirty="0"/>
                        <a:t>2009</a:t>
                      </a:r>
                    </a:p>
                  </a:txBody>
                  <a:tcPr/>
                </a:tc>
                <a:tc>
                  <a:txBody>
                    <a:bodyPr/>
                    <a:lstStyle/>
                    <a:p>
                      <a:pPr algn="ctr"/>
                      <a:r>
                        <a:rPr lang="en-US" u="none" dirty="0"/>
                        <a:t>802.11n</a:t>
                      </a:r>
                      <a:endParaRPr lang="en-US" i="0" u="none" dirty="0"/>
                    </a:p>
                  </a:txBody>
                  <a:tcPr marL="47625" marR="47625" marT="47625" marB="47625" anchor="ctr"/>
                </a:tc>
                <a:tc>
                  <a:txBody>
                    <a:bodyPr/>
                    <a:lstStyle/>
                    <a:p>
                      <a:pPr algn="ctr"/>
                      <a:r>
                        <a:rPr lang="en-US" dirty="0"/>
                        <a:t>2.4 or 5 GHz</a:t>
                      </a:r>
                    </a:p>
                  </a:txBody>
                  <a:tcPr marL="47625" marR="47625" marT="47625" marB="47625" anchor="ctr"/>
                </a:tc>
                <a:tc>
                  <a:txBody>
                    <a:bodyPr/>
                    <a:lstStyle/>
                    <a:p>
                      <a:pPr algn="ctr"/>
                      <a:r>
                        <a:rPr lang="en-US" dirty="0"/>
                        <a:t>OFDM</a:t>
                      </a:r>
                    </a:p>
                  </a:txBody>
                  <a:tcPr marL="47625" marR="47625" marT="47625" marB="47625" anchor="ctr"/>
                </a:tc>
                <a:tc>
                  <a:txBody>
                    <a:bodyPr/>
                    <a:lstStyle/>
                    <a:p>
                      <a:pPr algn="ctr"/>
                      <a:r>
                        <a:rPr lang="en-US"/>
                        <a:t>600 Mbps (theoretical)</a:t>
                      </a:r>
                    </a:p>
                  </a:txBody>
                  <a:tcPr marL="47625" marR="47625" marT="47625" marB="47625" anchor="ctr"/>
                </a:tc>
                <a:extLst>
                  <a:ext uri="{0D108BD9-81ED-4DB2-BD59-A6C34878D82A}">
                    <a16:rowId xmlns:a16="http://schemas.microsoft.com/office/drawing/2014/main" val="10005"/>
                  </a:ext>
                </a:extLst>
              </a:tr>
              <a:tr h="370840">
                <a:tc>
                  <a:txBody>
                    <a:bodyPr/>
                    <a:lstStyle/>
                    <a:p>
                      <a:pPr algn="ctr"/>
                      <a:r>
                        <a:rPr lang="en-US" dirty="0"/>
                        <a:t>2014</a:t>
                      </a:r>
                    </a:p>
                  </a:txBody>
                  <a:tcPr/>
                </a:tc>
                <a:tc>
                  <a:txBody>
                    <a:bodyPr/>
                    <a:lstStyle/>
                    <a:p>
                      <a:pPr algn="ctr"/>
                      <a:r>
                        <a:rPr lang="en-US" u="none" dirty="0"/>
                        <a:t>802.11ac</a:t>
                      </a:r>
                      <a:endParaRPr lang="en-US" i="0" u="none" dirty="0"/>
                    </a:p>
                  </a:txBody>
                  <a:tcPr marL="47625" marR="47625" marT="47625" marB="47625" anchor="ctr"/>
                </a:tc>
                <a:tc>
                  <a:txBody>
                    <a:bodyPr/>
                    <a:lstStyle/>
                    <a:p>
                      <a:pPr algn="ctr"/>
                      <a:r>
                        <a:rPr lang="en-US" dirty="0"/>
                        <a:t>5 GHz</a:t>
                      </a:r>
                    </a:p>
                  </a:txBody>
                  <a:tcPr marL="47625" marR="47625" marT="47625" marB="47625" anchor="ctr"/>
                </a:tc>
                <a:tc>
                  <a:txBody>
                    <a:bodyPr/>
                    <a:lstStyle/>
                    <a:p>
                      <a:pPr algn="ctr"/>
                      <a:r>
                        <a:rPr lang="en-US" dirty="0"/>
                        <a:t>256-QAM</a:t>
                      </a:r>
                    </a:p>
                  </a:txBody>
                  <a:tcPr marL="47625" marR="47625" marT="47625" marB="47625" anchor="ctr"/>
                </a:tc>
                <a:tc>
                  <a:txBody>
                    <a:bodyPr/>
                    <a:lstStyle/>
                    <a:p>
                      <a:pPr algn="ctr"/>
                      <a:r>
                        <a:rPr lang="en-US" dirty="0"/>
                        <a:t>1.3 </a:t>
                      </a:r>
                      <a:r>
                        <a:rPr lang="en-US" dirty="0" err="1"/>
                        <a:t>Gbps</a:t>
                      </a:r>
                      <a:endParaRPr lang="en-US" dirty="0"/>
                    </a:p>
                  </a:txBody>
                  <a:tcPr marL="47625" marR="47625" marT="47625" marB="47625" anchor="ctr"/>
                </a:tc>
                <a:extLst>
                  <a:ext uri="{0D108BD9-81ED-4DB2-BD59-A6C34878D82A}">
                    <a16:rowId xmlns:a16="http://schemas.microsoft.com/office/drawing/2014/main" val="10006"/>
                  </a:ext>
                </a:extLst>
              </a:tr>
            </a:tbl>
          </a:graphicData>
        </a:graphic>
      </p:graphicFrame>
      <p:sp>
        <p:nvSpPr>
          <p:cNvPr id="6" name="Rectangle 5"/>
          <p:cNvSpPr/>
          <p:nvPr/>
        </p:nvSpPr>
        <p:spPr>
          <a:xfrm>
            <a:off x="2590800" y="6336268"/>
            <a:ext cx="5429692" cy="369332"/>
          </a:xfrm>
          <a:prstGeom prst="rect">
            <a:avLst/>
          </a:prstGeom>
        </p:spPr>
        <p:txBody>
          <a:bodyPr wrap="none">
            <a:spAutoFit/>
          </a:bodyPr>
          <a:lstStyle/>
          <a:p>
            <a:r>
              <a:rPr lang="en-US" dirty="0"/>
              <a:t>*</a:t>
            </a:r>
            <a:r>
              <a:rPr lang="en-US" b="1" dirty="0"/>
              <a:t>OFDM</a:t>
            </a:r>
            <a:r>
              <a:rPr lang="en-US" dirty="0"/>
              <a:t> Orthogonal frequency-division multiplexing </a:t>
            </a:r>
          </a:p>
        </p:txBody>
      </p:sp>
    </p:spTree>
    <p:extLst>
      <p:ext uri="{BB962C8B-B14F-4D97-AF65-F5344CB8AC3E}">
        <p14:creationId xmlns:p14="http://schemas.microsoft.com/office/powerpoint/2010/main" val="3884681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WiFi</a:t>
            </a:r>
            <a:r>
              <a:rPr lang="en-US" b="1" dirty="0"/>
              <a:t> Star Network</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48000" y="1600200"/>
            <a:ext cx="6096000" cy="4876800"/>
          </a:xfrm>
        </p:spPr>
      </p:pic>
      <p:sp>
        <p:nvSpPr>
          <p:cNvPr id="4" name="Slide Number Placeholder 3"/>
          <p:cNvSpPr>
            <a:spLocks noGrp="1"/>
          </p:cNvSpPr>
          <p:nvPr>
            <p:ph type="sldNum" sz="quarter" idx="12"/>
          </p:nvPr>
        </p:nvSpPr>
        <p:spPr/>
        <p:txBody>
          <a:bodyPr/>
          <a:lstStyle/>
          <a:p>
            <a:fld id="{3957FE44-DABC-424D-A234-74BB9410FF27}" type="slidenum">
              <a:rPr lang="en-US" smtClean="0"/>
              <a:pPr/>
              <a:t>43</a:t>
            </a:fld>
            <a:endParaRPr lang="en-US" dirty="0"/>
          </a:p>
        </p:txBody>
      </p:sp>
    </p:spTree>
    <p:extLst>
      <p:ext uri="{BB962C8B-B14F-4D97-AF65-F5344CB8AC3E}">
        <p14:creationId xmlns:p14="http://schemas.microsoft.com/office/powerpoint/2010/main" val="24802478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Orthogonal frequency-division multiplexing</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3957FE44-DABC-424D-A234-74BB9410FF27}" type="slidenum">
              <a:rPr lang="en-US" smtClean="0"/>
              <a:pPr/>
              <a:t>44</a:t>
            </a:fld>
            <a:endParaRPr lang="en-US" dirty="0"/>
          </a:p>
        </p:txBody>
      </p:sp>
      <p:pic>
        <p:nvPicPr>
          <p:cNvPr id="5" name="Picture 4"/>
          <p:cNvPicPr>
            <a:picLocks noChangeAspect="1"/>
          </p:cNvPicPr>
          <p:nvPr/>
        </p:nvPicPr>
        <p:blipFill>
          <a:blip r:embed="rId2"/>
          <a:stretch>
            <a:fillRect/>
          </a:stretch>
        </p:blipFill>
        <p:spPr>
          <a:xfrm>
            <a:off x="2133601" y="1905000"/>
            <a:ext cx="8222127" cy="3371850"/>
          </a:xfrm>
          <a:prstGeom prst="rect">
            <a:avLst/>
          </a:prstGeom>
        </p:spPr>
      </p:pic>
    </p:spTree>
    <p:extLst>
      <p:ext uri="{BB962C8B-B14F-4D97-AF65-F5344CB8AC3E}">
        <p14:creationId xmlns:p14="http://schemas.microsoft.com/office/powerpoint/2010/main" val="34941177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1201" y="2438400"/>
            <a:ext cx="8253173" cy="3348218"/>
          </a:xfrm>
        </p:spPr>
      </p:pic>
      <p:sp>
        <p:nvSpPr>
          <p:cNvPr id="4" name="Slide Number Placeholder 3"/>
          <p:cNvSpPr>
            <a:spLocks noGrp="1"/>
          </p:cNvSpPr>
          <p:nvPr>
            <p:ph type="sldNum" sz="quarter" idx="12"/>
          </p:nvPr>
        </p:nvSpPr>
        <p:spPr/>
        <p:txBody>
          <a:bodyPr/>
          <a:lstStyle/>
          <a:p>
            <a:fld id="{3957FE44-DABC-424D-A234-74BB9410FF27}" type="slidenum">
              <a:rPr lang="en-US" smtClean="0"/>
              <a:pPr/>
              <a:t>45</a:t>
            </a:fld>
            <a:endParaRPr lang="en-US" dirty="0"/>
          </a:p>
        </p:txBody>
      </p:sp>
    </p:spTree>
    <p:extLst>
      <p:ext uri="{BB962C8B-B14F-4D97-AF65-F5344CB8AC3E}">
        <p14:creationId xmlns:p14="http://schemas.microsoft.com/office/powerpoint/2010/main" val="11933491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Low power WAN</a:t>
            </a:r>
            <a:endParaRPr lang="en-US" dirty="0"/>
          </a:p>
        </p:txBody>
      </p:sp>
      <p:sp>
        <p:nvSpPr>
          <p:cNvPr id="11" name="Content Placeholder 10">
            <a:extLst>
              <a:ext uri="{FF2B5EF4-FFF2-40B4-BE49-F238E27FC236}">
                <a16:creationId xmlns:a16="http://schemas.microsoft.com/office/drawing/2014/main" id="{49844C5F-4855-607E-686D-4340CB807E34}"/>
              </a:ext>
            </a:extLst>
          </p:cNvPr>
          <p:cNvSpPr>
            <a:spLocks noGrp="1"/>
          </p:cNvSpPr>
          <p:nvPr>
            <p:ph idx="1"/>
          </p:nvPr>
        </p:nvSpPr>
        <p:spPr/>
        <p:txBody>
          <a:bodyPr>
            <a:normAutofit/>
          </a:bodyPr>
          <a:lstStyle/>
          <a:p>
            <a:pPr marL="285750" indent="-285750"/>
            <a:r>
              <a:rPr lang="en-US" sz="2800"/>
              <a:t>Wireless technologies adapted for </a:t>
            </a:r>
            <a:r>
              <a:rPr lang="en-US" sz="2800" b="1">
                <a:solidFill>
                  <a:srgbClr val="0070C0"/>
                </a:solidFill>
              </a:rPr>
              <a:t>long-range</a:t>
            </a:r>
            <a:r>
              <a:rPr lang="en-US" sz="2800"/>
              <a:t> and </a:t>
            </a:r>
            <a:r>
              <a:rPr lang="en-US" sz="2800" b="1">
                <a:solidFill>
                  <a:srgbClr val="0070C0"/>
                </a:solidFill>
              </a:rPr>
              <a:t>battery-powered</a:t>
            </a:r>
            <a:r>
              <a:rPr lang="en-US" sz="2800"/>
              <a:t> endpoints</a:t>
            </a:r>
          </a:p>
          <a:p>
            <a:pPr marL="285750" indent="-285750"/>
            <a:r>
              <a:rPr lang="en-US" sz="2800"/>
              <a:t>Range &gt; 2km</a:t>
            </a:r>
          </a:p>
          <a:p>
            <a:pPr marL="285750" indent="-285750"/>
            <a:r>
              <a:rPr lang="en-US" sz="2800"/>
              <a:t>Types</a:t>
            </a:r>
          </a:p>
          <a:p>
            <a:pPr marL="742950" lvl="1" indent="-285750"/>
            <a:r>
              <a:rPr lang="en-US" sz="2400"/>
              <a:t>LoRaWAN</a:t>
            </a:r>
          </a:p>
          <a:p>
            <a:pPr marL="742950" lvl="1" indent="-285750"/>
            <a:r>
              <a:rPr lang="en-US" sz="2400"/>
              <a:t>Sigfox</a:t>
            </a:r>
          </a:p>
          <a:p>
            <a:pPr marL="742950" lvl="1" indent="-285750"/>
            <a:r>
              <a:rPr lang="en-US" sz="2400"/>
              <a:t>NB-IoT</a:t>
            </a:r>
          </a:p>
          <a:p>
            <a:pPr marL="742950" lvl="1" indent="-285750"/>
            <a:r>
              <a:rPr lang="en-US" sz="2400"/>
              <a:t>LTE </a:t>
            </a:r>
          </a:p>
          <a:p>
            <a:pPr marL="742950" lvl="1" indent="-285750"/>
            <a:r>
              <a:rPr lang="en-US" sz="2400"/>
              <a:t>…</a:t>
            </a:r>
          </a:p>
          <a:p>
            <a:endParaRPr lang="en-US"/>
          </a:p>
        </p:txBody>
      </p:sp>
      <p:pic>
        <p:nvPicPr>
          <p:cNvPr id="12" name="Picture 2">
            <a:extLst>
              <a:ext uri="{FF2B5EF4-FFF2-40B4-BE49-F238E27FC236}">
                <a16:creationId xmlns:a16="http://schemas.microsoft.com/office/drawing/2014/main" id="{527B463F-C5B8-6AFB-945D-B67F962510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83" t="10452" r="31630"/>
          <a:stretch/>
        </p:blipFill>
        <p:spPr bwMode="auto">
          <a:xfrm>
            <a:off x="6254125" y="3175608"/>
            <a:ext cx="3862874" cy="3064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8876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47CA0-E75F-1235-FF6C-E82A733B96B8}"/>
              </a:ext>
            </a:extLst>
          </p:cNvPr>
          <p:cNvSpPr>
            <a:spLocks noGrp="1"/>
          </p:cNvSpPr>
          <p:nvPr>
            <p:ph type="title"/>
          </p:nvPr>
        </p:nvSpPr>
        <p:spPr/>
        <p:txBody>
          <a:bodyPr/>
          <a:lstStyle/>
          <a:p>
            <a:r>
              <a:rPr lang="en-US"/>
              <a:t>LoRaWAN</a:t>
            </a:r>
          </a:p>
        </p:txBody>
      </p:sp>
      <p:sp>
        <p:nvSpPr>
          <p:cNvPr id="3" name="Content Placeholder 2">
            <a:extLst>
              <a:ext uri="{FF2B5EF4-FFF2-40B4-BE49-F238E27FC236}">
                <a16:creationId xmlns:a16="http://schemas.microsoft.com/office/drawing/2014/main" id="{C0153753-7B4D-1A06-D886-9DC4AD0A109D}"/>
              </a:ext>
            </a:extLst>
          </p:cNvPr>
          <p:cNvSpPr>
            <a:spLocks noGrp="1"/>
          </p:cNvSpPr>
          <p:nvPr>
            <p:ph idx="1"/>
          </p:nvPr>
        </p:nvSpPr>
        <p:spPr>
          <a:xfrm>
            <a:off x="838200" y="1600200"/>
            <a:ext cx="5638800" cy="4876800"/>
          </a:xfrm>
        </p:spPr>
        <p:txBody>
          <a:bodyPr/>
          <a:lstStyle/>
          <a:p>
            <a:r>
              <a:rPr lang="en-US" dirty="0"/>
              <a:t>LoRa – Long Range</a:t>
            </a:r>
          </a:p>
          <a:p>
            <a:r>
              <a:rPr lang="en-US" dirty="0" err="1"/>
              <a:t>LoRA</a:t>
            </a:r>
            <a:r>
              <a:rPr lang="en-US" dirty="0"/>
              <a:t> was developed by a French company named </a:t>
            </a:r>
            <a:r>
              <a:rPr lang="en-US" dirty="0" err="1"/>
              <a:t>Cycleo</a:t>
            </a:r>
            <a:r>
              <a:rPr lang="en-US" dirty="0"/>
              <a:t> in 2010</a:t>
            </a:r>
          </a:p>
          <a:p>
            <a:r>
              <a:rPr lang="en-US" b="1" dirty="0" err="1">
                <a:solidFill>
                  <a:srgbClr val="0070C0"/>
                </a:solidFill>
              </a:rPr>
              <a:t>Semtech</a:t>
            </a:r>
            <a:r>
              <a:rPr lang="en-US" dirty="0"/>
              <a:t> acquired </a:t>
            </a:r>
            <a:r>
              <a:rPr lang="en-US" dirty="0" err="1"/>
              <a:t>Cycleo</a:t>
            </a:r>
            <a:r>
              <a:rPr lang="en-US" dirty="0"/>
              <a:t> in May 2012</a:t>
            </a:r>
          </a:p>
          <a:p>
            <a:r>
              <a:rPr lang="en-US" dirty="0"/>
              <a:t>Lora used  Chirp Spread Spectrum (CSS) modulation technology</a:t>
            </a:r>
          </a:p>
          <a:p>
            <a:r>
              <a:rPr lang="en-US" dirty="0"/>
              <a:t>Optimized for </a:t>
            </a:r>
            <a:r>
              <a:rPr lang="en-US" dirty="0">
                <a:solidFill>
                  <a:srgbClr val="0070C0"/>
                </a:solidFill>
              </a:rPr>
              <a:t>long-range</a:t>
            </a:r>
            <a:r>
              <a:rPr lang="en-US" dirty="0"/>
              <a:t>, </a:t>
            </a:r>
            <a:r>
              <a:rPr lang="en-US" dirty="0">
                <a:solidFill>
                  <a:srgbClr val="0070C0"/>
                </a:solidFill>
              </a:rPr>
              <a:t>two-way</a:t>
            </a:r>
            <a:r>
              <a:rPr lang="en-US" dirty="0"/>
              <a:t> communications and </a:t>
            </a:r>
            <a:r>
              <a:rPr lang="en-US" dirty="0">
                <a:solidFill>
                  <a:srgbClr val="0070C0"/>
                </a:solidFill>
              </a:rPr>
              <a:t>low power</a:t>
            </a:r>
            <a:r>
              <a:rPr lang="en-US" dirty="0"/>
              <a:t> consumption</a:t>
            </a:r>
          </a:p>
          <a:p>
            <a:endParaRPr lang="en-US" dirty="0"/>
          </a:p>
        </p:txBody>
      </p:sp>
      <p:sp>
        <p:nvSpPr>
          <p:cNvPr id="4" name="Slide Number Placeholder 3">
            <a:extLst>
              <a:ext uri="{FF2B5EF4-FFF2-40B4-BE49-F238E27FC236}">
                <a16:creationId xmlns:a16="http://schemas.microsoft.com/office/drawing/2014/main" id="{3D456030-B3D0-0B8A-ADCD-33D87FF7C822}"/>
              </a:ext>
            </a:extLst>
          </p:cNvPr>
          <p:cNvSpPr>
            <a:spLocks noGrp="1"/>
          </p:cNvSpPr>
          <p:nvPr>
            <p:ph type="sldNum" sz="quarter" idx="12"/>
          </p:nvPr>
        </p:nvSpPr>
        <p:spPr/>
        <p:txBody>
          <a:bodyPr/>
          <a:lstStyle/>
          <a:p>
            <a:fld id="{3957FE44-DABC-424D-A234-74BB9410FF27}" type="slidenum">
              <a:rPr lang="en-US" smtClean="0"/>
              <a:pPr/>
              <a:t>47</a:t>
            </a:fld>
            <a:endParaRPr lang="en-US" dirty="0"/>
          </a:p>
        </p:txBody>
      </p:sp>
      <p:pic>
        <p:nvPicPr>
          <p:cNvPr id="5" name="Picture 2" descr="Analog and Mixed-Signal Semiconductors | Semtech">
            <a:extLst>
              <a:ext uri="{FF2B5EF4-FFF2-40B4-BE49-F238E27FC236}">
                <a16:creationId xmlns:a16="http://schemas.microsoft.com/office/drawing/2014/main" id="{4F520D36-11D9-E736-2D12-3E2F1A7DCD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3123" y="603532"/>
            <a:ext cx="2417961" cy="7366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Công nghệ LoRA và LoRaWAN truyền dữ liệu xa, công suất thất trong IoT.">
            <a:extLst>
              <a:ext uri="{FF2B5EF4-FFF2-40B4-BE49-F238E27FC236}">
                <a16:creationId xmlns:a16="http://schemas.microsoft.com/office/drawing/2014/main" id="{52931DDF-3FD5-801E-6B5A-3A7A0C0A17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6705" y="462756"/>
            <a:ext cx="1992174" cy="106112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1D7AA378-F0CB-E16E-AB99-C16F33D9C6A2}"/>
              </a:ext>
            </a:extLst>
          </p:cNvPr>
          <p:cNvPicPr>
            <a:picLocks noChangeAspect="1"/>
          </p:cNvPicPr>
          <p:nvPr/>
        </p:nvPicPr>
        <p:blipFill>
          <a:blip r:embed="rId4"/>
          <a:stretch>
            <a:fillRect/>
          </a:stretch>
        </p:blipFill>
        <p:spPr>
          <a:xfrm>
            <a:off x="8143461" y="1858016"/>
            <a:ext cx="2187623" cy="2803101"/>
          </a:xfrm>
          <a:prstGeom prst="rect">
            <a:avLst/>
          </a:prstGeom>
        </p:spPr>
      </p:pic>
      <p:sp>
        <p:nvSpPr>
          <p:cNvPr id="8" name="TextBox 7">
            <a:extLst>
              <a:ext uri="{FF2B5EF4-FFF2-40B4-BE49-F238E27FC236}">
                <a16:creationId xmlns:a16="http://schemas.microsoft.com/office/drawing/2014/main" id="{3A3C0ACD-39E6-31A4-4872-8ED6C6A15848}"/>
              </a:ext>
            </a:extLst>
          </p:cNvPr>
          <p:cNvSpPr txBox="1"/>
          <p:nvPr/>
        </p:nvSpPr>
        <p:spPr>
          <a:xfrm>
            <a:off x="8386722" y="4734265"/>
            <a:ext cx="1800493" cy="369332"/>
          </a:xfrm>
          <a:prstGeom prst="rect">
            <a:avLst/>
          </a:prstGeom>
          <a:noFill/>
        </p:spPr>
        <p:txBody>
          <a:bodyPr wrap="none" rtlCol="0">
            <a:spAutoFit/>
          </a:bodyPr>
          <a:lstStyle/>
          <a:p>
            <a:r>
              <a:rPr lang="en-US" b="1"/>
              <a:t>Nicolas Sornin</a:t>
            </a:r>
          </a:p>
        </p:txBody>
      </p:sp>
    </p:spTree>
    <p:extLst>
      <p:ext uri="{BB962C8B-B14F-4D97-AF65-F5344CB8AC3E}">
        <p14:creationId xmlns:p14="http://schemas.microsoft.com/office/powerpoint/2010/main" val="32502535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7A8A0-D429-3012-1AD3-E6BA09EB2020}"/>
              </a:ext>
            </a:extLst>
          </p:cNvPr>
          <p:cNvSpPr>
            <a:spLocks noGrp="1"/>
          </p:cNvSpPr>
          <p:nvPr>
            <p:ph type="title"/>
          </p:nvPr>
        </p:nvSpPr>
        <p:spPr/>
        <p:txBody>
          <a:bodyPr>
            <a:normAutofit/>
          </a:bodyPr>
          <a:lstStyle/>
          <a:p>
            <a:r>
              <a:rPr lang="en-US"/>
              <a:t>LoRa Specifications</a:t>
            </a:r>
          </a:p>
        </p:txBody>
      </p:sp>
      <p:sp>
        <p:nvSpPr>
          <p:cNvPr id="3" name="Content Placeholder 2">
            <a:extLst>
              <a:ext uri="{FF2B5EF4-FFF2-40B4-BE49-F238E27FC236}">
                <a16:creationId xmlns:a16="http://schemas.microsoft.com/office/drawing/2014/main" id="{5C619786-FBFA-04CB-0AB0-9F6F64B39FA2}"/>
              </a:ext>
            </a:extLst>
          </p:cNvPr>
          <p:cNvSpPr>
            <a:spLocks noGrp="1"/>
          </p:cNvSpPr>
          <p:nvPr>
            <p:ph idx="1"/>
          </p:nvPr>
        </p:nvSpPr>
        <p:spPr/>
        <p:txBody>
          <a:bodyPr>
            <a:normAutofit/>
          </a:bodyPr>
          <a:lstStyle/>
          <a:p>
            <a:r>
              <a:rPr lang="en-US"/>
              <a:t>LoRa Alliance</a:t>
            </a:r>
          </a:p>
          <a:p>
            <a:pPr marL="0" indent="0">
              <a:buNone/>
            </a:pPr>
            <a:r>
              <a:rPr lang="en-US"/>
              <a:t>	</a:t>
            </a:r>
            <a:r>
              <a:rPr lang="en-US" i="1">
                <a:solidFill>
                  <a:srgbClr val="0070C0"/>
                </a:solidFill>
              </a:rPr>
              <a:t>https://lora-alliance.org/</a:t>
            </a:r>
          </a:p>
          <a:p>
            <a:r>
              <a:rPr lang="en-US"/>
              <a:t>LoRa Specifications:</a:t>
            </a:r>
          </a:p>
          <a:p>
            <a:pPr lvl="1"/>
            <a:r>
              <a:rPr lang="en-US"/>
              <a:t>LoRa is deployed in a </a:t>
            </a:r>
            <a:r>
              <a:rPr lang="en-US">
                <a:solidFill>
                  <a:srgbClr val="0070C0"/>
                </a:solidFill>
              </a:rPr>
              <a:t>star-of-stars topology</a:t>
            </a:r>
          </a:p>
          <a:p>
            <a:pPr lvl="1"/>
            <a:r>
              <a:rPr lang="en-US"/>
              <a:t>Data rate: range from </a:t>
            </a:r>
            <a:r>
              <a:rPr lang="en-US">
                <a:solidFill>
                  <a:srgbClr val="0070C0"/>
                </a:solidFill>
              </a:rPr>
              <a:t>0.3 kbps to 50 kbps</a:t>
            </a:r>
          </a:p>
          <a:p>
            <a:pPr lvl="1"/>
            <a:r>
              <a:rPr lang="en-US"/>
              <a:t>Packet size: is limited to </a:t>
            </a:r>
            <a:r>
              <a:rPr lang="en-US">
                <a:solidFill>
                  <a:srgbClr val="0070C0"/>
                </a:solidFill>
              </a:rPr>
              <a:t>150 messages of 12 bytes per day</a:t>
            </a:r>
          </a:p>
          <a:p>
            <a:pPr lvl="1"/>
            <a:r>
              <a:rPr lang="en-US"/>
              <a:t>Security: two layers of cryptography</a:t>
            </a:r>
          </a:p>
          <a:p>
            <a:pPr lvl="2"/>
            <a:r>
              <a:rPr lang="en-US"/>
              <a:t>A unique 128-bit Network Session Key shared between the end-device and network server</a:t>
            </a:r>
          </a:p>
          <a:p>
            <a:pPr lvl="2"/>
            <a:r>
              <a:rPr lang="en-US"/>
              <a:t>A unique 128-bit Application Session Key (AppSKey) shared end-to-end at the application level</a:t>
            </a:r>
          </a:p>
          <a:p>
            <a:r>
              <a:rPr lang="en-US"/>
              <a:t>LoRaWAN has three different classes of end-point devices</a:t>
            </a:r>
          </a:p>
          <a:p>
            <a:endParaRPr lang="en-US"/>
          </a:p>
        </p:txBody>
      </p:sp>
      <p:sp>
        <p:nvSpPr>
          <p:cNvPr id="4" name="Slide Number Placeholder 3">
            <a:extLst>
              <a:ext uri="{FF2B5EF4-FFF2-40B4-BE49-F238E27FC236}">
                <a16:creationId xmlns:a16="http://schemas.microsoft.com/office/drawing/2014/main" id="{23D023DA-6171-2CE2-6A65-703200166FF5}"/>
              </a:ext>
            </a:extLst>
          </p:cNvPr>
          <p:cNvSpPr>
            <a:spLocks noGrp="1"/>
          </p:cNvSpPr>
          <p:nvPr>
            <p:ph type="sldNum" sz="quarter" idx="12"/>
          </p:nvPr>
        </p:nvSpPr>
        <p:spPr/>
        <p:txBody>
          <a:bodyPr/>
          <a:lstStyle/>
          <a:p>
            <a:fld id="{3957FE44-DABC-424D-A234-74BB9410FF27}" type="slidenum">
              <a:rPr lang="en-US" smtClean="0"/>
              <a:pPr/>
              <a:t>48</a:t>
            </a:fld>
            <a:endParaRPr lang="en-US" dirty="0"/>
          </a:p>
        </p:txBody>
      </p:sp>
    </p:spTree>
    <p:extLst>
      <p:ext uri="{BB962C8B-B14F-4D97-AF65-F5344CB8AC3E}">
        <p14:creationId xmlns:p14="http://schemas.microsoft.com/office/powerpoint/2010/main" val="14275843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72E28-C370-E459-6CB9-715346B49CA2}"/>
              </a:ext>
            </a:extLst>
          </p:cNvPr>
          <p:cNvSpPr>
            <a:spLocks noGrp="1"/>
          </p:cNvSpPr>
          <p:nvPr>
            <p:ph type="title"/>
          </p:nvPr>
        </p:nvSpPr>
        <p:spPr/>
        <p:txBody>
          <a:bodyPr/>
          <a:lstStyle/>
          <a:p>
            <a:r>
              <a:rPr lang="en-US"/>
              <a:t>LoRa Architecture</a:t>
            </a:r>
          </a:p>
        </p:txBody>
      </p:sp>
      <p:sp>
        <p:nvSpPr>
          <p:cNvPr id="4" name="Slide Number Placeholder 3">
            <a:extLst>
              <a:ext uri="{FF2B5EF4-FFF2-40B4-BE49-F238E27FC236}">
                <a16:creationId xmlns:a16="http://schemas.microsoft.com/office/drawing/2014/main" id="{10ECA9C5-9CEB-7F16-5E7C-F54B7CDC9800}"/>
              </a:ext>
            </a:extLst>
          </p:cNvPr>
          <p:cNvSpPr>
            <a:spLocks noGrp="1"/>
          </p:cNvSpPr>
          <p:nvPr>
            <p:ph type="sldNum" sz="quarter" idx="12"/>
          </p:nvPr>
        </p:nvSpPr>
        <p:spPr/>
        <p:txBody>
          <a:bodyPr/>
          <a:lstStyle/>
          <a:p>
            <a:fld id="{3957FE44-DABC-424D-A234-74BB9410FF27}" type="slidenum">
              <a:rPr lang="en-US" smtClean="0"/>
              <a:pPr/>
              <a:t>49</a:t>
            </a:fld>
            <a:endParaRPr lang="en-US" dirty="0"/>
          </a:p>
        </p:txBody>
      </p:sp>
      <p:pic>
        <p:nvPicPr>
          <p:cNvPr id="1026" name="Picture 2">
            <a:extLst>
              <a:ext uri="{FF2B5EF4-FFF2-40B4-BE49-F238E27FC236}">
                <a16:creationId xmlns:a16="http://schemas.microsoft.com/office/drawing/2014/main" id="{34FCE66A-5E9C-C5BE-6DD8-CD8D37CD7A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415059"/>
            <a:ext cx="8077200" cy="372308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C33BB01-BE59-8F10-0FC3-E118CEA2C089}"/>
              </a:ext>
            </a:extLst>
          </p:cNvPr>
          <p:cNvSpPr>
            <a:spLocks noGrp="1"/>
          </p:cNvSpPr>
          <p:nvPr>
            <p:ph idx="1"/>
          </p:nvPr>
        </p:nvSpPr>
        <p:spPr>
          <a:xfrm>
            <a:off x="1981200" y="5029200"/>
            <a:ext cx="8229600" cy="1447800"/>
          </a:xfrm>
        </p:spPr>
        <p:txBody>
          <a:bodyPr>
            <a:normAutofit lnSpcReduction="10000"/>
          </a:bodyPr>
          <a:lstStyle/>
          <a:p>
            <a:r>
              <a:rPr lang="en-US"/>
              <a:t>Gateways</a:t>
            </a:r>
          </a:p>
          <a:p>
            <a:pPr lvl="1"/>
            <a:r>
              <a:rPr lang="en-US"/>
              <a:t>relay messages between end-devices and a central network server. </a:t>
            </a:r>
          </a:p>
          <a:p>
            <a:pPr lvl="1"/>
            <a:r>
              <a:rPr lang="en-US"/>
              <a:t>The gateways are connected to the network server via standard IP connections and act as a transparent bridge</a:t>
            </a:r>
          </a:p>
        </p:txBody>
      </p:sp>
    </p:spTree>
    <p:extLst>
      <p:ext uri="{BB962C8B-B14F-4D97-AF65-F5344CB8AC3E}">
        <p14:creationId xmlns:p14="http://schemas.microsoft.com/office/powerpoint/2010/main" val="12031536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23958-7441-5391-5165-FEC91CE7E105}"/>
              </a:ext>
            </a:extLst>
          </p:cNvPr>
          <p:cNvSpPr>
            <a:spLocks noGrp="1"/>
          </p:cNvSpPr>
          <p:nvPr>
            <p:ph type="title"/>
          </p:nvPr>
        </p:nvSpPr>
        <p:spPr/>
        <p:txBody>
          <a:bodyPr/>
          <a:lstStyle/>
          <a:p>
            <a:r>
              <a:rPr lang="en-US" b="1" dirty="0"/>
              <a:t>Network Model</a:t>
            </a:r>
          </a:p>
        </p:txBody>
      </p:sp>
      <p:sp>
        <p:nvSpPr>
          <p:cNvPr id="3" name="Content Placeholder 2">
            <a:extLst>
              <a:ext uri="{FF2B5EF4-FFF2-40B4-BE49-F238E27FC236}">
                <a16:creationId xmlns:a16="http://schemas.microsoft.com/office/drawing/2014/main" id="{105BF6DE-7FA5-E497-E9D0-95E65345DB8B}"/>
              </a:ext>
            </a:extLst>
          </p:cNvPr>
          <p:cNvSpPr>
            <a:spLocks noGrp="1"/>
          </p:cNvSpPr>
          <p:nvPr>
            <p:ph idx="1"/>
          </p:nvPr>
        </p:nvSpPr>
        <p:spPr>
          <a:xfrm>
            <a:off x="609600" y="1600200"/>
            <a:ext cx="4876800" cy="4876800"/>
          </a:xfrm>
        </p:spPr>
        <p:txBody>
          <a:bodyPr>
            <a:normAutofit/>
          </a:bodyPr>
          <a:lstStyle/>
          <a:p>
            <a:r>
              <a:rPr lang="en-US" sz="2000" dirty="0"/>
              <a:t>Protocol War (1970s – 1990s)</a:t>
            </a:r>
          </a:p>
          <a:p>
            <a:r>
              <a:rPr lang="en-US" sz="2000" dirty="0"/>
              <a:t>Open System Intercommunication (OSI) Model – 1980s</a:t>
            </a:r>
          </a:p>
          <a:p>
            <a:r>
              <a:rPr lang="en-US" sz="2000" dirty="0"/>
              <a:t>TCP/IP network (1990s)</a:t>
            </a:r>
          </a:p>
          <a:p>
            <a:r>
              <a:rPr lang="en-US" sz="2000" dirty="0"/>
              <a:t>BLE, LPWAN, Cellular, Mesh (2010s)</a:t>
            </a:r>
          </a:p>
          <a:p>
            <a:endParaRPr lang="en-US" sz="2000" dirty="0"/>
          </a:p>
        </p:txBody>
      </p:sp>
      <p:sp>
        <p:nvSpPr>
          <p:cNvPr id="4" name="Slide Number Placeholder 3">
            <a:extLst>
              <a:ext uri="{FF2B5EF4-FFF2-40B4-BE49-F238E27FC236}">
                <a16:creationId xmlns:a16="http://schemas.microsoft.com/office/drawing/2014/main" id="{B1A84CB3-CF0C-CE24-99D0-7D8530C7A2CB}"/>
              </a:ext>
            </a:extLst>
          </p:cNvPr>
          <p:cNvSpPr>
            <a:spLocks noGrp="1"/>
          </p:cNvSpPr>
          <p:nvPr>
            <p:ph type="sldNum" sz="quarter" idx="12"/>
          </p:nvPr>
        </p:nvSpPr>
        <p:spPr/>
        <p:txBody>
          <a:bodyPr/>
          <a:lstStyle/>
          <a:p>
            <a:fld id="{3957FE44-DABC-424D-A234-74BB9410FF27}" type="slidenum">
              <a:rPr lang="en-US" smtClean="0"/>
              <a:pPr/>
              <a:t>50</a:t>
            </a:fld>
            <a:endParaRPr lang="en-US" dirty="0"/>
          </a:p>
        </p:txBody>
      </p:sp>
      <p:pic>
        <p:nvPicPr>
          <p:cNvPr id="2050" name="Picture 2" descr="TCP/IP vs. OSI: What's the Difference Between them? | FS Community">
            <a:extLst>
              <a:ext uri="{FF2B5EF4-FFF2-40B4-BE49-F238E27FC236}">
                <a16:creationId xmlns:a16="http://schemas.microsoft.com/office/drawing/2014/main" id="{B94C3966-A35A-6DE6-F9F8-863BA39FEA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690936"/>
            <a:ext cx="5715000" cy="5811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73405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7031E-955E-F46D-3837-04200CE93B7C}"/>
              </a:ext>
            </a:extLst>
          </p:cNvPr>
          <p:cNvSpPr>
            <a:spLocks noGrp="1"/>
          </p:cNvSpPr>
          <p:nvPr>
            <p:ph type="title"/>
          </p:nvPr>
        </p:nvSpPr>
        <p:spPr/>
        <p:txBody>
          <a:bodyPr/>
          <a:lstStyle/>
          <a:p>
            <a:r>
              <a:rPr lang="en-US" dirty="0"/>
              <a:t>Network Model</a:t>
            </a:r>
          </a:p>
        </p:txBody>
      </p:sp>
      <p:sp>
        <p:nvSpPr>
          <p:cNvPr id="3" name="Content Placeholder 2">
            <a:extLst>
              <a:ext uri="{FF2B5EF4-FFF2-40B4-BE49-F238E27FC236}">
                <a16:creationId xmlns:a16="http://schemas.microsoft.com/office/drawing/2014/main" id="{66ECE561-7120-AFCC-65A9-12A4F71E5C6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89065F4-FDC8-B14C-72CE-316DCE42E65D}"/>
              </a:ext>
            </a:extLst>
          </p:cNvPr>
          <p:cNvSpPr>
            <a:spLocks noGrp="1"/>
          </p:cNvSpPr>
          <p:nvPr>
            <p:ph type="sldNum" sz="quarter" idx="12"/>
          </p:nvPr>
        </p:nvSpPr>
        <p:spPr/>
        <p:txBody>
          <a:bodyPr/>
          <a:lstStyle/>
          <a:p>
            <a:fld id="{3957FE44-DABC-424D-A234-74BB9410FF27}" type="slidenum">
              <a:rPr lang="en-US" smtClean="0"/>
              <a:pPr/>
              <a:t>51</a:t>
            </a:fld>
            <a:endParaRPr lang="en-US" dirty="0"/>
          </a:p>
        </p:txBody>
      </p:sp>
      <p:pic>
        <p:nvPicPr>
          <p:cNvPr id="6" name="Picture 5">
            <a:extLst>
              <a:ext uri="{FF2B5EF4-FFF2-40B4-BE49-F238E27FC236}">
                <a16:creationId xmlns:a16="http://schemas.microsoft.com/office/drawing/2014/main" id="{521679D7-6A7D-9F2A-3BDC-FE3130EB4B05}"/>
              </a:ext>
            </a:extLst>
          </p:cNvPr>
          <p:cNvPicPr>
            <a:picLocks noChangeAspect="1"/>
          </p:cNvPicPr>
          <p:nvPr/>
        </p:nvPicPr>
        <p:blipFill>
          <a:blip r:embed="rId3"/>
          <a:stretch>
            <a:fillRect/>
          </a:stretch>
        </p:blipFill>
        <p:spPr>
          <a:xfrm>
            <a:off x="1863631" y="1676400"/>
            <a:ext cx="8464738" cy="4648200"/>
          </a:xfrm>
          <a:prstGeom prst="rect">
            <a:avLst/>
          </a:prstGeom>
        </p:spPr>
      </p:pic>
      <p:sp>
        <p:nvSpPr>
          <p:cNvPr id="10" name="TextBox 9">
            <a:extLst>
              <a:ext uri="{FF2B5EF4-FFF2-40B4-BE49-F238E27FC236}">
                <a16:creationId xmlns:a16="http://schemas.microsoft.com/office/drawing/2014/main" id="{4A37509B-9C22-ECFE-0D31-6CE942E0C5C5}"/>
              </a:ext>
            </a:extLst>
          </p:cNvPr>
          <p:cNvSpPr txBox="1"/>
          <p:nvPr/>
        </p:nvSpPr>
        <p:spPr>
          <a:xfrm>
            <a:off x="1828800" y="6335166"/>
            <a:ext cx="6553200" cy="307777"/>
          </a:xfrm>
          <a:prstGeom prst="rect">
            <a:avLst/>
          </a:prstGeom>
          <a:noFill/>
        </p:spPr>
        <p:txBody>
          <a:bodyPr wrap="square">
            <a:spAutoFit/>
          </a:bodyPr>
          <a:lstStyle/>
          <a:p>
            <a:r>
              <a:rPr lang="en-US" sz="1400" i="1" dirty="0">
                <a:solidFill>
                  <a:srgbClr val="0070C0"/>
                </a:solidFill>
              </a:rPr>
              <a:t>Source: https://www.youtube.com/watch?v=0y6FtKsg6J4</a:t>
            </a:r>
          </a:p>
        </p:txBody>
      </p:sp>
    </p:spTree>
    <p:extLst>
      <p:ext uri="{BB962C8B-B14F-4D97-AF65-F5344CB8AC3E}">
        <p14:creationId xmlns:p14="http://schemas.microsoft.com/office/powerpoint/2010/main" val="22837232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5625241-B27D-4C40-AD27-A6BFC61E8F12}"/>
              </a:ext>
            </a:extLst>
          </p:cNvPr>
          <p:cNvSpPr>
            <a:spLocks noGrp="1"/>
          </p:cNvSpPr>
          <p:nvPr>
            <p:ph type="sldNum" sz="quarter" idx="12"/>
          </p:nvPr>
        </p:nvSpPr>
        <p:spPr/>
        <p:txBody>
          <a:bodyPr/>
          <a:lstStyle/>
          <a:p>
            <a:fld id="{3957FE44-DABC-424D-A234-74BB9410FF27}" type="slidenum">
              <a:rPr lang="en-US" smtClean="0"/>
              <a:pPr/>
              <a:t>52</a:t>
            </a:fld>
            <a:endParaRPr lang="en-US" dirty="0"/>
          </a:p>
        </p:txBody>
      </p:sp>
      <p:pic>
        <p:nvPicPr>
          <p:cNvPr id="1026" name="Picture 2" descr="M2M">
            <a:extLst>
              <a:ext uri="{FF2B5EF4-FFF2-40B4-BE49-F238E27FC236}">
                <a16:creationId xmlns:a16="http://schemas.microsoft.com/office/drawing/2014/main" id="{529F1ED2-E657-4C70-AD4D-1D5AE93FEE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609600"/>
            <a:ext cx="7620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95063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4AFFBF-D82B-48B1-8552-05C7D74C0F80}"/>
              </a:ext>
            </a:extLst>
          </p:cNvPr>
          <p:cNvSpPr>
            <a:spLocks noGrp="1"/>
          </p:cNvSpPr>
          <p:nvPr>
            <p:ph type="sldNum" sz="quarter" idx="12"/>
          </p:nvPr>
        </p:nvSpPr>
        <p:spPr/>
        <p:txBody>
          <a:bodyPr/>
          <a:lstStyle/>
          <a:p>
            <a:fld id="{3957FE44-DABC-424D-A234-74BB9410FF27}" type="slidenum">
              <a:rPr lang="en-US" smtClean="0"/>
              <a:pPr/>
              <a:t>53</a:t>
            </a:fld>
            <a:endParaRPr lang="en-US" dirty="0"/>
          </a:p>
        </p:txBody>
      </p:sp>
      <p:pic>
        <p:nvPicPr>
          <p:cNvPr id="2050" name="Picture 2" descr="4. Most users will find it easiest to use a SCADA/Dashboard cloud service for connecting MQTT-capable field device data and PLCs for remote monitoring and reporting.">
            <a:extLst>
              <a:ext uri="{FF2B5EF4-FFF2-40B4-BE49-F238E27FC236}">
                <a16:creationId xmlns:a16="http://schemas.microsoft.com/office/drawing/2014/main" id="{43E4F575-315D-449B-B735-5BAD296FE8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8438" y="517585"/>
            <a:ext cx="6715125" cy="29476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zure IoT Hub Tester - CodeProject">
            <a:extLst>
              <a:ext uri="{FF2B5EF4-FFF2-40B4-BE49-F238E27FC236}">
                <a16:creationId xmlns:a16="http://schemas.microsoft.com/office/drawing/2014/main" id="{9FCD4B90-F866-44CB-86C0-93C8673952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8437" y="3601375"/>
            <a:ext cx="6715124" cy="2924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71511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48B8B-87C8-43B9-A0EC-B66CC7F54C4E}"/>
              </a:ext>
            </a:extLst>
          </p:cNvPr>
          <p:cNvSpPr>
            <a:spLocks noGrp="1"/>
          </p:cNvSpPr>
          <p:nvPr>
            <p:ph type="title"/>
          </p:nvPr>
        </p:nvSpPr>
        <p:spPr/>
        <p:txBody>
          <a:bodyPr/>
          <a:lstStyle/>
          <a:p>
            <a:r>
              <a:rPr lang="en-US" dirty="0"/>
              <a:t>Introduction to </a:t>
            </a:r>
            <a:r>
              <a:rPr lang="en-US" dirty="0" err="1"/>
              <a:t>MQTT</a:t>
            </a:r>
            <a:endParaRPr lang="en-US" dirty="0"/>
          </a:p>
        </p:txBody>
      </p:sp>
      <p:sp>
        <p:nvSpPr>
          <p:cNvPr id="3" name="Content Placeholder 2">
            <a:extLst>
              <a:ext uri="{FF2B5EF4-FFF2-40B4-BE49-F238E27FC236}">
                <a16:creationId xmlns:a16="http://schemas.microsoft.com/office/drawing/2014/main" id="{B2762904-7D2E-49C4-8948-425A99187F1A}"/>
              </a:ext>
            </a:extLst>
          </p:cNvPr>
          <p:cNvSpPr>
            <a:spLocks noGrp="1"/>
          </p:cNvSpPr>
          <p:nvPr>
            <p:ph idx="1"/>
          </p:nvPr>
        </p:nvSpPr>
        <p:spPr/>
        <p:txBody>
          <a:bodyPr/>
          <a:lstStyle/>
          <a:p>
            <a:r>
              <a:rPr lang="en-US" dirty="0" err="1">
                <a:solidFill>
                  <a:srgbClr val="0070C0"/>
                </a:solidFill>
              </a:rPr>
              <a:t>MQTT</a:t>
            </a:r>
            <a:r>
              <a:rPr lang="en-US" dirty="0"/>
              <a:t> - Message Queuing Telemetry Transport </a:t>
            </a:r>
          </a:p>
          <a:p>
            <a:r>
              <a:rPr lang="en-US" dirty="0" err="1">
                <a:solidFill>
                  <a:srgbClr val="0070C0"/>
                </a:solidFill>
              </a:rPr>
              <a:t>MQTT</a:t>
            </a:r>
            <a:r>
              <a:rPr lang="en-US" dirty="0"/>
              <a:t> </a:t>
            </a:r>
            <a:r>
              <a:rPr lang="en-US" b="0" i="0" dirty="0">
                <a:solidFill>
                  <a:srgbClr val="333333"/>
                </a:solidFill>
                <a:effectLst/>
                <a:latin typeface="roboto"/>
              </a:rPr>
              <a:t>was invented in 1999 by IBM as</a:t>
            </a:r>
            <a:r>
              <a:rPr lang="en-US" dirty="0"/>
              <a:t> a Client Server </a:t>
            </a:r>
            <a:r>
              <a:rPr lang="en-US" dirty="0">
                <a:solidFill>
                  <a:srgbClr val="0070C0"/>
                </a:solidFill>
              </a:rPr>
              <a:t>publish/subscribe messaging transport protocol</a:t>
            </a:r>
          </a:p>
          <a:p>
            <a:r>
              <a:rPr lang="en-US" dirty="0"/>
              <a:t>Advantages of </a:t>
            </a:r>
            <a:r>
              <a:rPr lang="en-US" dirty="0" err="1"/>
              <a:t>MQTT</a:t>
            </a:r>
            <a:r>
              <a:rPr lang="en-US" dirty="0"/>
              <a:t>:</a:t>
            </a:r>
          </a:p>
          <a:p>
            <a:pPr lvl="1"/>
            <a:r>
              <a:rPr lang="en-US" dirty="0"/>
              <a:t>Lightweight</a:t>
            </a:r>
          </a:p>
          <a:p>
            <a:pPr lvl="1"/>
            <a:r>
              <a:rPr lang="en-US" dirty="0"/>
              <a:t>Simple</a:t>
            </a:r>
          </a:p>
          <a:p>
            <a:pPr lvl="1"/>
            <a:r>
              <a:rPr lang="en-US" dirty="0"/>
              <a:t>Easy to implement</a:t>
            </a:r>
          </a:p>
          <a:p>
            <a:r>
              <a:rPr lang="en-US" dirty="0" err="1"/>
              <a:t>MQTT</a:t>
            </a:r>
            <a:r>
              <a:rPr lang="en-US" dirty="0"/>
              <a:t> </a:t>
            </a:r>
            <a:r>
              <a:rPr lang="en-US"/>
              <a:t>is faster </a:t>
            </a:r>
            <a:r>
              <a:rPr lang="en-US" dirty="0"/>
              <a:t>than HTTP’s.</a:t>
            </a:r>
          </a:p>
          <a:p>
            <a:r>
              <a:rPr lang="en-US" dirty="0"/>
              <a:t>IBM used it internally, only release after version 3.1 in 2012.</a:t>
            </a:r>
          </a:p>
          <a:p>
            <a:r>
              <a:rPr lang="en-US" dirty="0"/>
              <a:t>The current version is </a:t>
            </a:r>
            <a:r>
              <a:rPr lang="en-US" dirty="0" err="1"/>
              <a:t>MQTT</a:t>
            </a:r>
            <a:r>
              <a:rPr lang="en-US" dirty="0"/>
              <a:t> 5, released in 2019</a:t>
            </a:r>
          </a:p>
          <a:p>
            <a:endParaRPr lang="en-US" dirty="0"/>
          </a:p>
        </p:txBody>
      </p:sp>
      <p:sp>
        <p:nvSpPr>
          <p:cNvPr id="4" name="Slide Number Placeholder 3">
            <a:extLst>
              <a:ext uri="{FF2B5EF4-FFF2-40B4-BE49-F238E27FC236}">
                <a16:creationId xmlns:a16="http://schemas.microsoft.com/office/drawing/2014/main" id="{4285BEE9-DF44-4D3F-9089-2A6B6C8B855D}"/>
              </a:ext>
            </a:extLst>
          </p:cNvPr>
          <p:cNvSpPr>
            <a:spLocks noGrp="1"/>
          </p:cNvSpPr>
          <p:nvPr>
            <p:ph type="sldNum" sz="quarter" idx="12"/>
          </p:nvPr>
        </p:nvSpPr>
        <p:spPr/>
        <p:txBody>
          <a:bodyPr/>
          <a:lstStyle/>
          <a:p>
            <a:fld id="{3957FE44-DABC-424D-A234-74BB9410FF27}" type="slidenum">
              <a:rPr lang="en-US" smtClean="0"/>
              <a:pPr/>
              <a:t>54</a:t>
            </a:fld>
            <a:endParaRPr lang="en-US" dirty="0"/>
          </a:p>
        </p:txBody>
      </p:sp>
    </p:spTree>
    <p:extLst>
      <p:ext uri="{BB962C8B-B14F-4D97-AF65-F5344CB8AC3E}">
        <p14:creationId xmlns:p14="http://schemas.microsoft.com/office/powerpoint/2010/main" val="31851522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D56F5-A14A-4711-9B6B-B63FB8B5A3F9}"/>
              </a:ext>
            </a:extLst>
          </p:cNvPr>
          <p:cNvSpPr>
            <a:spLocks noGrp="1"/>
          </p:cNvSpPr>
          <p:nvPr>
            <p:ph type="title"/>
          </p:nvPr>
        </p:nvSpPr>
        <p:spPr/>
        <p:txBody>
          <a:bodyPr/>
          <a:lstStyle/>
          <a:p>
            <a:r>
              <a:rPr lang="en-US"/>
              <a:t>Client-Server Model </a:t>
            </a:r>
            <a:endParaRPr lang="en-US" dirty="0"/>
          </a:p>
        </p:txBody>
      </p:sp>
      <p:sp>
        <p:nvSpPr>
          <p:cNvPr id="3" name="Content Placeholder 2">
            <a:extLst>
              <a:ext uri="{FF2B5EF4-FFF2-40B4-BE49-F238E27FC236}">
                <a16:creationId xmlns:a16="http://schemas.microsoft.com/office/drawing/2014/main" id="{50723FEB-D1DA-4789-B705-610DA11EB1E9}"/>
              </a:ext>
            </a:extLst>
          </p:cNvPr>
          <p:cNvSpPr>
            <a:spLocks noGrp="1"/>
          </p:cNvSpPr>
          <p:nvPr>
            <p:ph idx="1"/>
          </p:nvPr>
        </p:nvSpPr>
        <p:spPr/>
        <p:txBody>
          <a:bodyPr/>
          <a:lstStyle/>
          <a:p>
            <a:r>
              <a:rPr lang="en-US" dirty="0"/>
              <a:t>Traditional Client-Server </a:t>
            </a:r>
            <a:r>
              <a:rPr lang="en-US" dirty="0" err="1"/>
              <a:t>architechture</a:t>
            </a:r>
            <a:endParaRPr lang="en-US" dirty="0"/>
          </a:p>
          <a:p>
            <a:endParaRPr lang="en-US" dirty="0"/>
          </a:p>
        </p:txBody>
      </p:sp>
      <p:sp>
        <p:nvSpPr>
          <p:cNvPr id="4" name="Slide Number Placeholder 3">
            <a:extLst>
              <a:ext uri="{FF2B5EF4-FFF2-40B4-BE49-F238E27FC236}">
                <a16:creationId xmlns:a16="http://schemas.microsoft.com/office/drawing/2014/main" id="{04FFA1AF-09E3-4B9F-9256-7BE2FF0C7594}"/>
              </a:ext>
            </a:extLst>
          </p:cNvPr>
          <p:cNvSpPr>
            <a:spLocks noGrp="1"/>
          </p:cNvSpPr>
          <p:nvPr>
            <p:ph type="sldNum" sz="quarter" idx="12"/>
          </p:nvPr>
        </p:nvSpPr>
        <p:spPr/>
        <p:txBody>
          <a:bodyPr/>
          <a:lstStyle/>
          <a:p>
            <a:fld id="{3957FE44-DABC-424D-A234-74BB9410FF27}" type="slidenum">
              <a:rPr lang="en-US" smtClean="0"/>
              <a:pPr/>
              <a:t>55</a:t>
            </a:fld>
            <a:endParaRPr lang="en-US" dirty="0"/>
          </a:p>
        </p:txBody>
      </p:sp>
      <p:pic>
        <p:nvPicPr>
          <p:cNvPr id="1026" name="Picture 2" descr="Week 08 Lectures (65)">
            <a:extLst>
              <a:ext uri="{FF2B5EF4-FFF2-40B4-BE49-F238E27FC236}">
                <a16:creationId xmlns:a16="http://schemas.microsoft.com/office/drawing/2014/main" id="{52DAD306-70B8-478A-AB6F-8062CDC7F6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209801"/>
            <a:ext cx="5810250" cy="3476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1124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AC5C0-DE74-4FAF-9A33-16D90D42C1B7}"/>
              </a:ext>
            </a:extLst>
          </p:cNvPr>
          <p:cNvSpPr>
            <a:spLocks noGrp="1"/>
          </p:cNvSpPr>
          <p:nvPr>
            <p:ph type="title"/>
          </p:nvPr>
        </p:nvSpPr>
        <p:spPr/>
        <p:txBody>
          <a:bodyPr/>
          <a:lstStyle/>
          <a:p>
            <a:r>
              <a:rPr lang="en-US" dirty="0"/>
              <a:t>Publish/subscribe Model </a:t>
            </a:r>
          </a:p>
        </p:txBody>
      </p:sp>
      <p:sp>
        <p:nvSpPr>
          <p:cNvPr id="3" name="Content Placeholder 2">
            <a:extLst>
              <a:ext uri="{FF2B5EF4-FFF2-40B4-BE49-F238E27FC236}">
                <a16:creationId xmlns:a16="http://schemas.microsoft.com/office/drawing/2014/main" id="{157931A3-FB22-4166-88F7-7EDA44298ED5}"/>
              </a:ext>
            </a:extLst>
          </p:cNvPr>
          <p:cNvSpPr>
            <a:spLocks noGrp="1"/>
          </p:cNvSpPr>
          <p:nvPr>
            <p:ph idx="1"/>
          </p:nvPr>
        </p:nvSpPr>
        <p:spPr/>
        <p:txBody>
          <a:bodyPr/>
          <a:lstStyle/>
          <a:p>
            <a:r>
              <a:rPr lang="en-US" dirty="0"/>
              <a:t>Publish/Subscribe Model </a:t>
            </a:r>
          </a:p>
          <a:p>
            <a:endParaRPr lang="en-US" dirty="0"/>
          </a:p>
        </p:txBody>
      </p:sp>
      <p:sp>
        <p:nvSpPr>
          <p:cNvPr id="4" name="Slide Number Placeholder 3">
            <a:extLst>
              <a:ext uri="{FF2B5EF4-FFF2-40B4-BE49-F238E27FC236}">
                <a16:creationId xmlns:a16="http://schemas.microsoft.com/office/drawing/2014/main" id="{C73FA92E-D114-409D-BB64-5F79B8820E8E}"/>
              </a:ext>
            </a:extLst>
          </p:cNvPr>
          <p:cNvSpPr>
            <a:spLocks noGrp="1"/>
          </p:cNvSpPr>
          <p:nvPr>
            <p:ph type="sldNum" sz="quarter" idx="12"/>
          </p:nvPr>
        </p:nvSpPr>
        <p:spPr/>
        <p:txBody>
          <a:bodyPr/>
          <a:lstStyle/>
          <a:p>
            <a:fld id="{3957FE44-DABC-424D-A234-74BB9410FF27}" type="slidenum">
              <a:rPr lang="en-US" smtClean="0"/>
              <a:pPr/>
              <a:t>56</a:t>
            </a:fld>
            <a:endParaRPr lang="en-US" dirty="0"/>
          </a:p>
        </p:txBody>
      </p:sp>
      <p:pic>
        <p:nvPicPr>
          <p:cNvPr id="2052" name="Picture 4" descr="Nodemcu Nodemcu Mqtt Client With Esplorer Ide | Nodemcu">
            <a:extLst>
              <a:ext uri="{FF2B5EF4-FFF2-40B4-BE49-F238E27FC236}">
                <a16:creationId xmlns:a16="http://schemas.microsoft.com/office/drawing/2014/main" id="{98BAB296-4E49-4EF3-ABFA-A669532870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61646" y="2062182"/>
            <a:ext cx="6054773" cy="34194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97A0D56-AE7F-48A4-B272-3687572D3A29}"/>
              </a:ext>
            </a:extLst>
          </p:cNvPr>
          <p:cNvSpPr txBox="1"/>
          <p:nvPr/>
        </p:nvSpPr>
        <p:spPr>
          <a:xfrm>
            <a:off x="2133600" y="5032498"/>
            <a:ext cx="2590800" cy="646331"/>
          </a:xfrm>
          <a:prstGeom prst="rect">
            <a:avLst/>
          </a:prstGeom>
          <a:noFill/>
        </p:spPr>
        <p:txBody>
          <a:bodyPr wrap="square">
            <a:spAutoFit/>
          </a:bodyPr>
          <a:lstStyle/>
          <a:p>
            <a:r>
              <a:rPr lang="en-US" b="1" dirty="0">
                <a:solidFill>
                  <a:srgbClr val="0070C0"/>
                </a:solidFill>
                <a:latin typeface="roboto"/>
              </a:rPr>
              <a:t>Publisher</a:t>
            </a:r>
            <a:r>
              <a:rPr lang="en-US" b="1" dirty="0">
                <a:solidFill>
                  <a:srgbClr val="333333"/>
                </a:solidFill>
                <a:latin typeface="roboto"/>
              </a:rPr>
              <a:t> -  clients that send messages </a:t>
            </a:r>
            <a:endParaRPr lang="en-US" dirty="0"/>
          </a:p>
        </p:txBody>
      </p:sp>
      <p:sp>
        <p:nvSpPr>
          <p:cNvPr id="10" name="TextBox 9">
            <a:extLst>
              <a:ext uri="{FF2B5EF4-FFF2-40B4-BE49-F238E27FC236}">
                <a16:creationId xmlns:a16="http://schemas.microsoft.com/office/drawing/2014/main" id="{34CF0AE8-B5C7-432A-9931-A8DC74B63F65}"/>
              </a:ext>
            </a:extLst>
          </p:cNvPr>
          <p:cNvSpPr txBox="1"/>
          <p:nvPr/>
        </p:nvSpPr>
        <p:spPr>
          <a:xfrm>
            <a:off x="7021115" y="5696203"/>
            <a:ext cx="3124200" cy="646331"/>
          </a:xfrm>
          <a:prstGeom prst="rect">
            <a:avLst/>
          </a:prstGeom>
          <a:noFill/>
        </p:spPr>
        <p:txBody>
          <a:bodyPr wrap="square">
            <a:spAutoFit/>
          </a:bodyPr>
          <a:lstStyle/>
          <a:p>
            <a:r>
              <a:rPr lang="en-US" b="1" dirty="0">
                <a:solidFill>
                  <a:srgbClr val="0070C0"/>
                </a:solidFill>
                <a:latin typeface="roboto"/>
              </a:rPr>
              <a:t>Subscribers</a:t>
            </a:r>
            <a:r>
              <a:rPr lang="en-US" b="1" dirty="0">
                <a:solidFill>
                  <a:srgbClr val="333333"/>
                </a:solidFill>
                <a:latin typeface="roboto"/>
              </a:rPr>
              <a:t> - clients that receive the messages</a:t>
            </a:r>
            <a:endParaRPr lang="en-US" dirty="0"/>
          </a:p>
        </p:txBody>
      </p:sp>
      <p:sp>
        <p:nvSpPr>
          <p:cNvPr id="12" name="TextBox 11">
            <a:extLst>
              <a:ext uri="{FF2B5EF4-FFF2-40B4-BE49-F238E27FC236}">
                <a16:creationId xmlns:a16="http://schemas.microsoft.com/office/drawing/2014/main" id="{49D401EF-1827-4918-B9BA-6257CC61F59C}"/>
              </a:ext>
            </a:extLst>
          </p:cNvPr>
          <p:cNvSpPr txBox="1"/>
          <p:nvPr/>
        </p:nvSpPr>
        <p:spPr>
          <a:xfrm>
            <a:off x="3751097" y="6019369"/>
            <a:ext cx="2362200" cy="646331"/>
          </a:xfrm>
          <a:prstGeom prst="rect">
            <a:avLst/>
          </a:prstGeom>
          <a:noFill/>
        </p:spPr>
        <p:txBody>
          <a:bodyPr wrap="square">
            <a:spAutoFit/>
          </a:bodyPr>
          <a:lstStyle/>
          <a:p>
            <a:r>
              <a:rPr lang="en-US" b="1" dirty="0">
                <a:solidFill>
                  <a:srgbClr val="FF0000"/>
                </a:solidFill>
                <a:latin typeface="roboto"/>
              </a:rPr>
              <a:t>never contact each other directly</a:t>
            </a:r>
            <a:endParaRPr lang="en-US" b="1" dirty="0">
              <a:solidFill>
                <a:srgbClr val="FF0000"/>
              </a:solidFill>
            </a:endParaRPr>
          </a:p>
        </p:txBody>
      </p:sp>
      <p:sp>
        <p:nvSpPr>
          <p:cNvPr id="9" name="Arc 8">
            <a:extLst>
              <a:ext uri="{FF2B5EF4-FFF2-40B4-BE49-F238E27FC236}">
                <a16:creationId xmlns:a16="http://schemas.microsoft.com/office/drawing/2014/main" id="{2129076F-4F5A-41D5-AC78-F6044F902F4B}"/>
              </a:ext>
            </a:extLst>
          </p:cNvPr>
          <p:cNvSpPr/>
          <p:nvPr/>
        </p:nvSpPr>
        <p:spPr>
          <a:xfrm rot="10800000">
            <a:off x="2950997" y="5257800"/>
            <a:ext cx="1524000" cy="1084565"/>
          </a:xfrm>
          <a:prstGeom prst="arc">
            <a:avLst>
              <a:gd name="adj1" fmla="val 16200000"/>
              <a:gd name="adj2" fmla="val 70710"/>
            </a:avLst>
          </a:pr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Arc 13">
            <a:extLst>
              <a:ext uri="{FF2B5EF4-FFF2-40B4-BE49-F238E27FC236}">
                <a16:creationId xmlns:a16="http://schemas.microsoft.com/office/drawing/2014/main" id="{27CE124C-CE3D-421F-AF7B-2617F42E3532}"/>
              </a:ext>
            </a:extLst>
          </p:cNvPr>
          <p:cNvSpPr/>
          <p:nvPr/>
        </p:nvSpPr>
        <p:spPr>
          <a:xfrm rot="9303108">
            <a:off x="5792782" y="5329041"/>
            <a:ext cx="1252462" cy="1089201"/>
          </a:xfrm>
          <a:prstGeom prst="arc">
            <a:avLst>
              <a:gd name="adj1" fmla="val 14807808"/>
              <a:gd name="adj2" fmla="val 18772822"/>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4F0506F2-51EE-4771-8AF7-C4954B744226}"/>
              </a:ext>
            </a:extLst>
          </p:cNvPr>
          <p:cNvSpPr txBox="1"/>
          <p:nvPr/>
        </p:nvSpPr>
        <p:spPr>
          <a:xfrm>
            <a:off x="2931111" y="2116020"/>
            <a:ext cx="3487903" cy="1200329"/>
          </a:xfrm>
          <a:prstGeom prst="rect">
            <a:avLst/>
          </a:prstGeom>
          <a:noFill/>
        </p:spPr>
        <p:txBody>
          <a:bodyPr wrap="square">
            <a:spAutoFit/>
          </a:bodyPr>
          <a:lstStyle/>
          <a:p>
            <a:r>
              <a:rPr lang="en-US" b="1">
                <a:solidFill>
                  <a:srgbClr val="0070C0"/>
                </a:solidFill>
                <a:latin typeface="roboto"/>
              </a:rPr>
              <a:t>Broker</a:t>
            </a:r>
            <a:r>
              <a:rPr lang="en-US">
                <a:solidFill>
                  <a:srgbClr val="333333"/>
                </a:solidFill>
                <a:latin typeface="roboto"/>
              </a:rPr>
              <a:t> (address ip:port)</a:t>
            </a:r>
            <a:endParaRPr lang="en-US" dirty="0">
              <a:solidFill>
                <a:srgbClr val="333333"/>
              </a:solidFill>
              <a:latin typeface="roboto"/>
            </a:endParaRPr>
          </a:p>
          <a:p>
            <a:pPr marL="285750" indent="-285750">
              <a:buFontTx/>
              <a:buChar char="-"/>
            </a:pPr>
            <a:r>
              <a:rPr lang="en-US" dirty="0">
                <a:solidFill>
                  <a:srgbClr val="333333"/>
                </a:solidFill>
                <a:latin typeface="roboto"/>
              </a:rPr>
              <a:t>filter all incoming messages </a:t>
            </a:r>
          </a:p>
          <a:p>
            <a:pPr marL="285750" indent="-285750">
              <a:buFontTx/>
              <a:buChar char="-"/>
            </a:pPr>
            <a:r>
              <a:rPr lang="en-US" dirty="0">
                <a:solidFill>
                  <a:srgbClr val="333333"/>
                </a:solidFill>
                <a:latin typeface="roboto"/>
              </a:rPr>
              <a:t>distribute them correctly to subscribers</a:t>
            </a:r>
            <a:endParaRPr lang="en-US" dirty="0"/>
          </a:p>
        </p:txBody>
      </p:sp>
      <p:cxnSp>
        <p:nvCxnSpPr>
          <p:cNvPr id="15" name="Straight Arrow Connector 14">
            <a:extLst>
              <a:ext uri="{FF2B5EF4-FFF2-40B4-BE49-F238E27FC236}">
                <a16:creationId xmlns:a16="http://schemas.microsoft.com/office/drawing/2014/main" id="{5DACA1C7-A42A-4A32-9D54-4009D49A0644}"/>
              </a:ext>
            </a:extLst>
          </p:cNvPr>
          <p:cNvCxnSpPr/>
          <p:nvPr/>
        </p:nvCxnSpPr>
        <p:spPr>
          <a:xfrm>
            <a:off x="5105400" y="3124200"/>
            <a:ext cx="516104" cy="533400"/>
          </a:xfrm>
          <a:prstGeom prst="straightConnector1">
            <a:avLst/>
          </a:prstGeom>
          <a:ln>
            <a:solidFill>
              <a:srgbClr val="50A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4370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P spid="9" grpId="0" animBg="1"/>
      <p:bldP spid="14" grpId="0" animBg="1"/>
      <p:bldP spid="1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42E2E-3AEC-44DC-A360-76D0BE427E5F}"/>
              </a:ext>
            </a:extLst>
          </p:cNvPr>
          <p:cNvSpPr>
            <a:spLocks noGrp="1"/>
          </p:cNvSpPr>
          <p:nvPr>
            <p:ph type="title"/>
          </p:nvPr>
        </p:nvSpPr>
        <p:spPr/>
        <p:txBody>
          <a:bodyPr/>
          <a:lstStyle/>
          <a:p>
            <a:r>
              <a:rPr lang="en-US" dirty="0"/>
              <a:t>Publish/subscribe Model </a:t>
            </a:r>
          </a:p>
        </p:txBody>
      </p:sp>
      <p:sp>
        <p:nvSpPr>
          <p:cNvPr id="3" name="Content Placeholder 2">
            <a:extLst>
              <a:ext uri="{FF2B5EF4-FFF2-40B4-BE49-F238E27FC236}">
                <a16:creationId xmlns:a16="http://schemas.microsoft.com/office/drawing/2014/main" id="{BA6CFB43-8256-4E61-8C42-113BEF0CC202}"/>
              </a:ext>
            </a:extLst>
          </p:cNvPr>
          <p:cNvSpPr>
            <a:spLocks noGrp="1"/>
          </p:cNvSpPr>
          <p:nvPr>
            <p:ph idx="1"/>
          </p:nvPr>
        </p:nvSpPr>
        <p:spPr/>
        <p:txBody>
          <a:bodyPr/>
          <a:lstStyle/>
          <a:p>
            <a:r>
              <a:rPr lang="en-US" dirty="0"/>
              <a:t>Publish/subscribe model has 3 features</a:t>
            </a:r>
          </a:p>
          <a:p>
            <a:pPr lvl="1"/>
            <a:r>
              <a:rPr lang="en-US" b="0" i="0" dirty="0">
                <a:solidFill>
                  <a:srgbClr val="333333"/>
                </a:solidFill>
                <a:effectLst/>
                <a:latin typeface="roboto"/>
              </a:rPr>
              <a:t>Publisher and subscriber </a:t>
            </a:r>
            <a:r>
              <a:rPr lang="en-US" b="0" i="0" dirty="0">
                <a:solidFill>
                  <a:srgbClr val="0070C0"/>
                </a:solidFill>
                <a:effectLst/>
                <a:latin typeface="roboto"/>
              </a:rPr>
              <a:t>do not need to know each other </a:t>
            </a:r>
            <a:r>
              <a:rPr lang="en-US" b="0" i="0" dirty="0">
                <a:solidFill>
                  <a:srgbClr val="333333"/>
                </a:solidFill>
                <a:effectLst/>
                <a:latin typeface="roboto"/>
              </a:rPr>
              <a:t>(for example, no exchange of IP address and port).</a:t>
            </a:r>
          </a:p>
          <a:p>
            <a:pPr lvl="1"/>
            <a:r>
              <a:rPr lang="en-US" b="0" i="0" dirty="0">
                <a:solidFill>
                  <a:srgbClr val="333333"/>
                </a:solidFill>
                <a:effectLst/>
                <a:latin typeface="roboto"/>
              </a:rPr>
              <a:t>Publisher and subscriber </a:t>
            </a:r>
            <a:r>
              <a:rPr lang="en-US" b="0" i="0" dirty="0">
                <a:solidFill>
                  <a:srgbClr val="0070C0"/>
                </a:solidFill>
                <a:effectLst/>
                <a:latin typeface="roboto"/>
              </a:rPr>
              <a:t>do not need to run at the same time</a:t>
            </a:r>
            <a:r>
              <a:rPr lang="en-US" b="0" i="0" dirty="0">
                <a:solidFill>
                  <a:srgbClr val="333333"/>
                </a:solidFill>
                <a:effectLst/>
                <a:latin typeface="roboto"/>
              </a:rPr>
              <a:t>.</a:t>
            </a:r>
          </a:p>
          <a:p>
            <a:pPr lvl="1"/>
            <a:r>
              <a:rPr lang="en-US" b="0" i="0" dirty="0">
                <a:solidFill>
                  <a:srgbClr val="333333"/>
                </a:solidFill>
                <a:effectLst/>
                <a:latin typeface="roboto"/>
              </a:rPr>
              <a:t>Operations on both components </a:t>
            </a:r>
            <a:r>
              <a:rPr lang="en-US" b="0" i="0" dirty="0">
                <a:solidFill>
                  <a:srgbClr val="0070C0"/>
                </a:solidFill>
                <a:effectLst/>
                <a:latin typeface="roboto"/>
              </a:rPr>
              <a:t>do not need to be interrupted </a:t>
            </a:r>
            <a:r>
              <a:rPr lang="en-US" b="0" i="0" dirty="0">
                <a:solidFill>
                  <a:srgbClr val="333333"/>
                </a:solidFill>
                <a:effectLst/>
                <a:latin typeface="roboto"/>
              </a:rPr>
              <a:t>during publishing or receiving.</a:t>
            </a:r>
          </a:p>
          <a:p>
            <a:r>
              <a:rPr lang="en-US" dirty="0" err="1"/>
              <a:t>MQTT</a:t>
            </a:r>
            <a:r>
              <a:rPr lang="en-US" dirty="0"/>
              <a:t> uses </a:t>
            </a:r>
            <a:r>
              <a:rPr lang="en-US" b="1" dirty="0"/>
              <a:t>topic</a:t>
            </a:r>
            <a:r>
              <a:rPr lang="en-US" dirty="0"/>
              <a:t> filtering </a:t>
            </a:r>
            <a:r>
              <a:rPr lang="en-US"/>
              <a:t>of messages</a:t>
            </a:r>
          </a:p>
          <a:p>
            <a:pPr lvl="1"/>
            <a:r>
              <a:rPr lang="en-US" b="0" i="0">
                <a:solidFill>
                  <a:srgbClr val="333333"/>
                </a:solidFill>
                <a:effectLst/>
                <a:latin typeface="roboto"/>
              </a:rPr>
              <a:t>Topic is an UTF-8 string that the broker uses to filter messages for each connected client</a:t>
            </a:r>
            <a:endParaRPr lang="en-US"/>
          </a:p>
          <a:p>
            <a:pPr lvl="1"/>
            <a:r>
              <a:rPr lang="en-US"/>
              <a:t>Topic filters can contain wildcards: +, #</a:t>
            </a:r>
            <a:endParaRPr lang="en-US" dirty="0"/>
          </a:p>
        </p:txBody>
      </p:sp>
      <p:sp>
        <p:nvSpPr>
          <p:cNvPr id="4" name="Slide Number Placeholder 3">
            <a:extLst>
              <a:ext uri="{FF2B5EF4-FFF2-40B4-BE49-F238E27FC236}">
                <a16:creationId xmlns:a16="http://schemas.microsoft.com/office/drawing/2014/main" id="{963B20A4-4D8E-48AD-8F7C-360DEE2BB4F0}"/>
              </a:ext>
            </a:extLst>
          </p:cNvPr>
          <p:cNvSpPr>
            <a:spLocks noGrp="1"/>
          </p:cNvSpPr>
          <p:nvPr>
            <p:ph type="sldNum" sz="quarter" idx="12"/>
          </p:nvPr>
        </p:nvSpPr>
        <p:spPr/>
        <p:txBody>
          <a:bodyPr/>
          <a:lstStyle/>
          <a:p>
            <a:fld id="{3957FE44-DABC-424D-A234-74BB9410FF27}" type="slidenum">
              <a:rPr lang="en-US" smtClean="0"/>
              <a:pPr/>
              <a:t>57</a:t>
            </a:fld>
            <a:endParaRPr lang="en-US" dirty="0"/>
          </a:p>
        </p:txBody>
      </p:sp>
    </p:spTree>
    <p:extLst>
      <p:ext uri="{BB962C8B-B14F-4D97-AF65-F5344CB8AC3E}">
        <p14:creationId xmlns:p14="http://schemas.microsoft.com/office/powerpoint/2010/main" val="25093124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3E2B4-5FEC-4D0A-A89A-82DCC7F70F7B}"/>
              </a:ext>
            </a:extLst>
          </p:cNvPr>
          <p:cNvSpPr>
            <a:spLocks noGrp="1"/>
          </p:cNvSpPr>
          <p:nvPr>
            <p:ph type="title"/>
          </p:nvPr>
        </p:nvSpPr>
        <p:spPr/>
        <p:txBody>
          <a:bodyPr/>
          <a:lstStyle/>
          <a:p>
            <a:r>
              <a:rPr lang="en-US"/>
              <a:t>MQTT Topic</a:t>
            </a:r>
          </a:p>
        </p:txBody>
      </p:sp>
      <p:sp>
        <p:nvSpPr>
          <p:cNvPr id="3" name="Content Placeholder 2">
            <a:extLst>
              <a:ext uri="{FF2B5EF4-FFF2-40B4-BE49-F238E27FC236}">
                <a16:creationId xmlns:a16="http://schemas.microsoft.com/office/drawing/2014/main" id="{EF2CFCB5-00E5-472E-9638-33A3C25AFC4B}"/>
              </a:ext>
            </a:extLst>
          </p:cNvPr>
          <p:cNvSpPr>
            <a:spLocks noGrp="1"/>
          </p:cNvSpPr>
          <p:nvPr>
            <p:ph idx="1"/>
          </p:nvPr>
        </p:nvSpPr>
        <p:spPr/>
        <p:txBody>
          <a:bodyPr/>
          <a:lstStyle/>
          <a:p>
            <a:r>
              <a:rPr lang="en-US">
                <a:solidFill>
                  <a:srgbClr val="333333"/>
                </a:solidFill>
                <a:latin typeface="roboto"/>
              </a:rPr>
              <a:t>T</a:t>
            </a:r>
            <a:r>
              <a:rPr lang="en-US" b="0" i="0">
                <a:solidFill>
                  <a:srgbClr val="333333"/>
                </a:solidFill>
                <a:effectLst/>
                <a:latin typeface="roboto"/>
              </a:rPr>
              <a:t>opic consists of one or more topic levels, separated by “/”</a:t>
            </a:r>
          </a:p>
          <a:p>
            <a:endParaRPr lang="en-US">
              <a:solidFill>
                <a:srgbClr val="333333"/>
              </a:solidFill>
              <a:latin typeface="roboto"/>
            </a:endParaRPr>
          </a:p>
          <a:p>
            <a:endParaRPr lang="en-US">
              <a:solidFill>
                <a:srgbClr val="333333"/>
              </a:solidFill>
              <a:latin typeface="roboto"/>
            </a:endParaRPr>
          </a:p>
          <a:p>
            <a:endParaRPr lang="en-US">
              <a:solidFill>
                <a:srgbClr val="333333"/>
              </a:solidFill>
              <a:latin typeface="roboto"/>
            </a:endParaRPr>
          </a:p>
          <a:p>
            <a:r>
              <a:rPr lang="en-US">
                <a:solidFill>
                  <a:srgbClr val="333333"/>
                </a:solidFill>
                <a:latin typeface="roboto"/>
              </a:rPr>
              <a:t>A subscriber can use wild card to subscribe to multiple topic simultaneously</a:t>
            </a:r>
            <a:endParaRPr lang="en-US"/>
          </a:p>
        </p:txBody>
      </p:sp>
      <p:sp>
        <p:nvSpPr>
          <p:cNvPr id="4" name="Slide Number Placeholder 3">
            <a:extLst>
              <a:ext uri="{FF2B5EF4-FFF2-40B4-BE49-F238E27FC236}">
                <a16:creationId xmlns:a16="http://schemas.microsoft.com/office/drawing/2014/main" id="{F9230B6E-AEEE-48EB-848E-E07C5C05986F}"/>
              </a:ext>
            </a:extLst>
          </p:cNvPr>
          <p:cNvSpPr>
            <a:spLocks noGrp="1"/>
          </p:cNvSpPr>
          <p:nvPr>
            <p:ph type="sldNum" sz="quarter" idx="12"/>
          </p:nvPr>
        </p:nvSpPr>
        <p:spPr/>
        <p:txBody>
          <a:bodyPr/>
          <a:lstStyle/>
          <a:p>
            <a:fld id="{3957FE44-DABC-424D-A234-74BB9410FF27}" type="slidenum">
              <a:rPr lang="en-US" smtClean="0"/>
              <a:pPr/>
              <a:t>58</a:t>
            </a:fld>
            <a:endParaRPr lang="en-US" dirty="0"/>
          </a:p>
        </p:txBody>
      </p:sp>
      <p:pic>
        <p:nvPicPr>
          <p:cNvPr id="5" name="Picture 2" descr="topic basics">
            <a:extLst>
              <a:ext uri="{FF2B5EF4-FFF2-40B4-BE49-F238E27FC236}">
                <a16:creationId xmlns:a16="http://schemas.microsoft.com/office/drawing/2014/main" id="{80C22CE4-A01B-4493-94F6-CC53273FB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898351"/>
            <a:ext cx="6096000" cy="1419225"/>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topic wildcard plus">
            <a:extLst>
              <a:ext uri="{FF2B5EF4-FFF2-40B4-BE49-F238E27FC236}">
                <a16:creationId xmlns:a16="http://schemas.microsoft.com/office/drawing/2014/main" id="{3E1C9306-E36C-4E03-A747-D6BAD7C13B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9634" y="4038600"/>
            <a:ext cx="6096000" cy="13906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opic wildcard plus example">
            <a:extLst>
              <a:ext uri="{FF2B5EF4-FFF2-40B4-BE49-F238E27FC236}">
                <a16:creationId xmlns:a16="http://schemas.microsoft.com/office/drawing/2014/main" id="{C1D5EFFD-DC81-4D78-9FF6-F68E109EFA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4095570"/>
            <a:ext cx="38100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topic wildcard hash">
            <a:extLst>
              <a:ext uri="{FF2B5EF4-FFF2-40B4-BE49-F238E27FC236}">
                <a16:creationId xmlns:a16="http://schemas.microsoft.com/office/drawing/2014/main" id="{E5D0A70D-0DF2-491D-9F56-578E08429C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5257" y="5429251"/>
            <a:ext cx="6096000" cy="111442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topic wildcard hash example">
            <a:extLst>
              <a:ext uri="{FF2B5EF4-FFF2-40B4-BE49-F238E27FC236}">
                <a16:creationId xmlns:a16="http://schemas.microsoft.com/office/drawing/2014/main" id="{C07BA2BA-1DC4-403A-A06B-E968DE2D2A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05600" y="5643653"/>
            <a:ext cx="3810000" cy="1019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02492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8E90E-D149-49B5-B5A3-96E5E3B0ADEC}"/>
              </a:ext>
            </a:extLst>
          </p:cNvPr>
          <p:cNvSpPr>
            <a:spLocks noGrp="1"/>
          </p:cNvSpPr>
          <p:nvPr>
            <p:ph type="title"/>
          </p:nvPr>
        </p:nvSpPr>
        <p:spPr/>
        <p:txBody>
          <a:bodyPr/>
          <a:lstStyle/>
          <a:p>
            <a:r>
              <a:rPr lang="en-US"/>
              <a:t>MQTT Message</a:t>
            </a:r>
          </a:p>
        </p:txBody>
      </p:sp>
      <p:sp>
        <p:nvSpPr>
          <p:cNvPr id="3" name="Content Placeholder 2">
            <a:extLst>
              <a:ext uri="{FF2B5EF4-FFF2-40B4-BE49-F238E27FC236}">
                <a16:creationId xmlns:a16="http://schemas.microsoft.com/office/drawing/2014/main" id="{8BC1C111-2060-4837-AE18-373EBB5B34CD}"/>
              </a:ext>
            </a:extLst>
          </p:cNvPr>
          <p:cNvSpPr>
            <a:spLocks noGrp="1"/>
          </p:cNvSpPr>
          <p:nvPr>
            <p:ph idx="1"/>
          </p:nvPr>
        </p:nvSpPr>
        <p:spPr/>
        <p:txBody>
          <a:bodyPr/>
          <a:lstStyle/>
          <a:p>
            <a:r>
              <a:rPr lang="en-US"/>
              <a:t>MQTT only has several types of message:</a:t>
            </a:r>
          </a:p>
          <a:p>
            <a:pPr lvl="1"/>
            <a:r>
              <a:rPr lang="en-US" b="1">
                <a:solidFill>
                  <a:srgbClr val="0070C0"/>
                </a:solidFill>
              </a:rPr>
              <a:t>CONNECT</a:t>
            </a:r>
            <a:r>
              <a:rPr lang="en-US"/>
              <a:t>: </a:t>
            </a:r>
            <a:r>
              <a:rPr lang="en-US" sz="1800"/>
              <a:t>Used for clients to send connection requests to the broker</a:t>
            </a:r>
            <a:endParaRPr lang="en-US"/>
          </a:p>
          <a:p>
            <a:pPr lvl="1"/>
            <a:r>
              <a:rPr lang="en-US" b="1">
                <a:solidFill>
                  <a:srgbClr val="0070C0"/>
                </a:solidFill>
              </a:rPr>
              <a:t>PUBLISH</a:t>
            </a:r>
            <a:r>
              <a:rPr lang="en-US" sz="1800"/>
              <a:t>: Used by the client to publish messages to the broker</a:t>
            </a:r>
          </a:p>
          <a:p>
            <a:pPr lvl="1"/>
            <a:r>
              <a:rPr lang="en-US" b="1">
                <a:solidFill>
                  <a:srgbClr val="0070C0"/>
                </a:solidFill>
              </a:rPr>
              <a:t>(UN)SUBSCRIBE</a:t>
            </a:r>
            <a:r>
              <a:rPr lang="en-US"/>
              <a:t>: </a:t>
            </a:r>
            <a:r>
              <a:rPr lang="en-US" sz="1800"/>
              <a:t>Used by the client to receive/stop receiving messages from the broker</a:t>
            </a:r>
          </a:p>
          <a:p>
            <a:pPr lvl="1"/>
            <a:r>
              <a:rPr lang="en-US" sz="1800" b="1">
                <a:solidFill>
                  <a:srgbClr val="0070C0"/>
                </a:solidFill>
              </a:rPr>
              <a:t>ACKNOWLEDGEMENT</a:t>
            </a:r>
            <a:r>
              <a:rPr lang="en-US" sz="1800"/>
              <a:t>: Used by receiver to confirm an action</a:t>
            </a:r>
          </a:p>
          <a:p>
            <a:pPr lvl="2"/>
            <a:r>
              <a:rPr lang="en-US"/>
              <a:t>CONNACK</a:t>
            </a:r>
          </a:p>
          <a:p>
            <a:pPr lvl="2"/>
            <a:r>
              <a:rPr lang="en-US"/>
              <a:t>PUBACK</a:t>
            </a:r>
          </a:p>
          <a:p>
            <a:pPr lvl="2"/>
            <a:r>
              <a:rPr lang="en-US"/>
              <a:t>PUBREC</a:t>
            </a:r>
          </a:p>
          <a:p>
            <a:pPr lvl="2"/>
            <a:r>
              <a:rPr lang="en-US"/>
              <a:t>SUBACK</a:t>
            </a:r>
          </a:p>
          <a:p>
            <a:pPr lvl="2"/>
            <a:r>
              <a:rPr lang="en-US"/>
              <a:t>UNSUBACK</a:t>
            </a:r>
          </a:p>
          <a:p>
            <a:pPr lvl="1"/>
            <a:endParaRPr lang="en-US"/>
          </a:p>
        </p:txBody>
      </p:sp>
      <p:sp>
        <p:nvSpPr>
          <p:cNvPr id="4" name="Slide Number Placeholder 3">
            <a:extLst>
              <a:ext uri="{FF2B5EF4-FFF2-40B4-BE49-F238E27FC236}">
                <a16:creationId xmlns:a16="http://schemas.microsoft.com/office/drawing/2014/main" id="{A447C345-5E6C-4ABE-BC4E-45EAA1E19D45}"/>
              </a:ext>
            </a:extLst>
          </p:cNvPr>
          <p:cNvSpPr>
            <a:spLocks noGrp="1"/>
          </p:cNvSpPr>
          <p:nvPr>
            <p:ph type="sldNum" sz="quarter" idx="12"/>
          </p:nvPr>
        </p:nvSpPr>
        <p:spPr/>
        <p:txBody>
          <a:bodyPr/>
          <a:lstStyle/>
          <a:p>
            <a:fld id="{3957FE44-DABC-424D-A234-74BB9410FF27}" type="slidenum">
              <a:rPr lang="en-US" smtClean="0"/>
              <a:pPr/>
              <a:t>59</a:t>
            </a:fld>
            <a:endParaRPr lang="en-US" dirty="0"/>
          </a:p>
        </p:txBody>
      </p:sp>
    </p:spTree>
    <p:extLst>
      <p:ext uri="{BB962C8B-B14F-4D97-AF65-F5344CB8AC3E}">
        <p14:creationId xmlns:p14="http://schemas.microsoft.com/office/powerpoint/2010/main" val="26111298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96A3E-8D6A-4407-83CB-0F4BAA9C71F9}"/>
              </a:ext>
            </a:extLst>
          </p:cNvPr>
          <p:cNvSpPr>
            <a:spLocks noGrp="1"/>
          </p:cNvSpPr>
          <p:nvPr>
            <p:ph type="title"/>
          </p:nvPr>
        </p:nvSpPr>
        <p:spPr/>
        <p:txBody>
          <a:bodyPr/>
          <a:lstStyle/>
          <a:p>
            <a:r>
              <a:rPr lang="en-US"/>
              <a:t>MQTT Message</a:t>
            </a:r>
          </a:p>
        </p:txBody>
      </p:sp>
      <p:sp>
        <p:nvSpPr>
          <p:cNvPr id="3" name="Content Placeholder 2">
            <a:extLst>
              <a:ext uri="{FF2B5EF4-FFF2-40B4-BE49-F238E27FC236}">
                <a16:creationId xmlns:a16="http://schemas.microsoft.com/office/drawing/2014/main" id="{9A6C418F-E094-4E4F-9A09-404DC18B3E4D}"/>
              </a:ext>
            </a:extLst>
          </p:cNvPr>
          <p:cNvSpPr>
            <a:spLocks noGrp="1"/>
          </p:cNvSpPr>
          <p:nvPr>
            <p:ph idx="1"/>
          </p:nvPr>
        </p:nvSpPr>
        <p:spPr/>
        <p:txBody>
          <a:bodyPr/>
          <a:lstStyle/>
          <a:p>
            <a:r>
              <a:rPr lang="en-US"/>
              <a:t>MQTT Message format:</a:t>
            </a:r>
          </a:p>
        </p:txBody>
      </p:sp>
      <p:sp>
        <p:nvSpPr>
          <p:cNvPr id="4" name="Slide Number Placeholder 3">
            <a:extLst>
              <a:ext uri="{FF2B5EF4-FFF2-40B4-BE49-F238E27FC236}">
                <a16:creationId xmlns:a16="http://schemas.microsoft.com/office/drawing/2014/main" id="{70C2A136-BFBC-43EC-9508-DB2EDEFC8823}"/>
              </a:ext>
            </a:extLst>
          </p:cNvPr>
          <p:cNvSpPr>
            <a:spLocks noGrp="1"/>
          </p:cNvSpPr>
          <p:nvPr>
            <p:ph type="sldNum" sz="quarter" idx="12"/>
          </p:nvPr>
        </p:nvSpPr>
        <p:spPr/>
        <p:txBody>
          <a:bodyPr/>
          <a:lstStyle/>
          <a:p>
            <a:fld id="{3957FE44-DABC-424D-A234-74BB9410FF27}" type="slidenum">
              <a:rPr lang="en-US" smtClean="0"/>
              <a:pPr/>
              <a:t>60</a:t>
            </a:fld>
            <a:endParaRPr lang="en-US" dirty="0"/>
          </a:p>
        </p:txBody>
      </p:sp>
      <p:pic>
        <p:nvPicPr>
          <p:cNvPr id="5122" name="Picture 2" descr="MQTT Packet Format">
            <a:extLst>
              <a:ext uri="{FF2B5EF4-FFF2-40B4-BE49-F238E27FC236}">
                <a16:creationId xmlns:a16="http://schemas.microsoft.com/office/drawing/2014/main" id="{5A5DDC0A-7EF0-4B45-81D4-D1FAFC6CA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8133" y="2362200"/>
            <a:ext cx="7495082" cy="2286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90DC0B6-6992-4E2F-B08C-EEF9D690F856}"/>
              </a:ext>
            </a:extLst>
          </p:cNvPr>
          <p:cNvSpPr txBox="1"/>
          <p:nvPr/>
        </p:nvSpPr>
        <p:spPr>
          <a:xfrm>
            <a:off x="3733800" y="6033140"/>
            <a:ext cx="6814686" cy="307777"/>
          </a:xfrm>
          <a:prstGeom prst="rect">
            <a:avLst/>
          </a:prstGeom>
          <a:noFill/>
        </p:spPr>
        <p:txBody>
          <a:bodyPr wrap="none" rtlCol="0">
            <a:spAutoFit/>
          </a:bodyPr>
          <a:lstStyle/>
          <a:p>
            <a:r>
              <a:rPr lang="en-US" sz="1400" i="1">
                <a:solidFill>
                  <a:srgbClr val="0070C0"/>
                </a:solidFill>
              </a:rPr>
              <a:t>(refer to this link for more detail: </a:t>
            </a:r>
            <a:r>
              <a:rPr lang="en-US" sz="1400" i="1">
                <a:solidFill>
                  <a:srgbClr val="0070C0"/>
                </a:solidFill>
                <a:hlinkClick r:id="rId3">
                  <a:extLst>
                    <a:ext uri="{A12FA001-AC4F-418D-AE19-62706E023703}">
                      <ahyp:hlinkClr xmlns:ahyp="http://schemas.microsoft.com/office/drawing/2018/hyperlinkcolor" val="tx"/>
                    </a:ext>
                  </a:extLst>
                </a:hlinkClick>
              </a:rPr>
              <a:t>https://openlabpro.com/guide/mqtt-packet-format/</a:t>
            </a:r>
            <a:r>
              <a:rPr lang="en-US" sz="1400" i="1">
                <a:solidFill>
                  <a:srgbClr val="0070C0"/>
                </a:solidFill>
              </a:rPr>
              <a:t> ) </a:t>
            </a:r>
          </a:p>
        </p:txBody>
      </p:sp>
    </p:spTree>
    <p:extLst>
      <p:ext uri="{BB962C8B-B14F-4D97-AF65-F5344CB8AC3E}">
        <p14:creationId xmlns:p14="http://schemas.microsoft.com/office/powerpoint/2010/main" val="41273780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EE731-7C8F-4855-BD50-6B91971B89A5}"/>
              </a:ext>
            </a:extLst>
          </p:cNvPr>
          <p:cNvSpPr>
            <a:spLocks noGrp="1"/>
          </p:cNvSpPr>
          <p:nvPr>
            <p:ph type="title"/>
          </p:nvPr>
        </p:nvSpPr>
        <p:spPr/>
        <p:txBody>
          <a:bodyPr/>
          <a:lstStyle/>
          <a:p>
            <a:r>
              <a:rPr lang="en-US" dirty="0" err="1"/>
              <a:t>MQTT</a:t>
            </a:r>
            <a:r>
              <a:rPr lang="en-US" dirty="0"/>
              <a:t> Message flow</a:t>
            </a:r>
          </a:p>
        </p:txBody>
      </p:sp>
      <p:sp>
        <p:nvSpPr>
          <p:cNvPr id="4" name="Slide Number Placeholder 3">
            <a:extLst>
              <a:ext uri="{FF2B5EF4-FFF2-40B4-BE49-F238E27FC236}">
                <a16:creationId xmlns:a16="http://schemas.microsoft.com/office/drawing/2014/main" id="{81493EE2-9299-4D92-AD76-BA1E3CB36C53}"/>
              </a:ext>
            </a:extLst>
          </p:cNvPr>
          <p:cNvSpPr>
            <a:spLocks noGrp="1"/>
          </p:cNvSpPr>
          <p:nvPr>
            <p:ph type="sldNum" sz="quarter" idx="12"/>
          </p:nvPr>
        </p:nvSpPr>
        <p:spPr/>
        <p:txBody>
          <a:bodyPr/>
          <a:lstStyle/>
          <a:p>
            <a:fld id="{3957FE44-DABC-424D-A234-74BB9410FF27}" type="slidenum">
              <a:rPr lang="en-US" smtClean="0"/>
              <a:pPr/>
              <a:t>61</a:t>
            </a:fld>
            <a:endParaRPr lang="en-US" dirty="0"/>
          </a:p>
        </p:txBody>
      </p:sp>
      <p:cxnSp>
        <p:nvCxnSpPr>
          <p:cNvPr id="6" name="Straight Connector 5">
            <a:extLst>
              <a:ext uri="{FF2B5EF4-FFF2-40B4-BE49-F238E27FC236}">
                <a16:creationId xmlns:a16="http://schemas.microsoft.com/office/drawing/2014/main" id="{5CA58B6A-7CA1-4AEA-B58C-85EE167B190D}"/>
              </a:ext>
            </a:extLst>
          </p:cNvPr>
          <p:cNvCxnSpPr/>
          <p:nvPr/>
        </p:nvCxnSpPr>
        <p:spPr>
          <a:xfrm>
            <a:off x="3505200" y="1981200"/>
            <a:ext cx="0" cy="411480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11C0393-A097-4FAD-816C-112D6B4C60DA}"/>
              </a:ext>
            </a:extLst>
          </p:cNvPr>
          <p:cNvCxnSpPr/>
          <p:nvPr/>
        </p:nvCxnSpPr>
        <p:spPr>
          <a:xfrm>
            <a:off x="6172200" y="1981200"/>
            <a:ext cx="0" cy="411480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9C17DFE-575A-4E26-8198-9131535F1C11}"/>
              </a:ext>
            </a:extLst>
          </p:cNvPr>
          <p:cNvCxnSpPr>
            <a:cxnSpLocks/>
          </p:cNvCxnSpPr>
          <p:nvPr/>
        </p:nvCxnSpPr>
        <p:spPr>
          <a:xfrm>
            <a:off x="8839200" y="2667000"/>
            <a:ext cx="0" cy="10668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BB2751B-D003-46F0-A1FA-06491CDE39F3}"/>
              </a:ext>
            </a:extLst>
          </p:cNvPr>
          <p:cNvCxnSpPr>
            <a:cxnSpLocks/>
          </p:cNvCxnSpPr>
          <p:nvPr/>
        </p:nvCxnSpPr>
        <p:spPr>
          <a:xfrm>
            <a:off x="8842948" y="4093161"/>
            <a:ext cx="0" cy="114300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4095701-4C09-47FB-AA4D-807572302E8F}"/>
              </a:ext>
            </a:extLst>
          </p:cNvPr>
          <p:cNvSpPr txBox="1"/>
          <p:nvPr/>
        </p:nvSpPr>
        <p:spPr>
          <a:xfrm>
            <a:off x="2996087" y="1567934"/>
            <a:ext cx="1018227" cy="369332"/>
          </a:xfrm>
          <a:prstGeom prst="rect">
            <a:avLst/>
          </a:prstGeom>
          <a:noFill/>
        </p:spPr>
        <p:txBody>
          <a:bodyPr wrap="none" rtlCol="0">
            <a:spAutoFit/>
          </a:bodyPr>
          <a:lstStyle/>
          <a:p>
            <a:r>
              <a:rPr lang="en-US" b="1" dirty="0"/>
              <a:t>Client 1</a:t>
            </a:r>
          </a:p>
        </p:txBody>
      </p:sp>
      <p:sp>
        <p:nvSpPr>
          <p:cNvPr id="14" name="TextBox 13">
            <a:extLst>
              <a:ext uri="{FF2B5EF4-FFF2-40B4-BE49-F238E27FC236}">
                <a16:creationId xmlns:a16="http://schemas.microsoft.com/office/drawing/2014/main" id="{E0D66ECA-A087-4A38-B187-238A75988D80}"/>
              </a:ext>
            </a:extLst>
          </p:cNvPr>
          <p:cNvSpPr txBox="1"/>
          <p:nvPr/>
        </p:nvSpPr>
        <p:spPr>
          <a:xfrm>
            <a:off x="5715001" y="1567934"/>
            <a:ext cx="928459" cy="369332"/>
          </a:xfrm>
          <a:prstGeom prst="rect">
            <a:avLst/>
          </a:prstGeom>
          <a:noFill/>
        </p:spPr>
        <p:txBody>
          <a:bodyPr wrap="none" rtlCol="0">
            <a:spAutoFit/>
          </a:bodyPr>
          <a:lstStyle/>
          <a:p>
            <a:r>
              <a:rPr lang="en-US" b="1" dirty="0"/>
              <a:t>Broker</a:t>
            </a:r>
          </a:p>
        </p:txBody>
      </p:sp>
      <p:sp>
        <p:nvSpPr>
          <p:cNvPr id="15" name="TextBox 14">
            <a:extLst>
              <a:ext uri="{FF2B5EF4-FFF2-40B4-BE49-F238E27FC236}">
                <a16:creationId xmlns:a16="http://schemas.microsoft.com/office/drawing/2014/main" id="{33BD430C-97BF-4D60-B315-0AFE064EEF9D}"/>
              </a:ext>
            </a:extLst>
          </p:cNvPr>
          <p:cNvSpPr txBox="1"/>
          <p:nvPr/>
        </p:nvSpPr>
        <p:spPr>
          <a:xfrm>
            <a:off x="8903331" y="2708139"/>
            <a:ext cx="1018227" cy="369332"/>
          </a:xfrm>
          <a:prstGeom prst="rect">
            <a:avLst/>
          </a:prstGeom>
          <a:noFill/>
        </p:spPr>
        <p:txBody>
          <a:bodyPr wrap="none" rtlCol="0">
            <a:spAutoFit/>
          </a:bodyPr>
          <a:lstStyle/>
          <a:p>
            <a:r>
              <a:rPr lang="en-US" b="1" dirty="0"/>
              <a:t>Client 2</a:t>
            </a:r>
          </a:p>
        </p:txBody>
      </p:sp>
      <p:sp>
        <p:nvSpPr>
          <p:cNvPr id="16" name="TextBox 15">
            <a:extLst>
              <a:ext uri="{FF2B5EF4-FFF2-40B4-BE49-F238E27FC236}">
                <a16:creationId xmlns:a16="http://schemas.microsoft.com/office/drawing/2014/main" id="{7BC38291-CE8F-4849-9250-8F49E9F48458}"/>
              </a:ext>
            </a:extLst>
          </p:cNvPr>
          <p:cNvSpPr txBox="1"/>
          <p:nvPr/>
        </p:nvSpPr>
        <p:spPr>
          <a:xfrm>
            <a:off x="8922069" y="4123370"/>
            <a:ext cx="1018227" cy="369332"/>
          </a:xfrm>
          <a:prstGeom prst="rect">
            <a:avLst/>
          </a:prstGeom>
          <a:noFill/>
        </p:spPr>
        <p:txBody>
          <a:bodyPr wrap="none" rtlCol="0">
            <a:spAutoFit/>
          </a:bodyPr>
          <a:lstStyle/>
          <a:p>
            <a:r>
              <a:rPr lang="en-US" b="1" dirty="0"/>
              <a:t>Client 3</a:t>
            </a:r>
          </a:p>
        </p:txBody>
      </p:sp>
      <p:cxnSp>
        <p:nvCxnSpPr>
          <p:cNvPr id="18" name="Straight Arrow Connector 17">
            <a:extLst>
              <a:ext uri="{FF2B5EF4-FFF2-40B4-BE49-F238E27FC236}">
                <a16:creationId xmlns:a16="http://schemas.microsoft.com/office/drawing/2014/main" id="{6C7DE20C-A863-4681-8546-3266C669C7B5}"/>
              </a:ext>
            </a:extLst>
          </p:cNvPr>
          <p:cNvCxnSpPr/>
          <p:nvPr/>
        </p:nvCxnSpPr>
        <p:spPr>
          <a:xfrm>
            <a:off x="3555689" y="2514600"/>
            <a:ext cx="2560320"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5EAFFD4-DF43-4CBF-9B0D-C95994E42784}"/>
              </a:ext>
            </a:extLst>
          </p:cNvPr>
          <p:cNvCxnSpPr/>
          <p:nvPr/>
        </p:nvCxnSpPr>
        <p:spPr>
          <a:xfrm>
            <a:off x="3555689" y="2892805"/>
            <a:ext cx="2560320" cy="0"/>
          </a:xfrm>
          <a:prstGeom prst="straightConnector1">
            <a:avLst/>
          </a:prstGeom>
          <a:ln w="28575">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0A97D63-A670-4480-A9A2-BB4B5AA4C3CE}"/>
              </a:ext>
            </a:extLst>
          </p:cNvPr>
          <p:cNvSpPr txBox="1"/>
          <p:nvPr/>
        </p:nvSpPr>
        <p:spPr>
          <a:xfrm>
            <a:off x="4183148" y="2189202"/>
            <a:ext cx="1326004" cy="369332"/>
          </a:xfrm>
          <a:prstGeom prst="rect">
            <a:avLst/>
          </a:prstGeom>
          <a:noFill/>
        </p:spPr>
        <p:txBody>
          <a:bodyPr wrap="none" rtlCol="0">
            <a:spAutoFit/>
          </a:bodyPr>
          <a:lstStyle/>
          <a:p>
            <a:r>
              <a:rPr lang="en-US" dirty="0"/>
              <a:t>CONNECT</a:t>
            </a:r>
          </a:p>
        </p:txBody>
      </p:sp>
      <p:sp>
        <p:nvSpPr>
          <p:cNvPr id="22" name="TextBox 21">
            <a:extLst>
              <a:ext uri="{FF2B5EF4-FFF2-40B4-BE49-F238E27FC236}">
                <a16:creationId xmlns:a16="http://schemas.microsoft.com/office/drawing/2014/main" id="{9BED9EE7-BCAF-43E5-A3DD-E4B18D3C20D6}"/>
              </a:ext>
            </a:extLst>
          </p:cNvPr>
          <p:cNvSpPr txBox="1"/>
          <p:nvPr/>
        </p:nvSpPr>
        <p:spPr>
          <a:xfrm>
            <a:off x="4156317" y="2541004"/>
            <a:ext cx="1338828" cy="369332"/>
          </a:xfrm>
          <a:prstGeom prst="rect">
            <a:avLst/>
          </a:prstGeom>
          <a:noFill/>
        </p:spPr>
        <p:txBody>
          <a:bodyPr wrap="none" rtlCol="0">
            <a:spAutoFit/>
          </a:bodyPr>
          <a:lstStyle/>
          <a:p>
            <a:r>
              <a:rPr lang="en-US" dirty="0" err="1"/>
              <a:t>CONNACK</a:t>
            </a:r>
            <a:endParaRPr lang="en-US" dirty="0"/>
          </a:p>
        </p:txBody>
      </p:sp>
      <p:cxnSp>
        <p:nvCxnSpPr>
          <p:cNvPr id="23" name="Straight Arrow Connector 22">
            <a:extLst>
              <a:ext uri="{FF2B5EF4-FFF2-40B4-BE49-F238E27FC236}">
                <a16:creationId xmlns:a16="http://schemas.microsoft.com/office/drawing/2014/main" id="{2D4A2E0E-4214-4218-845F-8C4AEEB54B06}"/>
              </a:ext>
            </a:extLst>
          </p:cNvPr>
          <p:cNvCxnSpPr/>
          <p:nvPr/>
        </p:nvCxnSpPr>
        <p:spPr>
          <a:xfrm>
            <a:off x="3555689" y="3972287"/>
            <a:ext cx="2560320"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CDF3E68-04EF-4290-9743-6D50F660912E}"/>
              </a:ext>
            </a:extLst>
          </p:cNvPr>
          <p:cNvCxnSpPr/>
          <p:nvPr/>
        </p:nvCxnSpPr>
        <p:spPr>
          <a:xfrm>
            <a:off x="3555689" y="4350492"/>
            <a:ext cx="2560320" cy="0"/>
          </a:xfrm>
          <a:prstGeom prst="straightConnector1">
            <a:avLst/>
          </a:prstGeom>
          <a:ln w="28575">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D211337-4871-4DCF-90C3-BE4DA0662032}"/>
              </a:ext>
            </a:extLst>
          </p:cNvPr>
          <p:cNvSpPr txBox="1"/>
          <p:nvPr/>
        </p:nvSpPr>
        <p:spPr>
          <a:xfrm>
            <a:off x="4183148" y="3646889"/>
            <a:ext cx="1518364" cy="369332"/>
          </a:xfrm>
          <a:prstGeom prst="rect">
            <a:avLst/>
          </a:prstGeom>
          <a:noFill/>
        </p:spPr>
        <p:txBody>
          <a:bodyPr wrap="none" rtlCol="0">
            <a:spAutoFit/>
          </a:bodyPr>
          <a:lstStyle/>
          <a:p>
            <a:r>
              <a:rPr lang="en-US" dirty="0"/>
              <a:t>SUBSCRIBE</a:t>
            </a:r>
          </a:p>
        </p:txBody>
      </p:sp>
      <p:sp>
        <p:nvSpPr>
          <p:cNvPr id="26" name="TextBox 25">
            <a:extLst>
              <a:ext uri="{FF2B5EF4-FFF2-40B4-BE49-F238E27FC236}">
                <a16:creationId xmlns:a16="http://schemas.microsoft.com/office/drawing/2014/main" id="{402267B4-690F-4CF9-8F87-F377BA5DAE7E}"/>
              </a:ext>
            </a:extLst>
          </p:cNvPr>
          <p:cNvSpPr txBox="1"/>
          <p:nvPr/>
        </p:nvSpPr>
        <p:spPr>
          <a:xfrm>
            <a:off x="4392360" y="3990623"/>
            <a:ext cx="1133644" cy="369332"/>
          </a:xfrm>
          <a:prstGeom prst="rect">
            <a:avLst/>
          </a:prstGeom>
          <a:noFill/>
        </p:spPr>
        <p:txBody>
          <a:bodyPr wrap="none" rtlCol="0">
            <a:spAutoFit/>
          </a:bodyPr>
          <a:lstStyle/>
          <a:p>
            <a:r>
              <a:rPr lang="en-US" dirty="0" err="1"/>
              <a:t>SUBACK</a:t>
            </a:r>
            <a:endParaRPr lang="en-US" dirty="0"/>
          </a:p>
        </p:txBody>
      </p:sp>
      <p:cxnSp>
        <p:nvCxnSpPr>
          <p:cNvPr id="27" name="Straight Arrow Connector 26">
            <a:extLst>
              <a:ext uri="{FF2B5EF4-FFF2-40B4-BE49-F238E27FC236}">
                <a16:creationId xmlns:a16="http://schemas.microsoft.com/office/drawing/2014/main" id="{D647A124-0323-451E-B0FF-DF27AB34A1BF}"/>
              </a:ext>
            </a:extLst>
          </p:cNvPr>
          <p:cNvCxnSpPr/>
          <p:nvPr/>
        </p:nvCxnSpPr>
        <p:spPr>
          <a:xfrm>
            <a:off x="3555689" y="5361388"/>
            <a:ext cx="2560320" cy="0"/>
          </a:xfrm>
          <a:prstGeom prst="straightConnector1">
            <a:avLst/>
          </a:prstGeom>
          <a:ln w="28575">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48C7971-7593-493E-843C-75C2F2724E0E}"/>
              </a:ext>
            </a:extLst>
          </p:cNvPr>
          <p:cNvCxnSpPr/>
          <p:nvPr/>
        </p:nvCxnSpPr>
        <p:spPr>
          <a:xfrm>
            <a:off x="3555689" y="5739593"/>
            <a:ext cx="2560320" cy="0"/>
          </a:xfrm>
          <a:prstGeom prst="straightConnector1">
            <a:avLst/>
          </a:prstGeom>
          <a:ln w="28575">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EE40644-27E6-41BD-954E-2F6EA99BEF19}"/>
              </a:ext>
            </a:extLst>
          </p:cNvPr>
          <p:cNvSpPr txBox="1"/>
          <p:nvPr/>
        </p:nvSpPr>
        <p:spPr>
          <a:xfrm>
            <a:off x="3962401" y="5035990"/>
            <a:ext cx="1851789" cy="369332"/>
          </a:xfrm>
          <a:prstGeom prst="rect">
            <a:avLst/>
          </a:prstGeom>
          <a:noFill/>
        </p:spPr>
        <p:txBody>
          <a:bodyPr wrap="none" rtlCol="0">
            <a:spAutoFit/>
          </a:bodyPr>
          <a:lstStyle/>
          <a:p>
            <a:r>
              <a:rPr lang="en-US" dirty="0"/>
              <a:t>UNSUBSCRIBE</a:t>
            </a:r>
          </a:p>
        </p:txBody>
      </p:sp>
      <p:sp>
        <p:nvSpPr>
          <p:cNvPr id="30" name="TextBox 29">
            <a:extLst>
              <a:ext uri="{FF2B5EF4-FFF2-40B4-BE49-F238E27FC236}">
                <a16:creationId xmlns:a16="http://schemas.microsoft.com/office/drawing/2014/main" id="{27859906-7D7E-4199-B3A8-CF646D45B405}"/>
              </a:ext>
            </a:extLst>
          </p:cNvPr>
          <p:cNvSpPr txBox="1"/>
          <p:nvPr/>
        </p:nvSpPr>
        <p:spPr>
          <a:xfrm>
            <a:off x="4114800" y="5387792"/>
            <a:ext cx="1467068" cy="369332"/>
          </a:xfrm>
          <a:prstGeom prst="rect">
            <a:avLst/>
          </a:prstGeom>
          <a:noFill/>
        </p:spPr>
        <p:txBody>
          <a:bodyPr wrap="none" rtlCol="0">
            <a:spAutoFit/>
          </a:bodyPr>
          <a:lstStyle/>
          <a:p>
            <a:r>
              <a:rPr lang="en-US" dirty="0" err="1"/>
              <a:t>UNSUBACK</a:t>
            </a:r>
            <a:endParaRPr lang="en-US" dirty="0"/>
          </a:p>
        </p:txBody>
      </p:sp>
      <p:cxnSp>
        <p:nvCxnSpPr>
          <p:cNvPr id="31" name="Straight Arrow Connector 30">
            <a:extLst>
              <a:ext uri="{FF2B5EF4-FFF2-40B4-BE49-F238E27FC236}">
                <a16:creationId xmlns:a16="http://schemas.microsoft.com/office/drawing/2014/main" id="{BCD1FB9A-5959-4646-B154-9CF2EF7006FC}"/>
              </a:ext>
            </a:extLst>
          </p:cNvPr>
          <p:cNvCxnSpPr/>
          <p:nvPr/>
        </p:nvCxnSpPr>
        <p:spPr>
          <a:xfrm>
            <a:off x="6224665" y="3053608"/>
            <a:ext cx="2560320" cy="0"/>
          </a:xfrm>
          <a:prstGeom prst="straightConnector1">
            <a:avLst/>
          </a:prstGeom>
          <a:ln w="28575">
            <a:solidFill>
              <a:schemeClr val="accent2">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322CAE2-D8A4-4D61-A68F-C3F130C6A091}"/>
              </a:ext>
            </a:extLst>
          </p:cNvPr>
          <p:cNvCxnSpPr/>
          <p:nvPr/>
        </p:nvCxnSpPr>
        <p:spPr>
          <a:xfrm>
            <a:off x="6224665" y="3431813"/>
            <a:ext cx="2560320" cy="0"/>
          </a:xfrm>
          <a:prstGeom prst="straightConnector1">
            <a:avLst/>
          </a:prstGeom>
          <a:ln w="28575">
            <a:solidFill>
              <a:schemeClr val="accent2">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C9EC123-3DC2-44E9-9809-516711131C9A}"/>
              </a:ext>
            </a:extLst>
          </p:cNvPr>
          <p:cNvSpPr txBox="1"/>
          <p:nvPr/>
        </p:nvSpPr>
        <p:spPr>
          <a:xfrm>
            <a:off x="6852124" y="2728210"/>
            <a:ext cx="1172116" cy="369332"/>
          </a:xfrm>
          <a:prstGeom prst="rect">
            <a:avLst/>
          </a:prstGeom>
          <a:noFill/>
        </p:spPr>
        <p:txBody>
          <a:bodyPr wrap="none" rtlCol="0">
            <a:spAutoFit/>
          </a:bodyPr>
          <a:lstStyle/>
          <a:p>
            <a:r>
              <a:rPr lang="en-US" dirty="0"/>
              <a:t>PUBLISH</a:t>
            </a:r>
          </a:p>
        </p:txBody>
      </p:sp>
      <p:sp>
        <p:nvSpPr>
          <p:cNvPr id="34" name="TextBox 33">
            <a:extLst>
              <a:ext uri="{FF2B5EF4-FFF2-40B4-BE49-F238E27FC236}">
                <a16:creationId xmlns:a16="http://schemas.microsoft.com/office/drawing/2014/main" id="{B5AC7BB1-7190-4E6F-9B3E-7DE8D100AABD}"/>
              </a:ext>
            </a:extLst>
          </p:cNvPr>
          <p:cNvSpPr txBox="1"/>
          <p:nvPr/>
        </p:nvSpPr>
        <p:spPr>
          <a:xfrm>
            <a:off x="6825293" y="3080012"/>
            <a:ext cx="1146468" cy="369332"/>
          </a:xfrm>
          <a:prstGeom prst="rect">
            <a:avLst/>
          </a:prstGeom>
          <a:noFill/>
        </p:spPr>
        <p:txBody>
          <a:bodyPr wrap="none" rtlCol="0">
            <a:spAutoFit/>
          </a:bodyPr>
          <a:lstStyle/>
          <a:p>
            <a:r>
              <a:rPr lang="en-US" dirty="0" err="1"/>
              <a:t>PUBREC</a:t>
            </a:r>
            <a:endParaRPr lang="en-US" dirty="0"/>
          </a:p>
        </p:txBody>
      </p:sp>
      <p:cxnSp>
        <p:nvCxnSpPr>
          <p:cNvPr id="35" name="Straight Arrow Connector 34">
            <a:extLst>
              <a:ext uri="{FF2B5EF4-FFF2-40B4-BE49-F238E27FC236}">
                <a16:creationId xmlns:a16="http://schemas.microsoft.com/office/drawing/2014/main" id="{175C6640-3A6C-4DE0-83D8-2BEB7DBF6933}"/>
              </a:ext>
            </a:extLst>
          </p:cNvPr>
          <p:cNvCxnSpPr/>
          <p:nvPr/>
        </p:nvCxnSpPr>
        <p:spPr>
          <a:xfrm>
            <a:off x="6217769" y="4488890"/>
            <a:ext cx="2560320" cy="0"/>
          </a:xfrm>
          <a:prstGeom prst="straightConnector1">
            <a:avLst/>
          </a:prstGeom>
          <a:ln w="28575">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94427C3-B215-4425-8420-D99CAA83BDE6}"/>
              </a:ext>
            </a:extLst>
          </p:cNvPr>
          <p:cNvCxnSpPr/>
          <p:nvPr/>
        </p:nvCxnSpPr>
        <p:spPr>
          <a:xfrm>
            <a:off x="6217769" y="4867095"/>
            <a:ext cx="2560320" cy="0"/>
          </a:xfrm>
          <a:prstGeom prst="straightConnector1">
            <a:avLst/>
          </a:prstGeom>
          <a:ln w="28575">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A9BE621-CD86-436C-8A87-5AC65748AE9A}"/>
              </a:ext>
            </a:extLst>
          </p:cNvPr>
          <p:cNvSpPr txBox="1"/>
          <p:nvPr/>
        </p:nvSpPr>
        <p:spPr>
          <a:xfrm>
            <a:off x="6845228" y="4163492"/>
            <a:ext cx="1172116" cy="369332"/>
          </a:xfrm>
          <a:prstGeom prst="rect">
            <a:avLst/>
          </a:prstGeom>
          <a:noFill/>
        </p:spPr>
        <p:txBody>
          <a:bodyPr wrap="none" rtlCol="0">
            <a:spAutoFit/>
          </a:bodyPr>
          <a:lstStyle/>
          <a:p>
            <a:r>
              <a:rPr lang="en-US" dirty="0"/>
              <a:t>PUBLISH</a:t>
            </a:r>
          </a:p>
        </p:txBody>
      </p:sp>
      <p:sp>
        <p:nvSpPr>
          <p:cNvPr id="38" name="TextBox 37">
            <a:extLst>
              <a:ext uri="{FF2B5EF4-FFF2-40B4-BE49-F238E27FC236}">
                <a16:creationId xmlns:a16="http://schemas.microsoft.com/office/drawing/2014/main" id="{EC15103A-D053-4984-9C07-ABE7501415FF}"/>
              </a:ext>
            </a:extLst>
          </p:cNvPr>
          <p:cNvSpPr txBox="1"/>
          <p:nvPr/>
        </p:nvSpPr>
        <p:spPr>
          <a:xfrm>
            <a:off x="6818397" y="4515294"/>
            <a:ext cx="1146468" cy="369332"/>
          </a:xfrm>
          <a:prstGeom prst="rect">
            <a:avLst/>
          </a:prstGeom>
          <a:noFill/>
        </p:spPr>
        <p:txBody>
          <a:bodyPr wrap="none" rtlCol="0">
            <a:spAutoFit/>
          </a:bodyPr>
          <a:lstStyle/>
          <a:p>
            <a:r>
              <a:rPr lang="en-US" dirty="0" err="1"/>
              <a:t>PUBREC</a:t>
            </a:r>
            <a:endParaRPr lang="en-US" dirty="0"/>
          </a:p>
        </p:txBody>
      </p:sp>
      <p:sp>
        <p:nvSpPr>
          <p:cNvPr id="40" name="TextBox 39">
            <a:extLst>
              <a:ext uri="{FF2B5EF4-FFF2-40B4-BE49-F238E27FC236}">
                <a16:creationId xmlns:a16="http://schemas.microsoft.com/office/drawing/2014/main" id="{2ABDC6F1-2BA8-4BCC-A485-7C25E13AD0CA}"/>
              </a:ext>
            </a:extLst>
          </p:cNvPr>
          <p:cNvSpPr txBox="1"/>
          <p:nvPr/>
        </p:nvSpPr>
        <p:spPr>
          <a:xfrm>
            <a:off x="2057400" y="6154580"/>
            <a:ext cx="8485440" cy="369332"/>
          </a:xfrm>
          <a:prstGeom prst="rect">
            <a:avLst/>
          </a:prstGeom>
          <a:noFill/>
        </p:spPr>
        <p:txBody>
          <a:bodyPr wrap="square">
            <a:spAutoFit/>
          </a:bodyPr>
          <a:lstStyle/>
          <a:p>
            <a:r>
              <a:rPr lang="en-US" dirty="0" err="1"/>
              <a:t>MQTT</a:t>
            </a:r>
            <a:r>
              <a:rPr lang="en-US" dirty="0"/>
              <a:t> is a command protocol, each command will be response by the receiver</a:t>
            </a:r>
          </a:p>
        </p:txBody>
      </p:sp>
    </p:spTree>
    <p:extLst>
      <p:ext uri="{BB962C8B-B14F-4D97-AF65-F5344CB8AC3E}">
        <p14:creationId xmlns:p14="http://schemas.microsoft.com/office/powerpoint/2010/main" val="11413514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EE731-7C8F-4855-BD50-6B91971B89A5}"/>
              </a:ext>
            </a:extLst>
          </p:cNvPr>
          <p:cNvSpPr>
            <a:spLocks noGrp="1"/>
          </p:cNvSpPr>
          <p:nvPr>
            <p:ph type="title"/>
          </p:nvPr>
        </p:nvSpPr>
        <p:spPr/>
        <p:txBody>
          <a:bodyPr>
            <a:normAutofit/>
          </a:bodyPr>
          <a:lstStyle/>
          <a:p>
            <a:r>
              <a:rPr lang="en-US" dirty="0" err="1"/>
              <a:t>MQTT</a:t>
            </a:r>
            <a:r>
              <a:rPr lang="en-US" dirty="0"/>
              <a:t> Message flow - CONNECT</a:t>
            </a:r>
          </a:p>
        </p:txBody>
      </p:sp>
      <p:sp>
        <p:nvSpPr>
          <p:cNvPr id="4" name="Slide Number Placeholder 3">
            <a:extLst>
              <a:ext uri="{FF2B5EF4-FFF2-40B4-BE49-F238E27FC236}">
                <a16:creationId xmlns:a16="http://schemas.microsoft.com/office/drawing/2014/main" id="{81493EE2-9299-4D92-AD76-BA1E3CB36C53}"/>
              </a:ext>
            </a:extLst>
          </p:cNvPr>
          <p:cNvSpPr>
            <a:spLocks noGrp="1"/>
          </p:cNvSpPr>
          <p:nvPr>
            <p:ph type="sldNum" sz="quarter" idx="12"/>
          </p:nvPr>
        </p:nvSpPr>
        <p:spPr/>
        <p:txBody>
          <a:bodyPr/>
          <a:lstStyle/>
          <a:p>
            <a:fld id="{3957FE44-DABC-424D-A234-74BB9410FF27}" type="slidenum">
              <a:rPr lang="en-US" smtClean="0"/>
              <a:pPr/>
              <a:t>62</a:t>
            </a:fld>
            <a:endParaRPr lang="en-US" dirty="0"/>
          </a:p>
        </p:txBody>
      </p:sp>
      <p:cxnSp>
        <p:nvCxnSpPr>
          <p:cNvPr id="6" name="Straight Connector 5">
            <a:extLst>
              <a:ext uri="{FF2B5EF4-FFF2-40B4-BE49-F238E27FC236}">
                <a16:creationId xmlns:a16="http://schemas.microsoft.com/office/drawing/2014/main" id="{5CA58B6A-7CA1-4AEA-B58C-85EE167B190D}"/>
              </a:ext>
            </a:extLst>
          </p:cNvPr>
          <p:cNvCxnSpPr/>
          <p:nvPr/>
        </p:nvCxnSpPr>
        <p:spPr>
          <a:xfrm>
            <a:off x="4710341" y="1981200"/>
            <a:ext cx="0" cy="411480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11C0393-A097-4FAD-816C-112D6B4C60DA}"/>
              </a:ext>
            </a:extLst>
          </p:cNvPr>
          <p:cNvCxnSpPr/>
          <p:nvPr/>
        </p:nvCxnSpPr>
        <p:spPr>
          <a:xfrm>
            <a:off x="7377341" y="1981200"/>
            <a:ext cx="0" cy="411480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44095701-4C09-47FB-AA4D-807572302E8F}"/>
              </a:ext>
            </a:extLst>
          </p:cNvPr>
          <p:cNvSpPr txBox="1"/>
          <p:nvPr/>
        </p:nvSpPr>
        <p:spPr>
          <a:xfrm>
            <a:off x="4201228" y="1567934"/>
            <a:ext cx="1018227" cy="369332"/>
          </a:xfrm>
          <a:prstGeom prst="rect">
            <a:avLst/>
          </a:prstGeom>
          <a:noFill/>
        </p:spPr>
        <p:txBody>
          <a:bodyPr wrap="none" rtlCol="0">
            <a:spAutoFit/>
          </a:bodyPr>
          <a:lstStyle/>
          <a:p>
            <a:r>
              <a:rPr lang="en-US" b="1" dirty="0"/>
              <a:t>Client 1</a:t>
            </a:r>
          </a:p>
        </p:txBody>
      </p:sp>
      <p:sp>
        <p:nvSpPr>
          <p:cNvPr id="14" name="TextBox 13">
            <a:extLst>
              <a:ext uri="{FF2B5EF4-FFF2-40B4-BE49-F238E27FC236}">
                <a16:creationId xmlns:a16="http://schemas.microsoft.com/office/drawing/2014/main" id="{E0D66ECA-A087-4A38-B187-238A75988D80}"/>
              </a:ext>
            </a:extLst>
          </p:cNvPr>
          <p:cNvSpPr txBox="1"/>
          <p:nvPr/>
        </p:nvSpPr>
        <p:spPr>
          <a:xfrm>
            <a:off x="6920142" y="1567934"/>
            <a:ext cx="928459" cy="369332"/>
          </a:xfrm>
          <a:prstGeom prst="rect">
            <a:avLst/>
          </a:prstGeom>
          <a:noFill/>
        </p:spPr>
        <p:txBody>
          <a:bodyPr wrap="none" rtlCol="0">
            <a:spAutoFit/>
          </a:bodyPr>
          <a:lstStyle/>
          <a:p>
            <a:r>
              <a:rPr lang="en-US" b="1" dirty="0"/>
              <a:t>Broker</a:t>
            </a:r>
          </a:p>
        </p:txBody>
      </p:sp>
      <p:cxnSp>
        <p:nvCxnSpPr>
          <p:cNvPr id="18" name="Straight Arrow Connector 17">
            <a:extLst>
              <a:ext uri="{FF2B5EF4-FFF2-40B4-BE49-F238E27FC236}">
                <a16:creationId xmlns:a16="http://schemas.microsoft.com/office/drawing/2014/main" id="{6C7DE20C-A863-4681-8546-3266C669C7B5}"/>
              </a:ext>
            </a:extLst>
          </p:cNvPr>
          <p:cNvCxnSpPr/>
          <p:nvPr/>
        </p:nvCxnSpPr>
        <p:spPr>
          <a:xfrm>
            <a:off x="4760830" y="2514600"/>
            <a:ext cx="2560320"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5EAFFD4-DF43-4CBF-9B0D-C95994E42784}"/>
              </a:ext>
            </a:extLst>
          </p:cNvPr>
          <p:cNvCxnSpPr/>
          <p:nvPr/>
        </p:nvCxnSpPr>
        <p:spPr>
          <a:xfrm>
            <a:off x="4760830" y="2892805"/>
            <a:ext cx="2560320" cy="0"/>
          </a:xfrm>
          <a:prstGeom prst="straightConnector1">
            <a:avLst/>
          </a:prstGeom>
          <a:ln w="28575">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0A97D63-A670-4480-A9A2-BB4B5AA4C3CE}"/>
              </a:ext>
            </a:extLst>
          </p:cNvPr>
          <p:cNvSpPr txBox="1"/>
          <p:nvPr/>
        </p:nvSpPr>
        <p:spPr>
          <a:xfrm>
            <a:off x="5388289" y="2189202"/>
            <a:ext cx="1326004" cy="369332"/>
          </a:xfrm>
          <a:prstGeom prst="rect">
            <a:avLst/>
          </a:prstGeom>
          <a:noFill/>
        </p:spPr>
        <p:txBody>
          <a:bodyPr wrap="none" rtlCol="0">
            <a:spAutoFit/>
          </a:bodyPr>
          <a:lstStyle/>
          <a:p>
            <a:r>
              <a:rPr lang="en-US" dirty="0"/>
              <a:t>CONNECT</a:t>
            </a:r>
          </a:p>
        </p:txBody>
      </p:sp>
      <p:sp>
        <p:nvSpPr>
          <p:cNvPr id="22" name="TextBox 21">
            <a:extLst>
              <a:ext uri="{FF2B5EF4-FFF2-40B4-BE49-F238E27FC236}">
                <a16:creationId xmlns:a16="http://schemas.microsoft.com/office/drawing/2014/main" id="{9BED9EE7-BCAF-43E5-A3DD-E4B18D3C20D6}"/>
              </a:ext>
            </a:extLst>
          </p:cNvPr>
          <p:cNvSpPr txBox="1"/>
          <p:nvPr/>
        </p:nvSpPr>
        <p:spPr>
          <a:xfrm>
            <a:off x="5361458" y="2541004"/>
            <a:ext cx="1338828" cy="369332"/>
          </a:xfrm>
          <a:prstGeom prst="rect">
            <a:avLst/>
          </a:prstGeom>
          <a:noFill/>
        </p:spPr>
        <p:txBody>
          <a:bodyPr wrap="none" rtlCol="0">
            <a:spAutoFit/>
          </a:bodyPr>
          <a:lstStyle/>
          <a:p>
            <a:r>
              <a:rPr lang="en-US" dirty="0" err="1"/>
              <a:t>CONNACK</a:t>
            </a:r>
            <a:endParaRPr lang="en-US" dirty="0"/>
          </a:p>
        </p:txBody>
      </p:sp>
      <p:cxnSp>
        <p:nvCxnSpPr>
          <p:cNvPr id="23" name="Straight Arrow Connector 22">
            <a:extLst>
              <a:ext uri="{FF2B5EF4-FFF2-40B4-BE49-F238E27FC236}">
                <a16:creationId xmlns:a16="http://schemas.microsoft.com/office/drawing/2014/main" id="{2D4A2E0E-4214-4218-845F-8C4AEEB54B06}"/>
              </a:ext>
            </a:extLst>
          </p:cNvPr>
          <p:cNvCxnSpPr/>
          <p:nvPr/>
        </p:nvCxnSpPr>
        <p:spPr>
          <a:xfrm>
            <a:off x="4760830" y="3972287"/>
            <a:ext cx="2560320"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CDF3E68-04EF-4290-9743-6D50F660912E}"/>
              </a:ext>
            </a:extLst>
          </p:cNvPr>
          <p:cNvCxnSpPr/>
          <p:nvPr/>
        </p:nvCxnSpPr>
        <p:spPr>
          <a:xfrm>
            <a:off x="4760830" y="4350492"/>
            <a:ext cx="2560320" cy="0"/>
          </a:xfrm>
          <a:prstGeom prst="straightConnector1">
            <a:avLst/>
          </a:prstGeom>
          <a:ln w="28575">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D211337-4871-4DCF-90C3-BE4DA0662032}"/>
              </a:ext>
            </a:extLst>
          </p:cNvPr>
          <p:cNvSpPr txBox="1"/>
          <p:nvPr/>
        </p:nvSpPr>
        <p:spPr>
          <a:xfrm>
            <a:off x="5388289" y="3646889"/>
            <a:ext cx="1518364" cy="369332"/>
          </a:xfrm>
          <a:prstGeom prst="rect">
            <a:avLst/>
          </a:prstGeom>
          <a:noFill/>
        </p:spPr>
        <p:txBody>
          <a:bodyPr wrap="none" rtlCol="0">
            <a:spAutoFit/>
          </a:bodyPr>
          <a:lstStyle/>
          <a:p>
            <a:r>
              <a:rPr lang="en-US" dirty="0"/>
              <a:t>SUBSCRIBE</a:t>
            </a:r>
          </a:p>
        </p:txBody>
      </p:sp>
      <p:sp>
        <p:nvSpPr>
          <p:cNvPr id="26" name="TextBox 25">
            <a:extLst>
              <a:ext uri="{FF2B5EF4-FFF2-40B4-BE49-F238E27FC236}">
                <a16:creationId xmlns:a16="http://schemas.microsoft.com/office/drawing/2014/main" id="{402267B4-690F-4CF9-8F87-F377BA5DAE7E}"/>
              </a:ext>
            </a:extLst>
          </p:cNvPr>
          <p:cNvSpPr txBox="1"/>
          <p:nvPr/>
        </p:nvSpPr>
        <p:spPr>
          <a:xfrm>
            <a:off x="5597501" y="3990623"/>
            <a:ext cx="1133644" cy="369332"/>
          </a:xfrm>
          <a:prstGeom prst="rect">
            <a:avLst/>
          </a:prstGeom>
          <a:noFill/>
        </p:spPr>
        <p:txBody>
          <a:bodyPr wrap="none" rtlCol="0">
            <a:spAutoFit/>
          </a:bodyPr>
          <a:lstStyle/>
          <a:p>
            <a:r>
              <a:rPr lang="en-US" dirty="0" err="1"/>
              <a:t>SUBACK</a:t>
            </a:r>
            <a:endParaRPr lang="en-US" dirty="0"/>
          </a:p>
        </p:txBody>
      </p:sp>
      <p:cxnSp>
        <p:nvCxnSpPr>
          <p:cNvPr id="27" name="Straight Arrow Connector 26">
            <a:extLst>
              <a:ext uri="{FF2B5EF4-FFF2-40B4-BE49-F238E27FC236}">
                <a16:creationId xmlns:a16="http://schemas.microsoft.com/office/drawing/2014/main" id="{D647A124-0323-451E-B0FF-DF27AB34A1BF}"/>
              </a:ext>
            </a:extLst>
          </p:cNvPr>
          <p:cNvCxnSpPr/>
          <p:nvPr/>
        </p:nvCxnSpPr>
        <p:spPr>
          <a:xfrm>
            <a:off x="4760830" y="5361388"/>
            <a:ext cx="2560320" cy="0"/>
          </a:xfrm>
          <a:prstGeom prst="straightConnector1">
            <a:avLst/>
          </a:prstGeom>
          <a:ln w="28575">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48C7971-7593-493E-843C-75C2F2724E0E}"/>
              </a:ext>
            </a:extLst>
          </p:cNvPr>
          <p:cNvCxnSpPr/>
          <p:nvPr/>
        </p:nvCxnSpPr>
        <p:spPr>
          <a:xfrm>
            <a:off x="4760830" y="5739593"/>
            <a:ext cx="2560320" cy="0"/>
          </a:xfrm>
          <a:prstGeom prst="straightConnector1">
            <a:avLst/>
          </a:prstGeom>
          <a:ln w="28575">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6146" name="Picture 2" descr="MQTT Connect message content">
            <a:extLst>
              <a:ext uri="{FF2B5EF4-FFF2-40B4-BE49-F238E27FC236}">
                <a16:creationId xmlns:a16="http://schemas.microsoft.com/office/drawing/2014/main" id="{2598F58F-1BB8-451B-A4DF-2ED453D5D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0198" y="3016898"/>
            <a:ext cx="2696903" cy="169519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MQTT Connack contents">
            <a:extLst>
              <a:ext uri="{FF2B5EF4-FFF2-40B4-BE49-F238E27FC236}">
                <a16:creationId xmlns:a16="http://schemas.microsoft.com/office/drawing/2014/main" id="{6EC88DD5-2914-45CA-AC37-48019A7A4D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9702" y="2494002"/>
            <a:ext cx="2729179" cy="16207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4CD754C-BF78-4972-A4F2-6DFD1B319C83}"/>
              </a:ext>
            </a:extLst>
          </p:cNvPr>
          <p:cNvPicPr>
            <a:picLocks noChangeAspect="1"/>
          </p:cNvPicPr>
          <p:nvPr/>
        </p:nvPicPr>
        <p:blipFill>
          <a:blip r:embed="rId5"/>
          <a:stretch>
            <a:fillRect/>
          </a:stretch>
        </p:blipFill>
        <p:spPr>
          <a:xfrm>
            <a:off x="7591656" y="4189198"/>
            <a:ext cx="2753101" cy="2135402"/>
          </a:xfrm>
          <a:prstGeom prst="rect">
            <a:avLst/>
          </a:prstGeom>
        </p:spPr>
      </p:pic>
      <p:sp>
        <p:nvSpPr>
          <p:cNvPr id="39" name="TextBox 38">
            <a:extLst>
              <a:ext uri="{FF2B5EF4-FFF2-40B4-BE49-F238E27FC236}">
                <a16:creationId xmlns:a16="http://schemas.microsoft.com/office/drawing/2014/main" id="{E68A1519-257D-423F-A272-5C59553FA424}"/>
              </a:ext>
            </a:extLst>
          </p:cNvPr>
          <p:cNvSpPr txBox="1"/>
          <p:nvPr/>
        </p:nvSpPr>
        <p:spPr>
          <a:xfrm>
            <a:off x="1675313" y="2000834"/>
            <a:ext cx="2978837" cy="923330"/>
          </a:xfrm>
          <a:prstGeom prst="rect">
            <a:avLst/>
          </a:prstGeom>
          <a:noFill/>
        </p:spPr>
        <p:txBody>
          <a:bodyPr wrap="square">
            <a:spAutoFit/>
          </a:bodyPr>
          <a:lstStyle/>
          <a:p>
            <a:r>
              <a:rPr lang="en-US" dirty="0">
                <a:solidFill>
                  <a:srgbClr val="00B050"/>
                </a:solidFill>
                <a:latin typeface="roboto"/>
              </a:rPr>
              <a:t>Connect message is sent by the client to the broker to initiate a connection </a:t>
            </a:r>
            <a:endParaRPr lang="en-US" dirty="0">
              <a:solidFill>
                <a:srgbClr val="00B050"/>
              </a:solidFill>
            </a:endParaRPr>
          </a:p>
        </p:txBody>
      </p:sp>
      <p:sp>
        <p:nvSpPr>
          <p:cNvPr id="40" name="TextBox 39">
            <a:extLst>
              <a:ext uri="{FF2B5EF4-FFF2-40B4-BE49-F238E27FC236}">
                <a16:creationId xmlns:a16="http://schemas.microsoft.com/office/drawing/2014/main" id="{50886622-ED50-4F36-8AB6-AE380E8BA46D}"/>
              </a:ext>
            </a:extLst>
          </p:cNvPr>
          <p:cNvSpPr txBox="1"/>
          <p:nvPr/>
        </p:nvSpPr>
        <p:spPr>
          <a:xfrm>
            <a:off x="5105401" y="5034239"/>
            <a:ext cx="1851789" cy="369332"/>
          </a:xfrm>
          <a:prstGeom prst="rect">
            <a:avLst/>
          </a:prstGeom>
          <a:noFill/>
        </p:spPr>
        <p:txBody>
          <a:bodyPr wrap="none" rtlCol="0">
            <a:spAutoFit/>
          </a:bodyPr>
          <a:lstStyle/>
          <a:p>
            <a:r>
              <a:rPr lang="en-US" dirty="0"/>
              <a:t>UNSUBSCRIBE</a:t>
            </a:r>
          </a:p>
        </p:txBody>
      </p:sp>
      <p:sp>
        <p:nvSpPr>
          <p:cNvPr id="41" name="TextBox 40">
            <a:extLst>
              <a:ext uri="{FF2B5EF4-FFF2-40B4-BE49-F238E27FC236}">
                <a16:creationId xmlns:a16="http://schemas.microsoft.com/office/drawing/2014/main" id="{81125748-4CBC-4F67-BBD6-BF42F932833F}"/>
              </a:ext>
            </a:extLst>
          </p:cNvPr>
          <p:cNvSpPr txBox="1"/>
          <p:nvPr/>
        </p:nvSpPr>
        <p:spPr>
          <a:xfrm>
            <a:off x="5257800" y="5386041"/>
            <a:ext cx="1467068" cy="369332"/>
          </a:xfrm>
          <a:prstGeom prst="rect">
            <a:avLst/>
          </a:prstGeom>
          <a:noFill/>
        </p:spPr>
        <p:txBody>
          <a:bodyPr wrap="square" rtlCol="0">
            <a:spAutoFit/>
          </a:bodyPr>
          <a:lstStyle/>
          <a:p>
            <a:r>
              <a:rPr lang="en-US" dirty="0" err="1"/>
              <a:t>UNSUBACK</a:t>
            </a:r>
            <a:endParaRPr lang="en-US" dirty="0"/>
          </a:p>
        </p:txBody>
      </p:sp>
      <p:sp>
        <p:nvSpPr>
          <p:cNvPr id="42" name="TextBox 41">
            <a:extLst>
              <a:ext uri="{FF2B5EF4-FFF2-40B4-BE49-F238E27FC236}">
                <a16:creationId xmlns:a16="http://schemas.microsoft.com/office/drawing/2014/main" id="{92BC00B4-00F1-4C6C-B985-5E34D55FE23E}"/>
              </a:ext>
            </a:extLst>
          </p:cNvPr>
          <p:cNvSpPr txBox="1"/>
          <p:nvPr/>
        </p:nvSpPr>
        <p:spPr>
          <a:xfrm>
            <a:off x="7657248" y="1870231"/>
            <a:ext cx="2729179" cy="646331"/>
          </a:xfrm>
          <a:prstGeom prst="rect">
            <a:avLst/>
          </a:prstGeom>
          <a:noFill/>
        </p:spPr>
        <p:txBody>
          <a:bodyPr wrap="square">
            <a:spAutoFit/>
          </a:bodyPr>
          <a:lstStyle/>
          <a:p>
            <a:r>
              <a:rPr lang="en-US" dirty="0">
                <a:solidFill>
                  <a:srgbClr val="0070C0"/>
                </a:solidFill>
                <a:latin typeface="Arial" panose="020B0604020202020204" pitchFamily="34" charset="0"/>
              </a:rPr>
              <a:t>Server to client, connect acknowledgment</a:t>
            </a:r>
            <a:endParaRPr lang="en-US" dirty="0">
              <a:solidFill>
                <a:srgbClr val="0070C0"/>
              </a:solidFill>
            </a:endParaRPr>
          </a:p>
        </p:txBody>
      </p:sp>
      <p:sp>
        <p:nvSpPr>
          <p:cNvPr id="29" name="TextBox 28">
            <a:extLst>
              <a:ext uri="{FF2B5EF4-FFF2-40B4-BE49-F238E27FC236}">
                <a16:creationId xmlns:a16="http://schemas.microsoft.com/office/drawing/2014/main" id="{2C3E2686-130C-4B80-B71D-F7E3DB9B231B}"/>
              </a:ext>
            </a:extLst>
          </p:cNvPr>
          <p:cNvSpPr txBox="1"/>
          <p:nvPr/>
        </p:nvSpPr>
        <p:spPr>
          <a:xfrm>
            <a:off x="1828801" y="6365557"/>
            <a:ext cx="8276657" cy="523220"/>
          </a:xfrm>
          <a:prstGeom prst="rect">
            <a:avLst/>
          </a:prstGeom>
          <a:noFill/>
        </p:spPr>
        <p:txBody>
          <a:bodyPr wrap="square">
            <a:spAutoFit/>
          </a:bodyPr>
          <a:lstStyle/>
          <a:p>
            <a:r>
              <a:rPr lang="en-US" sz="1400" i="1">
                <a:solidFill>
                  <a:srgbClr val="0070C0"/>
                </a:solidFill>
              </a:rPr>
              <a:t>(refer to this link for more detail: </a:t>
            </a:r>
            <a:r>
              <a:rPr lang="en-US" sz="1400" i="1">
                <a:solidFill>
                  <a:srgbClr val="0070C0"/>
                </a:solidFill>
                <a:hlinkClick r:id="rId6"/>
              </a:rPr>
              <a:t>https://www.hivemq.com/blog/mqtt-essentials-part-3-client-broker-connection-establishment/</a:t>
            </a:r>
            <a:r>
              <a:rPr lang="en-US" sz="1400" i="1">
                <a:solidFill>
                  <a:srgbClr val="0070C0"/>
                </a:solidFill>
              </a:rPr>
              <a:t> ) </a:t>
            </a:r>
          </a:p>
        </p:txBody>
      </p:sp>
    </p:spTree>
    <p:extLst>
      <p:ext uri="{BB962C8B-B14F-4D97-AF65-F5344CB8AC3E}">
        <p14:creationId xmlns:p14="http://schemas.microsoft.com/office/powerpoint/2010/main" val="30942074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EE731-7C8F-4855-BD50-6B91971B89A5}"/>
              </a:ext>
            </a:extLst>
          </p:cNvPr>
          <p:cNvSpPr>
            <a:spLocks noGrp="1"/>
          </p:cNvSpPr>
          <p:nvPr>
            <p:ph type="title"/>
          </p:nvPr>
        </p:nvSpPr>
        <p:spPr/>
        <p:txBody>
          <a:bodyPr/>
          <a:lstStyle/>
          <a:p>
            <a:r>
              <a:rPr lang="en-US" dirty="0" err="1"/>
              <a:t>MQTT</a:t>
            </a:r>
            <a:r>
              <a:rPr lang="en-US" dirty="0"/>
              <a:t> Message flow - PUBLISH</a:t>
            </a:r>
          </a:p>
        </p:txBody>
      </p:sp>
      <p:sp>
        <p:nvSpPr>
          <p:cNvPr id="4" name="Slide Number Placeholder 3">
            <a:extLst>
              <a:ext uri="{FF2B5EF4-FFF2-40B4-BE49-F238E27FC236}">
                <a16:creationId xmlns:a16="http://schemas.microsoft.com/office/drawing/2014/main" id="{81493EE2-9299-4D92-AD76-BA1E3CB36C53}"/>
              </a:ext>
            </a:extLst>
          </p:cNvPr>
          <p:cNvSpPr>
            <a:spLocks noGrp="1"/>
          </p:cNvSpPr>
          <p:nvPr>
            <p:ph type="sldNum" sz="quarter" idx="12"/>
          </p:nvPr>
        </p:nvSpPr>
        <p:spPr/>
        <p:txBody>
          <a:bodyPr/>
          <a:lstStyle/>
          <a:p>
            <a:fld id="{3957FE44-DABC-424D-A234-74BB9410FF27}" type="slidenum">
              <a:rPr lang="en-US" smtClean="0"/>
              <a:pPr/>
              <a:t>63</a:t>
            </a:fld>
            <a:endParaRPr lang="en-US" dirty="0"/>
          </a:p>
        </p:txBody>
      </p:sp>
      <p:cxnSp>
        <p:nvCxnSpPr>
          <p:cNvPr id="7" name="Straight Connector 6">
            <a:extLst>
              <a:ext uri="{FF2B5EF4-FFF2-40B4-BE49-F238E27FC236}">
                <a16:creationId xmlns:a16="http://schemas.microsoft.com/office/drawing/2014/main" id="{711C0393-A097-4FAD-816C-112D6B4C60DA}"/>
              </a:ext>
            </a:extLst>
          </p:cNvPr>
          <p:cNvCxnSpPr/>
          <p:nvPr/>
        </p:nvCxnSpPr>
        <p:spPr>
          <a:xfrm>
            <a:off x="4648200" y="1981200"/>
            <a:ext cx="0" cy="411480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9C17DFE-575A-4E26-8198-9131535F1C11}"/>
              </a:ext>
            </a:extLst>
          </p:cNvPr>
          <p:cNvCxnSpPr>
            <a:cxnSpLocks/>
          </p:cNvCxnSpPr>
          <p:nvPr/>
        </p:nvCxnSpPr>
        <p:spPr>
          <a:xfrm>
            <a:off x="7315200" y="2667000"/>
            <a:ext cx="0" cy="1066800"/>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BB2751B-D003-46F0-A1FA-06491CDE39F3}"/>
              </a:ext>
            </a:extLst>
          </p:cNvPr>
          <p:cNvCxnSpPr>
            <a:cxnSpLocks/>
          </p:cNvCxnSpPr>
          <p:nvPr/>
        </p:nvCxnSpPr>
        <p:spPr>
          <a:xfrm>
            <a:off x="7318948" y="4093161"/>
            <a:ext cx="0" cy="114300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0D66ECA-A087-4A38-B187-238A75988D80}"/>
              </a:ext>
            </a:extLst>
          </p:cNvPr>
          <p:cNvSpPr txBox="1"/>
          <p:nvPr/>
        </p:nvSpPr>
        <p:spPr>
          <a:xfrm>
            <a:off x="4191001" y="1567934"/>
            <a:ext cx="928459" cy="369332"/>
          </a:xfrm>
          <a:prstGeom prst="rect">
            <a:avLst/>
          </a:prstGeom>
          <a:noFill/>
        </p:spPr>
        <p:txBody>
          <a:bodyPr wrap="none" rtlCol="0">
            <a:spAutoFit/>
          </a:bodyPr>
          <a:lstStyle/>
          <a:p>
            <a:r>
              <a:rPr lang="en-US" b="1" dirty="0"/>
              <a:t>Broker</a:t>
            </a:r>
          </a:p>
        </p:txBody>
      </p:sp>
      <p:sp>
        <p:nvSpPr>
          <p:cNvPr id="15" name="TextBox 14">
            <a:extLst>
              <a:ext uri="{FF2B5EF4-FFF2-40B4-BE49-F238E27FC236}">
                <a16:creationId xmlns:a16="http://schemas.microsoft.com/office/drawing/2014/main" id="{33BD430C-97BF-4D60-B315-0AFE064EEF9D}"/>
              </a:ext>
            </a:extLst>
          </p:cNvPr>
          <p:cNvSpPr txBox="1"/>
          <p:nvPr/>
        </p:nvSpPr>
        <p:spPr>
          <a:xfrm>
            <a:off x="6433754" y="2260276"/>
            <a:ext cx="1018227" cy="369332"/>
          </a:xfrm>
          <a:prstGeom prst="rect">
            <a:avLst/>
          </a:prstGeom>
          <a:noFill/>
        </p:spPr>
        <p:txBody>
          <a:bodyPr wrap="none" rtlCol="0">
            <a:spAutoFit/>
          </a:bodyPr>
          <a:lstStyle/>
          <a:p>
            <a:r>
              <a:rPr lang="en-US" b="1" dirty="0"/>
              <a:t>Client 2</a:t>
            </a:r>
          </a:p>
        </p:txBody>
      </p:sp>
      <p:sp>
        <p:nvSpPr>
          <p:cNvPr id="16" name="TextBox 15">
            <a:extLst>
              <a:ext uri="{FF2B5EF4-FFF2-40B4-BE49-F238E27FC236}">
                <a16:creationId xmlns:a16="http://schemas.microsoft.com/office/drawing/2014/main" id="{7BC38291-CE8F-4849-9250-8F49E9F48458}"/>
              </a:ext>
            </a:extLst>
          </p:cNvPr>
          <p:cNvSpPr txBox="1"/>
          <p:nvPr/>
        </p:nvSpPr>
        <p:spPr>
          <a:xfrm>
            <a:off x="6744976" y="3746653"/>
            <a:ext cx="1018227" cy="369332"/>
          </a:xfrm>
          <a:prstGeom prst="rect">
            <a:avLst/>
          </a:prstGeom>
          <a:noFill/>
        </p:spPr>
        <p:txBody>
          <a:bodyPr wrap="none" rtlCol="0">
            <a:spAutoFit/>
          </a:bodyPr>
          <a:lstStyle/>
          <a:p>
            <a:r>
              <a:rPr lang="en-US" b="1" dirty="0"/>
              <a:t>Client 3</a:t>
            </a:r>
          </a:p>
        </p:txBody>
      </p:sp>
      <p:cxnSp>
        <p:nvCxnSpPr>
          <p:cNvPr id="31" name="Straight Arrow Connector 30">
            <a:extLst>
              <a:ext uri="{FF2B5EF4-FFF2-40B4-BE49-F238E27FC236}">
                <a16:creationId xmlns:a16="http://schemas.microsoft.com/office/drawing/2014/main" id="{BCD1FB9A-5959-4646-B154-9CF2EF7006FC}"/>
              </a:ext>
            </a:extLst>
          </p:cNvPr>
          <p:cNvCxnSpPr/>
          <p:nvPr/>
        </p:nvCxnSpPr>
        <p:spPr>
          <a:xfrm>
            <a:off x="4700665" y="3053608"/>
            <a:ext cx="2560320" cy="0"/>
          </a:xfrm>
          <a:prstGeom prst="straightConnector1">
            <a:avLst/>
          </a:prstGeom>
          <a:ln w="28575">
            <a:solidFill>
              <a:schemeClr val="accent2">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322CAE2-D8A4-4D61-A68F-C3F130C6A091}"/>
              </a:ext>
            </a:extLst>
          </p:cNvPr>
          <p:cNvCxnSpPr/>
          <p:nvPr/>
        </p:nvCxnSpPr>
        <p:spPr>
          <a:xfrm>
            <a:off x="4700665" y="3431813"/>
            <a:ext cx="2560320" cy="0"/>
          </a:xfrm>
          <a:prstGeom prst="straightConnector1">
            <a:avLst/>
          </a:prstGeom>
          <a:ln w="28575">
            <a:solidFill>
              <a:schemeClr val="accent2">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C9EC123-3DC2-44E9-9809-516711131C9A}"/>
              </a:ext>
            </a:extLst>
          </p:cNvPr>
          <p:cNvSpPr txBox="1"/>
          <p:nvPr/>
        </p:nvSpPr>
        <p:spPr>
          <a:xfrm>
            <a:off x="5328124" y="2728210"/>
            <a:ext cx="1172116" cy="369332"/>
          </a:xfrm>
          <a:prstGeom prst="rect">
            <a:avLst/>
          </a:prstGeom>
          <a:noFill/>
        </p:spPr>
        <p:txBody>
          <a:bodyPr wrap="none" rtlCol="0">
            <a:spAutoFit/>
          </a:bodyPr>
          <a:lstStyle/>
          <a:p>
            <a:r>
              <a:rPr lang="en-US" dirty="0"/>
              <a:t>PUBLISH</a:t>
            </a:r>
          </a:p>
        </p:txBody>
      </p:sp>
      <p:sp>
        <p:nvSpPr>
          <p:cNvPr id="34" name="TextBox 33">
            <a:extLst>
              <a:ext uri="{FF2B5EF4-FFF2-40B4-BE49-F238E27FC236}">
                <a16:creationId xmlns:a16="http://schemas.microsoft.com/office/drawing/2014/main" id="{B5AC7BB1-7190-4E6F-9B3E-7DE8D100AABD}"/>
              </a:ext>
            </a:extLst>
          </p:cNvPr>
          <p:cNvSpPr txBox="1"/>
          <p:nvPr/>
        </p:nvSpPr>
        <p:spPr>
          <a:xfrm>
            <a:off x="5301293" y="3080012"/>
            <a:ext cx="1133644" cy="369332"/>
          </a:xfrm>
          <a:prstGeom prst="rect">
            <a:avLst/>
          </a:prstGeom>
          <a:noFill/>
        </p:spPr>
        <p:txBody>
          <a:bodyPr wrap="none" rtlCol="0">
            <a:spAutoFit/>
          </a:bodyPr>
          <a:lstStyle/>
          <a:p>
            <a:r>
              <a:rPr lang="en-US" dirty="0" err="1"/>
              <a:t>PUBACK</a:t>
            </a:r>
            <a:endParaRPr lang="en-US" dirty="0"/>
          </a:p>
        </p:txBody>
      </p:sp>
      <p:cxnSp>
        <p:nvCxnSpPr>
          <p:cNvPr id="35" name="Straight Arrow Connector 34">
            <a:extLst>
              <a:ext uri="{FF2B5EF4-FFF2-40B4-BE49-F238E27FC236}">
                <a16:creationId xmlns:a16="http://schemas.microsoft.com/office/drawing/2014/main" id="{175C6640-3A6C-4DE0-83D8-2BEB7DBF6933}"/>
              </a:ext>
            </a:extLst>
          </p:cNvPr>
          <p:cNvCxnSpPr/>
          <p:nvPr/>
        </p:nvCxnSpPr>
        <p:spPr>
          <a:xfrm>
            <a:off x="4693769" y="4488890"/>
            <a:ext cx="2560320" cy="0"/>
          </a:xfrm>
          <a:prstGeom prst="straightConnector1">
            <a:avLst/>
          </a:prstGeom>
          <a:ln w="28575">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94427C3-B215-4425-8420-D99CAA83BDE6}"/>
              </a:ext>
            </a:extLst>
          </p:cNvPr>
          <p:cNvCxnSpPr/>
          <p:nvPr/>
        </p:nvCxnSpPr>
        <p:spPr>
          <a:xfrm>
            <a:off x="4693769" y="4867095"/>
            <a:ext cx="2560320" cy="0"/>
          </a:xfrm>
          <a:prstGeom prst="straightConnector1">
            <a:avLst/>
          </a:prstGeom>
          <a:ln w="28575">
            <a:solidFill>
              <a:srgbClr val="00B0F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A9BE621-CD86-436C-8A87-5AC65748AE9A}"/>
              </a:ext>
            </a:extLst>
          </p:cNvPr>
          <p:cNvSpPr txBox="1"/>
          <p:nvPr/>
        </p:nvSpPr>
        <p:spPr>
          <a:xfrm>
            <a:off x="5321228" y="4163492"/>
            <a:ext cx="1172116" cy="369332"/>
          </a:xfrm>
          <a:prstGeom prst="rect">
            <a:avLst/>
          </a:prstGeom>
          <a:noFill/>
        </p:spPr>
        <p:txBody>
          <a:bodyPr wrap="none" rtlCol="0">
            <a:spAutoFit/>
          </a:bodyPr>
          <a:lstStyle/>
          <a:p>
            <a:r>
              <a:rPr lang="en-US" dirty="0"/>
              <a:t>PUBLISH</a:t>
            </a:r>
          </a:p>
        </p:txBody>
      </p:sp>
      <p:sp>
        <p:nvSpPr>
          <p:cNvPr id="38" name="TextBox 37">
            <a:extLst>
              <a:ext uri="{FF2B5EF4-FFF2-40B4-BE49-F238E27FC236}">
                <a16:creationId xmlns:a16="http://schemas.microsoft.com/office/drawing/2014/main" id="{EC15103A-D053-4984-9C07-ABE7501415FF}"/>
              </a:ext>
            </a:extLst>
          </p:cNvPr>
          <p:cNvSpPr txBox="1"/>
          <p:nvPr/>
        </p:nvSpPr>
        <p:spPr>
          <a:xfrm>
            <a:off x="5294397" y="4515294"/>
            <a:ext cx="1146468" cy="369332"/>
          </a:xfrm>
          <a:prstGeom prst="rect">
            <a:avLst/>
          </a:prstGeom>
          <a:noFill/>
        </p:spPr>
        <p:txBody>
          <a:bodyPr wrap="none" rtlCol="0">
            <a:spAutoFit/>
          </a:bodyPr>
          <a:lstStyle/>
          <a:p>
            <a:r>
              <a:rPr lang="en-US" dirty="0" err="1"/>
              <a:t>PUBREC</a:t>
            </a:r>
            <a:endParaRPr lang="en-US" dirty="0"/>
          </a:p>
        </p:txBody>
      </p:sp>
      <p:pic>
        <p:nvPicPr>
          <p:cNvPr id="39" name="Picture 2" descr="MQTT Publish attributes">
            <a:extLst>
              <a:ext uri="{FF2B5EF4-FFF2-40B4-BE49-F238E27FC236}">
                <a16:creationId xmlns:a16="http://schemas.microsoft.com/office/drawing/2014/main" id="{0127E01C-B2B4-49C7-BAD0-FBF1D36D3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0058" y="1679826"/>
            <a:ext cx="2945344" cy="1749174"/>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Quality of Service 0,1 &amp; 2 - MQTT Essentials: Part 6">
            <a:extLst>
              <a:ext uri="{FF2B5EF4-FFF2-40B4-BE49-F238E27FC236}">
                <a16:creationId xmlns:a16="http://schemas.microsoft.com/office/drawing/2014/main" id="{2748B953-B72B-471C-91F7-66911B18EA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548" y="2161903"/>
            <a:ext cx="2668481" cy="158475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pubrec_packet">
            <a:extLst>
              <a:ext uri="{FF2B5EF4-FFF2-40B4-BE49-F238E27FC236}">
                <a16:creationId xmlns:a16="http://schemas.microsoft.com/office/drawing/2014/main" id="{74B20AFA-5519-4908-8318-C9BD6ECBEB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548" y="4023881"/>
            <a:ext cx="2668481" cy="1584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29616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EE731-7C8F-4855-BD50-6B91971B89A5}"/>
              </a:ext>
            </a:extLst>
          </p:cNvPr>
          <p:cNvSpPr>
            <a:spLocks noGrp="1"/>
          </p:cNvSpPr>
          <p:nvPr>
            <p:ph type="title"/>
          </p:nvPr>
        </p:nvSpPr>
        <p:spPr/>
        <p:txBody>
          <a:bodyPr/>
          <a:lstStyle/>
          <a:p>
            <a:r>
              <a:rPr lang="en-US" dirty="0" err="1"/>
              <a:t>MQTT</a:t>
            </a:r>
            <a:r>
              <a:rPr lang="en-US" dirty="0"/>
              <a:t> Message flow</a:t>
            </a:r>
          </a:p>
        </p:txBody>
      </p:sp>
      <p:sp>
        <p:nvSpPr>
          <p:cNvPr id="4" name="Slide Number Placeholder 3">
            <a:extLst>
              <a:ext uri="{FF2B5EF4-FFF2-40B4-BE49-F238E27FC236}">
                <a16:creationId xmlns:a16="http://schemas.microsoft.com/office/drawing/2014/main" id="{81493EE2-9299-4D92-AD76-BA1E3CB36C53}"/>
              </a:ext>
            </a:extLst>
          </p:cNvPr>
          <p:cNvSpPr>
            <a:spLocks noGrp="1"/>
          </p:cNvSpPr>
          <p:nvPr>
            <p:ph type="sldNum" sz="quarter" idx="12"/>
          </p:nvPr>
        </p:nvSpPr>
        <p:spPr/>
        <p:txBody>
          <a:bodyPr/>
          <a:lstStyle/>
          <a:p>
            <a:fld id="{3957FE44-DABC-424D-A234-74BB9410FF27}" type="slidenum">
              <a:rPr lang="en-US" smtClean="0"/>
              <a:pPr/>
              <a:t>64</a:t>
            </a:fld>
            <a:endParaRPr lang="en-US" dirty="0"/>
          </a:p>
        </p:txBody>
      </p:sp>
      <p:cxnSp>
        <p:nvCxnSpPr>
          <p:cNvPr id="39" name="Straight Connector 38">
            <a:extLst>
              <a:ext uri="{FF2B5EF4-FFF2-40B4-BE49-F238E27FC236}">
                <a16:creationId xmlns:a16="http://schemas.microsoft.com/office/drawing/2014/main" id="{EA244394-555F-4BC5-BD14-305E6E9878B4}"/>
              </a:ext>
            </a:extLst>
          </p:cNvPr>
          <p:cNvCxnSpPr/>
          <p:nvPr/>
        </p:nvCxnSpPr>
        <p:spPr>
          <a:xfrm>
            <a:off x="4724400" y="2057400"/>
            <a:ext cx="0" cy="411480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9DD1E8A-421E-4AC3-BA4E-5C49E0414245}"/>
              </a:ext>
            </a:extLst>
          </p:cNvPr>
          <p:cNvCxnSpPr/>
          <p:nvPr/>
        </p:nvCxnSpPr>
        <p:spPr>
          <a:xfrm>
            <a:off x="7391400" y="2057400"/>
            <a:ext cx="0" cy="4114800"/>
          </a:xfrm>
          <a:prstGeom prst="line">
            <a:avLst/>
          </a:prstGeom>
          <a:ln w="76200">
            <a:solidFill>
              <a:srgbClr val="0070C0"/>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73CC4E4-393A-4D3D-8734-04081A833C63}"/>
              </a:ext>
            </a:extLst>
          </p:cNvPr>
          <p:cNvSpPr txBox="1"/>
          <p:nvPr/>
        </p:nvSpPr>
        <p:spPr>
          <a:xfrm>
            <a:off x="4215287" y="1644134"/>
            <a:ext cx="1018227" cy="369332"/>
          </a:xfrm>
          <a:prstGeom prst="rect">
            <a:avLst/>
          </a:prstGeom>
          <a:noFill/>
        </p:spPr>
        <p:txBody>
          <a:bodyPr wrap="none" rtlCol="0">
            <a:spAutoFit/>
          </a:bodyPr>
          <a:lstStyle/>
          <a:p>
            <a:r>
              <a:rPr lang="en-US" b="1" dirty="0"/>
              <a:t>Client 1</a:t>
            </a:r>
          </a:p>
        </p:txBody>
      </p:sp>
      <p:sp>
        <p:nvSpPr>
          <p:cNvPr id="42" name="TextBox 41">
            <a:extLst>
              <a:ext uri="{FF2B5EF4-FFF2-40B4-BE49-F238E27FC236}">
                <a16:creationId xmlns:a16="http://schemas.microsoft.com/office/drawing/2014/main" id="{6D6F43C7-47C4-4634-9C5D-0A80E5D36E70}"/>
              </a:ext>
            </a:extLst>
          </p:cNvPr>
          <p:cNvSpPr txBox="1"/>
          <p:nvPr/>
        </p:nvSpPr>
        <p:spPr>
          <a:xfrm>
            <a:off x="6934201" y="1644134"/>
            <a:ext cx="928459" cy="369332"/>
          </a:xfrm>
          <a:prstGeom prst="rect">
            <a:avLst/>
          </a:prstGeom>
          <a:noFill/>
        </p:spPr>
        <p:txBody>
          <a:bodyPr wrap="none" rtlCol="0">
            <a:spAutoFit/>
          </a:bodyPr>
          <a:lstStyle/>
          <a:p>
            <a:r>
              <a:rPr lang="en-US" b="1" dirty="0"/>
              <a:t>Broker</a:t>
            </a:r>
          </a:p>
        </p:txBody>
      </p:sp>
      <p:cxnSp>
        <p:nvCxnSpPr>
          <p:cNvPr id="43" name="Straight Arrow Connector 42">
            <a:extLst>
              <a:ext uri="{FF2B5EF4-FFF2-40B4-BE49-F238E27FC236}">
                <a16:creationId xmlns:a16="http://schemas.microsoft.com/office/drawing/2014/main" id="{951691FB-526D-4DB1-9DA2-80B716830783}"/>
              </a:ext>
            </a:extLst>
          </p:cNvPr>
          <p:cNvCxnSpPr/>
          <p:nvPr/>
        </p:nvCxnSpPr>
        <p:spPr>
          <a:xfrm>
            <a:off x="4774889" y="2590800"/>
            <a:ext cx="2560320"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F337159-48CF-4ACD-A4D5-E0E1AEA7DEB4}"/>
              </a:ext>
            </a:extLst>
          </p:cNvPr>
          <p:cNvCxnSpPr/>
          <p:nvPr/>
        </p:nvCxnSpPr>
        <p:spPr>
          <a:xfrm>
            <a:off x="4774889" y="2969005"/>
            <a:ext cx="2560320" cy="0"/>
          </a:xfrm>
          <a:prstGeom prst="straightConnector1">
            <a:avLst/>
          </a:prstGeom>
          <a:ln w="28575">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43B5D50-1224-4413-8B49-50B6AD499CD5}"/>
              </a:ext>
            </a:extLst>
          </p:cNvPr>
          <p:cNvSpPr txBox="1"/>
          <p:nvPr/>
        </p:nvSpPr>
        <p:spPr>
          <a:xfrm>
            <a:off x="5402348" y="2265402"/>
            <a:ext cx="1326004" cy="369332"/>
          </a:xfrm>
          <a:prstGeom prst="rect">
            <a:avLst/>
          </a:prstGeom>
          <a:noFill/>
        </p:spPr>
        <p:txBody>
          <a:bodyPr wrap="none" rtlCol="0">
            <a:spAutoFit/>
          </a:bodyPr>
          <a:lstStyle/>
          <a:p>
            <a:r>
              <a:rPr lang="en-US" dirty="0"/>
              <a:t>CONNECT</a:t>
            </a:r>
          </a:p>
        </p:txBody>
      </p:sp>
      <p:sp>
        <p:nvSpPr>
          <p:cNvPr id="46" name="TextBox 45">
            <a:extLst>
              <a:ext uri="{FF2B5EF4-FFF2-40B4-BE49-F238E27FC236}">
                <a16:creationId xmlns:a16="http://schemas.microsoft.com/office/drawing/2014/main" id="{B1F80799-9549-4775-B3D3-CF9D604924CA}"/>
              </a:ext>
            </a:extLst>
          </p:cNvPr>
          <p:cNvSpPr txBox="1"/>
          <p:nvPr/>
        </p:nvSpPr>
        <p:spPr>
          <a:xfrm>
            <a:off x="5375517" y="2617204"/>
            <a:ext cx="1338828" cy="369332"/>
          </a:xfrm>
          <a:prstGeom prst="rect">
            <a:avLst/>
          </a:prstGeom>
          <a:noFill/>
        </p:spPr>
        <p:txBody>
          <a:bodyPr wrap="none" rtlCol="0">
            <a:spAutoFit/>
          </a:bodyPr>
          <a:lstStyle/>
          <a:p>
            <a:r>
              <a:rPr lang="en-US" dirty="0" err="1"/>
              <a:t>CONNACK</a:t>
            </a:r>
            <a:endParaRPr lang="en-US" dirty="0"/>
          </a:p>
        </p:txBody>
      </p:sp>
      <p:cxnSp>
        <p:nvCxnSpPr>
          <p:cNvPr id="47" name="Straight Arrow Connector 46">
            <a:extLst>
              <a:ext uri="{FF2B5EF4-FFF2-40B4-BE49-F238E27FC236}">
                <a16:creationId xmlns:a16="http://schemas.microsoft.com/office/drawing/2014/main" id="{194A18FB-324F-489F-BBF4-F42220D4EFEB}"/>
              </a:ext>
            </a:extLst>
          </p:cNvPr>
          <p:cNvCxnSpPr/>
          <p:nvPr/>
        </p:nvCxnSpPr>
        <p:spPr>
          <a:xfrm>
            <a:off x="4774889" y="4048487"/>
            <a:ext cx="2560320" cy="0"/>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3940180-A577-4888-8206-B7FD2A0E4A94}"/>
              </a:ext>
            </a:extLst>
          </p:cNvPr>
          <p:cNvCxnSpPr/>
          <p:nvPr/>
        </p:nvCxnSpPr>
        <p:spPr>
          <a:xfrm>
            <a:off x="4774889" y="4426692"/>
            <a:ext cx="2560320" cy="0"/>
          </a:xfrm>
          <a:prstGeom prst="straightConnector1">
            <a:avLst/>
          </a:prstGeom>
          <a:ln w="28575">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B2F1EFF6-89E9-4EB6-8685-321E446E83FF}"/>
              </a:ext>
            </a:extLst>
          </p:cNvPr>
          <p:cNvSpPr txBox="1"/>
          <p:nvPr/>
        </p:nvSpPr>
        <p:spPr>
          <a:xfrm>
            <a:off x="5402348" y="3723089"/>
            <a:ext cx="1518364" cy="369332"/>
          </a:xfrm>
          <a:prstGeom prst="rect">
            <a:avLst/>
          </a:prstGeom>
          <a:noFill/>
        </p:spPr>
        <p:txBody>
          <a:bodyPr wrap="none" rtlCol="0">
            <a:spAutoFit/>
          </a:bodyPr>
          <a:lstStyle/>
          <a:p>
            <a:r>
              <a:rPr lang="en-US" dirty="0"/>
              <a:t>SUBSCRIBE</a:t>
            </a:r>
          </a:p>
        </p:txBody>
      </p:sp>
      <p:sp>
        <p:nvSpPr>
          <p:cNvPr id="50" name="TextBox 49">
            <a:extLst>
              <a:ext uri="{FF2B5EF4-FFF2-40B4-BE49-F238E27FC236}">
                <a16:creationId xmlns:a16="http://schemas.microsoft.com/office/drawing/2014/main" id="{17B5393C-7E2D-4DD1-BCA3-0CD65113E8D8}"/>
              </a:ext>
            </a:extLst>
          </p:cNvPr>
          <p:cNvSpPr txBox="1"/>
          <p:nvPr/>
        </p:nvSpPr>
        <p:spPr>
          <a:xfrm>
            <a:off x="5611560" y="4066823"/>
            <a:ext cx="1133644" cy="369332"/>
          </a:xfrm>
          <a:prstGeom prst="rect">
            <a:avLst/>
          </a:prstGeom>
          <a:noFill/>
        </p:spPr>
        <p:txBody>
          <a:bodyPr wrap="none" rtlCol="0">
            <a:spAutoFit/>
          </a:bodyPr>
          <a:lstStyle/>
          <a:p>
            <a:r>
              <a:rPr lang="en-US" dirty="0" err="1"/>
              <a:t>SUBACK</a:t>
            </a:r>
            <a:endParaRPr lang="en-US" dirty="0"/>
          </a:p>
        </p:txBody>
      </p:sp>
      <p:cxnSp>
        <p:nvCxnSpPr>
          <p:cNvPr id="51" name="Straight Arrow Connector 50">
            <a:extLst>
              <a:ext uri="{FF2B5EF4-FFF2-40B4-BE49-F238E27FC236}">
                <a16:creationId xmlns:a16="http://schemas.microsoft.com/office/drawing/2014/main" id="{6A7B75AD-85D1-44BF-9658-9C6A36DBCE92}"/>
              </a:ext>
            </a:extLst>
          </p:cNvPr>
          <p:cNvCxnSpPr/>
          <p:nvPr/>
        </p:nvCxnSpPr>
        <p:spPr>
          <a:xfrm>
            <a:off x="4774889" y="5437588"/>
            <a:ext cx="2560320" cy="0"/>
          </a:xfrm>
          <a:prstGeom prst="straightConnector1">
            <a:avLst/>
          </a:prstGeom>
          <a:ln w="28575">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12AA96B3-0513-438A-A4D0-C87936403DC4}"/>
              </a:ext>
            </a:extLst>
          </p:cNvPr>
          <p:cNvCxnSpPr/>
          <p:nvPr/>
        </p:nvCxnSpPr>
        <p:spPr>
          <a:xfrm>
            <a:off x="4774889" y="5815793"/>
            <a:ext cx="2560320" cy="0"/>
          </a:xfrm>
          <a:prstGeom prst="straightConnector1">
            <a:avLst/>
          </a:prstGeom>
          <a:ln w="28575">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24D73E34-3A8D-4808-87BA-19F63497A68C}"/>
              </a:ext>
            </a:extLst>
          </p:cNvPr>
          <p:cNvSpPr txBox="1"/>
          <p:nvPr/>
        </p:nvSpPr>
        <p:spPr>
          <a:xfrm>
            <a:off x="5181601" y="5112190"/>
            <a:ext cx="1851789" cy="369332"/>
          </a:xfrm>
          <a:prstGeom prst="rect">
            <a:avLst/>
          </a:prstGeom>
          <a:noFill/>
        </p:spPr>
        <p:txBody>
          <a:bodyPr wrap="none" rtlCol="0">
            <a:spAutoFit/>
          </a:bodyPr>
          <a:lstStyle/>
          <a:p>
            <a:r>
              <a:rPr lang="en-US" dirty="0"/>
              <a:t>UNSUBSCRIBE</a:t>
            </a:r>
          </a:p>
        </p:txBody>
      </p:sp>
      <p:sp>
        <p:nvSpPr>
          <p:cNvPr id="54" name="TextBox 53">
            <a:extLst>
              <a:ext uri="{FF2B5EF4-FFF2-40B4-BE49-F238E27FC236}">
                <a16:creationId xmlns:a16="http://schemas.microsoft.com/office/drawing/2014/main" id="{0F80EC5A-8B3D-42CD-89B5-DDD0FE51DD67}"/>
              </a:ext>
            </a:extLst>
          </p:cNvPr>
          <p:cNvSpPr txBox="1"/>
          <p:nvPr/>
        </p:nvSpPr>
        <p:spPr>
          <a:xfrm>
            <a:off x="5334000" y="5463992"/>
            <a:ext cx="1467068" cy="369332"/>
          </a:xfrm>
          <a:prstGeom prst="rect">
            <a:avLst/>
          </a:prstGeom>
          <a:noFill/>
        </p:spPr>
        <p:txBody>
          <a:bodyPr wrap="none" rtlCol="0">
            <a:spAutoFit/>
          </a:bodyPr>
          <a:lstStyle/>
          <a:p>
            <a:r>
              <a:rPr lang="en-US" dirty="0" err="1"/>
              <a:t>UNSUBACK</a:t>
            </a:r>
            <a:endParaRPr lang="en-US" dirty="0"/>
          </a:p>
        </p:txBody>
      </p:sp>
      <p:pic>
        <p:nvPicPr>
          <p:cNvPr id="8194" name="Picture 2" descr="MQTT Subscribe attributes">
            <a:extLst>
              <a:ext uri="{FF2B5EF4-FFF2-40B4-BE49-F238E27FC236}">
                <a16:creationId xmlns:a16="http://schemas.microsoft.com/office/drawing/2014/main" id="{BE105EC3-D077-460A-9596-2BB7297E5B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3" y="2210603"/>
            <a:ext cx="2919480" cy="1733814"/>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MQTT Unsubscribe attributes">
            <a:extLst>
              <a:ext uri="{FF2B5EF4-FFF2-40B4-BE49-F238E27FC236}">
                <a16:creationId xmlns:a16="http://schemas.microsoft.com/office/drawing/2014/main" id="{6B44E421-A724-4682-82DE-27CCE0FD64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0851" y="4666986"/>
            <a:ext cx="2919482" cy="1733815"/>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MQTT UNSUBACK attributes">
            <a:extLst>
              <a:ext uri="{FF2B5EF4-FFF2-40B4-BE49-F238E27FC236}">
                <a16:creationId xmlns:a16="http://schemas.microsoft.com/office/drawing/2014/main" id="{29091AF6-4FE8-4C21-91AF-B8C5A86712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11332" y="4414761"/>
            <a:ext cx="2944893" cy="1748905"/>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MQTT SUBACK attributes">
            <a:extLst>
              <a:ext uri="{FF2B5EF4-FFF2-40B4-BE49-F238E27FC236}">
                <a16:creationId xmlns:a16="http://schemas.microsoft.com/office/drawing/2014/main" id="{CCDA8918-400A-4F50-9341-6E0F6C7076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32278" y="2286000"/>
            <a:ext cx="2944889" cy="17489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A71DBCD-3154-41F9-A234-3BF3B6540FB9}"/>
              </a:ext>
            </a:extLst>
          </p:cNvPr>
          <p:cNvPicPr>
            <a:picLocks noChangeAspect="1"/>
          </p:cNvPicPr>
          <p:nvPr/>
        </p:nvPicPr>
        <p:blipFill>
          <a:blip r:embed="rId7"/>
          <a:stretch>
            <a:fillRect/>
          </a:stretch>
        </p:blipFill>
        <p:spPr>
          <a:xfrm>
            <a:off x="8284377" y="381000"/>
            <a:ext cx="2193271" cy="1848779"/>
          </a:xfrm>
          <a:prstGeom prst="rect">
            <a:avLst/>
          </a:prstGeom>
        </p:spPr>
      </p:pic>
    </p:spTree>
    <p:extLst>
      <p:ext uri="{BB962C8B-B14F-4D97-AF65-F5344CB8AC3E}">
        <p14:creationId xmlns:p14="http://schemas.microsoft.com/office/powerpoint/2010/main" val="39124715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68482-A0E4-4592-AFF5-B501D624FD10}"/>
              </a:ext>
            </a:extLst>
          </p:cNvPr>
          <p:cNvSpPr>
            <a:spLocks noGrp="1"/>
          </p:cNvSpPr>
          <p:nvPr>
            <p:ph type="title"/>
          </p:nvPr>
        </p:nvSpPr>
        <p:spPr/>
        <p:txBody>
          <a:bodyPr/>
          <a:lstStyle/>
          <a:p>
            <a:r>
              <a:rPr lang="en-US"/>
              <a:t>QoS – Quality of service</a:t>
            </a:r>
            <a:endParaRPr lang="en-US" dirty="0"/>
          </a:p>
        </p:txBody>
      </p:sp>
      <p:sp>
        <p:nvSpPr>
          <p:cNvPr id="3" name="Content Placeholder 2">
            <a:extLst>
              <a:ext uri="{FF2B5EF4-FFF2-40B4-BE49-F238E27FC236}">
                <a16:creationId xmlns:a16="http://schemas.microsoft.com/office/drawing/2014/main" id="{B9E1A731-4302-4603-B546-5E36522BEC0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C726825-E36D-4FCF-970E-DD223216FF6F}"/>
              </a:ext>
            </a:extLst>
          </p:cNvPr>
          <p:cNvSpPr>
            <a:spLocks noGrp="1"/>
          </p:cNvSpPr>
          <p:nvPr>
            <p:ph type="sldNum" sz="quarter" idx="12"/>
          </p:nvPr>
        </p:nvSpPr>
        <p:spPr/>
        <p:txBody>
          <a:bodyPr/>
          <a:lstStyle/>
          <a:p>
            <a:fld id="{3957FE44-DABC-424D-A234-74BB9410FF27}" type="slidenum">
              <a:rPr lang="en-US" smtClean="0"/>
              <a:pPr/>
              <a:t>65</a:t>
            </a:fld>
            <a:endParaRPr lang="en-US" dirty="0"/>
          </a:p>
        </p:txBody>
      </p:sp>
      <p:pic>
        <p:nvPicPr>
          <p:cNvPr id="5122" name="Picture 2" descr="MQTT">
            <a:extLst>
              <a:ext uri="{FF2B5EF4-FFF2-40B4-BE49-F238E27FC236}">
                <a16:creationId xmlns:a16="http://schemas.microsoft.com/office/drawing/2014/main" id="{FAD9887D-01D1-443B-A108-0DF47CB72D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744026"/>
            <a:ext cx="7620000" cy="4569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07038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7F5D3-EB5E-492E-9FFE-822726FD639D}"/>
              </a:ext>
            </a:extLst>
          </p:cNvPr>
          <p:cNvSpPr>
            <a:spLocks noGrp="1"/>
          </p:cNvSpPr>
          <p:nvPr>
            <p:ph type="title"/>
          </p:nvPr>
        </p:nvSpPr>
        <p:spPr/>
        <p:txBody>
          <a:bodyPr/>
          <a:lstStyle/>
          <a:p>
            <a:r>
              <a:rPr lang="en-US"/>
              <a:t>Setup MQTT Platform</a:t>
            </a:r>
          </a:p>
        </p:txBody>
      </p:sp>
      <p:sp>
        <p:nvSpPr>
          <p:cNvPr id="3" name="Content Placeholder 2">
            <a:extLst>
              <a:ext uri="{FF2B5EF4-FFF2-40B4-BE49-F238E27FC236}">
                <a16:creationId xmlns:a16="http://schemas.microsoft.com/office/drawing/2014/main" id="{D1E7F8D5-0CE1-48DF-A328-C5BEDF423915}"/>
              </a:ext>
            </a:extLst>
          </p:cNvPr>
          <p:cNvSpPr>
            <a:spLocks noGrp="1"/>
          </p:cNvSpPr>
          <p:nvPr>
            <p:ph idx="1"/>
          </p:nvPr>
        </p:nvSpPr>
        <p:spPr/>
        <p:txBody>
          <a:bodyPr/>
          <a:lstStyle/>
          <a:p>
            <a:r>
              <a:rPr lang="en-US" dirty="0" err="1"/>
              <a:t>MQTT</a:t>
            </a:r>
            <a:r>
              <a:rPr lang="en-US" dirty="0"/>
              <a:t> Broker:</a:t>
            </a:r>
          </a:p>
          <a:p>
            <a:pPr lvl="1"/>
            <a:r>
              <a:rPr lang="en-US" dirty="0"/>
              <a:t>Online Broker: </a:t>
            </a:r>
          </a:p>
          <a:p>
            <a:pPr lvl="2"/>
            <a:r>
              <a:rPr lang="en-US" dirty="0"/>
              <a:t>Paid: Amazon Azure, Google Cloud, IBM Cloud</a:t>
            </a:r>
          </a:p>
          <a:p>
            <a:pPr lvl="2"/>
            <a:r>
              <a:rPr lang="en-US" dirty="0"/>
              <a:t>“Free”: </a:t>
            </a:r>
            <a:r>
              <a:rPr lang="en-US" b="0" i="0" dirty="0">
                <a:solidFill>
                  <a:srgbClr val="3A3A3A"/>
                </a:solidFill>
                <a:effectLst/>
                <a:latin typeface="Open Sans"/>
              </a:rPr>
              <a:t>Eclipse, </a:t>
            </a:r>
            <a:r>
              <a:rPr lang="en-US" b="0" i="0" dirty="0" err="1">
                <a:solidFill>
                  <a:srgbClr val="3A3A3A"/>
                </a:solidFill>
                <a:effectLst/>
                <a:latin typeface="Open Sans"/>
              </a:rPr>
              <a:t>Mosquitto</a:t>
            </a:r>
            <a:r>
              <a:rPr lang="en-US" b="0" i="0" dirty="0">
                <a:solidFill>
                  <a:srgbClr val="3A3A3A"/>
                </a:solidFill>
                <a:effectLst/>
                <a:latin typeface="Open Sans"/>
              </a:rPr>
              <a:t>, </a:t>
            </a:r>
            <a:r>
              <a:rPr lang="en-US" dirty="0" err="1"/>
              <a:t>Hivemq</a:t>
            </a:r>
            <a:r>
              <a:rPr lang="en-US" dirty="0"/>
              <a:t>, emqx.io, </a:t>
            </a:r>
            <a:r>
              <a:rPr lang="en-US" b="0" i="0" dirty="0" err="1">
                <a:solidFill>
                  <a:srgbClr val="3A3A3A"/>
                </a:solidFill>
                <a:effectLst/>
                <a:latin typeface="Open Sans"/>
              </a:rPr>
              <a:t>Flespi</a:t>
            </a:r>
            <a:r>
              <a:rPr lang="en-US" dirty="0"/>
              <a:t>…</a:t>
            </a:r>
          </a:p>
          <a:p>
            <a:pPr lvl="1"/>
            <a:r>
              <a:rPr lang="en-US" dirty="0"/>
              <a:t>On PC Broker: </a:t>
            </a:r>
            <a:r>
              <a:rPr lang="en-US" dirty="0" err="1"/>
              <a:t>Mosquitto</a:t>
            </a:r>
            <a:endParaRPr lang="en-US" dirty="0"/>
          </a:p>
          <a:p>
            <a:pPr lvl="2"/>
            <a:r>
              <a:rPr lang="en-US" dirty="0">
                <a:hlinkClick r:id="rId2"/>
              </a:rPr>
              <a:t>https://mosquitto.org/</a:t>
            </a:r>
            <a:endParaRPr lang="en-US" dirty="0"/>
          </a:p>
          <a:p>
            <a:pPr lvl="2"/>
            <a:endParaRPr lang="en-US" dirty="0"/>
          </a:p>
          <a:p>
            <a:r>
              <a:rPr lang="en-US" dirty="0" err="1"/>
              <a:t>MQTT</a:t>
            </a:r>
            <a:r>
              <a:rPr lang="en-US" dirty="0"/>
              <a:t> Client library:</a:t>
            </a:r>
          </a:p>
          <a:p>
            <a:pPr lvl="1"/>
            <a:r>
              <a:rPr lang="en-US" dirty="0"/>
              <a:t>Eclipse </a:t>
            </a:r>
            <a:r>
              <a:rPr lang="en-US" dirty="0" err="1"/>
              <a:t>Paho</a:t>
            </a:r>
            <a:r>
              <a:rPr lang="en-US" dirty="0"/>
              <a:t> - </a:t>
            </a:r>
            <a:r>
              <a:rPr lang="en-US" dirty="0">
                <a:hlinkClick r:id="rId3"/>
              </a:rPr>
              <a:t>https://www.eclipse.org/paho/</a:t>
            </a:r>
            <a:endParaRPr lang="en-US" dirty="0"/>
          </a:p>
          <a:p>
            <a:pPr lvl="1"/>
            <a:r>
              <a:rPr lang="en-US" dirty="0"/>
              <a:t>Notes: compile code C with “-</a:t>
            </a:r>
            <a:r>
              <a:rPr lang="en-US" dirty="0" err="1"/>
              <a:t>lpaho-mqtt3c</a:t>
            </a:r>
            <a:r>
              <a:rPr lang="en-US" dirty="0"/>
              <a:t>”</a:t>
            </a:r>
          </a:p>
          <a:p>
            <a:pPr marL="274320" lvl="1" indent="0">
              <a:buNone/>
            </a:pPr>
            <a:r>
              <a:rPr lang="en-US" dirty="0"/>
              <a:t> e.g. </a:t>
            </a:r>
            <a:r>
              <a:rPr lang="en-US" dirty="0" err="1"/>
              <a:t>gcc</a:t>
            </a:r>
            <a:r>
              <a:rPr lang="en-US" dirty="0"/>
              <a:t> </a:t>
            </a:r>
            <a:r>
              <a:rPr lang="en-US" dirty="0" err="1"/>
              <a:t>pub.c</a:t>
            </a:r>
            <a:r>
              <a:rPr lang="en-US" dirty="0"/>
              <a:t> -o pub -</a:t>
            </a:r>
            <a:r>
              <a:rPr lang="en-US" dirty="0" err="1"/>
              <a:t>lpaho-mqtt3c</a:t>
            </a:r>
            <a:endParaRPr lang="en-US" dirty="0"/>
          </a:p>
          <a:p>
            <a:pPr marL="274320" lvl="1" indent="0">
              <a:buNone/>
            </a:pPr>
            <a:r>
              <a:rPr lang="en-US" dirty="0"/>
              <a:t>	</a:t>
            </a:r>
          </a:p>
        </p:txBody>
      </p:sp>
      <p:sp>
        <p:nvSpPr>
          <p:cNvPr id="4" name="Slide Number Placeholder 3">
            <a:extLst>
              <a:ext uri="{FF2B5EF4-FFF2-40B4-BE49-F238E27FC236}">
                <a16:creationId xmlns:a16="http://schemas.microsoft.com/office/drawing/2014/main" id="{4F2C64D2-4E3A-40A7-BB69-41C2B271AEF9}"/>
              </a:ext>
            </a:extLst>
          </p:cNvPr>
          <p:cNvSpPr>
            <a:spLocks noGrp="1"/>
          </p:cNvSpPr>
          <p:nvPr>
            <p:ph type="sldNum" sz="quarter" idx="12"/>
          </p:nvPr>
        </p:nvSpPr>
        <p:spPr/>
        <p:txBody>
          <a:bodyPr/>
          <a:lstStyle/>
          <a:p>
            <a:fld id="{3957FE44-DABC-424D-A234-74BB9410FF27}" type="slidenum">
              <a:rPr lang="en-US" smtClean="0"/>
              <a:pPr/>
              <a:t>66</a:t>
            </a:fld>
            <a:endParaRPr lang="en-US" dirty="0"/>
          </a:p>
        </p:txBody>
      </p:sp>
    </p:spTree>
    <p:extLst>
      <p:ext uri="{BB962C8B-B14F-4D97-AF65-F5344CB8AC3E}">
        <p14:creationId xmlns:p14="http://schemas.microsoft.com/office/powerpoint/2010/main" val="42027604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5518B-1802-9E1D-26C7-EEB187CBE44D}"/>
              </a:ext>
            </a:extLst>
          </p:cNvPr>
          <p:cNvSpPr>
            <a:spLocks noGrp="1"/>
          </p:cNvSpPr>
          <p:nvPr>
            <p:ph type="title"/>
          </p:nvPr>
        </p:nvSpPr>
        <p:spPr/>
        <p:txBody>
          <a:bodyPr/>
          <a:lstStyle/>
          <a:p>
            <a:r>
              <a:rPr lang="en-US" dirty="0"/>
              <a:t>Install </a:t>
            </a:r>
            <a:r>
              <a:rPr lang="en-US" dirty="0" err="1"/>
              <a:t>Paho-MQTT</a:t>
            </a:r>
            <a:endParaRPr lang="en-US" dirty="0"/>
          </a:p>
        </p:txBody>
      </p:sp>
      <p:sp>
        <p:nvSpPr>
          <p:cNvPr id="3" name="Content Placeholder 2">
            <a:extLst>
              <a:ext uri="{FF2B5EF4-FFF2-40B4-BE49-F238E27FC236}">
                <a16:creationId xmlns:a16="http://schemas.microsoft.com/office/drawing/2014/main" id="{F6FCD087-1DAE-329D-AA1E-DF5B089AE9DF}"/>
              </a:ext>
            </a:extLst>
          </p:cNvPr>
          <p:cNvSpPr>
            <a:spLocks noGrp="1"/>
          </p:cNvSpPr>
          <p:nvPr>
            <p:ph idx="1"/>
          </p:nvPr>
        </p:nvSpPr>
        <p:spPr/>
        <p:txBody>
          <a:bodyPr/>
          <a:lstStyle/>
          <a:p>
            <a:pPr>
              <a:spcBef>
                <a:spcPts val="0"/>
              </a:spcBef>
            </a:pPr>
            <a:r>
              <a:rPr lang="en-US" dirty="0" err="1"/>
              <a:t>sudo</a:t>
            </a:r>
            <a:r>
              <a:rPr lang="en-US" dirty="0"/>
              <a:t> apt update</a:t>
            </a:r>
          </a:p>
          <a:p>
            <a:pPr>
              <a:spcBef>
                <a:spcPts val="0"/>
              </a:spcBef>
            </a:pPr>
            <a:endParaRPr lang="en-US" dirty="0"/>
          </a:p>
          <a:p>
            <a:pPr>
              <a:spcBef>
                <a:spcPts val="0"/>
              </a:spcBef>
            </a:pPr>
            <a:r>
              <a:rPr lang="en-US" dirty="0"/>
              <a:t>git clone https://github.com/eclipse/paho.mqtt.c.git</a:t>
            </a:r>
          </a:p>
          <a:p>
            <a:pPr>
              <a:spcBef>
                <a:spcPts val="0"/>
              </a:spcBef>
            </a:pPr>
            <a:endParaRPr lang="en-US" dirty="0"/>
          </a:p>
          <a:p>
            <a:pPr>
              <a:spcBef>
                <a:spcPts val="0"/>
              </a:spcBef>
            </a:pPr>
            <a:r>
              <a:rPr lang="en-US" dirty="0"/>
              <a:t>cd </a:t>
            </a:r>
            <a:r>
              <a:rPr lang="en-US" dirty="0" err="1"/>
              <a:t>paho.mqtt.c</a:t>
            </a:r>
            <a:endParaRPr lang="en-US" dirty="0"/>
          </a:p>
          <a:p>
            <a:pPr>
              <a:spcBef>
                <a:spcPts val="0"/>
              </a:spcBef>
            </a:pPr>
            <a:endParaRPr lang="en-US" dirty="0"/>
          </a:p>
          <a:p>
            <a:pPr>
              <a:spcBef>
                <a:spcPts val="0"/>
              </a:spcBef>
            </a:pPr>
            <a:r>
              <a:rPr lang="en-US" dirty="0" err="1"/>
              <a:t>sudo</a:t>
            </a:r>
            <a:r>
              <a:rPr lang="en-US" dirty="0"/>
              <a:t> apt install </a:t>
            </a:r>
            <a:r>
              <a:rPr lang="en-US" dirty="0" err="1"/>
              <a:t>libssl</a:t>
            </a:r>
            <a:r>
              <a:rPr lang="en-US" dirty="0"/>
              <a:t>-dev</a:t>
            </a:r>
          </a:p>
          <a:p>
            <a:pPr>
              <a:spcBef>
                <a:spcPts val="0"/>
              </a:spcBef>
            </a:pPr>
            <a:endParaRPr lang="en-US" dirty="0"/>
          </a:p>
          <a:p>
            <a:pPr>
              <a:spcBef>
                <a:spcPts val="0"/>
              </a:spcBef>
            </a:pPr>
            <a:r>
              <a:rPr lang="en-US" dirty="0"/>
              <a:t>make</a:t>
            </a:r>
          </a:p>
          <a:p>
            <a:pPr>
              <a:spcBef>
                <a:spcPts val="0"/>
              </a:spcBef>
            </a:pPr>
            <a:endParaRPr lang="en-US" dirty="0"/>
          </a:p>
          <a:p>
            <a:pPr>
              <a:spcBef>
                <a:spcPts val="0"/>
              </a:spcBef>
            </a:pPr>
            <a:r>
              <a:rPr lang="en-US" dirty="0" err="1"/>
              <a:t>sudo</a:t>
            </a:r>
            <a:r>
              <a:rPr lang="en-US" dirty="0"/>
              <a:t> make install</a:t>
            </a:r>
          </a:p>
        </p:txBody>
      </p:sp>
      <p:sp>
        <p:nvSpPr>
          <p:cNvPr id="4" name="Slide Number Placeholder 3">
            <a:extLst>
              <a:ext uri="{FF2B5EF4-FFF2-40B4-BE49-F238E27FC236}">
                <a16:creationId xmlns:a16="http://schemas.microsoft.com/office/drawing/2014/main" id="{93E8B7C4-EF9B-E9EC-F3B5-1B84B2B02087}"/>
              </a:ext>
            </a:extLst>
          </p:cNvPr>
          <p:cNvSpPr>
            <a:spLocks noGrp="1"/>
          </p:cNvSpPr>
          <p:nvPr>
            <p:ph type="sldNum" sz="quarter" idx="12"/>
          </p:nvPr>
        </p:nvSpPr>
        <p:spPr/>
        <p:txBody>
          <a:bodyPr/>
          <a:lstStyle/>
          <a:p>
            <a:fld id="{3957FE44-DABC-424D-A234-74BB9410FF27}" type="slidenum">
              <a:rPr lang="en-US" smtClean="0"/>
              <a:pPr/>
              <a:t>67</a:t>
            </a:fld>
            <a:endParaRPr lang="en-US" dirty="0"/>
          </a:p>
        </p:txBody>
      </p:sp>
    </p:spTree>
    <p:extLst>
      <p:ext uri="{BB962C8B-B14F-4D97-AF65-F5344CB8AC3E}">
        <p14:creationId xmlns:p14="http://schemas.microsoft.com/office/powerpoint/2010/main" val="2920407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6095</TotalTime>
  <Words>3291</Words>
  <Application>Microsoft Office PowerPoint</Application>
  <PresentationFormat>Widescreen</PresentationFormat>
  <Paragraphs>633</Paragraphs>
  <Slides>67</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67</vt:i4>
      </vt:variant>
    </vt:vector>
  </HeadingPairs>
  <TitlesOfParts>
    <vt:vector size="77" baseType="lpstr">
      <vt:lpstr>Arial</vt:lpstr>
      <vt:lpstr>Calibri</vt:lpstr>
      <vt:lpstr>Cambria Math</vt:lpstr>
      <vt:lpstr>CiscoSerif-Italic-Regular</vt:lpstr>
      <vt:lpstr>medium-content-serif-font</vt:lpstr>
      <vt:lpstr>Open Sans</vt:lpstr>
      <vt:lpstr>roboto</vt:lpstr>
      <vt:lpstr>Times New Roman</vt:lpstr>
      <vt:lpstr>Wingdings</vt:lpstr>
      <vt:lpstr>Clarity</vt:lpstr>
      <vt:lpstr>  Thiết kế robot Thiết kế phần Điện</vt:lpstr>
      <vt:lpstr>Quy trình thiết kế</vt:lpstr>
      <vt:lpstr>Thông số mục tiêu</vt:lpstr>
      <vt:lpstr>Phương án thiết kế</vt:lpstr>
      <vt:lpstr>Lựa chọn cảm biến</vt:lpstr>
      <vt:lpstr>Lựa chọn cảm biến</vt:lpstr>
      <vt:lpstr>Lựa chọn cảm biến</vt:lpstr>
      <vt:lpstr>Kiến trúc hệ thống</vt:lpstr>
      <vt:lpstr>Kiến trúc hệ thống</vt:lpstr>
      <vt:lpstr>Thiết kế sơ đồ kiến trúc</vt:lpstr>
      <vt:lpstr>Tính toán phân phối nguồn</vt:lpstr>
      <vt:lpstr>Tính toán phân phối nguồn</vt:lpstr>
      <vt:lpstr>Tính toán phân phối nguồn</vt:lpstr>
      <vt:lpstr>Tính toán phân phối nguồn</vt:lpstr>
      <vt:lpstr>Thiết kế mạch bảo vệ và An toàn</vt:lpstr>
      <vt:lpstr>Robot communication</vt:lpstr>
      <vt:lpstr>Robot communication</vt:lpstr>
      <vt:lpstr>Design considerations</vt:lpstr>
      <vt:lpstr>Design considerations</vt:lpstr>
      <vt:lpstr>Design considerations</vt:lpstr>
      <vt:lpstr>First Wireless communication</vt:lpstr>
      <vt:lpstr>RF - Radio frequency</vt:lpstr>
      <vt:lpstr>ISM band – 2.4GHz</vt:lpstr>
      <vt:lpstr>Sub-GHz band (&lt;1GHz)</vt:lpstr>
      <vt:lpstr>Digital Modulation</vt:lpstr>
      <vt:lpstr>Wireless Communication Systems</vt:lpstr>
      <vt:lpstr>Link budget</vt:lpstr>
      <vt:lpstr>Link budget</vt:lpstr>
      <vt:lpstr>PowerPoint Presentation</vt:lpstr>
      <vt:lpstr>Bluetooth</vt:lpstr>
      <vt:lpstr>Bluetooth Classic</vt:lpstr>
      <vt:lpstr>Bluetooth Channel Hopping</vt:lpstr>
      <vt:lpstr>BLE Evolution</vt:lpstr>
      <vt:lpstr>Bluetooth Low Energy</vt:lpstr>
      <vt:lpstr>BLE Modes</vt:lpstr>
      <vt:lpstr>BLE Direction Finding</vt:lpstr>
      <vt:lpstr>BLE Direction Finding</vt:lpstr>
      <vt:lpstr>How BLE works</vt:lpstr>
      <vt:lpstr>How BLE works</vt:lpstr>
      <vt:lpstr>How BLE works</vt:lpstr>
      <vt:lpstr>Wi-Fi</vt:lpstr>
      <vt:lpstr>IEEE 802.11</vt:lpstr>
      <vt:lpstr>WiFi Star Network</vt:lpstr>
      <vt:lpstr>Orthogonal frequency-division multiplexing</vt:lpstr>
      <vt:lpstr>PowerPoint Presentation</vt:lpstr>
      <vt:lpstr>Low power WAN</vt:lpstr>
      <vt:lpstr>LoRaWAN</vt:lpstr>
      <vt:lpstr>LoRa Specifications</vt:lpstr>
      <vt:lpstr>LoRa Architecture</vt:lpstr>
      <vt:lpstr>Network Model</vt:lpstr>
      <vt:lpstr>Network Model</vt:lpstr>
      <vt:lpstr>PowerPoint Presentation</vt:lpstr>
      <vt:lpstr>PowerPoint Presentation</vt:lpstr>
      <vt:lpstr>Introduction to MQTT</vt:lpstr>
      <vt:lpstr>Client-Server Model </vt:lpstr>
      <vt:lpstr>Publish/subscribe Model </vt:lpstr>
      <vt:lpstr>Publish/subscribe Model </vt:lpstr>
      <vt:lpstr>MQTT Topic</vt:lpstr>
      <vt:lpstr>MQTT Message</vt:lpstr>
      <vt:lpstr>MQTT Message</vt:lpstr>
      <vt:lpstr>MQTT Message flow</vt:lpstr>
      <vt:lpstr>MQTT Message flow - CONNECT</vt:lpstr>
      <vt:lpstr>MQTT Message flow - PUBLISH</vt:lpstr>
      <vt:lpstr>MQTT Message flow</vt:lpstr>
      <vt:lpstr>QoS – Quality of service</vt:lpstr>
      <vt:lpstr>Setup MQTT Platform</vt:lpstr>
      <vt:lpstr>Install Paho-MQTT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Thực tập vi điều khiển</dc:title>
  <dc:creator>haduc</dc:creator>
  <cp:lastModifiedBy>duc b</cp:lastModifiedBy>
  <cp:revision>654</cp:revision>
  <dcterms:created xsi:type="dcterms:W3CDTF">2015-08-30T01:38:28Z</dcterms:created>
  <dcterms:modified xsi:type="dcterms:W3CDTF">2026-06-18T05:53:05Z</dcterms:modified>
</cp:coreProperties>
</file>