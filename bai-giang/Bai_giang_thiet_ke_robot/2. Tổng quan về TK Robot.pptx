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7"/>
  </p:notesMasterIdLst>
  <p:sldIdLst>
    <p:sldId id="256" r:id="rId2"/>
    <p:sldId id="301" r:id="rId3"/>
    <p:sldId id="302" r:id="rId4"/>
    <p:sldId id="304" r:id="rId5"/>
    <p:sldId id="305" r:id="rId6"/>
    <p:sldId id="306" r:id="rId7"/>
    <p:sldId id="307" r:id="rId8"/>
    <p:sldId id="308" r:id="rId9"/>
    <p:sldId id="309" r:id="rId10"/>
    <p:sldId id="310" r:id="rId11"/>
    <p:sldId id="311" r:id="rId12"/>
    <p:sldId id="326" r:id="rId13"/>
    <p:sldId id="312" r:id="rId14"/>
    <p:sldId id="313" r:id="rId15"/>
    <p:sldId id="314" r:id="rId16"/>
    <p:sldId id="315" r:id="rId17"/>
    <p:sldId id="316" r:id="rId18"/>
    <p:sldId id="317" r:id="rId19"/>
    <p:sldId id="318" r:id="rId20"/>
    <p:sldId id="319" r:id="rId21"/>
    <p:sldId id="320" r:id="rId22"/>
    <p:sldId id="321" r:id="rId23"/>
    <p:sldId id="325" r:id="rId24"/>
    <p:sldId id="324" r:id="rId25"/>
    <p:sldId id="32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FF5F33"/>
    <a:srgbClr val="FF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79669" autoAdjust="0"/>
  </p:normalViewPr>
  <p:slideViewPr>
    <p:cSldViewPr>
      <p:cViewPr varScale="1">
        <p:scale>
          <a:sx n="72" d="100"/>
          <a:sy n="72" d="100"/>
        </p:scale>
        <p:origin x="68" y="5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C36028-58AC-4D37-94CC-F99912343DDD}" type="doc">
      <dgm:prSet loTypeId="urn:microsoft.com/office/officeart/2005/8/layout/radial4" loCatId="relationship" qsTypeId="urn:microsoft.com/office/officeart/2005/8/quickstyle/simple1" qsCatId="simple" csTypeId="urn:microsoft.com/office/officeart/2005/8/colors/colorful1" csCatId="colorful" phldr="1"/>
      <dgm:spPr/>
      <dgm:t>
        <a:bodyPr/>
        <a:lstStyle/>
        <a:p>
          <a:endParaRPr lang="en-US"/>
        </a:p>
      </dgm:t>
    </dgm:pt>
    <dgm:pt modelId="{205183A3-F83E-4A01-972F-62616963D1CE}">
      <dgm:prSet phldrT="[Text]" phldr="0"/>
      <dgm:spPr/>
      <dgm:t>
        <a:bodyPr/>
        <a:lstStyle/>
        <a:p>
          <a:r>
            <a:rPr lang="en-US" dirty="0"/>
            <a:t>Robot</a:t>
          </a:r>
        </a:p>
      </dgm:t>
    </dgm:pt>
    <dgm:pt modelId="{348ADDE6-425A-4452-B071-CE68D8F1FC66}" type="parTrans" cxnId="{A400F607-ADDE-40B8-AB19-5E0EDC08EB00}">
      <dgm:prSet/>
      <dgm:spPr/>
      <dgm:t>
        <a:bodyPr/>
        <a:lstStyle/>
        <a:p>
          <a:endParaRPr lang="en-US"/>
        </a:p>
      </dgm:t>
    </dgm:pt>
    <dgm:pt modelId="{94923D5B-CDB1-4519-9DBA-C50FD851B870}" type="sibTrans" cxnId="{A400F607-ADDE-40B8-AB19-5E0EDC08EB00}">
      <dgm:prSet/>
      <dgm:spPr/>
      <dgm:t>
        <a:bodyPr/>
        <a:lstStyle/>
        <a:p>
          <a:endParaRPr lang="en-US"/>
        </a:p>
      </dgm:t>
    </dgm:pt>
    <dgm:pt modelId="{B14D8071-0574-43C9-8DB7-006D5071565A}">
      <dgm:prSet phldrT="[Text]" phldr="0"/>
      <dgm:spPr/>
      <dgm:t>
        <a:bodyPr/>
        <a:lstStyle/>
        <a:p>
          <a:r>
            <a:rPr lang="en-US" dirty="0" err="1"/>
            <a:t>Hệ</a:t>
          </a:r>
          <a:r>
            <a:rPr lang="en-US" dirty="0"/>
            <a:t> </a:t>
          </a:r>
          <a:r>
            <a:rPr lang="en-US" dirty="0" err="1"/>
            <a:t>thống</a:t>
          </a:r>
          <a:r>
            <a:rPr lang="en-US" dirty="0"/>
            <a:t> </a:t>
          </a:r>
          <a:r>
            <a:rPr lang="en-US" dirty="0" err="1"/>
            <a:t>truyền</a:t>
          </a:r>
          <a:r>
            <a:rPr lang="en-US" dirty="0"/>
            <a:t> </a:t>
          </a:r>
          <a:r>
            <a:rPr lang="en-US" dirty="0" err="1"/>
            <a:t>động</a:t>
          </a:r>
          <a:r>
            <a:rPr lang="en-US" dirty="0"/>
            <a:t> - Transmission</a:t>
          </a:r>
        </a:p>
      </dgm:t>
    </dgm:pt>
    <dgm:pt modelId="{5C45D4AF-0291-457A-9CC9-B3140C217E56}" type="parTrans" cxnId="{D1DE53E0-6B13-44C3-B591-015AA6638982}">
      <dgm:prSet/>
      <dgm:spPr/>
      <dgm:t>
        <a:bodyPr/>
        <a:lstStyle/>
        <a:p>
          <a:endParaRPr lang="en-US"/>
        </a:p>
      </dgm:t>
    </dgm:pt>
    <dgm:pt modelId="{0153CACE-C4C4-4733-B4D1-8A1F796BB2A4}" type="sibTrans" cxnId="{D1DE53E0-6B13-44C3-B591-015AA6638982}">
      <dgm:prSet/>
      <dgm:spPr/>
      <dgm:t>
        <a:bodyPr/>
        <a:lstStyle/>
        <a:p>
          <a:endParaRPr lang="en-US"/>
        </a:p>
      </dgm:t>
    </dgm:pt>
    <dgm:pt modelId="{81CAB2A7-7C94-4CFA-976D-9A6FE6AFCDEC}">
      <dgm:prSet phldrT="[Text]" phldr="0"/>
      <dgm:spPr/>
      <dgm:t>
        <a:bodyPr/>
        <a:lstStyle/>
        <a:p>
          <a:r>
            <a:rPr lang="en-US" dirty="0" err="1"/>
            <a:t>Cơ</a:t>
          </a:r>
          <a:r>
            <a:rPr lang="en-US" dirty="0"/>
            <a:t> </a:t>
          </a:r>
          <a:r>
            <a:rPr lang="en-US" dirty="0" err="1"/>
            <a:t>cấu</a:t>
          </a:r>
          <a:r>
            <a:rPr lang="en-US" dirty="0"/>
            <a:t> </a:t>
          </a:r>
          <a:r>
            <a:rPr lang="en-US" dirty="0" err="1"/>
            <a:t>chấp</a:t>
          </a:r>
          <a:r>
            <a:rPr lang="en-US" dirty="0"/>
            <a:t> </a:t>
          </a:r>
          <a:r>
            <a:rPr lang="en-US" dirty="0" err="1"/>
            <a:t>hành</a:t>
          </a:r>
          <a:r>
            <a:rPr lang="en-US" dirty="0"/>
            <a:t> - Actuators</a:t>
          </a:r>
        </a:p>
      </dgm:t>
    </dgm:pt>
    <dgm:pt modelId="{09BC3F1E-5267-45B2-92B2-46DBE6C101B2}" type="parTrans" cxnId="{75A6EA0C-9FB5-47DA-8891-FF5CA4271C44}">
      <dgm:prSet/>
      <dgm:spPr/>
      <dgm:t>
        <a:bodyPr/>
        <a:lstStyle/>
        <a:p>
          <a:endParaRPr lang="en-US"/>
        </a:p>
      </dgm:t>
    </dgm:pt>
    <dgm:pt modelId="{6546FD72-7FF3-4181-B4C1-ACD60959ACD9}" type="sibTrans" cxnId="{75A6EA0C-9FB5-47DA-8891-FF5CA4271C44}">
      <dgm:prSet/>
      <dgm:spPr/>
      <dgm:t>
        <a:bodyPr/>
        <a:lstStyle/>
        <a:p>
          <a:endParaRPr lang="en-US"/>
        </a:p>
      </dgm:t>
    </dgm:pt>
    <dgm:pt modelId="{E20FABC6-6F2B-47CA-835B-4C09A70E9AF9}">
      <dgm:prSet phldrT="[Text]" phldr="0"/>
      <dgm:spPr/>
      <dgm:t>
        <a:bodyPr/>
        <a:lstStyle/>
        <a:p>
          <a:r>
            <a:rPr lang="en-US" dirty="0" err="1"/>
            <a:t>Hệ</a:t>
          </a:r>
          <a:r>
            <a:rPr lang="en-US" dirty="0"/>
            <a:t> </a:t>
          </a:r>
          <a:r>
            <a:rPr lang="en-US" dirty="0" err="1"/>
            <a:t>thống</a:t>
          </a:r>
          <a:r>
            <a:rPr lang="en-US" dirty="0"/>
            <a:t> </a:t>
          </a:r>
          <a:r>
            <a:rPr lang="en-US" dirty="0" err="1"/>
            <a:t>cảm</a:t>
          </a:r>
          <a:r>
            <a:rPr lang="en-US" dirty="0"/>
            <a:t> </a:t>
          </a:r>
          <a:r>
            <a:rPr lang="en-US" dirty="0" err="1"/>
            <a:t>biến</a:t>
          </a:r>
          <a:r>
            <a:rPr lang="en-US" dirty="0"/>
            <a:t> - Sensors</a:t>
          </a:r>
        </a:p>
      </dgm:t>
    </dgm:pt>
    <dgm:pt modelId="{46B90015-F960-4A9C-B093-6536386E1CF1}" type="parTrans" cxnId="{00B37CE9-CC6B-499D-84E0-6083AC147001}">
      <dgm:prSet/>
      <dgm:spPr/>
      <dgm:t>
        <a:bodyPr/>
        <a:lstStyle/>
        <a:p>
          <a:endParaRPr lang="en-US"/>
        </a:p>
      </dgm:t>
    </dgm:pt>
    <dgm:pt modelId="{9EB37D79-5E1A-4989-9F09-074F459E6C10}" type="sibTrans" cxnId="{00B37CE9-CC6B-499D-84E0-6083AC147001}">
      <dgm:prSet/>
      <dgm:spPr/>
      <dgm:t>
        <a:bodyPr/>
        <a:lstStyle/>
        <a:p>
          <a:endParaRPr lang="en-US"/>
        </a:p>
      </dgm:t>
    </dgm:pt>
    <dgm:pt modelId="{DC8FB20E-DBCD-44DD-A882-4B589A999AD5}">
      <dgm:prSet phldrT="[Text]" phldr="0"/>
      <dgm:spPr/>
      <dgm:t>
        <a:bodyPr/>
        <a:lstStyle/>
        <a:p>
          <a:r>
            <a:rPr lang="en-US" dirty="0"/>
            <a:t>Khung </a:t>
          </a:r>
          <a:r>
            <a:rPr lang="en-US" dirty="0" err="1"/>
            <a:t>vỏ</a:t>
          </a:r>
          <a:r>
            <a:rPr lang="en-US" dirty="0"/>
            <a:t> - Frame</a:t>
          </a:r>
        </a:p>
      </dgm:t>
    </dgm:pt>
    <dgm:pt modelId="{F7B5305B-19BF-4099-BFB9-027FA0E637A2}" type="parTrans" cxnId="{9A0BC5A2-B003-4B09-AF56-042FF9616C43}">
      <dgm:prSet/>
      <dgm:spPr/>
      <dgm:t>
        <a:bodyPr/>
        <a:lstStyle/>
        <a:p>
          <a:endParaRPr lang="en-US"/>
        </a:p>
      </dgm:t>
    </dgm:pt>
    <dgm:pt modelId="{FCA88A13-4784-4A40-B894-BD54200A083C}" type="sibTrans" cxnId="{9A0BC5A2-B003-4B09-AF56-042FF9616C43}">
      <dgm:prSet/>
      <dgm:spPr/>
      <dgm:t>
        <a:bodyPr/>
        <a:lstStyle/>
        <a:p>
          <a:endParaRPr lang="en-US"/>
        </a:p>
      </dgm:t>
    </dgm:pt>
    <dgm:pt modelId="{20BBB320-E4CF-495D-B281-E2A18C92D30B}">
      <dgm:prSet phldrT="[Text]" phldr="0"/>
      <dgm:spPr/>
      <dgm:t>
        <a:bodyPr/>
        <a:lstStyle/>
        <a:p>
          <a:r>
            <a:rPr lang="en-US" dirty="0" err="1"/>
            <a:t>Hệ</a:t>
          </a:r>
          <a:r>
            <a:rPr lang="en-US" dirty="0"/>
            <a:t> </a:t>
          </a:r>
          <a:r>
            <a:rPr lang="en-US" dirty="0" err="1"/>
            <a:t>thống</a:t>
          </a:r>
          <a:r>
            <a:rPr lang="en-US" dirty="0"/>
            <a:t> </a:t>
          </a:r>
          <a:r>
            <a:rPr lang="en-US" dirty="0" err="1"/>
            <a:t>điều</a:t>
          </a:r>
          <a:r>
            <a:rPr lang="en-US" dirty="0"/>
            <a:t> </a:t>
          </a:r>
          <a:r>
            <a:rPr lang="en-US" dirty="0" err="1"/>
            <a:t>khiển</a:t>
          </a:r>
          <a:r>
            <a:rPr lang="en-US" dirty="0"/>
            <a:t> -Controllers</a:t>
          </a:r>
        </a:p>
      </dgm:t>
    </dgm:pt>
    <dgm:pt modelId="{0F81798B-5BAE-42AD-A9C9-0CC221267CD3}" type="parTrans" cxnId="{3B2AC394-EBEB-4D42-9913-872875BE5FDE}">
      <dgm:prSet/>
      <dgm:spPr/>
      <dgm:t>
        <a:bodyPr/>
        <a:lstStyle/>
        <a:p>
          <a:endParaRPr lang="en-US"/>
        </a:p>
      </dgm:t>
    </dgm:pt>
    <dgm:pt modelId="{C784CA61-2FD0-4745-8E8F-416C2D95261C}" type="sibTrans" cxnId="{3B2AC394-EBEB-4D42-9913-872875BE5FDE}">
      <dgm:prSet/>
      <dgm:spPr/>
      <dgm:t>
        <a:bodyPr/>
        <a:lstStyle/>
        <a:p>
          <a:endParaRPr lang="en-US"/>
        </a:p>
      </dgm:t>
    </dgm:pt>
    <dgm:pt modelId="{63448091-70DF-45DB-A2B9-79DB8B990FB9}">
      <dgm:prSet phldrT="[Text]" phldr="0"/>
      <dgm:spPr/>
      <dgm:t>
        <a:bodyPr/>
        <a:lstStyle/>
        <a:p>
          <a:r>
            <a:rPr lang="en-US" dirty="0" err="1"/>
            <a:t>Bộ</a:t>
          </a:r>
          <a:r>
            <a:rPr lang="en-US" dirty="0"/>
            <a:t> </a:t>
          </a:r>
          <a:r>
            <a:rPr lang="en-US" dirty="0" err="1"/>
            <a:t>quản</a:t>
          </a:r>
          <a:r>
            <a:rPr lang="en-US" dirty="0"/>
            <a:t> </a:t>
          </a:r>
          <a:r>
            <a:rPr lang="en-US" dirty="0" err="1"/>
            <a:t>lý</a:t>
          </a:r>
          <a:r>
            <a:rPr lang="en-US" dirty="0"/>
            <a:t> </a:t>
          </a:r>
          <a:r>
            <a:rPr lang="en-US" dirty="0" err="1"/>
            <a:t>nguồn</a:t>
          </a:r>
          <a:r>
            <a:rPr lang="en-US" dirty="0"/>
            <a:t> – Power system</a:t>
          </a:r>
        </a:p>
      </dgm:t>
    </dgm:pt>
    <dgm:pt modelId="{539E736D-AE24-449C-88C7-F908667132D7}" type="parTrans" cxnId="{3A6691F5-6142-44EE-B21C-D0EF3DA94F8E}">
      <dgm:prSet/>
      <dgm:spPr/>
      <dgm:t>
        <a:bodyPr/>
        <a:lstStyle/>
        <a:p>
          <a:endParaRPr lang="en-US"/>
        </a:p>
      </dgm:t>
    </dgm:pt>
    <dgm:pt modelId="{FF474E46-C997-40AE-917A-33EE5C158639}" type="sibTrans" cxnId="{3A6691F5-6142-44EE-B21C-D0EF3DA94F8E}">
      <dgm:prSet/>
      <dgm:spPr/>
      <dgm:t>
        <a:bodyPr/>
        <a:lstStyle/>
        <a:p>
          <a:endParaRPr lang="en-US"/>
        </a:p>
      </dgm:t>
    </dgm:pt>
    <dgm:pt modelId="{2D7ED2A6-5FA0-4E94-B498-AB40F6C2EC40}" type="pres">
      <dgm:prSet presAssocID="{C3C36028-58AC-4D37-94CC-F99912343DDD}" presName="cycle" presStyleCnt="0">
        <dgm:presLayoutVars>
          <dgm:chMax val="1"/>
          <dgm:dir/>
          <dgm:animLvl val="ctr"/>
          <dgm:resizeHandles val="exact"/>
        </dgm:presLayoutVars>
      </dgm:prSet>
      <dgm:spPr/>
    </dgm:pt>
    <dgm:pt modelId="{3373B06E-5CA3-4C9F-9521-3EC57BE5025A}" type="pres">
      <dgm:prSet presAssocID="{205183A3-F83E-4A01-972F-62616963D1CE}" presName="centerShape" presStyleLbl="node0" presStyleIdx="0" presStyleCnt="1"/>
      <dgm:spPr/>
    </dgm:pt>
    <dgm:pt modelId="{C128FF66-B0D8-4C7D-B11B-F18E89947BE5}" type="pres">
      <dgm:prSet presAssocID="{5C45D4AF-0291-457A-9CC9-B3140C217E56}" presName="parTrans" presStyleLbl="bgSibTrans2D1" presStyleIdx="0" presStyleCnt="6"/>
      <dgm:spPr/>
    </dgm:pt>
    <dgm:pt modelId="{08D602B6-D138-470A-9BC3-87481CD4B978}" type="pres">
      <dgm:prSet presAssocID="{B14D8071-0574-43C9-8DB7-006D5071565A}" presName="node" presStyleLbl="node1" presStyleIdx="0" presStyleCnt="6">
        <dgm:presLayoutVars>
          <dgm:bulletEnabled val="1"/>
        </dgm:presLayoutVars>
      </dgm:prSet>
      <dgm:spPr/>
    </dgm:pt>
    <dgm:pt modelId="{055442C3-B48A-4505-A056-CAEA17FFBAEA}" type="pres">
      <dgm:prSet presAssocID="{09BC3F1E-5267-45B2-92B2-46DBE6C101B2}" presName="parTrans" presStyleLbl="bgSibTrans2D1" presStyleIdx="1" presStyleCnt="6"/>
      <dgm:spPr/>
    </dgm:pt>
    <dgm:pt modelId="{D17812C2-D34E-4022-BD5F-88BE7F5CC212}" type="pres">
      <dgm:prSet presAssocID="{81CAB2A7-7C94-4CFA-976D-9A6FE6AFCDEC}" presName="node" presStyleLbl="node1" presStyleIdx="1" presStyleCnt="6">
        <dgm:presLayoutVars>
          <dgm:bulletEnabled val="1"/>
        </dgm:presLayoutVars>
      </dgm:prSet>
      <dgm:spPr/>
    </dgm:pt>
    <dgm:pt modelId="{3743B9A8-A0D6-4F7A-937E-825D7D7D9D8C}" type="pres">
      <dgm:prSet presAssocID="{46B90015-F960-4A9C-B093-6536386E1CF1}" presName="parTrans" presStyleLbl="bgSibTrans2D1" presStyleIdx="2" presStyleCnt="6"/>
      <dgm:spPr/>
    </dgm:pt>
    <dgm:pt modelId="{7E36B943-980B-4574-9FB7-BF4E6607EFFE}" type="pres">
      <dgm:prSet presAssocID="{E20FABC6-6F2B-47CA-835B-4C09A70E9AF9}" presName="node" presStyleLbl="node1" presStyleIdx="2" presStyleCnt="6">
        <dgm:presLayoutVars>
          <dgm:bulletEnabled val="1"/>
        </dgm:presLayoutVars>
      </dgm:prSet>
      <dgm:spPr/>
    </dgm:pt>
    <dgm:pt modelId="{401BA1DA-8060-4155-82B5-EC1FBA6F6844}" type="pres">
      <dgm:prSet presAssocID="{F7B5305B-19BF-4099-BFB9-027FA0E637A2}" presName="parTrans" presStyleLbl="bgSibTrans2D1" presStyleIdx="3" presStyleCnt="6"/>
      <dgm:spPr/>
    </dgm:pt>
    <dgm:pt modelId="{8D775AA0-AB59-4E67-B363-06A09CCADC05}" type="pres">
      <dgm:prSet presAssocID="{DC8FB20E-DBCD-44DD-A882-4B589A999AD5}" presName="node" presStyleLbl="node1" presStyleIdx="3" presStyleCnt="6">
        <dgm:presLayoutVars>
          <dgm:bulletEnabled val="1"/>
        </dgm:presLayoutVars>
      </dgm:prSet>
      <dgm:spPr/>
    </dgm:pt>
    <dgm:pt modelId="{C01970A8-A1D2-48C6-A97C-17441E877C1B}" type="pres">
      <dgm:prSet presAssocID="{0F81798B-5BAE-42AD-A9C9-0CC221267CD3}" presName="parTrans" presStyleLbl="bgSibTrans2D1" presStyleIdx="4" presStyleCnt="6"/>
      <dgm:spPr/>
    </dgm:pt>
    <dgm:pt modelId="{C6592A7B-4010-4112-80D4-5D983522501D}" type="pres">
      <dgm:prSet presAssocID="{20BBB320-E4CF-495D-B281-E2A18C92D30B}" presName="node" presStyleLbl="node1" presStyleIdx="4" presStyleCnt="6">
        <dgm:presLayoutVars>
          <dgm:bulletEnabled val="1"/>
        </dgm:presLayoutVars>
      </dgm:prSet>
      <dgm:spPr/>
    </dgm:pt>
    <dgm:pt modelId="{E15005EC-D29C-481A-A6E5-16E8A7E792FF}" type="pres">
      <dgm:prSet presAssocID="{539E736D-AE24-449C-88C7-F908667132D7}" presName="parTrans" presStyleLbl="bgSibTrans2D1" presStyleIdx="5" presStyleCnt="6"/>
      <dgm:spPr/>
    </dgm:pt>
    <dgm:pt modelId="{E7355CEA-5FA1-4470-870F-B0C5D7C1C6C4}" type="pres">
      <dgm:prSet presAssocID="{63448091-70DF-45DB-A2B9-79DB8B990FB9}" presName="node" presStyleLbl="node1" presStyleIdx="5" presStyleCnt="6">
        <dgm:presLayoutVars>
          <dgm:bulletEnabled val="1"/>
        </dgm:presLayoutVars>
      </dgm:prSet>
      <dgm:spPr/>
    </dgm:pt>
  </dgm:ptLst>
  <dgm:cxnLst>
    <dgm:cxn modelId="{5BCC0F01-62B2-40C7-961D-9DC46A4504AD}" type="presOf" srcId="{81CAB2A7-7C94-4CFA-976D-9A6FE6AFCDEC}" destId="{D17812C2-D34E-4022-BD5F-88BE7F5CC212}" srcOrd="0" destOrd="0" presId="urn:microsoft.com/office/officeart/2005/8/layout/radial4"/>
    <dgm:cxn modelId="{A400F607-ADDE-40B8-AB19-5E0EDC08EB00}" srcId="{C3C36028-58AC-4D37-94CC-F99912343DDD}" destId="{205183A3-F83E-4A01-972F-62616963D1CE}" srcOrd="0" destOrd="0" parTransId="{348ADDE6-425A-4452-B071-CE68D8F1FC66}" sibTransId="{94923D5B-CDB1-4519-9DBA-C50FD851B870}"/>
    <dgm:cxn modelId="{01BB0308-7EE6-4206-9DE2-C95C4B1E4D8C}" type="presOf" srcId="{F7B5305B-19BF-4099-BFB9-027FA0E637A2}" destId="{401BA1DA-8060-4155-82B5-EC1FBA6F6844}" srcOrd="0" destOrd="0" presId="urn:microsoft.com/office/officeart/2005/8/layout/radial4"/>
    <dgm:cxn modelId="{75A6EA0C-9FB5-47DA-8891-FF5CA4271C44}" srcId="{205183A3-F83E-4A01-972F-62616963D1CE}" destId="{81CAB2A7-7C94-4CFA-976D-9A6FE6AFCDEC}" srcOrd="1" destOrd="0" parTransId="{09BC3F1E-5267-45B2-92B2-46DBE6C101B2}" sibTransId="{6546FD72-7FF3-4181-B4C1-ACD60959ACD9}"/>
    <dgm:cxn modelId="{9E49A512-26D8-4C14-BAB9-FFBE9B490215}" type="presOf" srcId="{5C45D4AF-0291-457A-9CC9-B3140C217E56}" destId="{C128FF66-B0D8-4C7D-B11B-F18E89947BE5}" srcOrd="0" destOrd="0" presId="urn:microsoft.com/office/officeart/2005/8/layout/radial4"/>
    <dgm:cxn modelId="{88D3F919-E28B-4FFE-BA1A-3765C4B8BCDC}" type="presOf" srcId="{46B90015-F960-4A9C-B093-6536386E1CF1}" destId="{3743B9A8-A0D6-4F7A-937E-825D7D7D9D8C}" srcOrd="0" destOrd="0" presId="urn:microsoft.com/office/officeart/2005/8/layout/radial4"/>
    <dgm:cxn modelId="{E451C422-2D3D-4954-8507-589458C25C56}" type="presOf" srcId="{09BC3F1E-5267-45B2-92B2-46DBE6C101B2}" destId="{055442C3-B48A-4505-A056-CAEA17FFBAEA}" srcOrd="0" destOrd="0" presId="urn:microsoft.com/office/officeart/2005/8/layout/radial4"/>
    <dgm:cxn modelId="{411DA425-FA95-4430-A5CC-399A809283BB}" type="presOf" srcId="{539E736D-AE24-449C-88C7-F908667132D7}" destId="{E15005EC-D29C-481A-A6E5-16E8A7E792FF}" srcOrd="0" destOrd="0" presId="urn:microsoft.com/office/officeart/2005/8/layout/radial4"/>
    <dgm:cxn modelId="{BE3DA551-9D69-4363-B30D-B3505CA51B6B}" type="presOf" srcId="{0F81798B-5BAE-42AD-A9C9-0CC221267CD3}" destId="{C01970A8-A1D2-48C6-A97C-17441E877C1B}" srcOrd="0" destOrd="0" presId="urn:microsoft.com/office/officeart/2005/8/layout/radial4"/>
    <dgm:cxn modelId="{52AE2C74-B7F2-4E6D-9F0E-EE850308EAFC}" type="presOf" srcId="{20BBB320-E4CF-495D-B281-E2A18C92D30B}" destId="{C6592A7B-4010-4112-80D4-5D983522501D}" srcOrd="0" destOrd="0" presId="urn:microsoft.com/office/officeart/2005/8/layout/radial4"/>
    <dgm:cxn modelId="{82795875-40E4-4F97-A795-49D78E3AEFC1}" type="presOf" srcId="{E20FABC6-6F2B-47CA-835B-4C09A70E9AF9}" destId="{7E36B943-980B-4574-9FB7-BF4E6607EFFE}" srcOrd="0" destOrd="0" presId="urn:microsoft.com/office/officeart/2005/8/layout/radial4"/>
    <dgm:cxn modelId="{8C8CD07F-3C8B-4CF1-A396-F386F2F9DFF2}" type="presOf" srcId="{C3C36028-58AC-4D37-94CC-F99912343DDD}" destId="{2D7ED2A6-5FA0-4E94-B498-AB40F6C2EC40}" srcOrd="0" destOrd="0" presId="urn:microsoft.com/office/officeart/2005/8/layout/radial4"/>
    <dgm:cxn modelId="{27071D83-8826-4DB1-A26F-29AA90D392EB}" type="presOf" srcId="{DC8FB20E-DBCD-44DD-A882-4B589A999AD5}" destId="{8D775AA0-AB59-4E67-B363-06A09CCADC05}" srcOrd="0" destOrd="0" presId="urn:microsoft.com/office/officeart/2005/8/layout/radial4"/>
    <dgm:cxn modelId="{3B2AC394-EBEB-4D42-9913-872875BE5FDE}" srcId="{205183A3-F83E-4A01-972F-62616963D1CE}" destId="{20BBB320-E4CF-495D-B281-E2A18C92D30B}" srcOrd="4" destOrd="0" parTransId="{0F81798B-5BAE-42AD-A9C9-0CC221267CD3}" sibTransId="{C784CA61-2FD0-4745-8E8F-416C2D95261C}"/>
    <dgm:cxn modelId="{9A0BC5A2-B003-4B09-AF56-042FF9616C43}" srcId="{205183A3-F83E-4A01-972F-62616963D1CE}" destId="{DC8FB20E-DBCD-44DD-A882-4B589A999AD5}" srcOrd="3" destOrd="0" parTransId="{F7B5305B-19BF-4099-BFB9-027FA0E637A2}" sibTransId="{FCA88A13-4784-4A40-B894-BD54200A083C}"/>
    <dgm:cxn modelId="{ACE8C0B3-0B3F-473D-8AB6-7D2B3FD4E76E}" type="presOf" srcId="{B14D8071-0574-43C9-8DB7-006D5071565A}" destId="{08D602B6-D138-470A-9BC3-87481CD4B978}" srcOrd="0" destOrd="0" presId="urn:microsoft.com/office/officeart/2005/8/layout/radial4"/>
    <dgm:cxn modelId="{FA03D8BE-9158-4C16-8AEE-2343C59F4D97}" type="presOf" srcId="{63448091-70DF-45DB-A2B9-79DB8B990FB9}" destId="{E7355CEA-5FA1-4470-870F-B0C5D7C1C6C4}" srcOrd="0" destOrd="0" presId="urn:microsoft.com/office/officeart/2005/8/layout/radial4"/>
    <dgm:cxn modelId="{A60044DE-F87C-4019-90E3-2C8112612769}" type="presOf" srcId="{205183A3-F83E-4A01-972F-62616963D1CE}" destId="{3373B06E-5CA3-4C9F-9521-3EC57BE5025A}" srcOrd="0" destOrd="0" presId="urn:microsoft.com/office/officeart/2005/8/layout/radial4"/>
    <dgm:cxn modelId="{D1DE53E0-6B13-44C3-B591-015AA6638982}" srcId="{205183A3-F83E-4A01-972F-62616963D1CE}" destId="{B14D8071-0574-43C9-8DB7-006D5071565A}" srcOrd="0" destOrd="0" parTransId="{5C45D4AF-0291-457A-9CC9-B3140C217E56}" sibTransId="{0153CACE-C4C4-4733-B4D1-8A1F796BB2A4}"/>
    <dgm:cxn modelId="{00B37CE9-CC6B-499D-84E0-6083AC147001}" srcId="{205183A3-F83E-4A01-972F-62616963D1CE}" destId="{E20FABC6-6F2B-47CA-835B-4C09A70E9AF9}" srcOrd="2" destOrd="0" parTransId="{46B90015-F960-4A9C-B093-6536386E1CF1}" sibTransId="{9EB37D79-5E1A-4989-9F09-074F459E6C10}"/>
    <dgm:cxn modelId="{3A6691F5-6142-44EE-B21C-D0EF3DA94F8E}" srcId="{205183A3-F83E-4A01-972F-62616963D1CE}" destId="{63448091-70DF-45DB-A2B9-79DB8B990FB9}" srcOrd="5" destOrd="0" parTransId="{539E736D-AE24-449C-88C7-F908667132D7}" sibTransId="{FF474E46-C997-40AE-917A-33EE5C158639}"/>
    <dgm:cxn modelId="{DF6EFB61-5827-4BBB-AF73-A57E5635061F}" type="presParOf" srcId="{2D7ED2A6-5FA0-4E94-B498-AB40F6C2EC40}" destId="{3373B06E-5CA3-4C9F-9521-3EC57BE5025A}" srcOrd="0" destOrd="0" presId="urn:microsoft.com/office/officeart/2005/8/layout/radial4"/>
    <dgm:cxn modelId="{C98605B6-0DA2-4E18-804C-EF33376F9398}" type="presParOf" srcId="{2D7ED2A6-5FA0-4E94-B498-AB40F6C2EC40}" destId="{C128FF66-B0D8-4C7D-B11B-F18E89947BE5}" srcOrd="1" destOrd="0" presId="urn:microsoft.com/office/officeart/2005/8/layout/radial4"/>
    <dgm:cxn modelId="{85A67DA2-61C1-4F6E-B20D-DE5849E256A9}" type="presParOf" srcId="{2D7ED2A6-5FA0-4E94-B498-AB40F6C2EC40}" destId="{08D602B6-D138-470A-9BC3-87481CD4B978}" srcOrd="2" destOrd="0" presId="urn:microsoft.com/office/officeart/2005/8/layout/radial4"/>
    <dgm:cxn modelId="{432EB132-F1B6-4E05-BF04-405EBBCBAAF9}" type="presParOf" srcId="{2D7ED2A6-5FA0-4E94-B498-AB40F6C2EC40}" destId="{055442C3-B48A-4505-A056-CAEA17FFBAEA}" srcOrd="3" destOrd="0" presId="urn:microsoft.com/office/officeart/2005/8/layout/radial4"/>
    <dgm:cxn modelId="{C0B67661-EF42-4D4A-80D2-3A706C3559CE}" type="presParOf" srcId="{2D7ED2A6-5FA0-4E94-B498-AB40F6C2EC40}" destId="{D17812C2-D34E-4022-BD5F-88BE7F5CC212}" srcOrd="4" destOrd="0" presId="urn:microsoft.com/office/officeart/2005/8/layout/radial4"/>
    <dgm:cxn modelId="{EC8FCB02-F309-45BC-93DD-F0471FC51B1A}" type="presParOf" srcId="{2D7ED2A6-5FA0-4E94-B498-AB40F6C2EC40}" destId="{3743B9A8-A0D6-4F7A-937E-825D7D7D9D8C}" srcOrd="5" destOrd="0" presId="urn:microsoft.com/office/officeart/2005/8/layout/radial4"/>
    <dgm:cxn modelId="{926D880B-2B87-425B-AEAA-D62171DAFD06}" type="presParOf" srcId="{2D7ED2A6-5FA0-4E94-B498-AB40F6C2EC40}" destId="{7E36B943-980B-4574-9FB7-BF4E6607EFFE}" srcOrd="6" destOrd="0" presId="urn:microsoft.com/office/officeart/2005/8/layout/radial4"/>
    <dgm:cxn modelId="{F3108CF3-B568-492D-B253-C26D16837D7E}" type="presParOf" srcId="{2D7ED2A6-5FA0-4E94-B498-AB40F6C2EC40}" destId="{401BA1DA-8060-4155-82B5-EC1FBA6F6844}" srcOrd="7" destOrd="0" presId="urn:microsoft.com/office/officeart/2005/8/layout/radial4"/>
    <dgm:cxn modelId="{EA8FFD47-BD8B-47E4-A0C6-934FDB46135D}" type="presParOf" srcId="{2D7ED2A6-5FA0-4E94-B498-AB40F6C2EC40}" destId="{8D775AA0-AB59-4E67-B363-06A09CCADC05}" srcOrd="8" destOrd="0" presId="urn:microsoft.com/office/officeart/2005/8/layout/radial4"/>
    <dgm:cxn modelId="{41FE4950-6EBA-4A31-AC72-3B5E941718F1}" type="presParOf" srcId="{2D7ED2A6-5FA0-4E94-B498-AB40F6C2EC40}" destId="{C01970A8-A1D2-48C6-A97C-17441E877C1B}" srcOrd="9" destOrd="0" presId="urn:microsoft.com/office/officeart/2005/8/layout/radial4"/>
    <dgm:cxn modelId="{49BF8762-B511-4AFE-B864-DD326EB8FAE4}" type="presParOf" srcId="{2D7ED2A6-5FA0-4E94-B498-AB40F6C2EC40}" destId="{C6592A7B-4010-4112-80D4-5D983522501D}" srcOrd="10" destOrd="0" presId="urn:microsoft.com/office/officeart/2005/8/layout/radial4"/>
    <dgm:cxn modelId="{50051DCC-86A5-4B10-BF2A-E7AE7A0DE436}" type="presParOf" srcId="{2D7ED2A6-5FA0-4E94-B498-AB40F6C2EC40}" destId="{E15005EC-D29C-481A-A6E5-16E8A7E792FF}" srcOrd="11" destOrd="0" presId="urn:microsoft.com/office/officeart/2005/8/layout/radial4"/>
    <dgm:cxn modelId="{D37FAB93-25E7-456C-96E1-FF4746924426}" type="presParOf" srcId="{2D7ED2A6-5FA0-4E94-B498-AB40F6C2EC40}" destId="{E7355CEA-5FA1-4470-870F-B0C5D7C1C6C4}" srcOrd="12"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3B06E-5CA3-4C9F-9521-3EC57BE5025A}">
      <dsp:nvSpPr>
        <dsp:cNvPr id="0" name=""/>
        <dsp:cNvSpPr/>
      </dsp:nvSpPr>
      <dsp:spPr>
        <a:xfrm>
          <a:off x="4388423" y="2679211"/>
          <a:ext cx="2195953" cy="2195953"/>
        </a:xfrm>
        <a:prstGeom prst="ellipse">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dirty="0"/>
            <a:t>Robot</a:t>
          </a:r>
        </a:p>
      </dsp:txBody>
      <dsp:txXfrm>
        <a:off x="4710013" y="3000801"/>
        <a:ext cx="1552773" cy="1552773"/>
      </dsp:txXfrm>
    </dsp:sp>
    <dsp:sp modelId="{C128FF66-B0D8-4C7D-B11B-F18E89947BE5}">
      <dsp:nvSpPr>
        <dsp:cNvPr id="0" name=""/>
        <dsp:cNvSpPr/>
      </dsp:nvSpPr>
      <dsp:spPr>
        <a:xfrm rot="10800000">
          <a:off x="2163057" y="3464264"/>
          <a:ext cx="2102970" cy="625846"/>
        </a:xfrm>
        <a:prstGeom prst="lef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8D602B6-D138-470A-9BC3-87481CD4B978}">
      <dsp:nvSpPr>
        <dsp:cNvPr id="0" name=""/>
        <dsp:cNvSpPr/>
      </dsp:nvSpPr>
      <dsp:spPr>
        <a:xfrm>
          <a:off x="1394474" y="3162321"/>
          <a:ext cx="1537167" cy="1229733"/>
        </a:xfrm>
        <a:prstGeom prst="roundRect">
          <a:avLst>
            <a:gd name="adj" fmla="val 10000"/>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err="1"/>
            <a:t>Hệ</a:t>
          </a:r>
          <a:r>
            <a:rPr lang="en-US" sz="1800" kern="1200" dirty="0"/>
            <a:t> </a:t>
          </a:r>
          <a:r>
            <a:rPr lang="en-US" sz="1800" kern="1200" dirty="0" err="1"/>
            <a:t>thống</a:t>
          </a:r>
          <a:r>
            <a:rPr lang="en-US" sz="1800" kern="1200" dirty="0"/>
            <a:t> </a:t>
          </a:r>
          <a:r>
            <a:rPr lang="en-US" sz="1800" kern="1200" dirty="0" err="1"/>
            <a:t>truyền</a:t>
          </a:r>
          <a:r>
            <a:rPr lang="en-US" sz="1800" kern="1200" dirty="0"/>
            <a:t> </a:t>
          </a:r>
          <a:r>
            <a:rPr lang="en-US" sz="1800" kern="1200" dirty="0" err="1"/>
            <a:t>động</a:t>
          </a:r>
          <a:r>
            <a:rPr lang="en-US" sz="1800" kern="1200" dirty="0"/>
            <a:t> - Transmission</a:t>
          </a:r>
        </a:p>
      </dsp:txBody>
      <dsp:txXfrm>
        <a:off x="1430492" y="3198339"/>
        <a:ext cx="1465131" cy="1157697"/>
      </dsp:txXfrm>
    </dsp:sp>
    <dsp:sp modelId="{055442C3-B48A-4505-A056-CAEA17FFBAEA}">
      <dsp:nvSpPr>
        <dsp:cNvPr id="0" name=""/>
        <dsp:cNvSpPr/>
      </dsp:nvSpPr>
      <dsp:spPr>
        <a:xfrm rot="12960000">
          <a:off x="2596943" y="2128900"/>
          <a:ext cx="2102970" cy="625846"/>
        </a:xfrm>
        <a:prstGeom prst="lef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17812C2-D34E-4022-BD5F-88BE7F5CC212}">
      <dsp:nvSpPr>
        <dsp:cNvPr id="0" name=""/>
        <dsp:cNvSpPr/>
      </dsp:nvSpPr>
      <dsp:spPr>
        <a:xfrm>
          <a:off x="2029176" y="1208909"/>
          <a:ext cx="1537167" cy="1229733"/>
        </a:xfrm>
        <a:prstGeom prst="roundRect">
          <a:avLst>
            <a:gd name="adj" fmla="val 10000"/>
          </a:avLst>
        </a:prstGeom>
        <a:solidFill>
          <a:schemeClr val="accent3">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err="1"/>
            <a:t>Cơ</a:t>
          </a:r>
          <a:r>
            <a:rPr lang="en-US" sz="1800" kern="1200" dirty="0"/>
            <a:t> </a:t>
          </a:r>
          <a:r>
            <a:rPr lang="en-US" sz="1800" kern="1200" dirty="0" err="1"/>
            <a:t>cấu</a:t>
          </a:r>
          <a:r>
            <a:rPr lang="en-US" sz="1800" kern="1200" dirty="0"/>
            <a:t> </a:t>
          </a:r>
          <a:r>
            <a:rPr lang="en-US" sz="1800" kern="1200" dirty="0" err="1"/>
            <a:t>chấp</a:t>
          </a:r>
          <a:r>
            <a:rPr lang="en-US" sz="1800" kern="1200" dirty="0"/>
            <a:t> </a:t>
          </a:r>
          <a:r>
            <a:rPr lang="en-US" sz="1800" kern="1200" dirty="0" err="1"/>
            <a:t>hành</a:t>
          </a:r>
          <a:r>
            <a:rPr lang="en-US" sz="1800" kern="1200" dirty="0"/>
            <a:t> - Actuators</a:t>
          </a:r>
        </a:p>
      </dsp:txBody>
      <dsp:txXfrm>
        <a:off x="2065194" y="1244927"/>
        <a:ext cx="1465131" cy="1157697"/>
      </dsp:txXfrm>
    </dsp:sp>
    <dsp:sp modelId="{3743B9A8-A0D6-4F7A-937E-825D7D7D9D8C}">
      <dsp:nvSpPr>
        <dsp:cNvPr id="0" name=""/>
        <dsp:cNvSpPr/>
      </dsp:nvSpPr>
      <dsp:spPr>
        <a:xfrm rot="15120000">
          <a:off x="3732872" y="1303600"/>
          <a:ext cx="2102970" cy="625846"/>
        </a:xfrm>
        <a:prstGeom prst="lef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E36B943-980B-4574-9FB7-BF4E6607EFFE}">
      <dsp:nvSpPr>
        <dsp:cNvPr id="0" name=""/>
        <dsp:cNvSpPr/>
      </dsp:nvSpPr>
      <dsp:spPr>
        <a:xfrm>
          <a:off x="3690847" y="1635"/>
          <a:ext cx="1537167" cy="1229733"/>
        </a:xfrm>
        <a:prstGeom prst="roundRect">
          <a:avLst>
            <a:gd name="adj" fmla="val 10000"/>
          </a:avLst>
        </a:prstGeom>
        <a:solidFill>
          <a:schemeClr val="accent4">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err="1"/>
            <a:t>Hệ</a:t>
          </a:r>
          <a:r>
            <a:rPr lang="en-US" sz="1800" kern="1200" dirty="0"/>
            <a:t> </a:t>
          </a:r>
          <a:r>
            <a:rPr lang="en-US" sz="1800" kern="1200" dirty="0" err="1"/>
            <a:t>thống</a:t>
          </a:r>
          <a:r>
            <a:rPr lang="en-US" sz="1800" kern="1200" dirty="0"/>
            <a:t> </a:t>
          </a:r>
          <a:r>
            <a:rPr lang="en-US" sz="1800" kern="1200" dirty="0" err="1"/>
            <a:t>cảm</a:t>
          </a:r>
          <a:r>
            <a:rPr lang="en-US" sz="1800" kern="1200" dirty="0"/>
            <a:t> </a:t>
          </a:r>
          <a:r>
            <a:rPr lang="en-US" sz="1800" kern="1200" dirty="0" err="1"/>
            <a:t>biến</a:t>
          </a:r>
          <a:r>
            <a:rPr lang="en-US" sz="1800" kern="1200" dirty="0"/>
            <a:t> - Sensors</a:t>
          </a:r>
        </a:p>
      </dsp:txBody>
      <dsp:txXfrm>
        <a:off x="3726865" y="37653"/>
        <a:ext cx="1465131" cy="1157697"/>
      </dsp:txXfrm>
    </dsp:sp>
    <dsp:sp modelId="{401BA1DA-8060-4155-82B5-EC1FBA6F6844}">
      <dsp:nvSpPr>
        <dsp:cNvPr id="0" name=""/>
        <dsp:cNvSpPr/>
      </dsp:nvSpPr>
      <dsp:spPr>
        <a:xfrm rot="17280000">
          <a:off x="5136957" y="1303600"/>
          <a:ext cx="2102970" cy="625846"/>
        </a:xfrm>
        <a:prstGeom prst="lef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D775AA0-AB59-4E67-B363-06A09CCADC05}">
      <dsp:nvSpPr>
        <dsp:cNvPr id="0" name=""/>
        <dsp:cNvSpPr/>
      </dsp:nvSpPr>
      <dsp:spPr>
        <a:xfrm>
          <a:off x="5744785" y="1635"/>
          <a:ext cx="1537167" cy="1229733"/>
        </a:xfrm>
        <a:prstGeom prst="roundRect">
          <a:avLst>
            <a:gd name="adj" fmla="val 10000"/>
          </a:avLst>
        </a:prstGeom>
        <a:solidFill>
          <a:schemeClr val="accent5">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a:t>Khung </a:t>
          </a:r>
          <a:r>
            <a:rPr lang="en-US" sz="1800" kern="1200" dirty="0" err="1"/>
            <a:t>vỏ</a:t>
          </a:r>
          <a:r>
            <a:rPr lang="en-US" sz="1800" kern="1200" dirty="0"/>
            <a:t> - Frame</a:t>
          </a:r>
        </a:p>
      </dsp:txBody>
      <dsp:txXfrm>
        <a:off x="5780803" y="37653"/>
        <a:ext cx="1465131" cy="1157697"/>
      </dsp:txXfrm>
    </dsp:sp>
    <dsp:sp modelId="{C01970A8-A1D2-48C6-A97C-17441E877C1B}">
      <dsp:nvSpPr>
        <dsp:cNvPr id="0" name=""/>
        <dsp:cNvSpPr/>
      </dsp:nvSpPr>
      <dsp:spPr>
        <a:xfrm rot="19440000">
          <a:off x="6272885" y="2128900"/>
          <a:ext cx="2102970" cy="625846"/>
        </a:xfrm>
        <a:prstGeom prst="lef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6592A7B-4010-4112-80D4-5D983522501D}">
      <dsp:nvSpPr>
        <dsp:cNvPr id="0" name=""/>
        <dsp:cNvSpPr/>
      </dsp:nvSpPr>
      <dsp:spPr>
        <a:xfrm>
          <a:off x="7406456" y="1208909"/>
          <a:ext cx="1537167" cy="1229733"/>
        </a:xfrm>
        <a:prstGeom prst="roundRect">
          <a:avLst>
            <a:gd name="adj" fmla="val 10000"/>
          </a:avLst>
        </a:prstGeom>
        <a:solidFill>
          <a:schemeClr val="accent6">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err="1"/>
            <a:t>Hệ</a:t>
          </a:r>
          <a:r>
            <a:rPr lang="en-US" sz="1800" kern="1200" dirty="0"/>
            <a:t> </a:t>
          </a:r>
          <a:r>
            <a:rPr lang="en-US" sz="1800" kern="1200" dirty="0" err="1"/>
            <a:t>thống</a:t>
          </a:r>
          <a:r>
            <a:rPr lang="en-US" sz="1800" kern="1200" dirty="0"/>
            <a:t> </a:t>
          </a:r>
          <a:r>
            <a:rPr lang="en-US" sz="1800" kern="1200" dirty="0" err="1"/>
            <a:t>điều</a:t>
          </a:r>
          <a:r>
            <a:rPr lang="en-US" sz="1800" kern="1200" dirty="0"/>
            <a:t> </a:t>
          </a:r>
          <a:r>
            <a:rPr lang="en-US" sz="1800" kern="1200" dirty="0" err="1"/>
            <a:t>khiển</a:t>
          </a:r>
          <a:r>
            <a:rPr lang="en-US" sz="1800" kern="1200" dirty="0"/>
            <a:t> -Controllers</a:t>
          </a:r>
        </a:p>
      </dsp:txBody>
      <dsp:txXfrm>
        <a:off x="7442474" y="1244927"/>
        <a:ext cx="1465131" cy="1157697"/>
      </dsp:txXfrm>
    </dsp:sp>
    <dsp:sp modelId="{E15005EC-D29C-481A-A6E5-16E8A7E792FF}">
      <dsp:nvSpPr>
        <dsp:cNvPr id="0" name=""/>
        <dsp:cNvSpPr/>
      </dsp:nvSpPr>
      <dsp:spPr>
        <a:xfrm>
          <a:off x="6706771" y="3464264"/>
          <a:ext cx="2102970" cy="625846"/>
        </a:xfrm>
        <a:prstGeom prst="lef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355CEA-5FA1-4470-870F-B0C5D7C1C6C4}">
      <dsp:nvSpPr>
        <dsp:cNvPr id="0" name=""/>
        <dsp:cNvSpPr/>
      </dsp:nvSpPr>
      <dsp:spPr>
        <a:xfrm>
          <a:off x="8041158" y="3162321"/>
          <a:ext cx="1537167" cy="1229733"/>
        </a:xfrm>
        <a:prstGeom prst="roundRect">
          <a:avLst>
            <a:gd name="adj" fmla="val 10000"/>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err="1"/>
            <a:t>Bộ</a:t>
          </a:r>
          <a:r>
            <a:rPr lang="en-US" sz="1800" kern="1200" dirty="0"/>
            <a:t> </a:t>
          </a:r>
          <a:r>
            <a:rPr lang="en-US" sz="1800" kern="1200" dirty="0" err="1"/>
            <a:t>quản</a:t>
          </a:r>
          <a:r>
            <a:rPr lang="en-US" sz="1800" kern="1200" dirty="0"/>
            <a:t> </a:t>
          </a:r>
          <a:r>
            <a:rPr lang="en-US" sz="1800" kern="1200" dirty="0" err="1"/>
            <a:t>lý</a:t>
          </a:r>
          <a:r>
            <a:rPr lang="en-US" sz="1800" kern="1200" dirty="0"/>
            <a:t> </a:t>
          </a:r>
          <a:r>
            <a:rPr lang="en-US" sz="1800" kern="1200" dirty="0" err="1"/>
            <a:t>nguồn</a:t>
          </a:r>
          <a:r>
            <a:rPr lang="en-US" sz="1800" kern="1200" dirty="0"/>
            <a:t> – Power system</a:t>
          </a:r>
        </a:p>
      </dsp:txBody>
      <dsp:txXfrm>
        <a:off x="8077176" y="3198339"/>
        <a:ext cx="1465131" cy="1157697"/>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7A33C2-6F37-4DE9-AAF9-8ABC356AE657}" type="datetimeFigureOut">
              <a:rPr lang="en-US" smtClean="0"/>
              <a:t>5/5/2026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AE4680-6E9A-445B-9304-F7D1A27E0E47}" type="slidenum">
              <a:rPr lang="en-US" smtClean="0"/>
              <a:t>‹#›</a:t>
            </a:fld>
            <a:endParaRPr lang="en-US"/>
          </a:p>
        </p:txBody>
      </p:sp>
    </p:spTree>
    <p:extLst>
      <p:ext uri="{BB962C8B-B14F-4D97-AF65-F5344CB8AC3E}">
        <p14:creationId xmlns:p14="http://schemas.microsoft.com/office/powerpoint/2010/main" val="3624137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a:t>
            </a:fld>
            <a:endParaRPr lang="en-US"/>
          </a:p>
        </p:txBody>
      </p:sp>
    </p:spTree>
    <p:extLst>
      <p:ext uri="{BB962C8B-B14F-4D97-AF65-F5344CB8AC3E}">
        <p14:creationId xmlns:p14="http://schemas.microsoft.com/office/powerpoint/2010/main" val="108629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a:t>
            </a:r>
            <a:r>
              <a:rPr lang="en-US" dirty="0" err="1"/>
              <a:t>nghĩa</a:t>
            </a:r>
            <a:r>
              <a:rPr lang="en-US" dirty="0"/>
              <a:t> </a:t>
            </a:r>
            <a:r>
              <a:rPr lang="en-US" dirty="0" err="1"/>
              <a:t>nhiệm</a:t>
            </a:r>
            <a:r>
              <a:rPr lang="en-US" dirty="0"/>
              <a:t> </a:t>
            </a:r>
            <a:r>
              <a:rPr lang="en-US" dirty="0" err="1"/>
              <a:t>vụ</a:t>
            </a:r>
            <a:r>
              <a:rPr lang="en-US" dirty="0"/>
              <a:t>: Robot </a:t>
            </a:r>
            <a:r>
              <a:rPr lang="en-US" dirty="0" err="1"/>
              <a:t>phải</a:t>
            </a:r>
            <a:r>
              <a:rPr lang="en-US" dirty="0"/>
              <a:t> di </a:t>
            </a:r>
            <a:r>
              <a:rPr lang="en-US" dirty="0" err="1"/>
              <a:t>chuyển</a:t>
            </a:r>
            <a:r>
              <a:rPr lang="en-US" dirty="0"/>
              <a:t> </a:t>
            </a:r>
            <a:r>
              <a:rPr lang="en-US" dirty="0" err="1"/>
              <a:t>từ</a:t>
            </a:r>
            <a:r>
              <a:rPr lang="en-US" dirty="0"/>
              <a:t> </a:t>
            </a:r>
            <a:r>
              <a:rPr lang="en-US" dirty="0" err="1"/>
              <a:t>tàu</a:t>
            </a:r>
            <a:r>
              <a:rPr lang="en-US" dirty="0"/>
              <a:t> </a:t>
            </a:r>
            <a:r>
              <a:rPr lang="en-US" dirty="0" err="1"/>
              <a:t>đổ</a:t>
            </a:r>
            <a:r>
              <a:rPr lang="en-US" dirty="0"/>
              <a:t> </a:t>
            </a:r>
            <a:r>
              <a:rPr lang="en-US" dirty="0" err="1"/>
              <a:t>bộ</a:t>
            </a:r>
            <a:r>
              <a:rPr lang="en-US" dirty="0"/>
              <a:t> </a:t>
            </a:r>
            <a:r>
              <a:rPr lang="en-US" dirty="0" err="1"/>
              <a:t>đến</a:t>
            </a:r>
            <a:r>
              <a:rPr lang="en-US" dirty="0"/>
              <a:t> </a:t>
            </a:r>
            <a:r>
              <a:rPr lang="en-US" dirty="0" err="1"/>
              <a:t>các</a:t>
            </a:r>
            <a:r>
              <a:rPr lang="en-US" dirty="0"/>
              <a:t> </a:t>
            </a:r>
            <a:r>
              <a:rPr lang="en-US" dirty="0" err="1"/>
              <a:t>tảng</a:t>
            </a:r>
            <a:r>
              <a:rPr lang="en-US" dirty="0"/>
              <a:t> </a:t>
            </a:r>
            <a:r>
              <a:rPr lang="en-US" dirty="0" err="1"/>
              <a:t>đá</a:t>
            </a:r>
            <a:r>
              <a:rPr lang="en-US" dirty="0"/>
              <a:t> </a:t>
            </a:r>
            <a:r>
              <a:rPr lang="en-US" dirty="0" err="1"/>
              <a:t>xung</a:t>
            </a:r>
            <a:r>
              <a:rPr lang="en-US" dirty="0"/>
              <a:t> </a:t>
            </a:r>
            <a:r>
              <a:rPr lang="en-US" dirty="0" err="1"/>
              <a:t>quanh</a:t>
            </a:r>
            <a:r>
              <a:rPr lang="en-US" dirty="0"/>
              <a:t> </a:t>
            </a:r>
            <a:r>
              <a:rPr lang="en-US" dirty="0" err="1"/>
              <a:t>để</a:t>
            </a:r>
            <a:r>
              <a:rPr lang="en-US" dirty="0"/>
              <a:t> </a:t>
            </a:r>
            <a:r>
              <a:rPr lang="en-US" dirty="0" err="1"/>
              <a:t>phân</a:t>
            </a:r>
            <a:r>
              <a:rPr lang="en-US" dirty="0"/>
              <a:t> </a:t>
            </a:r>
            <a:r>
              <a:rPr lang="en-US" dirty="0" err="1"/>
              <a:t>tích</a:t>
            </a:r>
            <a:r>
              <a:rPr lang="en-US" dirty="0"/>
              <a:t> </a:t>
            </a:r>
            <a:r>
              <a:rPr lang="en-US" dirty="0" err="1"/>
              <a:t>hóa</a:t>
            </a:r>
            <a:r>
              <a:rPr lang="en-US" dirty="0"/>
              <a:t> </a:t>
            </a:r>
            <a:r>
              <a:rPr lang="en-US" dirty="0" err="1"/>
              <a:t>học</a:t>
            </a:r>
            <a:r>
              <a:rPr lang="en-US" dirty="0"/>
              <a:t> </a:t>
            </a:r>
            <a:r>
              <a:rPr lang="en-US" dirty="0" err="1"/>
              <a:t>trong</a:t>
            </a:r>
            <a:r>
              <a:rPr lang="en-US" dirty="0"/>
              <a:t> </a:t>
            </a:r>
            <a:r>
              <a:rPr lang="en-US" dirty="0" err="1"/>
              <a:t>vòng</a:t>
            </a:r>
            <a:r>
              <a:rPr lang="en-US" dirty="0"/>
              <a:t> 7 </a:t>
            </a:r>
            <a:r>
              <a:rPr lang="en-US" dirty="0" err="1"/>
              <a:t>ngày</a:t>
            </a:r>
            <a:endParaRPr lang="en-US" dirty="0"/>
          </a:p>
          <a:p>
            <a:r>
              <a:rPr lang="vi-VN" b="1" dirty="0"/>
              <a:t>Phân tích tiến trình:</a:t>
            </a:r>
            <a:endParaRPr lang="vi-VN" dirty="0"/>
          </a:p>
          <a:p>
            <a:r>
              <a:rPr lang="vi-VN" dirty="0"/>
              <a:t>Di chuyển qua địa hình cát lún và đá gồ ghề.</a:t>
            </a:r>
            <a:r>
              <a:rPr lang="en-US" dirty="0"/>
              <a:t> </a:t>
            </a:r>
            <a:r>
              <a:rPr lang="en-US" dirty="0">
                <a:sym typeface="Wingdings" panose="05000000000000000000" pitchFamily="2" charset="2"/>
              </a:rPr>
              <a:t></a:t>
            </a:r>
            <a:r>
              <a:rPr lang="en-US" dirty="0"/>
              <a:t> </a:t>
            </a:r>
            <a:r>
              <a:rPr lang="vi-VN" dirty="0"/>
              <a:t>Dừng lại và áp sát cảm biến Alpha Proton X-ray Spectrometer (APXS) vào mặt đá.</a:t>
            </a:r>
            <a:r>
              <a:rPr lang="en-US" dirty="0"/>
              <a:t> </a:t>
            </a:r>
            <a:r>
              <a:rPr lang="en-US" dirty="0">
                <a:sym typeface="Wingdings" panose="05000000000000000000" pitchFamily="2" charset="2"/>
              </a:rPr>
              <a:t> </a:t>
            </a:r>
            <a:endParaRPr lang="vi-VN" dirty="0"/>
          </a:p>
          <a:p>
            <a:r>
              <a:rPr lang="vi-VN" dirty="0"/>
              <a:t>Truyền dữ liệu về tàu mẹ trước khi mặt trời lặn (vì ban đêm nhiệt độ xuống cực thấp, robot phải ngủ đông).</a:t>
            </a:r>
            <a:endParaRPr lang="en-US" dirty="0"/>
          </a:p>
          <a:p>
            <a:r>
              <a:rPr lang="vi-VN" b="1" dirty="0"/>
              <a:t>Thông số mục tiêu từ nhiệm vụ</a:t>
            </a:r>
            <a:r>
              <a:rPr lang="vi-VN" dirty="0"/>
              <a:t>:</a:t>
            </a:r>
            <a:endParaRPr lang="en-US" dirty="0"/>
          </a:p>
          <a:p>
            <a:r>
              <a:rPr lang="vi-VN" dirty="0"/>
              <a:t>Vận tốc: Vì khoảng cách các khối đá chỉ tầm 10-20m và robot có rất nhiều thời gian, họ không chọn động cơ nhanh. Vận tốc mục tiêu chỉ là 1 cm/giây (rất chậm để đảm bảo an toàn).</a:t>
            </a:r>
            <a:endParaRPr lang="en-US" dirty="0"/>
          </a:p>
          <a:p>
            <a:r>
              <a:rPr lang="vi-VN" dirty="0"/>
              <a:t>Hệ thống treo: Nhiệm vụ yêu cầu vượt qua các tảng đá lớn hơn bánh xe mà không lật. Từ đó, cơ cấu Rocker-Bogie nổi tiếng được ra đời</a:t>
            </a:r>
            <a:endParaRPr lang="en-US" dirty="0"/>
          </a:p>
          <a:p>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21</a:t>
            </a:fld>
            <a:endParaRPr lang="en-US"/>
          </a:p>
        </p:txBody>
      </p:sp>
    </p:spTree>
    <p:extLst>
      <p:ext uri="{BB962C8B-B14F-4D97-AF65-F5344CB8AC3E}">
        <p14:creationId xmlns:p14="http://schemas.microsoft.com/office/powerpoint/2010/main" val="2680433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3561BE-7EE5-473D-84A7-4C53642E76F3}"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0F51FE-9C5E-464A-AC70-6B909B40C014}"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160000" y="6501107"/>
            <a:ext cx="1422400" cy="329184"/>
          </a:xfrm>
        </p:spPr>
        <p:txBody>
          <a:bodyPr/>
          <a:lstStyle>
            <a:lvl1pPr>
              <a:defRPr>
                <a:solidFill>
                  <a:schemeClr val="accent5">
                    <a:lumMod val="75000"/>
                  </a:schemeClr>
                </a:solidFill>
              </a:defRPr>
            </a:lvl1pPr>
          </a:lstStyle>
          <a:p>
            <a:fld id="{3957FE44-DABC-424D-A234-74BB9410FF2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ED206D-CD87-417B-A3E9-8E7F517E463E}"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D8F107-3B8C-4C3E-96B2-5FDE77B1A8A3}"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2B7A77-E7D0-4A81-9F27-235411449FDF}" type="datetime1">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57FE44-DABC-424D-A234-74BB9410FF27}" type="slidenum">
              <a:rPr lang="en-US" smtClean="0"/>
              <a:t>‹#›</a:t>
            </a:fld>
            <a:endParaRPr lang="en-US"/>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D175E10-1A59-4CE8-9F8F-26909B2B45ED}" type="datetime1">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769CF-71D8-44A8-A43E-06A522466198}" type="datetime1">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720A33-8193-44AB-9CBE-84B62B603B98}"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8572B2-C299-428F-9DB0-AF5E4D034999}"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DEECD9-E72D-423D-873E-C8701D4E51F3}"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3519C6-978E-42A3-A0DA-A23B7AC47044}"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938B7AF6-6F47-4FBA-B77D-1A1AB60E82CA}" type="datetime1">
              <a:rPr lang="en-US" smtClean="0"/>
              <a:t>5/5/2026</a:t>
            </a:fld>
            <a:endParaRPr lang="en-US"/>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10160000" y="6481315"/>
            <a:ext cx="1422400" cy="329184"/>
          </a:xfrm>
          <a:prstGeom prst="rect">
            <a:avLst/>
          </a:prstGeom>
        </p:spPr>
        <p:txBody>
          <a:bodyPr vert="horz" lIns="91440" tIns="45720" rIns="91440" bIns="45720" rtlCol="0" anchor="ctr"/>
          <a:lstStyle>
            <a:lvl1pPr algn="l">
              <a:defRPr sz="1400" b="1">
                <a:solidFill>
                  <a:schemeClr val="accent5">
                    <a:lumMod val="75000"/>
                  </a:schemeClr>
                </a:solidFill>
              </a:defRPr>
            </a:lvl1pPr>
          </a:lstStyle>
          <a:p>
            <a:fld id="{3957FE44-DABC-424D-A234-74BB9410FF2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google.com.vn/url?sa=i&amp;rct=j&amp;q=&amp;esrc=s&amp;source=images&amp;cd=&amp;cad=rja&amp;uact=8&amp;ved=0CAcQjRxqFQoTCOa4gpvXz8cCFU-ejgodsSsIRA&amp;url=http://spikeex.deviantart.com/art/Microchip-Tattoo-Design-1-42179858&amp;ei=31_iVaZNz7y6BLHXoKAE&amp;psig=AFQjCNF-y2BM98GH0MilH1ajH4XNM5xsRQ&amp;ust=144098539350373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img02.deviantart.net/aaac/i/2006/302/3/0/microchip_tattoo_design_1_by_spikeex.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3535251"/>
            <a:ext cx="3322748" cy="332274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p:txBody>
          <a:bodyPr/>
          <a:lstStyle/>
          <a:p>
            <a:br>
              <a:rPr lang="en-US" dirty="0"/>
            </a:br>
            <a:br>
              <a:rPr lang="en-US" b="1" dirty="0"/>
            </a:br>
            <a:r>
              <a:rPr lang="en-US" b="1" dirty="0" err="1"/>
              <a:t>Thiết</a:t>
            </a:r>
            <a:r>
              <a:rPr lang="en-US" b="1" dirty="0"/>
              <a:t> </a:t>
            </a:r>
            <a:r>
              <a:rPr lang="en-US" b="1" dirty="0" err="1"/>
              <a:t>kế</a:t>
            </a:r>
            <a:r>
              <a:rPr lang="en-US" b="1" dirty="0"/>
              <a:t> robot</a:t>
            </a:r>
            <a:br>
              <a:rPr lang="en-US" b="1" dirty="0"/>
            </a:br>
            <a:r>
              <a:rPr lang="en-US" b="1" dirty="0" err="1">
                <a:solidFill>
                  <a:srgbClr val="0070C0"/>
                </a:solidFill>
              </a:rPr>
              <a:t>Tổng</a:t>
            </a:r>
            <a:r>
              <a:rPr lang="en-US" b="1" dirty="0">
                <a:solidFill>
                  <a:srgbClr val="0070C0"/>
                </a:solidFill>
              </a:rPr>
              <a:t> </a:t>
            </a:r>
            <a:r>
              <a:rPr lang="en-US" b="1" dirty="0" err="1">
                <a:solidFill>
                  <a:srgbClr val="0070C0"/>
                </a:solidFill>
              </a:rPr>
              <a:t>quan</a:t>
            </a:r>
            <a:r>
              <a:rPr lang="en-US" b="1" dirty="0">
                <a:solidFill>
                  <a:srgbClr val="0070C0"/>
                </a:solidFill>
              </a:rPr>
              <a:t> </a:t>
            </a:r>
            <a:r>
              <a:rPr lang="en-US" b="1" dirty="0" err="1">
                <a:solidFill>
                  <a:srgbClr val="0070C0"/>
                </a:solidFill>
              </a:rPr>
              <a:t>về</a:t>
            </a:r>
            <a:r>
              <a:rPr lang="en-US" b="1" dirty="0">
                <a:solidFill>
                  <a:srgbClr val="0070C0"/>
                </a:solidFill>
              </a:rPr>
              <a:t> </a:t>
            </a:r>
            <a:r>
              <a:rPr lang="en-US" b="1" dirty="0" err="1">
                <a:solidFill>
                  <a:srgbClr val="0070C0"/>
                </a:solidFill>
              </a:rPr>
              <a:t>thiết</a:t>
            </a:r>
            <a:r>
              <a:rPr lang="en-US" b="1" dirty="0">
                <a:solidFill>
                  <a:srgbClr val="0070C0"/>
                </a:solidFill>
              </a:rPr>
              <a:t> </a:t>
            </a:r>
            <a:r>
              <a:rPr lang="en-US" b="1" dirty="0" err="1">
                <a:solidFill>
                  <a:srgbClr val="0070C0"/>
                </a:solidFill>
              </a:rPr>
              <a:t>kế</a:t>
            </a:r>
            <a:r>
              <a:rPr lang="en-US" b="1" dirty="0">
                <a:solidFill>
                  <a:srgbClr val="0070C0"/>
                </a:solidFill>
              </a:rPr>
              <a:t> robot</a:t>
            </a:r>
          </a:p>
        </p:txBody>
      </p:sp>
      <p:sp>
        <p:nvSpPr>
          <p:cNvPr id="3" name="Subtitle 2"/>
          <p:cNvSpPr>
            <a:spLocks noGrp="1"/>
          </p:cNvSpPr>
          <p:nvPr>
            <p:ph type="subTitle" idx="1"/>
          </p:nvPr>
        </p:nvSpPr>
        <p:spPr/>
        <p:txBody>
          <a:bodyPr>
            <a:normAutofit/>
          </a:bodyPr>
          <a:lstStyle/>
          <a:p>
            <a:r>
              <a:rPr lang="en-US" dirty="0"/>
              <a:t>Lecturer: Dr. Bui Ha Duc</a:t>
            </a:r>
          </a:p>
          <a:p>
            <a:r>
              <a:rPr lang="en-US" dirty="0"/>
              <a:t>Dept. of Mechatronics</a:t>
            </a:r>
          </a:p>
          <a:p>
            <a:r>
              <a:rPr lang="en-US" dirty="0"/>
              <a:t>Email: ducbh@hcmute.edu.vn</a:t>
            </a:r>
          </a:p>
        </p:txBody>
      </p:sp>
      <p:sp>
        <p:nvSpPr>
          <p:cNvPr id="4" name="Slide Number Placeholder 3"/>
          <p:cNvSpPr>
            <a:spLocks noGrp="1"/>
          </p:cNvSpPr>
          <p:nvPr>
            <p:ph type="sldNum" sz="quarter" idx="12"/>
          </p:nvPr>
        </p:nvSpPr>
        <p:spPr>
          <a:xfrm>
            <a:off x="9144000" y="6400800"/>
            <a:ext cx="1066800" cy="329184"/>
          </a:xfrm>
        </p:spPr>
        <p:txBody>
          <a:bodyPr/>
          <a:lstStyle/>
          <a:p>
            <a:fld id="{3957FE44-DABC-424D-A234-74BB9410FF27}" type="slidenum">
              <a:rPr lang="en-US" smtClean="0"/>
              <a:t>1</a:t>
            </a:fld>
            <a:endParaRPr lang="en-US" dirty="0"/>
          </a:p>
        </p:txBody>
      </p:sp>
    </p:spTree>
    <p:extLst>
      <p:ext uri="{BB962C8B-B14F-4D97-AF65-F5344CB8AC3E}">
        <p14:creationId xmlns:p14="http://schemas.microsoft.com/office/powerpoint/2010/main" val="361653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FAD1E-BB76-2A1B-87DC-E819C4801EC9}"/>
              </a:ext>
            </a:extLst>
          </p:cNvPr>
          <p:cNvSpPr>
            <a:spLocks noGrp="1"/>
          </p:cNvSpPr>
          <p:nvPr>
            <p:ph type="title"/>
          </p:nvPr>
        </p:nvSpPr>
        <p:spPr/>
        <p:txBody>
          <a:bodyPr/>
          <a:lstStyle/>
          <a:p>
            <a:r>
              <a:rPr lang="en-US" b="1" dirty="0"/>
              <a:t>Các </a:t>
            </a:r>
            <a:r>
              <a:rPr lang="en-US" b="1" dirty="0" err="1"/>
              <a:t>loại</a:t>
            </a:r>
            <a:r>
              <a:rPr lang="en-US" b="1" dirty="0"/>
              <a:t> robot </a:t>
            </a:r>
            <a:r>
              <a:rPr lang="en-US" b="1" dirty="0" err="1"/>
              <a:t>phổ</a:t>
            </a:r>
            <a:r>
              <a:rPr lang="en-US" b="1" dirty="0"/>
              <a:t> </a:t>
            </a:r>
            <a:r>
              <a:rPr lang="en-US" b="1" dirty="0" err="1"/>
              <a:t>biến</a:t>
            </a:r>
            <a:endParaRPr lang="en-US" b="1" dirty="0"/>
          </a:p>
        </p:txBody>
      </p:sp>
      <p:sp>
        <p:nvSpPr>
          <p:cNvPr id="4" name="Slide Number Placeholder 3">
            <a:extLst>
              <a:ext uri="{FF2B5EF4-FFF2-40B4-BE49-F238E27FC236}">
                <a16:creationId xmlns:a16="http://schemas.microsoft.com/office/drawing/2014/main" id="{6B29D054-3743-8AC9-C5C1-A22EEF6CEC2B}"/>
              </a:ext>
            </a:extLst>
          </p:cNvPr>
          <p:cNvSpPr>
            <a:spLocks noGrp="1"/>
          </p:cNvSpPr>
          <p:nvPr>
            <p:ph type="sldNum" sz="quarter" idx="12"/>
          </p:nvPr>
        </p:nvSpPr>
        <p:spPr/>
        <p:txBody>
          <a:bodyPr/>
          <a:lstStyle/>
          <a:p>
            <a:fld id="{3957FE44-DABC-424D-A234-74BB9410FF27}" type="slidenum">
              <a:rPr lang="en-US" smtClean="0"/>
              <a:pPr/>
              <a:t>2</a:t>
            </a:fld>
            <a:endParaRPr lang="en-US" dirty="0"/>
          </a:p>
        </p:txBody>
      </p:sp>
      <p:pic>
        <p:nvPicPr>
          <p:cNvPr id="8" name="Picture 7">
            <a:extLst>
              <a:ext uri="{FF2B5EF4-FFF2-40B4-BE49-F238E27FC236}">
                <a16:creationId xmlns:a16="http://schemas.microsoft.com/office/drawing/2014/main" id="{0B28B036-B7EA-1C52-CBCF-8A752D236943}"/>
              </a:ext>
            </a:extLst>
          </p:cNvPr>
          <p:cNvPicPr>
            <a:picLocks noChangeAspect="1"/>
          </p:cNvPicPr>
          <p:nvPr/>
        </p:nvPicPr>
        <p:blipFill>
          <a:blip r:embed="rId2"/>
          <a:stretch>
            <a:fillRect/>
          </a:stretch>
        </p:blipFill>
        <p:spPr>
          <a:xfrm>
            <a:off x="901771" y="2362200"/>
            <a:ext cx="2260458" cy="2743200"/>
          </a:xfrm>
          <a:prstGeom prst="rect">
            <a:avLst/>
          </a:prstGeom>
        </p:spPr>
      </p:pic>
      <p:pic>
        <p:nvPicPr>
          <p:cNvPr id="2050" name="Picture 2" descr="Nhà xuất khẩu và cung cấp dịch vụ robot cộng tác tự hành AGV50 chất lượng  cao, tải trọng 50kg | CHIGONG">
            <a:extLst>
              <a:ext uri="{FF2B5EF4-FFF2-40B4-BE49-F238E27FC236}">
                <a16:creationId xmlns:a16="http://schemas.microsoft.com/office/drawing/2014/main" id="{2D427356-46A3-6696-CEEB-B313D0D96B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3418643"/>
            <a:ext cx="381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rone Camera – DJI Việt Nam">
            <a:extLst>
              <a:ext uri="{FF2B5EF4-FFF2-40B4-BE49-F238E27FC236}">
                <a16:creationId xmlns:a16="http://schemas.microsoft.com/office/drawing/2014/main" id="{8744C896-ABC4-155C-B449-6F527838880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48200" y="1216241"/>
            <a:ext cx="2895600" cy="28956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79A6C57F-3B8F-2FC4-2669-1964F9DA7E59}"/>
              </a:ext>
            </a:extLst>
          </p:cNvPr>
          <p:cNvPicPr>
            <a:picLocks noChangeAspect="1"/>
          </p:cNvPicPr>
          <p:nvPr/>
        </p:nvPicPr>
        <p:blipFill>
          <a:blip r:embed="rId5"/>
          <a:stretch>
            <a:fillRect/>
          </a:stretch>
        </p:blipFill>
        <p:spPr>
          <a:xfrm>
            <a:off x="8839200" y="762000"/>
            <a:ext cx="2197213" cy="5010407"/>
          </a:xfrm>
          <a:prstGeom prst="rect">
            <a:avLst/>
          </a:prstGeom>
        </p:spPr>
      </p:pic>
      <p:sp>
        <p:nvSpPr>
          <p:cNvPr id="13" name="TextBox 12">
            <a:extLst>
              <a:ext uri="{FF2B5EF4-FFF2-40B4-BE49-F238E27FC236}">
                <a16:creationId xmlns:a16="http://schemas.microsoft.com/office/drawing/2014/main" id="{878EB463-9C77-9ED9-849D-A5E12041D8CA}"/>
              </a:ext>
            </a:extLst>
          </p:cNvPr>
          <p:cNvSpPr txBox="1"/>
          <p:nvPr/>
        </p:nvSpPr>
        <p:spPr>
          <a:xfrm>
            <a:off x="914400" y="5638800"/>
            <a:ext cx="2819400" cy="369332"/>
          </a:xfrm>
          <a:prstGeom prst="rect">
            <a:avLst/>
          </a:prstGeom>
          <a:noFill/>
        </p:spPr>
        <p:txBody>
          <a:bodyPr wrap="square" rtlCol="0">
            <a:spAutoFit/>
          </a:bodyPr>
          <a:lstStyle/>
          <a:p>
            <a:r>
              <a:rPr lang="en-US" b="1" dirty="0"/>
              <a:t>Tay robot </a:t>
            </a:r>
            <a:r>
              <a:rPr lang="en-US" b="1" dirty="0" err="1"/>
              <a:t>công</a:t>
            </a:r>
            <a:r>
              <a:rPr lang="en-US" b="1" dirty="0"/>
              <a:t> </a:t>
            </a:r>
            <a:r>
              <a:rPr lang="en-US" b="1" dirty="0" err="1"/>
              <a:t>nghiệp</a:t>
            </a:r>
            <a:endParaRPr lang="en-US" b="1" dirty="0"/>
          </a:p>
        </p:txBody>
      </p:sp>
      <p:sp>
        <p:nvSpPr>
          <p:cNvPr id="14" name="TextBox 13">
            <a:extLst>
              <a:ext uri="{FF2B5EF4-FFF2-40B4-BE49-F238E27FC236}">
                <a16:creationId xmlns:a16="http://schemas.microsoft.com/office/drawing/2014/main" id="{A923EE60-8BC4-425F-FC1D-C4018AD21265}"/>
              </a:ext>
            </a:extLst>
          </p:cNvPr>
          <p:cNvSpPr txBox="1"/>
          <p:nvPr/>
        </p:nvSpPr>
        <p:spPr>
          <a:xfrm>
            <a:off x="5715000" y="3600635"/>
            <a:ext cx="1244600" cy="369332"/>
          </a:xfrm>
          <a:prstGeom prst="rect">
            <a:avLst/>
          </a:prstGeom>
          <a:noFill/>
        </p:spPr>
        <p:txBody>
          <a:bodyPr wrap="square" rtlCol="0">
            <a:spAutoFit/>
          </a:bodyPr>
          <a:lstStyle/>
          <a:p>
            <a:r>
              <a:rPr lang="en-US" b="1" dirty="0"/>
              <a:t>Drone</a:t>
            </a:r>
          </a:p>
        </p:txBody>
      </p:sp>
      <p:sp>
        <p:nvSpPr>
          <p:cNvPr id="15" name="TextBox 14">
            <a:extLst>
              <a:ext uri="{FF2B5EF4-FFF2-40B4-BE49-F238E27FC236}">
                <a16:creationId xmlns:a16="http://schemas.microsoft.com/office/drawing/2014/main" id="{D9145333-85E3-9893-36C8-83B96C7D5726}"/>
              </a:ext>
            </a:extLst>
          </p:cNvPr>
          <p:cNvSpPr txBox="1"/>
          <p:nvPr/>
        </p:nvSpPr>
        <p:spPr>
          <a:xfrm>
            <a:off x="5282953" y="6296367"/>
            <a:ext cx="2819400" cy="369332"/>
          </a:xfrm>
          <a:prstGeom prst="rect">
            <a:avLst/>
          </a:prstGeom>
          <a:noFill/>
        </p:spPr>
        <p:txBody>
          <a:bodyPr wrap="square" rtlCol="0">
            <a:spAutoFit/>
          </a:bodyPr>
          <a:lstStyle/>
          <a:p>
            <a:r>
              <a:rPr lang="en-US" b="1" dirty="0"/>
              <a:t>Robot </a:t>
            </a:r>
            <a:r>
              <a:rPr lang="en-US" b="1" dirty="0" err="1"/>
              <a:t>tự</a:t>
            </a:r>
            <a:r>
              <a:rPr lang="en-US" b="1" dirty="0"/>
              <a:t> </a:t>
            </a:r>
            <a:r>
              <a:rPr lang="en-US" b="1" dirty="0" err="1"/>
              <a:t>hành</a:t>
            </a:r>
            <a:endParaRPr lang="en-US" b="1" dirty="0"/>
          </a:p>
        </p:txBody>
      </p:sp>
      <p:sp>
        <p:nvSpPr>
          <p:cNvPr id="16" name="TextBox 15">
            <a:extLst>
              <a:ext uri="{FF2B5EF4-FFF2-40B4-BE49-F238E27FC236}">
                <a16:creationId xmlns:a16="http://schemas.microsoft.com/office/drawing/2014/main" id="{6B23CB25-22D3-78AE-6D8D-BBB807C9A93F}"/>
              </a:ext>
            </a:extLst>
          </p:cNvPr>
          <p:cNvSpPr txBox="1"/>
          <p:nvPr/>
        </p:nvSpPr>
        <p:spPr>
          <a:xfrm>
            <a:off x="8750300" y="5792084"/>
            <a:ext cx="2819400" cy="369332"/>
          </a:xfrm>
          <a:prstGeom prst="rect">
            <a:avLst/>
          </a:prstGeom>
          <a:noFill/>
        </p:spPr>
        <p:txBody>
          <a:bodyPr wrap="square" rtlCol="0">
            <a:spAutoFit/>
          </a:bodyPr>
          <a:lstStyle/>
          <a:p>
            <a:r>
              <a:rPr lang="en-US" b="1" dirty="0"/>
              <a:t>Robot </a:t>
            </a:r>
            <a:r>
              <a:rPr lang="en-US" b="1" dirty="0" err="1"/>
              <a:t>dạng</a:t>
            </a:r>
            <a:r>
              <a:rPr lang="en-US" b="1" dirty="0"/>
              <a:t> </a:t>
            </a:r>
            <a:r>
              <a:rPr lang="en-US" b="1" dirty="0" err="1"/>
              <a:t>người</a:t>
            </a:r>
            <a:endParaRPr lang="en-US" b="1" dirty="0"/>
          </a:p>
        </p:txBody>
      </p:sp>
    </p:spTree>
    <p:extLst>
      <p:ext uri="{BB962C8B-B14F-4D97-AF65-F5344CB8AC3E}">
        <p14:creationId xmlns:p14="http://schemas.microsoft.com/office/powerpoint/2010/main" val="1286876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F1E5D-5DFE-F168-5843-AC6D9A38169A}"/>
              </a:ext>
            </a:extLst>
          </p:cNvPr>
          <p:cNvSpPr>
            <a:spLocks noGrp="1"/>
          </p:cNvSpPr>
          <p:nvPr>
            <p:ph type="title"/>
          </p:nvPr>
        </p:nvSpPr>
        <p:spPr/>
        <p:txBody>
          <a:bodyPr/>
          <a:lstStyle/>
          <a:p>
            <a:r>
              <a:rPr lang="en-US" b="1" dirty="0"/>
              <a:t>Các </a:t>
            </a:r>
            <a:r>
              <a:rPr lang="en-US" b="1" dirty="0" err="1"/>
              <a:t>thành</a:t>
            </a:r>
            <a:r>
              <a:rPr lang="en-US" b="1" dirty="0"/>
              <a:t> </a:t>
            </a:r>
            <a:r>
              <a:rPr lang="en-US" b="1" dirty="0" err="1"/>
              <a:t>phần</a:t>
            </a:r>
            <a:r>
              <a:rPr lang="en-US" b="1" dirty="0"/>
              <a:t> </a:t>
            </a:r>
            <a:r>
              <a:rPr lang="en-US" b="1" dirty="0" err="1"/>
              <a:t>cơ</a:t>
            </a:r>
            <a:r>
              <a:rPr lang="en-US" b="1" dirty="0"/>
              <a:t> </a:t>
            </a:r>
            <a:r>
              <a:rPr lang="en-US" b="1" dirty="0" err="1"/>
              <a:t>bản</a:t>
            </a:r>
            <a:r>
              <a:rPr lang="en-US" b="1" dirty="0"/>
              <a:t> </a:t>
            </a:r>
            <a:r>
              <a:rPr lang="en-US" b="1" dirty="0" err="1"/>
              <a:t>của</a:t>
            </a:r>
            <a:r>
              <a:rPr lang="en-US" b="1" dirty="0"/>
              <a:t> robot</a:t>
            </a:r>
          </a:p>
        </p:txBody>
      </p:sp>
      <p:graphicFrame>
        <p:nvGraphicFramePr>
          <p:cNvPr id="5" name="Content Placeholder 4">
            <a:extLst>
              <a:ext uri="{FF2B5EF4-FFF2-40B4-BE49-F238E27FC236}">
                <a16:creationId xmlns:a16="http://schemas.microsoft.com/office/drawing/2014/main" id="{F19F589E-F132-E3C1-04A5-A162299B806B}"/>
              </a:ext>
            </a:extLst>
          </p:cNvPr>
          <p:cNvGraphicFramePr>
            <a:graphicFrameLocks noGrp="1"/>
          </p:cNvGraphicFramePr>
          <p:nvPr>
            <p:ph idx="1"/>
            <p:extLst>
              <p:ext uri="{D42A27DB-BD31-4B8C-83A1-F6EECF244321}">
                <p14:modId xmlns:p14="http://schemas.microsoft.com/office/powerpoint/2010/main" val="3782659335"/>
              </p:ext>
            </p:extLst>
          </p:nvPr>
        </p:nvGraphicFramePr>
        <p:xfrm>
          <a:off x="609600" y="1600200"/>
          <a:ext cx="109728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E9C13E7B-9725-6ECB-1BAA-9A4377C484F4}"/>
              </a:ext>
            </a:extLst>
          </p:cNvPr>
          <p:cNvSpPr>
            <a:spLocks noGrp="1"/>
          </p:cNvSpPr>
          <p:nvPr>
            <p:ph type="sldNum" sz="quarter" idx="12"/>
          </p:nvPr>
        </p:nvSpPr>
        <p:spPr/>
        <p:txBody>
          <a:bodyPr/>
          <a:lstStyle/>
          <a:p>
            <a:fld id="{3957FE44-DABC-424D-A234-74BB9410FF27}" type="slidenum">
              <a:rPr lang="en-US" smtClean="0"/>
              <a:pPr/>
              <a:t>3</a:t>
            </a:fld>
            <a:endParaRPr lang="en-US" dirty="0"/>
          </a:p>
        </p:txBody>
      </p:sp>
    </p:spTree>
    <p:extLst>
      <p:ext uri="{BB962C8B-B14F-4D97-AF65-F5344CB8AC3E}">
        <p14:creationId xmlns:p14="http://schemas.microsoft.com/office/powerpoint/2010/main" val="3906069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16D76-CF56-82D1-7344-DAEE47C0CCE9}"/>
              </a:ext>
            </a:extLst>
          </p:cNvPr>
          <p:cNvSpPr>
            <a:spLocks noGrp="1"/>
          </p:cNvSpPr>
          <p:nvPr>
            <p:ph type="title"/>
          </p:nvPr>
        </p:nvSpPr>
        <p:spPr/>
        <p:txBody>
          <a:bodyPr/>
          <a:lstStyle/>
          <a:p>
            <a:r>
              <a:rPr lang="en-US" b="1" dirty="0"/>
              <a:t>Quy </a:t>
            </a:r>
            <a:r>
              <a:rPr lang="en-US" b="1" dirty="0" err="1"/>
              <a:t>trình</a:t>
            </a:r>
            <a:r>
              <a:rPr lang="en-US" b="1" dirty="0"/>
              <a:t> </a:t>
            </a:r>
            <a:r>
              <a:rPr lang="en-US" b="1" dirty="0" err="1"/>
              <a:t>thiết</a:t>
            </a:r>
            <a:r>
              <a:rPr lang="en-US" b="1" dirty="0"/>
              <a:t> </a:t>
            </a:r>
            <a:r>
              <a:rPr lang="en-US" b="1" dirty="0" err="1"/>
              <a:t>kế</a:t>
            </a:r>
            <a:endParaRPr lang="en-US" b="1" dirty="0"/>
          </a:p>
        </p:txBody>
      </p:sp>
      <p:sp>
        <p:nvSpPr>
          <p:cNvPr id="3" name="Content Placeholder 2">
            <a:extLst>
              <a:ext uri="{FF2B5EF4-FFF2-40B4-BE49-F238E27FC236}">
                <a16:creationId xmlns:a16="http://schemas.microsoft.com/office/drawing/2014/main" id="{D5CEC54B-5982-3755-B22E-113715AD6412}"/>
              </a:ext>
            </a:extLst>
          </p:cNvPr>
          <p:cNvSpPr>
            <a:spLocks noGrp="1"/>
          </p:cNvSpPr>
          <p:nvPr>
            <p:ph idx="1"/>
          </p:nvPr>
        </p:nvSpPr>
        <p:spPr>
          <a:xfrm>
            <a:off x="609600" y="1524000"/>
            <a:ext cx="3886200" cy="4953000"/>
          </a:xfrm>
        </p:spPr>
        <p:txBody>
          <a:bodyPr/>
          <a:lstStyle/>
          <a:p>
            <a:r>
              <a:rPr lang="en-US" dirty="0" err="1"/>
              <a:t>Thiết</a:t>
            </a:r>
            <a:r>
              <a:rPr lang="en-US" dirty="0"/>
              <a:t> </a:t>
            </a:r>
            <a:r>
              <a:rPr lang="en-US" dirty="0" err="1"/>
              <a:t>kế</a:t>
            </a:r>
            <a:r>
              <a:rPr lang="en-US" dirty="0"/>
              <a:t> </a:t>
            </a:r>
            <a:r>
              <a:rPr lang="en-US" dirty="0" err="1"/>
              <a:t>là</a:t>
            </a:r>
            <a:r>
              <a:rPr lang="en-US" dirty="0"/>
              <a:t> </a:t>
            </a:r>
            <a:r>
              <a:rPr lang="en-US" dirty="0" err="1"/>
              <a:t>một</a:t>
            </a:r>
            <a:r>
              <a:rPr lang="en-US" dirty="0"/>
              <a:t> </a:t>
            </a:r>
            <a:r>
              <a:rPr lang="en-US" dirty="0" err="1"/>
              <a:t>quá</a:t>
            </a:r>
            <a:r>
              <a:rPr lang="en-US" dirty="0"/>
              <a:t> </a:t>
            </a:r>
            <a:r>
              <a:rPr lang="en-US" dirty="0" err="1"/>
              <a:t>trình</a:t>
            </a:r>
            <a:r>
              <a:rPr lang="en-US" dirty="0"/>
              <a:t> </a:t>
            </a:r>
            <a:r>
              <a:rPr lang="en-US" dirty="0" err="1"/>
              <a:t>lặp</a:t>
            </a:r>
            <a:r>
              <a:rPr lang="en-US" dirty="0"/>
              <a:t> </a:t>
            </a:r>
            <a:r>
              <a:rPr lang="en-US" dirty="0" err="1"/>
              <a:t>lại</a:t>
            </a:r>
            <a:endParaRPr lang="en-US" dirty="0"/>
          </a:p>
          <a:p>
            <a:r>
              <a:rPr lang="en-US" dirty="0" err="1"/>
              <a:t>Thiết</a:t>
            </a:r>
            <a:r>
              <a:rPr lang="en-US" dirty="0"/>
              <a:t> </a:t>
            </a:r>
            <a:r>
              <a:rPr lang="en-US" dirty="0" err="1"/>
              <a:t>kế</a:t>
            </a:r>
            <a:r>
              <a:rPr lang="en-US" dirty="0"/>
              <a:t> </a:t>
            </a:r>
            <a:r>
              <a:rPr lang="en-US" dirty="0" err="1"/>
              <a:t>là</a:t>
            </a:r>
            <a:r>
              <a:rPr lang="en-US" dirty="0"/>
              <a:t> </a:t>
            </a:r>
            <a:r>
              <a:rPr lang="en-US" dirty="0" err="1"/>
              <a:t>sự</a:t>
            </a:r>
            <a:r>
              <a:rPr lang="en-US" dirty="0"/>
              <a:t> </a:t>
            </a:r>
            <a:r>
              <a:rPr lang="en-US" dirty="0" err="1"/>
              <a:t>thỏa</a:t>
            </a:r>
            <a:r>
              <a:rPr lang="en-US" dirty="0"/>
              <a:t> </a:t>
            </a:r>
            <a:r>
              <a:rPr lang="en-US" dirty="0" err="1"/>
              <a:t>hiệp</a:t>
            </a:r>
            <a:endParaRPr lang="en-US" dirty="0"/>
          </a:p>
          <a:p>
            <a:r>
              <a:rPr lang="en-US" dirty="0" err="1"/>
              <a:t>Thiết</a:t>
            </a:r>
            <a:r>
              <a:rPr lang="en-US" dirty="0"/>
              <a:t> </a:t>
            </a:r>
            <a:r>
              <a:rPr lang="en-US" dirty="0" err="1"/>
              <a:t>kế</a:t>
            </a:r>
            <a:r>
              <a:rPr lang="en-US" dirty="0"/>
              <a:t> </a:t>
            </a:r>
            <a:r>
              <a:rPr lang="en-US" dirty="0" err="1"/>
              <a:t>là</a:t>
            </a:r>
            <a:r>
              <a:rPr lang="en-US" dirty="0"/>
              <a:t> </a:t>
            </a:r>
            <a:r>
              <a:rPr lang="en-US" dirty="0" err="1"/>
              <a:t>một</a:t>
            </a:r>
            <a:r>
              <a:rPr lang="en-US" dirty="0"/>
              <a:t> </a:t>
            </a:r>
            <a:r>
              <a:rPr lang="en-US" dirty="0" err="1"/>
              <a:t>quá</a:t>
            </a:r>
            <a:r>
              <a:rPr lang="en-US" dirty="0"/>
              <a:t> </a:t>
            </a:r>
            <a:r>
              <a:rPr lang="en-US" dirty="0" err="1"/>
              <a:t>trình</a:t>
            </a:r>
            <a:r>
              <a:rPr lang="en-US" dirty="0"/>
              <a:t> </a:t>
            </a:r>
            <a:r>
              <a:rPr lang="en-US" dirty="0" err="1"/>
              <a:t>giao</a:t>
            </a:r>
            <a:r>
              <a:rPr lang="en-US" dirty="0"/>
              <a:t> </a:t>
            </a:r>
            <a:r>
              <a:rPr lang="en-US" dirty="0" err="1"/>
              <a:t>tiếp</a:t>
            </a:r>
            <a:endParaRPr lang="en-US" dirty="0"/>
          </a:p>
          <a:p>
            <a:r>
              <a:rPr lang="vi-VN" dirty="0"/>
              <a:t>Thiết kế </a:t>
            </a:r>
            <a:r>
              <a:rPr lang="en-US" dirty="0" err="1"/>
              <a:t>phải</a:t>
            </a:r>
            <a:r>
              <a:rPr lang="vi-VN" dirty="0"/>
              <a:t> có thể chế tạo được</a:t>
            </a:r>
            <a:endParaRPr lang="en-US" dirty="0"/>
          </a:p>
          <a:p>
            <a:r>
              <a:rPr lang="en-US" dirty="0" err="1"/>
              <a:t>Thiết</a:t>
            </a:r>
            <a:r>
              <a:rPr lang="en-US" dirty="0"/>
              <a:t> </a:t>
            </a:r>
            <a:r>
              <a:rPr lang="en-US" dirty="0" err="1"/>
              <a:t>kế</a:t>
            </a:r>
            <a:r>
              <a:rPr lang="en-US" dirty="0"/>
              <a:t> </a:t>
            </a:r>
            <a:r>
              <a:rPr lang="en-US" dirty="0" err="1"/>
              <a:t>nên</a:t>
            </a:r>
            <a:r>
              <a:rPr lang="en-US" dirty="0"/>
              <a:t> </a:t>
            </a:r>
            <a:r>
              <a:rPr lang="en-US" dirty="0" err="1"/>
              <a:t>có</a:t>
            </a:r>
            <a:r>
              <a:rPr lang="en-US" dirty="0"/>
              <a:t> </a:t>
            </a:r>
            <a:r>
              <a:rPr lang="en-US" dirty="0" err="1"/>
              <a:t>tính</a:t>
            </a:r>
            <a:r>
              <a:rPr lang="en-US" dirty="0"/>
              <a:t> </a:t>
            </a:r>
            <a:r>
              <a:rPr lang="en-US" dirty="0" err="1"/>
              <a:t>mô</a:t>
            </a:r>
            <a:r>
              <a:rPr lang="en-US" dirty="0"/>
              <a:t> </a:t>
            </a:r>
            <a:r>
              <a:rPr lang="en-US" dirty="0" err="1"/>
              <a:t>đun</a:t>
            </a:r>
            <a:r>
              <a:rPr lang="en-US" dirty="0"/>
              <a:t> </a:t>
            </a:r>
            <a:r>
              <a:rPr lang="en-US" dirty="0" err="1"/>
              <a:t>hóa</a:t>
            </a:r>
            <a:endParaRPr lang="en-US" dirty="0"/>
          </a:p>
        </p:txBody>
      </p:sp>
      <p:sp>
        <p:nvSpPr>
          <p:cNvPr id="4" name="Slide Number Placeholder 3">
            <a:extLst>
              <a:ext uri="{FF2B5EF4-FFF2-40B4-BE49-F238E27FC236}">
                <a16:creationId xmlns:a16="http://schemas.microsoft.com/office/drawing/2014/main" id="{C1CEC94C-ED00-D954-9E3A-52078A651973}"/>
              </a:ext>
            </a:extLst>
          </p:cNvPr>
          <p:cNvSpPr>
            <a:spLocks noGrp="1"/>
          </p:cNvSpPr>
          <p:nvPr>
            <p:ph type="sldNum" sz="quarter" idx="12"/>
          </p:nvPr>
        </p:nvSpPr>
        <p:spPr/>
        <p:txBody>
          <a:bodyPr/>
          <a:lstStyle/>
          <a:p>
            <a:fld id="{3957FE44-DABC-424D-A234-74BB9410FF27}" type="slidenum">
              <a:rPr lang="en-US" smtClean="0"/>
              <a:pPr/>
              <a:t>4</a:t>
            </a:fld>
            <a:endParaRPr lang="en-US" dirty="0"/>
          </a:p>
        </p:txBody>
      </p:sp>
      <p:pic>
        <p:nvPicPr>
          <p:cNvPr id="5" name="Picture 2" descr="Figure B.8: The Mechanical Design Process According to Ullman [123] ">
            <a:extLst>
              <a:ext uri="{FF2B5EF4-FFF2-40B4-BE49-F238E27FC236}">
                <a16:creationId xmlns:a16="http://schemas.microsoft.com/office/drawing/2014/main" id="{F3A9D674-BCC4-B1C4-D684-F98735FEAB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548107"/>
            <a:ext cx="7467601"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696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CC393-CAF7-5AB1-C85B-6AAE3041705A}"/>
              </a:ext>
            </a:extLst>
          </p:cNvPr>
          <p:cNvSpPr>
            <a:spLocks noGrp="1"/>
          </p:cNvSpPr>
          <p:nvPr>
            <p:ph type="title"/>
          </p:nvPr>
        </p:nvSpPr>
        <p:spPr/>
        <p:txBody>
          <a:bodyPr/>
          <a:lstStyle/>
          <a:p>
            <a:r>
              <a:rPr lang="en-US" b="1" dirty="0" err="1"/>
              <a:t>Bước</a:t>
            </a:r>
            <a:r>
              <a:rPr lang="en-US" b="1" dirty="0"/>
              <a:t> 1: </a:t>
            </a:r>
            <a:r>
              <a:rPr lang="en-US" b="1" dirty="0" err="1"/>
              <a:t>Xác</a:t>
            </a:r>
            <a:r>
              <a:rPr lang="en-US" b="1" dirty="0"/>
              <a:t> </a:t>
            </a:r>
            <a:r>
              <a:rPr lang="en-US" b="1" dirty="0" err="1"/>
              <a:t>định</a:t>
            </a:r>
            <a:r>
              <a:rPr lang="en-US" b="1" dirty="0"/>
              <a:t> &amp; </a:t>
            </a:r>
            <a:r>
              <a:rPr lang="en-US" b="1" dirty="0" err="1"/>
              <a:t>Lập</a:t>
            </a:r>
            <a:r>
              <a:rPr lang="en-US" b="1" dirty="0"/>
              <a:t> </a:t>
            </a:r>
            <a:r>
              <a:rPr lang="en-US" b="1" dirty="0" err="1"/>
              <a:t>kế</a:t>
            </a:r>
            <a:r>
              <a:rPr lang="en-US" b="1" dirty="0"/>
              <a:t> </a:t>
            </a:r>
            <a:r>
              <a:rPr lang="en-US" b="1" dirty="0" err="1"/>
              <a:t>hoạch</a:t>
            </a:r>
            <a:r>
              <a:rPr lang="en-US" b="1" dirty="0"/>
              <a:t> </a:t>
            </a:r>
            <a:r>
              <a:rPr lang="en-US" b="1" dirty="0" err="1"/>
              <a:t>dự</a:t>
            </a:r>
            <a:r>
              <a:rPr lang="en-US" b="1" dirty="0"/>
              <a:t> </a:t>
            </a:r>
            <a:r>
              <a:rPr lang="en-US" b="1" dirty="0" err="1"/>
              <a:t>án</a:t>
            </a:r>
            <a:endParaRPr lang="en-US" b="1" dirty="0"/>
          </a:p>
        </p:txBody>
      </p:sp>
      <p:sp>
        <p:nvSpPr>
          <p:cNvPr id="3" name="Content Placeholder 2">
            <a:extLst>
              <a:ext uri="{FF2B5EF4-FFF2-40B4-BE49-F238E27FC236}">
                <a16:creationId xmlns:a16="http://schemas.microsoft.com/office/drawing/2014/main" id="{2EC02B62-3EF8-EEE4-0526-A23B46B76FBC}"/>
              </a:ext>
            </a:extLst>
          </p:cNvPr>
          <p:cNvSpPr>
            <a:spLocks noGrp="1"/>
          </p:cNvSpPr>
          <p:nvPr>
            <p:ph idx="1"/>
          </p:nvPr>
        </p:nvSpPr>
        <p:spPr>
          <a:xfrm>
            <a:off x="609600" y="1600200"/>
            <a:ext cx="8610600" cy="4876800"/>
          </a:xfrm>
        </p:spPr>
        <p:txBody>
          <a:bodyPr/>
          <a:lstStyle/>
          <a:p>
            <a:r>
              <a:rPr lang="en-US" b="1" dirty="0" err="1"/>
              <a:t>Mục</a:t>
            </a:r>
            <a:r>
              <a:rPr lang="en-US" b="1" dirty="0"/>
              <a:t> </a:t>
            </a:r>
            <a:r>
              <a:rPr lang="en-US" b="1" dirty="0" err="1"/>
              <a:t>tiêu</a:t>
            </a:r>
            <a:r>
              <a:rPr lang="en-US" b="1" dirty="0"/>
              <a:t>:</a:t>
            </a:r>
            <a:r>
              <a:rPr lang="en-US" dirty="0"/>
              <a:t> </a:t>
            </a:r>
            <a:r>
              <a:rPr lang="en-US" dirty="0" err="1"/>
              <a:t>Xây</a:t>
            </a:r>
            <a:r>
              <a:rPr lang="en-US" dirty="0"/>
              <a:t> </a:t>
            </a:r>
            <a:r>
              <a:rPr lang="en-US" dirty="0" err="1"/>
              <a:t>dựng</a:t>
            </a:r>
            <a:r>
              <a:rPr lang="en-US" dirty="0"/>
              <a:t> </a:t>
            </a:r>
            <a:r>
              <a:rPr lang="en-US" dirty="0" err="1"/>
              <a:t>nền</a:t>
            </a:r>
            <a:r>
              <a:rPr lang="en-US" dirty="0"/>
              <a:t> </a:t>
            </a:r>
            <a:r>
              <a:rPr lang="en-US" dirty="0" err="1"/>
              <a:t>tảng</a:t>
            </a:r>
            <a:r>
              <a:rPr lang="en-US" dirty="0"/>
              <a:t> </a:t>
            </a:r>
            <a:r>
              <a:rPr lang="en-US" dirty="0" err="1"/>
              <a:t>và</a:t>
            </a:r>
            <a:r>
              <a:rPr lang="en-US" dirty="0"/>
              <a:t> </a:t>
            </a:r>
            <a:r>
              <a:rPr lang="en-US" dirty="0" err="1"/>
              <a:t>lộ</a:t>
            </a:r>
            <a:r>
              <a:rPr lang="en-US" dirty="0"/>
              <a:t> </a:t>
            </a:r>
            <a:r>
              <a:rPr lang="en-US" dirty="0" err="1"/>
              <a:t>trình</a:t>
            </a:r>
            <a:r>
              <a:rPr lang="en-US" dirty="0"/>
              <a:t> </a:t>
            </a:r>
            <a:r>
              <a:rPr lang="en-US" dirty="0" err="1"/>
              <a:t>cho</a:t>
            </a:r>
            <a:r>
              <a:rPr lang="en-US" dirty="0"/>
              <a:t> </a:t>
            </a:r>
            <a:r>
              <a:rPr lang="en-US" dirty="0" err="1"/>
              <a:t>toàn</a:t>
            </a:r>
            <a:r>
              <a:rPr lang="en-US" dirty="0"/>
              <a:t> </a:t>
            </a:r>
            <a:r>
              <a:rPr lang="en-US" dirty="0" err="1"/>
              <a:t>bộ</a:t>
            </a:r>
            <a:r>
              <a:rPr lang="en-US" dirty="0"/>
              <a:t> </a:t>
            </a:r>
            <a:r>
              <a:rPr lang="en-US" dirty="0" err="1"/>
              <a:t>dự</a:t>
            </a:r>
            <a:r>
              <a:rPr lang="en-US" dirty="0"/>
              <a:t> </a:t>
            </a:r>
            <a:r>
              <a:rPr lang="en-US" dirty="0" err="1"/>
              <a:t>án</a:t>
            </a:r>
            <a:r>
              <a:rPr lang="en-US" dirty="0"/>
              <a:t> </a:t>
            </a:r>
            <a:r>
              <a:rPr lang="en-US" dirty="0" err="1"/>
              <a:t>thiết</a:t>
            </a:r>
            <a:r>
              <a:rPr lang="en-US" dirty="0"/>
              <a:t> </a:t>
            </a:r>
            <a:r>
              <a:rPr lang="en-US" dirty="0" err="1"/>
              <a:t>kế</a:t>
            </a:r>
            <a:endParaRPr lang="en-US" dirty="0"/>
          </a:p>
          <a:p>
            <a:r>
              <a:rPr lang="en-US" b="1" dirty="0"/>
              <a:t>Công </a:t>
            </a:r>
            <a:r>
              <a:rPr lang="en-US" b="1" dirty="0" err="1"/>
              <a:t>việc</a:t>
            </a:r>
            <a:r>
              <a:rPr lang="en-US" b="1" dirty="0"/>
              <a:t>:</a:t>
            </a:r>
          </a:p>
          <a:p>
            <a:pPr lvl="1"/>
            <a:r>
              <a:rPr lang="vi-VN" dirty="0"/>
              <a:t>Thành lập nhóm : Tuyển chọn nhân sự phù hợp, xác định vai trò và trách nhiệm của từng thành viên.</a:t>
            </a:r>
            <a:endParaRPr lang="en-US" dirty="0"/>
          </a:p>
          <a:p>
            <a:pPr lvl="1"/>
            <a:r>
              <a:rPr lang="vi-VN" dirty="0"/>
              <a:t>Phát triển danh mục công việc: Phân rã dự án thành các đầu việc nhỏ, cụ thể và dễ quản lý.</a:t>
            </a:r>
            <a:endParaRPr lang="en-US" dirty="0"/>
          </a:p>
          <a:p>
            <a:pPr lvl="1"/>
            <a:r>
              <a:rPr lang="vi-VN" dirty="0"/>
              <a:t>Nghiên cứu thị trường: Tìm hiểu nhu cầu thực tế, xu hướng công nghệ và các giải pháp đã có.</a:t>
            </a:r>
            <a:endParaRPr lang="en-US" dirty="0"/>
          </a:p>
          <a:p>
            <a:pPr lvl="1"/>
            <a:r>
              <a:rPr lang="vi-VN" dirty="0"/>
              <a:t>Ước tính tiến độ và chi phí: Lập bảng tiến độ (Gantt chart) và dự toán ngân sách cần thiết.</a:t>
            </a:r>
            <a:endParaRPr lang="en-US" dirty="0"/>
          </a:p>
          <a:p>
            <a:pPr lvl="1"/>
            <a:r>
              <a:rPr lang="vi-VN" dirty="0"/>
              <a:t>Phê duyệt kế hoạch: Đánh giá tính khả thi cuối cùng trước khi chính thức bắt đầu.</a:t>
            </a:r>
            <a:endParaRPr lang="en-US" dirty="0"/>
          </a:p>
        </p:txBody>
      </p:sp>
      <p:sp>
        <p:nvSpPr>
          <p:cNvPr id="4" name="Slide Number Placeholder 3">
            <a:extLst>
              <a:ext uri="{FF2B5EF4-FFF2-40B4-BE49-F238E27FC236}">
                <a16:creationId xmlns:a16="http://schemas.microsoft.com/office/drawing/2014/main" id="{D159F686-EAAD-4914-3E48-87172148FFAC}"/>
              </a:ext>
            </a:extLst>
          </p:cNvPr>
          <p:cNvSpPr>
            <a:spLocks noGrp="1"/>
          </p:cNvSpPr>
          <p:nvPr>
            <p:ph type="sldNum" sz="quarter" idx="12"/>
          </p:nvPr>
        </p:nvSpPr>
        <p:spPr/>
        <p:txBody>
          <a:bodyPr/>
          <a:lstStyle/>
          <a:p>
            <a:fld id="{3957FE44-DABC-424D-A234-74BB9410FF27}" type="slidenum">
              <a:rPr lang="en-US" smtClean="0"/>
              <a:pPr/>
              <a:t>5</a:t>
            </a:fld>
            <a:endParaRPr lang="en-US" dirty="0"/>
          </a:p>
        </p:txBody>
      </p:sp>
      <p:pic>
        <p:nvPicPr>
          <p:cNvPr id="5" name="Picture 2" descr="Figure B.8: The Mechanical Design Process According to Ullman [123] ">
            <a:extLst>
              <a:ext uri="{FF2B5EF4-FFF2-40B4-BE49-F238E27FC236}">
                <a16:creationId xmlns:a16="http://schemas.microsoft.com/office/drawing/2014/main" id="{9D0E7548-A8F4-02E8-F9E3-1F63372DBF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592"/>
          <a:stretch>
            <a:fillRect/>
          </a:stretch>
        </p:blipFill>
        <p:spPr bwMode="auto">
          <a:xfrm>
            <a:off x="10160000" y="1524740"/>
            <a:ext cx="1651000" cy="503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110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E3138-B765-A133-90B3-802AE03DC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F4A2B-382F-683E-B5E7-2B8FFA43563D}"/>
              </a:ext>
            </a:extLst>
          </p:cNvPr>
          <p:cNvSpPr>
            <a:spLocks noGrp="1"/>
          </p:cNvSpPr>
          <p:nvPr>
            <p:ph type="title"/>
          </p:nvPr>
        </p:nvSpPr>
        <p:spPr/>
        <p:txBody>
          <a:bodyPr/>
          <a:lstStyle/>
          <a:p>
            <a:r>
              <a:rPr lang="en-US" b="1" dirty="0" err="1"/>
              <a:t>Bước</a:t>
            </a:r>
            <a:r>
              <a:rPr lang="en-US" b="1" dirty="0"/>
              <a:t> 2: </a:t>
            </a:r>
            <a:r>
              <a:rPr lang="en-US" b="1" dirty="0" err="1"/>
              <a:t>Xác</a:t>
            </a:r>
            <a:r>
              <a:rPr lang="en-US" b="1" dirty="0"/>
              <a:t> </a:t>
            </a:r>
            <a:r>
              <a:rPr lang="en-US" b="1" dirty="0" err="1"/>
              <a:t>định</a:t>
            </a:r>
            <a:r>
              <a:rPr lang="en-US" b="1" dirty="0"/>
              <a:t> </a:t>
            </a:r>
            <a:r>
              <a:rPr lang="en-US" b="1" dirty="0" err="1"/>
              <a:t>thông</a:t>
            </a:r>
            <a:r>
              <a:rPr lang="en-US" b="1" dirty="0"/>
              <a:t> </a:t>
            </a:r>
            <a:r>
              <a:rPr lang="en-US" b="1" dirty="0" err="1"/>
              <a:t>số</a:t>
            </a:r>
            <a:r>
              <a:rPr lang="en-US" b="1" dirty="0"/>
              <a:t> </a:t>
            </a:r>
            <a:r>
              <a:rPr lang="en-US" b="1" dirty="0" err="1"/>
              <a:t>kỹ</a:t>
            </a:r>
            <a:r>
              <a:rPr lang="en-US" b="1" dirty="0"/>
              <a:t> </a:t>
            </a:r>
            <a:r>
              <a:rPr lang="en-US" b="1" dirty="0" err="1"/>
              <a:t>thuật</a:t>
            </a:r>
            <a:endParaRPr lang="en-US" b="1" dirty="0"/>
          </a:p>
        </p:txBody>
      </p:sp>
      <p:sp>
        <p:nvSpPr>
          <p:cNvPr id="3" name="Content Placeholder 2">
            <a:extLst>
              <a:ext uri="{FF2B5EF4-FFF2-40B4-BE49-F238E27FC236}">
                <a16:creationId xmlns:a16="http://schemas.microsoft.com/office/drawing/2014/main" id="{63473BBE-BB19-6036-F917-343785004777}"/>
              </a:ext>
            </a:extLst>
          </p:cNvPr>
          <p:cNvSpPr>
            <a:spLocks noGrp="1"/>
          </p:cNvSpPr>
          <p:nvPr>
            <p:ph idx="1"/>
          </p:nvPr>
        </p:nvSpPr>
        <p:spPr>
          <a:xfrm>
            <a:off x="609600" y="1600200"/>
            <a:ext cx="8610600" cy="4876800"/>
          </a:xfrm>
        </p:spPr>
        <p:txBody>
          <a:bodyPr>
            <a:normAutofit/>
          </a:bodyPr>
          <a:lstStyle/>
          <a:p>
            <a:r>
              <a:rPr lang="en-US" b="1" dirty="0" err="1"/>
              <a:t>Mục</a:t>
            </a:r>
            <a:r>
              <a:rPr lang="en-US" b="1" dirty="0"/>
              <a:t> </a:t>
            </a:r>
            <a:r>
              <a:rPr lang="en-US" b="1" dirty="0" err="1"/>
              <a:t>tiêu</a:t>
            </a:r>
            <a:r>
              <a:rPr lang="en-US" b="1" dirty="0"/>
              <a:t>: </a:t>
            </a:r>
            <a:r>
              <a:rPr lang="en-US" dirty="0" err="1"/>
              <a:t>Chuyển</a:t>
            </a:r>
            <a:r>
              <a:rPr lang="en-US" dirty="0"/>
              <a:t> </a:t>
            </a:r>
            <a:r>
              <a:rPr lang="en-US" dirty="0" err="1"/>
              <a:t>đổi</a:t>
            </a:r>
            <a:r>
              <a:rPr lang="en-US" dirty="0"/>
              <a:t> </a:t>
            </a:r>
            <a:r>
              <a:rPr lang="en-US" dirty="0" err="1"/>
              <a:t>nhu</a:t>
            </a:r>
            <a:r>
              <a:rPr lang="en-US" dirty="0"/>
              <a:t> </a:t>
            </a:r>
            <a:r>
              <a:rPr lang="en-US" dirty="0" err="1"/>
              <a:t>cầu</a:t>
            </a:r>
            <a:r>
              <a:rPr lang="en-US" dirty="0"/>
              <a:t> </a:t>
            </a:r>
            <a:r>
              <a:rPr lang="en-US" dirty="0" err="1"/>
              <a:t>khách</a:t>
            </a:r>
            <a:r>
              <a:rPr lang="en-US" dirty="0"/>
              <a:t> </a:t>
            </a:r>
            <a:r>
              <a:rPr lang="en-US" dirty="0" err="1"/>
              <a:t>hàng</a:t>
            </a:r>
            <a:r>
              <a:rPr lang="en-US" dirty="0"/>
              <a:t> </a:t>
            </a:r>
            <a:r>
              <a:rPr lang="en-US" dirty="0" err="1"/>
              <a:t>thành</a:t>
            </a:r>
            <a:r>
              <a:rPr lang="en-US" dirty="0"/>
              <a:t> </a:t>
            </a:r>
            <a:r>
              <a:rPr lang="en-US" dirty="0" err="1"/>
              <a:t>các</a:t>
            </a:r>
            <a:r>
              <a:rPr lang="en-US" dirty="0"/>
              <a:t> con </a:t>
            </a:r>
            <a:r>
              <a:rPr lang="en-US" dirty="0" err="1"/>
              <a:t>số</a:t>
            </a:r>
            <a:r>
              <a:rPr lang="en-US" dirty="0"/>
              <a:t> </a:t>
            </a:r>
            <a:r>
              <a:rPr lang="en-US" dirty="0" err="1"/>
              <a:t>kỹ</a:t>
            </a:r>
            <a:r>
              <a:rPr lang="en-US" dirty="0"/>
              <a:t> </a:t>
            </a:r>
            <a:r>
              <a:rPr lang="en-US" dirty="0" err="1"/>
              <a:t>thuật</a:t>
            </a:r>
            <a:r>
              <a:rPr lang="en-US" dirty="0"/>
              <a:t> </a:t>
            </a:r>
            <a:r>
              <a:rPr lang="en-US" dirty="0" err="1"/>
              <a:t>chính</a:t>
            </a:r>
            <a:r>
              <a:rPr lang="en-US" dirty="0"/>
              <a:t> </a:t>
            </a:r>
            <a:r>
              <a:rPr lang="en-US" dirty="0" err="1"/>
              <a:t>xác</a:t>
            </a:r>
            <a:endParaRPr lang="en-US" dirty="0"/>
          </a:p>
          <a:p>
            <a:r>
              <a:rPr lang="en-US" b="1" dirty="0"/>
              <a:t>Công </a:t>
            </a:r>
            <a:r>
              <a:rPr lang="en-US" b="1" dirty="0" err="1"/>
              <a:t>việc</a:t>
            </a:r>
            <a:r>
              <a:rPr lang="en-US" b="1" dirty="0"/>
              <a:t>:</a:t>
            </a:r>
          </a:p>
          <a:p>
            <a:pPr lvl="1"/>
            <a:r>
              <a:rPr lang="vi-VN" dirty="0"/>
              <a:t>Xác định khách hàng: Làm rõ đối tượng sử dụng robot và môi trường hoạt động của chúng.</a:t>
            </a:r>
            <a:endParaRPr lang="en-US" dirty="0"/>
          </a:p>
          <a:p>
            <a:pPr lvl="1"/>
            <a:r>
              <a:rPr lang="vi-VN" dirty="0"/>
              <a:t>Xác định yêu cầu người dùng: Thu thập các tính năng mong muốn từ phía người dùng (ví dụ: robot phải nhẹ, pin dùng được 5 tiếng).</a:t>
            </a:r>
            <a:endParaRPr lang="en-US" dirty="0"/>
          </a:p>
          <a:p>
            <a:pPr lvl="1"/>
            <a:r>
              <a:rPr lang="vi-VN" dirty="0"/>
              <a:t>Đánh giá đối thủ cạnh tranh: Phân tích điểm mạnh/yếu của các sản phẩm tương tự trên thị trường.</a:t>
            </a:r>
            <a:endParaRPr lang="en-US" dirty="0"/>
          </a:p>
          <a:p>
            <a:pPr lvl="1"/>
            <a:r>
              <a:rPr lang="vi-VN" dirty="0"/>
              <a:t>Thiết lập thông số kỹ thuật: Biến yêu cầu của người dùng thành thông số đo lường được </a:t>
            </a:r>
            <a:endParaRPr lang="en-US" dirty="0"/>
          </a:p>
          <a:p>
            <a:pPr lvl="1"/>
            <a:r>
              <a:rPr lang="vi-VN" dirty="0"/>
              <a:t>Xác lập mục tiêu: Chốt các tiêu chuẩn tối thiểu mà sản phẩm phải đạt được.</a:t>
            </a:r>
            <a:endParaRPr lang="en-US" dirty="0"/>
          </a:p>
        </p:txBody>
      </p:sp>
      <p:sp>
        <p:nvSpPr>
          <p:cNvPr id="4" name="Slide Number Placeholder 3">
            <a:extLst>
              <a:ext uri="{FF2B5EF4-FFF2-40B4-BE49-F238E27FC236}">
                <a16:creationId xmlns:a16="http://schemas.microsoft.com/office/drawing/2014/main" id="{F9047A03-340C-D4D6-55FE-78B289545B8C}"/>
              </a:ext>
            </a:extLst>
          </p:cNvPr>
          <p:cNvSpPr>
            <a:spLocks noGrp="1"/>
          </p:cNvSpPr>
          <p:nvPr>
            <p:ph type="sldNum" sz="quarter" idx="12"/>
          </p:nvPr>
        </p:nvSpPr>
        <p:spPr/>
        <p:txBody>
          <a:bodyPr/>
          <a:lstStyle/>
          <a:p>
            <a:fld id="{3957FE44-DABC-424D-A234-74BB9410FF27}" type="slidenum">
              <a:rPr lang="en-US" smtClean="0"/>
              <a:pPr/>
              <a:t>6</a:t>
            </a:fld>
            <a:endParaRPr lang="en-US" dirty="0"/>
          </a:p>
        </p:txBody>
      </p:sp>
      <p:pic>
        <p:nvPicPr>
          <p:cNvPr id="5" name="Picture 2" descr="Figure B.8: The Mechanical Design Process According to Ullman [123] ">
            <a:extLst>
              <a:ext uri="{FF2B5EF4-FFF2-40B4-BE49-F238E27FC236}">
                <a16:creationId xmlns:a16="http://schemas.microsoft.com/office/drawing/2014/main" id="{5FC6CAEA-BC2E-BBC8-1D1F-EA1E24ACE2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152" t="78" r="60440" b="-78"/>
          <a:stretch>
            <a:fillRect/>
          </a:stretch>
        </p:blipFill>
        <p:spPr bwMode="auto">
          <a:xfrm>
            <a:off x="10160000" y="1524740"/>
            <a:ext cx="1651000" cy="503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557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4176C-97E5-9CDB-2F8A-C3B4E5A9D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475347-6A63-62F0-FAA0-71645BA58D8E}"/>
              </a:ext>
            </a:extLst>
          </p:cNvPr>
          <p:cNvSpPr>
            <a:spLocks noGrp="1"/>
          </p:cNvSpPr>
          <p:nvPr>
            <p:ph type="title"/>
          </p:nvPr>
        </p:nvSpPr>
        <p:spPr/>
        <p:txBody>
          <a:bodyPr/>
          <a:lstStyle/>
          <a:p>
            <a:r>
              <a:rPr lang="en-US" b="1" dirty="0" err="1"/>
              <a:t>Bước</a:t>
            </a:r>
            <a:r>
              <a:rPr lang="en-US" b="1" dirty="0"/>
              <a:t> 3: </a:t>
            </a:r>
            <a:r>
              <a:rPr lang="en-US" b="1" dirty="0" err="1"/>
              <a:t>Xây</a:t>
            </a:r>
            <a:r>
              <a:rPr lang="en-US" b="1" dirty="0"/>
              <a:t> </a:t>
            </a:r>
            <a:r>
              <a:rPr lang="en-US" b="1" dirty="0" err="1"/>
              <a:t>dựng</a:t>
            </a:r>
            <a:r>
              <a:rPr lang="en-US" b="1" dirty="0"/>
              <a:t> </a:t>
            </a:r>
            <a:r>
              <a:rPr lang="en-US" b="1" dirty="0" err="1"/>
              <a:t>phương</a:t>
            </a:r>
            <a:r>
              <a:rPr lang="en-US" b="1" dirty="0"/>
              <a:t> </a:t>
            </a:r>
            <a:r>
              <a:rPr lang="en-US" b="1" dirty="0" err="1"/>
              <a:t>án</a:t>
            </a:r>
            <a:r>
              <a:rPr lang="en-US" b="1" dirty="0"/>
              <a:t> </a:t>
            </a:r>
            <a:r>
              <a:rPr lang="en-US" b="1" dirty="0" err="1"/>
              <a:t>thiết</a:t>
            </a:r>
            <a:r>
              <a:rPr lang="en-US" b="1" dirty="0"/>
              <a:t> </a:t>
            </a:r>
            <a:r>
              <a:rPr lang="en-US" b="1" dirty="0" err="1"/>
              <a:t>kế</a:t>
            </a:r>
            <a:endParaRPr lang="en-US" b="1" dirty="0"/>
          </a:p>
        </p:txBody>
      </p:sp>
      <p:sp>
        <p:nvSpPr>
          <p:cNvPr id="3" name="Content Placeholder 2">
            <a:extLst>
              <a:ext uri="{FF2B5EF4-FFF2-40B4-BE49-F238E27FC236}">
                <a16:creationId xmlns:a16="http://schemas.microsoft.com/office/drawing/2014/main" id="{24B75614-6C7F-BC35-4D1C-E0B6D8F8930E}"/>
              </a:ext>
            </a:extLst>
          </p:cNvPr>
          <p:cNvSpPr>
            <a:spLocks noGrp="1"/>
          </p:cNvSpPr>
          <p:nvPr>
            <p:ph idx="1"/>
          </p:nvPr>
        </p:nvSpPr>
        <p:spPr>
          <a:xfrm>
            <a:off x="609600" y="1600200"/>
            <a:ext cx="8610600" cy="4876800"/>
          </a:xfrm>
        </p:spPr>
        <p:txBody>
          <a:bodyPr>
            <a:normAutofit/>
          </a:bodyPr>
          <a:lstStyle/>
          <a:p>
            <a:r>
              <a:rPr lang="en-US" b="1" dirty="0" err="1"/>
              <a:t>Mục</a:t>
            </a:r>
            <a:r>
              <a:rPr lang="en-US" b="1" dirty="0"/>
              <a:t> </a:t>
            </a:r>
            <a:r>
              <a:rPr lang="en-US" b="1" dirty="0" err="1"/>
              <a:t>tiêu</a:t>
            </a:r>
            <a:r>
              <a:rPr lang="en-US" b="1" dirty="0"/>
              <a:t>: </a:t>
            </a:r>
            <a:r>
              <a:rPr lang="vi-VN" dirty="0"/>
              <a:t>Sáng tạo và lựa chọn phương án thiết kế tối ưu nhất</a:t>
            </a:r>
            <a:endParaRPr lang="en-US" dirty="0"/>
          </a:p>
          <a:p>
            <a:r>
              <a:rPr lang="en-US" b="1" dirty="0"/>
              <a:t>Công </a:t>
            </a:r>
            <a:r>
              <a:rPr lang="en-US" b="1" dirty="0" err="1"/>
              <a:t>việc</a:t>
            </a:r>
            <a:r>
              <a:rPr lang="en-US" b="1" dirty="0"/>
              <a:t>:</a:t>
            </a:r>
          </a:p>
          <a:p>
            <a:pPr lvl="1"/>
            <a:r>
              <a:rPr lang="en-US" dirty="0" err="1"/>
              <a:t>Hình</a:t>
            </a:r>
            <a:r>
              <a:rPr lang="en-US" dirty="0"/>
              <a:t> </a:t>
            </a:r>
            <a:r>
              <a:rPr lang="en-US" dirty="0" err="1"/>
              <a:t>thành</a:t>
            </a:r>
            <a:r>
              <a:rPr lang="en-US" dirty="0"/>
              <a:t> </a:t>
            </a:r>
            <a:r>
              <a:rPr lang="vi-VN" dirty="0"/>
              <a:t>các ý tưởng: Phác thảo nhiều phương án khác nhau về cơ cấu, hình dáng và cách vận hành.</a:t>
            </a:r>
            <a:endParaRPr lang="en-US" dirty="0"/>
          </a:p>
          <a:p>
            <a:pPr lvl="1"/>
            <a:r>
              <a:rPr lang="vi-VN" dirty="0"/>
              <a:t>Đánh giá ý tưởng: So sánh các phương án dựa trên tính khả thi, chi phí và hiệu suất.</a:t>
            </a:r>
            <a:endParaRPr lang="en-US" dirty="0"/>
          </a:p>
          <a:p>
            <a:pPr lvl="1"/>
            <a:r>
              <a:rPr lang="vi-VN" dirty="0"/>
              <a:t>Ra quyết định chọn ý tưởng: Lựa chọn ý tưởng tốt nhất để đi vào thiết kế chi tiết.</a:t>
            </a:r>
            <a:endParaRPr lang="en-US" dirty="0"/>
          </a:p>
          <a:p>
            <a:pPr lvl="1"/>
            <a:r>
              <a:rPr lang="vi-VN" dirty="0"/>
              <a:t>Tài liệu hóa &amp; Giao tiếp: Ghi chép lại các bản vẽ sơ bộ và giải thích lý do chọn phương án đó cho cả đội ngũ.</a:t>
            </a:r>
            <a:endParaRPr lang="en-US" dirty="0"/>
          </a:p>
          <a:p>
            <a:pPr lvl="1"/>
            <a:r>
              <a:rPr lang="vi-VN" dirty="0"/>
              <a:t>Tinh chỉnh kế hoạch: Cập nhật lại lộ trình nếu ý tưởng được chọn đòi hỏi thêm thời gian hoặc công nghệ mới.</a:t>
            </a:r>
            <a:endParaRPr lang="en-US" dirty="0"/>
          </a:p>
        </p:txBody>
      </p:sp>
      <p:sp>
        <p:nvSpPr>
          <p:cNvPr id="4" name="Slide Number Placeholder 3">
            <a:extLst>
              <a:ext uri="{FF2B5EF4-FFF2-40B4-BE49-F238E27FC236}">
                <a16:creationId xmlns:a16="http://schemas.microsoft.com/office/drawing/2014/main" id="{2ACE6593-D7AC-98BB-0750-9F77C8EA2C22}"/>
              </a:ext>
            </a:extLst>
          </p:cNvPr>
          <p:cNvSpPr>
            <a:spLocks noGrp="1"/>
          </p:cNvSpPr>
          <p:nvPr>
            <p:ph type="sldNum" sz="quarter" idx="12"/>
          </p:nvPr>
        </p:nvSpPr>
        <p:spPr/>
        <p:txBody>
          <a:bodyPr/>
          <a:lstStyle/>
          <a:p>
            <a:fld id="{3957FE44-DABC-424D-A234-74BB9410FF27}" type="slidenum">
              <a:rPr lang="en-US" smtClean="0"/>
              <a:pPr/>
              <a:t>7</a:t>
            </a:fld>
            <a:endParaRPr lang="en-US" dirty="0"/>
          </a:p>
        </p:txBody>
      </p:sp>
      <p:pic>
        <p:nvPicPr>
          <p:cNvPr id="5" name="Picture 2" descr="Figure B.8: The Mechanical Design Process According to Ullman [123] ">
            <a:extLst>
              <a:ext uri="{FF2B5EF4-FFF2-40B4-BE49-F238E27FC236}">
                <a16:creationId xmlns:a16="http://schemas.microsoft.com/office/drawing/2014/main" id="{423AC623-7FA4-AC61-BF02-E24DDC2201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874" t="-294" r="39718" b="294"/>
          <a:stretch>
            <a:fillRect/>
          </a:stretch>
        </p:blipFill>
        <p:spPr bwMode="auto">
          <a:xfrm>
            <a:off x="10160000" y="1524740"/>
            <a:ext cx="1651000" cy="503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8784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E9837-99A1-6605-E2B8-0A84E832F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7B62F-D205-1A75-D14C-370ED76746EA}"/>
              </a:ext>
            </a:extLst>
          </p:cNvPr>
          <p:cNvSpPr>
            <a:spLocks noGrp="1"/>
          </p:cNvSpPr>
          <p:nvPr>
            <p:ph type="title"/>
          </p:nvPr>
        </p:nvSpPr>
        <p:spPr/>
        <p:txBody>
          <a:bodyPr/>
          <a:lstStyle/>
          <a:p>
            <a:r>
              <a:rPr lang="en-US" b="1" dirty="0" err="1"/>
              <a:t>Bước</a:t>
            </a:r>
            <a:r>
              <a:rPr lang="en-US" b="1" dirty="0"/>
              <a:t> 4: </a:t>
            </a:r>
            <a:r>
              <a:rPr lang="en-US" b="1" dirty="0" err="1"/>
              <a:t>Phát</a:t>
            </a:r>
            <a:r>
              <a:rPr lang="en-US" b="1" dirty="0"/>
              <a:t> </a:t>
            </a:r>
            <a:r>
              <a:rPr lang="en-US" b="1" dirty="0" err="1"/>
              <a:t>triển</a:t>
            </a:r>
            <a:r>
              <a:rPr lang="en-US" b="1" dirty="0"/>
              <a:t> </a:t>
            </a:r>
            <a:r>
              <a:rPr lang="en-US" b="1" dirty="0" err="1"/>
              <a:t>sản</a:t>
            </a:r>
            <a:r>
              <a:rPr lang="en-US" b="1" dirty="0"/>
              <a:t> </a:t>
            </a:r>
            <a:r>
              <a:rPr lang="en-US" b="1" dirty="0" err="1"/>
              <a:t>phẩm</a:t>
            </a:r>
            <a:endParaRPr lang="en-US" b="1" dirty="0"/>
          </a:p>
        </p:txBody>
      </p:sp>
      <p:sp>
        <p:nvSpPr>
          <p:cNvPr id="3" name="Content Placeholder 2">
            <a:extLst>
              <a:ext uri="{FF2B5EF4-FFF2-40B4-BE49-F238E27FC236}">
                <a16:creationId xmlns:a16="http://schemas.microsoft.com/office/drawing/2014/main" id="{254A3836-61FC-724A-925D-C50984A8051E}"/>
              </a:ext>
            </a:extLst>
          </p:cNvPr>
          <p:cNvSpPr>
            <a:spLocks noGrp="1"/>
          </p:cNvSpPr>
          <p:nvPr>
            <p:ph idx="1"/>
          </p:nvPr>
        </p:nvSpPr>
        <p:spPr>
          <a:xfrm>
            <a:off x="609600" y="1600200"/>
            <a:ext cx="8610600" cy="4876800"/>
          </a:xfrm>
        </p:spPr>
        <p:txBody>
          <a:bodyPr>
            <a:normAutofit/>
          </a:bodyPr>
          <a:lstStyle/>
          <a:p>
            <a:r>
              <a:rPr lang="en-US" b="1" dirty="0" err="1"/>
              <a:t>Mục</a:t>
            </a:r>
            <a:r>
              <a:rPr lang="en-US" b="1" dirty="0"/>
              <a:t> </a:t>
            </a:r>
            <a:r>
              <a:rPr lang="en-US" b="1" dirty="0" err="1"/>
              <a:t>tiêu</a:t>
            </a:r>
            <a:r>
              <a:rPr lang="en-US" b="1" dirty="0"/>
              <a:t>: </a:t>
            </a:r>
            <a:r>
              <a:rPr lang="vi-VN" dirty="0"/>
              <a:t>Chế tạo mẫu thử và hoàn thiện thiết kế để đưa vào sản xuất</a:t>
            </a:r>
            <a:endParaRPr lang="en-US" dirty="0"/>
          </a:p>
          <a:p>
            <a:r>
              <a:rPr lang="en-US" b="1" dirty="0"/>
              <a:t>Công </a:t>
            </a:r>
            <a:r>
              <a:rPr lang="en-US" b="1" dirty="0" err="1"/>
              <a:t>việc</a:t>
            </a:r>
            <a:r>
              <a:rPr lang="en-US" b="1" dirty="0"/>
              <a:t>:</a:t>
            </a:r>
          </a:p>
          <a:p>
            <a:pPr lvl="1"/>
            <a:r>
              <a:rPr lang="vi-VN" dirty="0"/>
              <a:t>Chế tạo sản phẩm: Thiết kế chi tiết trên CAD, gia công linh kiện và lắp ráp robot thực tế.</a:t>
            </a:r>
            <a:endParaRPr lang="en-US" dirty="0"/>
          </a:p>
          <a:p>
            <a:pPr lvl="1"/>
            <a:r>
              <a:rPr lang="vi-VN" dirty="0"/>
              <a:t>Đánh giá sản phẩm: Kiểm tra gắt gao dựa trên 3 trụ cột:</a:t>
            </a:r>
            <a:endParaRPr lang="en-US" dirty="0"/>
          </a:p>
          <a:p>
            <a:pPr lvl="2"/>
            <a:r>
              <a:rPr lang="vi-VN" dirty="0"/>
              <a:t>Hiệu suất &amp; Độ bền: Robot chạy có ổn định không?</a:t>
            </a:r>
            <a:endParaRPr lang="en-US" dirty="0"/>
          </a:p>
          <a:p>
            <a:pPr lvl="2"/>
            <a:r>
              <a:rPr lang="vi-VN" dirty="0"/>
              <a:t>Chi phí: Giá thành sản xuất có vượt mức cho phép không?</a:t>
            </a:r>
            <a:endParaRPr lang="en-US" dirty="0"/>
          </a:p>
          <a:p>
            <a:pPr lvl="2"/>
            <a:r>
              <a:rPr lang="vi-VN" dirty="0"/>
              <a:t>Khả năng sản xuất: Việc lắp ráp hàng loạt có dễ dàng không?</a:t>
            </a:r>
            <a:endParaRPr lang="en-US" dirty="0"/>
          </a:p>
          <a:p>
            <a:pPr lvl="1"/>
            <a:r>
              <a:rPr lang="vi-VN" dirty="0"/>
              <a:t>Ra quyết định sản xuất: Chỉnh sửa thiết kế lần cuối dựa trên kết quả kiểm thử.</a:t>
            </a:r>
            <a:endParaRPr lang="en-US" dirty="0"/>
          </a:p>
          <a:p>
            <a:pPr lvl="1"/>
            <a:r>
              <a:rPr lang="vi-VN" dirty="0"/>
              <a:t>Phê duyệt sản xuất: Cấp phép để bắt đầu quy trình sản xuất hàng loạt.</a:t>
            </a:r>
            <a:endParaRPr lang="en-US" dirty="0"/>
          </a:p>
        </p:txBody>
      </p:sp>
      <p:sp>
        <p:nvSpPr>
          <p:cNvPr id="4" name="Slide Number Placeholder 3">
            <a:extLst>
              <a:ext uri="{FF2B5EF4-FFF2-40B4-BE49-F238E27FC236}">
                <a16:creationId xmlns:a16="http://schemas.microsoft.com/office/drawing/2014/main" id="{FDB9000E-A3D3-7610-AADF-DC7048815EC2}"/>
              </a:ext>
            </a:extLst>
          </p:cNvPr>
          <p:cNvSpPr>
            <a:spLocks noGrp="1"/>
          </p:cNvSpPr>
          <p:nvPr>
            <p:ph type="sldNum" sz="quarter" idx="12"/>
          </p:nvPr>
        </p:nvSpPr>
        <p:spPr/>
        <p:txBody>
          <a:bodyPr/>
          <a:lstStyle/>
          <a:p>
            <a:fld id="{3957FE44-DABC-424D-A234-74BB9410FF27}" type="slidenum">
              <a:rPr lang="en-US" smtClean="0"/>
              <a:pPr/>
              <a:t>8</a:t>
            </a:fld>
            <a:endParaRPr lang="en-US" dirty="0"/>
          </a:p>
        </p:txBody>
      </p:sp>
      <p:pic>
        <p:nvPicPr>
          <p:cNvPr id="5" name="Picture 2" descr="Figure B.8: The Mechanical Design Process According to Ullman [123] ">
            <a:extLst>
              <a:ext uri="{FF2B5EF4-FFF2-40B4-BE49-F238E27FC236}">
                <a16:creationId xmlns:a16="http://schemas.microsoft.com/office/drawing/2014/main" id="{A92E86C6-58A6-B493-9B79-0324444936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96" t="78" r="18996" b="-78"/>
          <a:stretch>
            <a:fillRect/>
          </a:stretch>
        </p:blipFill>
        <p:spPr bwMode="auto">
          <a:xfrm>
            <a:off x="10160000" y="1524740"/>
            <a:ext cx="1651000" cy="503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860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3FD2C-C2A6-FA75-067B-26B78D30E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D4526-1081-5FBE-75CE-FE2C8BCE1D39}"/>
              </a:ext>
            </a:extLst>
          </p:cNvPr>
          <p:cNvSpPr>
            <a:spLocks noGrp="1"/>
          </p:cNvSpPr>
          <p:nvPr>
            <p:ph type="title"/>
          </p:nvPr>
        </p:nvSpPr>
        <p:spPr/>
        <p:txBody>
          <a:bodyPr/>
          <a:lstStyle/>
          <a:p>
            <a:r>
              <a:rPr lang="en-US" b="1" dirty="0" err="1"/>
              <a:t>Bước</a:t>
            </a:r>
            <a:r>
              <a:rPr lang="en-US" b="1" dirty="0"/>
              <a:t> 5: </a:t>
            </a:r>
            <a:r>
              <a:rPr lang="en-US" b="1" dirty="0" err="1"/>
              <a:t>Hỗ</a:t>
            </a:r>
            <a:r>
              <a:rPr lang="en-US" b="1" dirty="0"/>
              <a:t> </a:t>
            </a:r>
            <a:r>
              <a:rPr lang="en-US" b="1" dirty="0" err="1"/>
              <a:t>trợ</a:t>
            </a:r>
            <a:r>
              <a:rPr lang="en-US" b="1" dirty="0"/>
              <a:t> </a:t>
            </a:r>
            <a:r>
              <a:rPr lang="en-US" b="1" dirty="0" err="1"/>
              <a:t>sản</a:t>
            </a:r>
            <a:r>
              <a:rPr lang="en-US" b="1" dirty="0"/>
              <a:t> </a:t>
            </a:r>
            <a:r>
              <a:rPr lang="en-US" b="1" dirty="0" err="1"/>
              <a:t>phẩm</a:t>
            </a:r>
            <a:endParaRPr lang="en-US" b="1" dirty="0"/>
          </a:p>
        </p:txBody>
      </p:sp>
      <p:sp>
        <p:nvSpPr>
          <p:cNvPr id="3" name="Content Placeholder 2">
            <a:extLst>
              <a:ext uri="{FF2B5EF4-FFF2-40B4-BE49-F238E27FC236}">
                <a16:creationId xmlns:a16="http://schemas.microsoft.com/office/drawing/2014/main" id="{8472C240-31F8-EB90-E99A-82BFF4E5C196}"/>
              </a:ext>
            </a:extLst>
          </p:cNvPr>
          <p:cNvSpPr>
            <a:spLocks noGrp="1"/>
          </p:cNvSpPr>
          <p:nvPr>
            <p:ph idx="1"/>
          </p:nvPr>
        </p:nvSpPr>
        <p:spPr>
          <a:xfrm>
            <a:off x="609600" y="1600200"/>
            <a:ext cx="8610600" cy="4876800"/>
          </a:xfrm>
        </p:spPr>
        <p:txBody>
          <a:bodyPr>
            <a:normAutofit/>
          </a:bodyPr>
          <a:lstStyle/>
          <a:p>
            <a:r>
              <a:rPr lang="en-US" b="1" dirty="0" err="1"/>
              <a:t>Mục</a:t>
            </a:r>
            <a:r>
              <a:rPr lang="en-US" b="1" dirty="0"/>
              <a:t> </a:t>
            </a:r>
            <a:r>
              <a:rPr lang="en-US" b="1" dirty="0" err="1"/>
              <a:t>tiêu</a:t>
            </a:r>
            <a:r>
              <a:rPr lang="en-US" b="1" dirty="0"/>
              <a:t>: </a:t>
            </a:r>
            <a:r>
              <a:rPr lang="vi-VN" dirty="0"/>
              <a:t>Duy trì vận hành và quản lý vòng đời của robot sau khi ra mắt</a:t>
            </a:r>
            <a:endParaRPr lang="en-US" dirty="0"/>
          </a:p>
          <a:p>
            <a:r>
              <a:rPr lang="en-US" b="1" dirty="0"/>
              <a:t>Công </a:t>
            </a:r>
            <a:r>
              <a:rPr lang="en-US" b="1" dirty="0" err="1"/>
              <a:t>việc</a:t>
            </a:r>
            <a:r>
              <a:rPr lang="en-US" b="1" dirty="0"/>
              <a:t>:</a:t>
            </a:r>
          </a:p>
          <a:p>
            <a:pPr lvl="1"/>
            <a:r>
              <a:rPr lang="vi-VN" dirty="0"/>
              <a:t>Hỗ trợ nhà cung cấp: Phối hợp với các bên cung cấp linh kiện để đảm bảo chất lượng đầu vào.</a:t>
            </a:r>
            <a:endParaRPr lang="en-US" dirty="0"/>
          </a:p>
          <a:p>
            <a:pPr lvl="1"/>
            <a:r>
              <a:rPr lang="vi-VN" dirty="0"/>
              <a:t>Duy trì các thay đổi kỹ thuật: Cập nhật, sửa lỗi phần mềm hoặc cải tiến phần cứng nếu phát sinh vấn đề.</a:t>
            </a:r>
            <a:endParaRPr lang="en-US" dirty="0"/>
          </a:p>
          <a:p>
            <a:pPr lvl="1"/>
            <a:r>
              <a:rPr lang="vi-VN" dirty="0"/>
              <a:t>Hỗ trợ khách hàng: Giải đáp thắc mắc, hướng dẫn sử dụng và bảo hành sản phẩm.</a:t>
            </a:r>
            <a:endParaRPr lang="en-US" dirty="0"/>
          </a:p>
          <a:p>
            <a:pPr lvl="1"/>
            <a:r>
              <a:rPr lang="vi-VN" dirty="0"/>
              <a:t>Hỗ trợ sản xuất &amp; Lắp ráp: Giải quyết các sự cố phát sinh ngay tại dây chuyền sản xuất.</a:t>
            </a:r>
            <a:endParaRPr lang="en-US" dirty="0"/>
          </a:p>
          <a:p>
            <a:pPr lvl="1"/>
            <a:r>
              <a:rPr lang="vi-VN" dirty="0"/>
              <a:t>Thu hồi/Kết thúc sản phẩm: Lên phương án xử lý khi sản phẩm lỗi thời hoặc thay thế bằng thế hệ mới.</a:t>
            </a:r>
            <a:endParaRPr lang="en-US" dirty="0"/>
          </a:p>
        </p:txBody>
      </p:sp>
      <p:sp>
        <p:nvSpPr>
          <p:cNvPr id="4" name="Slide Number Placeholder 3">
            <a:extLst>
              <a:ext uri="{FF2B5EF4-FFF2-40B4-BE49-F238E27FC236}">
                <a16:creationId xmlns:a16="http://schemas.microsoft.com/office/drawing/2014/main" id="{09F920DE-F8B5-CE3D-DE93-CE5C22C51708}"/>
              </a:ext>
            </a:extLst>
          </p:cNvPr>
          <p:cNvSpPr>
            <a:spLocks noGrp="1"/>
          </p:cNvSpPr>
          <p:nvPr>
            <p:ph type="sldNum" sz="quarter" idx="12"/>
          </p:nvPr>
        </p:nvSpPr>
        <p:spPr/>
        <p:txBody>
          <a:bodyPr/>
          <a:lstStyle/>
          <a:p>
            <a:fld id="{3957FE44-DABC-424D-A234-74BB9410FF27}" type="slidenum">
              <a:rPr lang="en-US" smtClean="0"/>
              <a:pPr/>
              <a:t>9</a:t>
            </a:fld>
            <a:endParaRPr lang="en-US" dirty="0"/>
          </a:p>
        </p:txBody>
      </p:sp>
      <p:pic>
        <p:nvPicPr>
          <p:cNvPr id="5" name="Picture 2" descr="Figure B.8: The Mechanical Design Process According to Ullman [123] ">
            <a:extLst>
              <a:ext uri="{FF2B5EF4-FFF2-40B4-BE49-F238E27FC236}">
                <a16:creationId xmlns:a16="http://schemas.microsoft.com/office/drawing/2014/main" id="{3BE0B0D0-A80E-4064-57F7-5505EC578A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434" t="78" r="158" b="-78"/>
          <a:stretch>
            <a:fillRect/>
          </a:stretch>
        </p:blipFill>
        <p:spPr bwMode="auto">
          <a:xfrm>
            <a:off x="10160000" y="1524740"/>
            <a:ext cx="1651000" cy="503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375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0D803-5982-C99B-9FD0-CE42E18383D8}"/>
              </a:ext>
            </a:extLst>
          </p:cNvPr>
          <p:cNvSpPr>
            <a:spLocks noGrp="1"/>
          </p:cNvSpPr>
          <p:nvPr>
            <p:ph type="title"/>
          </p:nvPr>
        </p:nvSpPr>
        <p:spPr/>
        <p:txBody>
          <a:bodyPr/>
          <a:lstStyle/>
          <a:p>
            <a:r>
              <a:rPr lang="en-US" b="1" dirty="0" err="1"/>
              <a:t>Dự</a:t>
            </a:r>
            <a:r>
              <a:rPr lang="en-US" b="1" dirty="0"/>
              <a:t> </a:t>
            </a:r>
            <a:r>
              <a:rPr lang="en-US" b="1" dirty="0" err="1"/>
              <a:t>án</a:t>
            </a:r>
            <a:r>
              <a:rPr lang="en-US" b="1" dirty="0"/>
              <a:t> </a:t>
            </a:r>
            <a:r>
              <a:rPr lang="en-US" b="1" dirty="0" err="1"/>
              <a:t>mẫu</a:t>
            </a:r>
            <a:endParaRPr lang="en-US" b="1" dirty="0"/>
          </a:p>
        </p:txBody>
      </p:sp>
      <p:sp>
        <p:nvSpPr>
          <p:cNvPr id="4" name="Slide Number Placeholder 3">
            <a:extLst>
              <a:ext uri="{FF2B5EF4-FFF2-40B4-BE49-F238E27FC236}">
                <a16:creationId xmlns:a16="http://schemas.microsoft.com/office/drawing/2014/main" id="{B0848775-C773-7B30-F306-9B01F3E4FC6C}"/>
              </a:ext>
            </a:extLst>
          </p:cNvPr>
          <p:cNvSpPr>
            <a:spLocks noGrp="1"/>
          </p:cNvSpPr>
          <p:nvPr>
            <p:ph type="sldNum" sz="quarter" idx="12"/>
          </p:nvPr>
        </p:nvSpPr>
        <p:spPr/>
        <p:txBody>
          <a:bodyPr/>
          <a:lstStyle/>
          <a:p>
            <a:fld id="{3957FE44-DABC-424D-A234-74BB9410FF27}" type="slidenum">
              <a:rPr lang="en-US" smtClean="0"/>
              <a:pPr/>
              <a:t>10</a:t>
            </a:fld>
            <a:endParaRPr lang="en-US" dirty="0"/>
          </a:p>
        </p:txBody>
      </p:sp>
      <p:pic>
        <p:nvPicPr>
          <p:cNvPr id="1026" name="Picture 2" descr="Boston Dynamics' Robot Dog Price and Availability - IEEE Spectrum">
            <a:extLst>
              <a:ext uri="{FF2B5EF4-FFF2-40B4-BE49-F238E27FC236}">
                <a16:creationId xmlns:a16="http://schemas.microsoft.com/office/drawing/2014/main" id="{C9794EC2-E676-4246-D13D-CCE8A6E59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133600"/>
            <a:ext cx="4762501" cy="30718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eyup | Unitree GO2 robot dog - Heyup">
            <a:extLst>
              <a:ext uri="{FF2B5EF4-FFF2-40B4-BE49-F238E27FC236}">
                <a16:creationId xmlns:a16="http://schemas.microsoft.com/office/drawing/2014/main" id="{960FA9EB-9799-C0DF-F8F3-9CA0797358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9000" y="2133600"/>
            <a:ext cx="3071813" cy="30718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FCDDAF8-12E9-F1A5-4AB2-3E1A4D3EFB31}"/>
              </a:ext>
            </a:extLst>
          </p:cNvPr>
          <p:cNvSpPr txBox="1"/>
          <p:nvPr/>
        </p:nvSpPr>
        <p:spPr>
          <a:xfrm>
            <a:off x="3655267" y="5943600"/>
            <a:ext cx="4881465" cy="461665"/>
          </a:xfrm>
          <a:prstGeom prst="rect">
            <a:avLst/>
          </a:prstGeom>
          <a:noFill/>
        </p:spPr>
        <p:txBody>
          <a:bodyPr wrap="none" rtlCol="0">
            <a:spAutoFit/>
          </a:bodyPr>
          <a:lstStyle/>
          <a:p>
            <a:r>
              <a:rPr lang="en-US" sz="2400" b="1" dirty="0"/>
              <a:t>Robot 4 </a:t>
            </a:r>
            <a:r>
              <a:rPr lang="en-US" sz="2400" b="1" dirty="0" err="1"/>
              <a:t>chân</a:t>
            </a:r>
            <a:r>
              <a:rPr lang="en-US" sz="2400" b="1" dirty="0"/>
              <a:t> (quadruped robot)</a:t>
            </a:r>
          </a:p>
        </p:txBody>
      </p:sp>
      <p:sp>
        <p:nvSpPr>
          <p:cNvPr id="6" name="TextBox 5">
            <a:extLst>
              <a:ext uri="{FF2B5EF4-FFF2-40B4-BE49-F238E27FC236}">
                <a16:creationId xmlns:a16="http://schemas.microsoft.com/office/drawing/2014/main" id="{CA827986-81FD-D5A4-0502-3F0258DD74CE}"/>
              </a:ext>
            </a:extLst>
          </p:cNvPr>
          <p:cNvSpPr txBox="1"/>
          <p:nvPr/>
        </p:nvSpPr>
        <p:spPr>
          <a:xfrm>
            <a:off x="1671762" y="5205413"/>
            <a:ext cx="3552576" cy="461665"/>
          </a:xfrm>
          <a:prstGeom prst="rect">
            <a:avLst/>
          </a:prstGeom>
          <a:noFill/>
        </p:spPr>
        <p:txBody>
          <a:bodyPr wrap="none" rtlCol="0">
            <a:spAutoFit/>
          </a:bodyPr>
          <a:lstStyle/>
          <a:p>
            <a:r>
              <a:rPr lang="en-US" sz="2400" b="1" dirty="0"/>
              <a:t>Boston Dynamics Spot</a:t>
            </a:r>
          </a:p>
        </p:txBody>
      </p:sp>
      <p:sp>
        <p:nvSpPr>
          <p:cNvPr id="7" name="TextBox 6">
            <a:extLst>
              <a:ext uri="{FF2B5EF4-FFF2-40B4-BE49-F238E27FC236}">
                <a16:creationId xmlns:a16="http://schemas.microsoft.com/office/drawing/2014/main" id="{4D82FDB2-FF96-EBC2-4989-128E6BD90A95}"/>
              </a:ext>
            </a:extLst>
          </p:cNvPr>
          <p:cNvSpPr txBox="1"/>
          <p:nvPr/>
        </p:nvSpPr>
        <p:spPr>
          <a:xfrm>
            <a:off x="7892307" y="5205413"/>
            <a:ext cx="2013693" cy="461665"/>
          </a:xfrm>
          <a:prstGeom prst="rect">
            <a:avLst/>
          </a:prstGeom>
          <a:noFill/>
        </p:spPr>
        <p:txBody>
          <a:bodyPr wrap="none" rtlCol="0">
            <a:spAutoFit/>
          </a:bodyPr>
          <a:lstStyle/>
          <a:p>
            <a:r>
              <a:rPr lang="en-US" sz="2400" b="1" dirty="0"/>
              <a:t>Unitree Go 2</a:t>
            </a:r>
          </a:p>
        </p:txBody>
      </p:sp>
    </p:spTree>
    <p:extLst>
      <p:ext uri="{BB962C8B-B14F-4D97-AF65-F5344CB8AC3E}">
        <p14:creationId xmlns:p14="http://schemas.microsoft.com/office/powerpoint/2010/main" val="175993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D61F2-4C70-038B-C203-71826139F4B5}"/>
              </a:ext>
            </a:extLst>
          </p:cNvPr>
          <p:cNvSpPr>
            <a:spLocks noGrp="1"/>
          </p:cNvSpPr>
          <p:nvPr>
            <p:ph type="title"/>
          </p:nvPr>
        </p:nvSpPr>
        <p:spPr/>
        <p:txBody>
          <a:bodyPr/>
          <a:lstStyle/>
          <a:p>
            <a:r>
              <a:rPr lang="en-US" b="1" dirty="0"/>
              <a:t>Hoạt </a:t>
            </a:r>
            <a:r>
              <a:rPr lang="en-US" b="1" dirty="0" err="1"/>
              <a:t>động</a:t>
            </a:r>
            <a:r>
              <a:rPr lang="en-US" b="1" dirty="0"/>
              <a:t> </a:t>
            </a:r>
            <a:r>
              <a:rPr lang="en-US" b="1" dirty="0" err="1"/>
              <a:t>trên</a:t>
            </a:r>
            <a:r>
              <a:rPr lang="en-US" b="1" dirty="0"/>
              <a:t> </a:t>
            </a:r>
            <a:r>
              <a:rPr lang="en-US" b="1" dirty="0" err="1"/>
              <a:t>lớp</a:t>
            </a:r>
            <a:endParaRPr lang="en-US" b="1" dirty="0"/>
          </a:p>
        </p:txBody>
      </p:sp>
      <p:sp>
        <p:nvSpPr>
          <p:cNvPr id="3" name="Content Placeholder 2">
            <a:extLst>
              <a:ext uri="{FF2B5EF4-FFF2-40B4-BE49-F238E27FC236}">
                <a16:creationId xmlns:a16="http://schemas.microsoft.com/office/drawing/2014/main" id="{FB5BC107-B6CD-4E41-D79C-3928260C8203}"/>
              </a:ext>
            </a:extLst>
          </p:cNvPr>
          <p:cNvSpPr>
            <a:spLocks noGrp="1"/>
          </p:cNvSpPr>
          <p:nvPr>
            <p:ph idx="1"/>
          </p:nvPr>
        </p:nvSpPr>
        <p:spPr/>
        <p:txBody>
          <a:bodyPr/>
          <a:lstStyle/>
          <a:p>
            <a:r>
              <a:rPr lang="en-US" dirty="0"/>
              <a:t>Chia </a:t>
            </a:r>
            <a:r>
              <a:rPr lang="en-US" dirty="0" err="1"/>
              <a:t>nhóm</a:t>
            </a:r>
            <a:r>
              <a:rPr lang="en-US" dirty="0"/>
              <a:t>: 10p</a:t>
            </a:r>
          </a:p>
          <a:p>
            <a:r>
              <a:rPr lang="en-US" dirty="0"/>
              <a:t>Xác </a:t>
            </a:r>
            <a:r>
              <a:rPr lang="en-US" dirty="0" err="1"/>
              <a:t>định</a:t>
            </a:r>
            <a:r>
              <a:rPr lang="en-US" dirty="0"/>
              <a:t> </a:t>
            </a:r>
            <a:r>
              <a:rPr lang="en-US" dirty="0" err="1"/>
              <a:t>mục</a:t>
            </a:r>
            <a:r>
              <a:rPr lang="en-US" dirty="0"/>
              <a:t> </a:t>
            </a:r>
            <a:r>
              <a:rPr lang="en-US" dirty="0" err="1"/>
              <a:t>tiêu</a:t>
            </a:r>
            <a:r>
              <a:rPr lang="en-US" dirty="0"/>
              <a:t> </a:t>
            </a:r>
            <a:r>
              <a:rPr lang="en-US" dirty="0" err="1"/>
              <a:t>và</a:t>
            </a:r>
            <a:r>
              <a:rPr lang="en-US" dirty="0"/>
              <a:t> </a:t>
            </a:r>
            <a:r>
              <a:rPr lang="en-US" dirty="0" err="1"/>
              <a:t>tính</a:t>
            </a:r>
            <a:r>
              <a:rPr lang="en-US" dirty="0"/>
              <a:t> </a:t>
            </a:r>
            <a:r>
              <a:rPr lang="en-US" dirty="0" err="1"/>
              <a:t>cấp</a:t>
            </a:r>
            <a:r>
              <a:rPr lang="en-US" dirty="0"/>
              <a:t> </a:t>
            </a:r>
            <a:r>
              <a:rPr lang="en-US" dirty="0" err="1"/>
              <a:t>thiết</a:t>
            </a:r>
            <a:r>
              <a:rPr lang="en-US" dirty="0"/>
              <a:t> (15p)</a:t>
            </a:r>
          </a:p>
          <a:p>
            <a:r>
              <a:rPr lang="en-US" dirty="0" err="1"/>
              <a:t>Xây</a:t>
            </a:r>
            <a:r>
              <a:rPr lang="en-US" dirty="0"/>
              <a:t> </a:t>
            </a:r>
            <a:r>
              <a:rPr lang="en-US" dirty="0" err="1"/>
              <a:t>dựng</a:t>
            </a:r>
            <a:r>
              <a:rPr lang="en-US" dirty="0"/>
              <a:t> </a:t>
            </a:r>
            <a:r>
              <a:rPr lang="vi-VN" dirty="0"/>
              <a:t>danh mục công việc</a:t>
            </a:r>
            <a:r>
              <a:rPr lang="en-US" dirty="0"/>
              <a:t> </a:t>
            </a:r>
            <a:r>
              <a:rPr lang="en-US" dirty="0" err="1"/>
              <a:t>trong</a:t>
            </a:r>
            <a:r>
              <a:rPr lang="en-US" dirty="0"/>
              <a:t> 8 </a:t>
            </a:r>
            <a:r>
              <a:rPr lang="en-US" dirty="0" err="1"/>
              <a:t>tuần</a:t>
            </a:r>
            <a:r>
              <a:rPr lang="en-US" dirty="0"/>
              <a:t> (15 - 30p)</a:t>
            </a:r>
          </a:p>
          <a:p>
            <a:r>
              <a:rPr lang="en-US" dirty="0"/>
              <a:t>Ước </a:t>
            </a:r>
            <a:r>
              <a:rPr lang="en-US" dirty="0" err="1"/>
              <a:t>tính</a:t>
            </a:r>
            <a:r>
              <a:rPr lang="en-US" dirty="0"/>
              <a:t> </a:t>
            </a:r>
            <a:r>
              <a:rPr lang="en-US" dirty="0" err="1"/>
              <a:t>thời</a:t>
            </a:r>
            <a:r>
              <a:rPr lang="en-US" dirty="0"/>
              <a:t> </a:t>
            </a:r>
            <a:r>
              <a:rPr lang="en-US" dirty="0" err="1"/>
              <a:t>thực</a:t>
            </a:r>
            <a:r>
              <a:rPr lang="en-US" dirty="0"/>
              <a:t> </a:t>
            </a:r>
            <a:r>
              <a:rPr lang="en-US" dirty="0" err="1"/>
              <a:t>hiện</a:t>
            </a:r>
            <a:r>
              <a:rPr lang="en-US" dirty="0"/>
              <a:t> (30p)</a:t>
            </a:r>
          </a:p>
        </p:txBody>
      </p:sp>
      <p:sp>
        <p:nvSpPr>
          <p:cNvPr id="4" name="Slide Number Placeholder 3">
            <a:extLst>
              <a:ext uri="{FF2B5EF4-FFF2-40B4-BE49-F238E27FC236}">
                <a16:creationId xmlns:a16="http://schemas.microsoft.com/office/drawing/2014/main" id="{7F374431-D4FE-502E-5288-D6A876FE5E5B}"/>
              </a:ext>
            </a:extLst>
          </p:cNvPr>
          <p:cNvSpPr>
            <a:spLocks noGrp="1"/>
          </p:cNvSpPr>
          <p:nvPr>
            <p:ph type="sldNum" sz="quarter" idx="12"/>
          </p:nvPr>
        </p:nvSpPr>
        <p:spPr/>
        <p:txBody>
          <a:bodyPr/>
          <a:lstStyle/>
          <a:p>
            <a:fld id="{3957FE44-DABC-424D-A234-74BB9410FF27}" type="slidenum">
              <a:rPr lang="en-US" smtClean="0"/>
              <a:pPr/>
              <a:t>11</a:t>
            </a:fld>
            <a:endParaRPr lang="en-US" dirty="0"/>
          </a:p>
        </p:txBody>
      </p:sp>
    </p:spTree>
    <p:extLst>
      <p:ext uri="{BB962C8B-B14F-4D97-AF65-F5344CB8AC3E}">
        <p14:creationId xmlns:p14="http://schemas.microsoft.com/office/powerpoint/2010/main" val="2823183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13D51-96F0-0988-30C6-FDEA1890EEAD}"/>
              </a:ext>
            </a:extLst>
          </p:cNvPr>
          <p:cNvSpPr>
            <a:spLocks noGrp="1"/>
          </p:cNvSpPr>
          <p:nvPr>
            <p:ph type="title"/>
          </p:nvPr>
        </p:nvSpPr>
        <p:spPr/>
        <p:txBody>
          <a:bodyPr/>
          <a:lstStyle/>
          <a:p>
            <a:r>
              <a:rPr lang="en-US" b="1" dirty="0"/>
              <a:t>Xây </a:t>
            </a:r>
            <a:r>
              <a:rPr lang="en-US" b="1" dirty="0" err="1"/>
              <a:t>dựng</a:t>
            </a:r>
            <a:r>
              <a:rPr lang="en-US" b="1" dirty="0"/>
              <a:t> d</a:t>
            </a:r>
            <a:r>
              <a:rPr lang="vi-VN" b="1" dirty="0"/>
              <a:t>anh mục công việc</a:t>
            </a:r>
            <a:endParaRPr lang="en-US" b="1" dirty="0"/>
          </a:p>
        </p:txBody>
      </p:sp>
      <p:sp>
        <p:nvSpPr>
          <p:cNvPr id="3" name="Content Placeholder 2">
            <a:extLst>
              <a:ext uri="{FF2B5EF4-FFF2-40B4-BE49-F238E27FC236}">
                <a16:creationId xmlns:a16="http://schemas.microsoft.com/office/drawing/2014/main" id="{6C91EC73-D0B7-EB49-6E3D-0DC4B765599E}"/>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6A57AEC4-6E27-FE43-B96C-50815B888833}"/>
              </a:ext>
            </a:extLst>
          </p:cNvPr>
          <p:cNvSpPr>
            <a:spLocks noGrp="1"/>
          </p:cNvSpPr>
          <p:nvPr>
            <p:ph type="sldNum" sz="quarter" idx="12"/>
          </p:nvPr>
        </p:nvSpPr>
        <p:spPr/>
        <p:txBody>
          <a:bodyPr/>
          <a:lstStyle/>
          <a:p>
            <a:fld id="{3957FE44-DABC-424D-A234-74BB9410FF27}" type="slidenum">
              <a:rPr lang="en-US" smtClean="0"/>
              <a:pPr/>
              <a:t>12</a:t>
            </a:fld>
            <a:endParaRPr lang="en-US" dirty="0"/>
          </a:p>
        </p:txBody>
      </p:sp>
    </p:spTree>
    <p:extLst>
      <p:ext uri="{BB962C8B-B14F-4D97-AF65-F5344CB8AC3E}">
        <p14:creationId xmlns:p14="http://schemas.microsoft.com/office/powerpoint/2010/main" val="3179957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A55F-AA5D-4E97-B25D-AA893B8F45B1}"/>
              </a:ext>
            </a:extLst>
          </p:cNvPr>
          <p:cNvSpPr>
            <a:spLocks noGrp="1"/>
          </p:cNvSpPr>
          <p:nvPr>
            <p:ph type="title"/>
          </p:nvPr>
        </p:nvSpPr>
        <p:spPr/>
        <p:txBody>
          <a:bodyPr/>
          <a:lstStyle/>
          <a:p>
            <a:r>
              <a:rPr lang="en-US" b="1" dirty="0" err="1"/>
              <a:t>Xác</a:t>
            </a:r>
            <a:r>
              <a:rPr lang="en-US" b="1" dirty="0"/>
              <a:t> </a:t>
            </a:r>
            <a:r>
              <a:rPr lang="en-US" b="1" dirty="0" err="1"/>
              <a:t>định</a:t>
            </a:r>
            <a:r>
              <a:rPr lang="en-US" b="1" dirty="0"/>
              <a:t> </a:t>
            </a:r>
            <a:r>
              <a:rPr lang="en-US" b="1" dirty="0" err="1"/>
              <a:t>thông</a:t>
            </a:r>
            <a:r>
              <a:rPr lang="en-US" b="1" dirty="0"/>
              <a:t> </a:t>
            </a:r>
            <a:r>
              <a:rPr lang="en-US" b="1" dirty="0" err="1"/>
              <a:t>số</a:t>
            </a:r>
            <a:r>
              <a:rPr lang="en-US" b="1" dirty="0"/>
              <a:t> </a:t>
            </a:r>
            <a:r>
              <a:rPr lang="en-US" b="1" dirty="0" err="1"/>
              <a:t>mục</a:t>
            </a:r>
            <a:r>
              <a:rPr lang="en-US" b="1" dirty="0"/>
              <a:t> </a:t>
            </a:r>
            <a:r>
              <a:rPr lang="en-US" b="1" dirty="0" err="1"/>
              <a:t>tiêu</a:t>
            </a:r>
            <a:endParaRPr lang="en-US" b="1" dirty="0"/>
          </a:p>
        </p:txBody>
      </p:sp>
      <p:sp>
        <p:nvSpPr>
          <p:cNvPr id="3" name="Content Placeholder 2">
            <a:extLst>
              <a:ext uri="{FF2B5EF4-FFF2-40B4-BE49-F238E27FC236}">
                <a16:creationId xmlns:a16="http://schemas.microsoft.com/office/drawing/2014/main" id="{E71CB311-D8E6-455F-9126-FBF82FD7DD69}"/>
              </a:ext>
            </a:extLst>
          </p:cNvPr>
          <p:cNvSpPr>
            <a:spLocks noGrp="1"/>
          </p:cNvSpPr>
          <p:nvPr>
            <p:ph idx="1"/>
          </p:nvPr>
        </p:nvSpPr>
        <p:spPr/>
        <p:txBody>
          <a:bodyPr/>
          <a:lstStyle/>
          <a:p>
            <a:r>
              <a:rPr lang="en-US" dirty="0"/>
              <a:t>X</a:t>
            </a:r>
            <a:r>
              <a:rPr lang="vi-VN" dirty="0"/>
              <a:t>ác định thông số mục tiêu (Target Specifications) là bước quan trọng nhất để đảm bảo sản phẩm cuối cùng không chỉ hoạt động được mà còn tối ưu về chi phí và hiệu suất</a:t>
            </a:r>
            <a:endParaRPr lang="en-US" dirty="0"/>
          </a:p>
          <a:p>
            <a:r>
              <a:rPr lang="en-US" dirty="0" err="1"/>
              <a:t>Các</a:t>
            </a:r>
            <a:r>
              <a:rPr lang="en-US" dirty="0"/>
              <a:t> </a:t>
            </a:r>
            <a:r>
              <a:rPr lang="en-US" dirty="0" err="1"/>
              <a:t>nhóm</a:t>
            </a:r>
            <a:r>
              <a:rPr lang="en-US" dirty="0"/>
              <a:t> </a:t>
            </a:r>
            <a:r>
              <a:rPr lang="en-US" dirty="0" err="1"/>
              <a:t>thông</a:t>
            </a:r>
            <a:r>
              <a:rPr lang="en-US" dirty="0"/>
              <a:t> </a:t>
            </a:r>
            <a:r>
              <a:rPr lang="en-US" dirty="0" err="1"/>
              <a:t>số</a:t>
            </a:r>
            <a:r>
              <a:rPr lang="en-US" dirty="0"/>
              <a:t> </a:t>
            </a:r>
            <a:r>
              <a:rPr lang="en-US" dirty="0" err="1"/>
              <a:t>chính</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D88043B3-ECFB-4FBD-A405-CFF9FAF8BE65}"/>
              </a:ext>
            </a:extLst>
          </p:cNvPr>
          <p:cNvSpPr>
            <a:spLocks noGrp="1"/>
          </p:cNvSpPr>
          <p:nvPr>
            <p:ph type="sldNum" sz="quarter" idx="12"/>
          </p:nvPr>
        </p:nvSpPr>
        <p:spPr/>
        <p:txBody>
          <a:bodyPr/>
          <a:lstStyle/>
          <a:p>
            <a:fld id="{3957FE44-DABC-424D-A234-74BB9410FF27}" type="slidenum">
              <a:rPr lang="en-US" smtClean="0"/>
              <a:pPr/>
              <a:t>13</a:t>
            </a:fld>
            <a:endParaRPr lang="en-US" dirty="0"/>
          </a:p>
        </p:txBody>
      </p:sp>
      <p:graphicFrame>
        <p:nvGraphicFramePr>
          <p:cNvPr id="5" name="Table 5">
            <a:extLst>
              <a:ext uri="{FF2B5EF4-FFF2-40B4-BE49-F238E27FC236}">
                <a16:creationId xmlns:a16="http://schemas.microsoft.com/office/drawing/2014/main" id="{0DE853F5-2C90-4716-89DE-653CF4791C9B}"/>
              </a:ext>
            </a:extLst>
          </p:cNvPr>
          <p:cNvGraphicFramePr>
            <a:graphicFrameLocks noGrp="1"/>
          </p:cNvGraphicFramePr>
          <p:nvPr>
            <p:extLst>
              <p:ext uri="{D42A27DB-BD31-4B8C-83A1-F6EECF244321}">
                <p14:modId xmlns:p14="http://schemas.microsoft.com/office/powerpoint/2010/main" val="3817508426"/>
              </p:ext>
            </p:extLst>
          </p:nvPr>
        </p:nvGraphicFramePr>
        <p:xfrm>
          <a:off x="2286000" y="3396673"/>
          <a:ext cx="8128000" cy="330200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3471270466"/>
                    </a:ext>
                  </a:extLst>
                </a:gridCol>
                <a:gridCol w="4064000">
                  <a:extLst>
                    <a:ext uri="{9D8B030D-6E8A-4147-A177-3AD203B41FA5}">
                      <a16:colId xmlns:a16="http://schemas.microsoft.com/office/drawing/2014/main" val="4232692764"/>
                    </a:ext>
                  </a:extLst>
                </a:gridCol>
              </a:tblGrid>
              <a:tr h="370840">
                <a:tc>
                  <a:txBody>
                    <a:bodyPr/>
                    <a:lstStyle/>
                    <a:p>
                      <a:r>
                        <a:rPr lang="en-US" dirty="0" err="1"/>
                        <a:t>Nhóm</a:t>
                      </a:r>
                      <a:r>
                        <a:rPr lang="en-US" dirty="0"/>
                        <a:t> </a:t>
                      </a:r>
                      <a:r>
                        <a:rPr lang="en-US" dirty="0" err="1"/>
                        <a:t>thông</a:t>
                      </a:r>
                      <a:r>
                        <a:rPr lang="en-US" dirty="0"/>
                        <a:t> </a:t>
                      </a:r>
                      <a:r>
                        <a:rPr lang="en-US" dirty="0" err="1"/>
                        <a:t>số</a:t>
                      </a:r>
                      <a:endParaRPr lang="en-US" dirty="0"/>
                    </a:p>
                  </a:txBody>
                  <a:tcPr/>
                </a:tc>
                <a:tc>
                  <a:txBody>
                    <a:bodyPr/>
                    <a:lstStyle/>
                    <a:p>
                      <a:r>
                        <a:rPr lang="en-US" dirty="0" err="1"/>
                        <a:t>Ví</a:t>
                      </a:r>
                      <a:r>
                        <a:rPr lang="en-US" dirty="0"/>
                        <a:t> </a:t>
                      </a:r>
                      <a:r>
                        <a:rPr lang="en-US" dirty="0" err="1"/>
                        <a:t>dụ</a:t>
                      </a:r>
                      <a:endParaRPr lang="en-US" dirty="0"/>
                    </a:p>
                  </a:txBody>
                  <a:tcPr/>
                </a:tc>
                <a:extLst>
                  <a:ext uri="{0D108BD9-81ED-4DB2-BD59-A6C34878D82A}">
                    <a16:rowId xmlns:a16="http://schemas.microsoft.com/office/drawing/2014/main" val="2672412513"/>
                  </a:ext>
                </a:extLst>
              </a:tr>
              <a:tr h="370840">
                <a:tc>
                  <a:txBody>
                    <a:bodyPr/>
                    <a:lstStyle/>
                    <a:p>
                      <a:r>
                        <a:rPr lang="en-US" b="1" dirty="0" err="1"/>
                        <a:t>Hình</a:t>
                      </a:r>
                      <a:r>
                        <a:rPr lang="en-US" b="1" dirty="0"/>
                        <a:t> </a:t>
                      </a:r>
                      <a:r>
                        <a:rPr lang="en-US" b="1" dirty="0" err="1"/>
                        <a:t>học</a:t>
                      </a:r>
                      <a:r>
                        <a:rPr lang="en-US" b="1" dirty="0"/>
                        <a:t> </a:t>
                      </a:r>
                      <a:r>
                        <a:rPr lang="en-US" dirty="0"/>
                        <a:t>(Geometry)</a:t>
                      </a:r>
                    </a:p>
                  </a:txBody>
                  <a:tcPr/>
                </a:tc>
                <a:tc>
                  <a:txBody>
                    <a:bodyPr/>
                    <a:lstStyle/>
                    <a:p>
                      <a:r>
                        <a:rPr lang="vi-VN" dirty="0"/>
                        <a:t>Kích thước dài x rộng x cao, khoảng </a:t>
                      </a:r>
                      <a:r>
                        <a:rPr lang="en-US" dirty="0" err="1"/>
                        <a:t>cách</a:t>
                      </a:r>
                      <a:r>
                        <a:rPr lang="vi-VN" dirty="0"/>
                        <a:t> gầm xe, bán kính quay vòng</a:t>
                      </a:r>
                      <a:endParaRPr lang="en-US" dirty="0"/>
                    </a:p>
                  </a:txBody>
                  <a:tcPr/>
                </a:tc>
                <a:extLst>
                  <a:ext uri="{0D108BD9-81ED-4DB2-BD59-A6C34878D82A}">
                    <a16:rowId xmlns:a16="http://schemas.microsoft.com/office/drawing/2014/main" val="3380601231"/>
                  </a:ext>
                </a:extLst>
              </a:tr>
              <a:tr h="370840">
                <a:tc>
                  <a:txBody>
                    <a:bodyPr/>
                    <a:lstStyle/>
                    <a:p>
                      <a:r>
                        <a:rPr lang="en-US" b="1" dirty="0" err="1"/>
                        <a:t>Động</a:t>
                      </a:r>
                      <a:r>
                        <a:rPr lang="en-US" b="1" dirty="0"/>
                        <a:t> </a:t>
                      </a:r>
                      <a:r>
                        <a:rPr lang="en-US" b="1" dirty="0" err="1"/>
                        <a:t>lực</a:t>
                      </a:r>
                      <a:r>
                        <a:rPr lang="en-US" b="1" dirty="0"/>
                        <a:t> </a:t>
                      </a:r>
                      <a:r>
                        <a:rPr lang="en-US" b="1" dirty="0" err="1"/>
                        <a:t>học</a:t>
                      </a:r>
                      <a:r>
                        <a:rPr lang="en-US" b="1" dirty="0"/>
                        <a:t> </a:t>
                      </a:r>
                      <a:r>
                        <a:rPr lang="en-US" dirty="0"/>
                        <a:t>(Dynamics)</a:t>
                      </a:r>
                    </a:p>
                  </a:txBody>
                  <a:tcPr/>
                </a:tc>
                <a:tc>
                  <a:txBody>
                    <a:bodyPr/>
                    <a:lstStyle/>
                    <a:p>
                      <a:r>
                        <a:rPr lang="en-US" dirty="0" err="1"/>
                        <a:t>Vận</a:t>
                      </a:r>
                      <a:r>
                        <a:rPr lang="en-US" dirty="0"/>
                        <a:t> </a:t>
                      </a:r>
                      <a:r>
                        <a:rPr lang="en-US" dirty="0" err="1"/>
                        <a:t>tốc</a:t>
                      </a:r>
                      <a:r>
                        <a:rPr lang="en-US" dirty="0"/>
                        <a:t> </a:t>
                      </a:r>
                      <a:r>
                        <a:rPr lang="en-US" dirty="0" err="1"/>
                        <a:t>tối</a:t>
                      </a:r>
                      <a:r>
                        <a:rPr lang="en-US" dirty="0"/>
                        <a:t> </a:t>
                      </a:r>
                      <a:r>
                        <a:rPr lang="en-US" dirty="0" err="1"/>
                        <a:t>đa</a:t>
                      </a:r>
                      <a:r>
                        <a:rPr lang="en-US" dirty="0"/>
                        <a:t>, </a:t>
                      </a:r>
                      <a:r>
                        <a:rPr lang="en-US" dirty="0" err="1"/>
                        <a:t>gia</a:t>
                      </a:r>
                      <a:r>
                        <a:rPr lang="en-US" dirty="0"/>
                        <a:t> </a:t>
                      </a:r>
                      <a:r>
                        <a:rPr lang="en-US" dirty="0" err="1"/>
                        <a:t>tốc</a:t>
                      </a:r>
                      <a:r>
                        <a:rPr lang="en-US" dirty="0"/>
                        <a:t>, </a:t>
                      </a:r>
                      <a:r>
                        <a:rPr lang="en-US" dirty="0" err="1"/>
                        <a:t>mô</a:t>
                      </a:r>
                      <a:r>
                        <a:rPr lang="en-US" dirty="0"/>
                        <a:t>-men </a:t>
                      </a:r>
                      <a:r>
                        <a:rPr lang="en-US" dirty="0" err="1"/>
                        <a:t>xoắn</a:t>
                      </a:r>
                      <a:r>
                        <a:rPr lang="en-US" dirty="0"/>
                        <a:t>, </a:t>
                      </a:r>
                      <a:r>
                        <a:rPr lang="en-US" dirty="0" err="1"/>
                        <a:t>khả</a:t>
                      </a:r>
                      <a:r>
                        <a:rPr lang="en-US" dirty="0"/>
                        <a:t> </a:t>
                      </a:r>
                      <a:r>
                        <a:rPr lang="en-US" dirty="0" err="1"/>
                        <a:t>năng</a:t>
                      </a:r>
                      <a:r>
                        <a:rPr lang="en-US" dirty="0"/>
                        <a:t> </a:t>
                      </a:r>
                      <a:r>
                        <a:rPr lang="en-US" dirty="0" err="1"/>
                        <a:t>leo</a:t>
                      </a:r>
                      <a:r>
                        <a:rPr lang="en-US" dirty="0"/>
                        <a:t> </a:t>
                      </a:r>
                      <a:r>
                        <a:rPr lang="en-US" dirty="0" err="1"/>
                        <a:t>dốc</a:t>
                      </a:r>
                      <a:endParaRPr lang="en-US" dirty="0"/>
                    </a:p>
                  </a:txBody>
                  <a:tcPr/>
                </a:tc>
                <a:extLst>
                  <a:ext uri="{0D108BD9-81ED-4DB2-BD59-A6C34878D82A}">
                    <a16:rowId xmlns:a16="http://schemas.microsoft.com/office/drawing/2014/main" val="3489203253"/>
                  </a:ext>
                </a:extLst>
              </a:tr>
              <a:tr h="370840">
                <a:tc>
                  <a:txBody>
                    <a:bodyPr/>
                    <a:lstStyle/>
                    <a:p>
                      <a:r>
                        <a:rPr lang="en-US" b="1" dirty="0" err="1"/>
                        <a:t>Độ</a:t>
                      </a:r>
                      <a:r>
                        <a:rPr lang="en-US" b="1" dirty="0"/>
                        <a:t> </a:t>
                      </a:r>
                      <a:r>
                        <a:rPr lang="en-US" b="1" dirty="0" err="1"/>
                        <a:t>chính</a:t>
                      </a:r>
                      <a:r>
                        <a:rPr lang="en-US" b="1" dirty="0"/>
                        <a:t> </a:t>
                      </a:r>
                      <a:r>
                        <a:rPr lang="en-US" b="1" dirty="0" err="1"/>
                        <a:t>xác</a:t>
                      </a:r>
                      <a:r>
                        <a:rPr lang="en-US" b="1" dirty="0"/>
                        <a:t> </a:t>
                      </a:r>
                      <a:r>
                        <a:rPr lang="en-US" dirty="0"/>
                        <a:t>(Precision)</a:t>
                      </a:r>
                    </a:p>
                  </a:txBody>
                  <a:tcPr/>
                </a:tc>
                <a:tc>
                  <a:txBody>
                    <a:bodyPr/>
                    <a:lstStyle/>
                    <a:p>
                      <a:r>
                        <a:rPr lang="en-US" dirty="0"/>
                        <a:t>Sai </a:t>
                      </a:r>
                      <a:r>
                        <a:rPr lang="en-US" dirty="0" err="1"/>
                        <a:t>số</a:t>
                      </a:r>
                      <a:r>
                        <a:rPr lang="en-US" dirty="0"/>
                        <a:t> </a:t>
                      </a:r>
                      <a:r>
                        <a:rPr lang="en-US" dirty="0" err="1"/>
                        <a:t>vị</a:t>
                      </a:r>
                      <a:r>
                        <a:rPr lang="en-US" dirty="0"/>
                        <a:t> </a:t>
                      </a:r>
                      <a:r>
                        <a:rPr lang="en-US" dirty="0" err="1"/>
                        <a:t>trí</a:t>
                      </a:r>
                      <a:r>
                        <a:rPr lang="en-US" dirty="0"/>
                        <a:t> (mm), </a:t>
                      </a:r>
                      <a:r>
                        <a:rPr lang="en-US" dirty="0" err="1"/>
                        <a:t>sai</a:t>
                      </a:r>
                      <a:r>
                        <a:rPr lang="en-US" dirty="0"/>
                        <a:t> </a:t>
                      </a:r>
                      <a:r>
                        <a:rPr lang="en-US" dirty="0" err="1"/>
                        <a:t>số</a:t>
                      </a:r>
                      <a:r>
                        <a:rPr lang="en-US" dirty="0"/>
                        <a:t> </a:t>
                      </a:r>
                      <a:r>
                        <a:rPr lang="en-US" dirty="0" err="1"/>
                        <a:t>góc</a:t>
                      </a:r>
                      <a:r>
                        <a:rPr lang="en-US" dirty="0"/>
                        <a:t> (degree), </a:t>
                      </a:r>
                      <a:r>
                        <a:rPr lang="en-US" dirty="0" err="1"/>
                        <a:t>độ</a:t>
                      </a:r>
                      <a:r>
                        <a:rPr lang="en-US" dirty="0"/>
                        <a:t> </a:t>
                      </a:r>
                      <a:r>
                        <a:rPr lang="en-US" dirty="0" err="1"/>
                        <a:t>trễ</a:t>
                      </a:r>
                      <a:r>
                        <a:rPr lang="en-US" dirty="0"/>
                        <a:t> </a:t>
                      </a:r>
                      <a:r>
                        <a:rPr lang="en-US" dirty="0" err="1"/>
                        <a:t>cảm</a:t>
                      </a:r>
                      <a:r>
                        <a:rPr lang="en-US" dirty="0"/>
                        <a:t> </a:t>
                      </a:r>
                      <a:r>
                        <a:rPr lang="en-US" dirty="0" err="1"/>
                        <a:t>biến</a:t>
                      </a:r>
                      <a:endParaRPr lang="en-US" dirty="0"/>
                    </a:p>
                  </a:txBody>
                  <a:tcPr/>
                </a:tc>
                <a:extLst>
                  <a:ext uri="{0D108BD9-81ED-4DB2-BD59-A6C34878D82A}">
                    <a16:rowId xmlns:a16="http://schemas.microsoft.com/office/drawing/2014/main" val="352979130"/>
                  </a:ext>
                </a:extLst>
              </a:tr>
              <a:tr h="370840">
                <a:tc>
                  <a:txBody>
                    <a:bodyPr/>
                    <a:lstStyle/>
                    <a:p>
                      <a:r>
                        <a:rPr lang="en-US" b="1" dirty="0" err="1"/>
                        <a:t>Năng</a:t>
                      </a:r>
                      <a:r>
                        <a:rPr lang="en-US" b="1" dirty="0"/>
                        <a:t> </a:t>
                      </a:r>
                      <a:r>
                        <a:rPr lang="en-US" b="1" dirty="0" err="1"/>
                        <a:t>lượng</a:t>
                      </a:r>
                      <a:r>
                        <a:rPr lang="en-US" b="1" dirty="0"/>
                        <a:t> </a:t>
                      </a:r>
                      <a:r>
                        <a:rPr lang="en-US" dirty="0"/>
                        <a:t>(Power)</a:t>
                      </a:r>
                    </a:p>
                  </a:txBody>
                  <a:tcPr/>
                </a:tc>
                <a:tc>
                  <a:txBody>
                    <a:bodyPr/>
                    <a:lstStyle/>
                    <a:p>
                      <a:r>
                        <a:rPr lang="en-US" dirty="0" err="1"/>
                        <a:t>Thời</a:t>
                      </a:r>
                      <a:r>
                        <a:rPr lang="en-US" dirty="0"/>
                        <a:t> </a:t>
                      </a:r>
                      <a:r>
                        <a:rPr lang="en-US" dirty="0" err="1"/>
                        <a:t>gian</a:t>
                      </a:r>
                      <a:r>
                        <a:rPr lang="en-US" dirty="0"/>
                        <a:t> </a:t>
                      </a:r>
                      <a:r>
                        <a:rPr lang="en-US" dirty="0" err="1"/>
                        <a:t>hoạt</a:t>
                      </a:r>
                      <a:r>
                        <a:rPr lang="en-US" dirty="0"/>
                        <a:t> </a:t>
                      </a:r>
                      <a:r>
                        <a:rPr lang="en-US" dirty="0" err="1"/>
                        <a:t>động</a:t>
                      </a:r>
                      <a:r>
                        <a:rPr lang="en-US" dirty="0"/>
                        <a:t>, </a:t>
                      </a:r>
                      <a:r>
                        <a:rPr lang="en-US" dirty="0" err="1"/>
                        <a:t>thời</a:t>
                      </a:r>
                      <a:r>
                        <a:rPr lang="en-US" dirty="0"/>
                        <a:t> </a:t>
                      </a:r>
                      <a:r>
                        <a:rPr lang="en-US" dirty="0" err="1"/>
                        <a:t>gian</a:t>
                      </a:r>
                      <a:r>
                        <a:rPr lang="en-US" dirty="0"/>
                        <a:t> </a:t>
                      </a:r>
                      <a:r>
                        <a:rPr lang="en-US" dirty="0" err="1"/>
                        <a:t>sạc</a:t>
                      </a:r>
                      <a:r>
                        <a:rPr lang="en-US" dirty="0"/>
                        <a:t>, </a:t>
                      </a:r>
                      <a:r>
                        <a:rPr lang="en-US" dirty="0" err="1"/>
                        <a:t>công</a:t>
                      </a:r>
                      <a:r>
                        <a:rPr lang="en-US" dirty="0"/>
                        <a:t> </a:t>
                      </a:r>
                      <a:r>
                        <a:rPr lang="en-US" dirty="0" err="1"/>
                        <a:t>suất</a:t>
                      </a:r>
                      <a:r>
                        <a:rPr lang="en-US" dirty="0"/>
                        <a:t> </a:t>
                      </a:r>
                      <a:r>
                        <a:rPr lang="en-US" dirty="0" err="1"/>
                        <a:t>định</a:t>
                      </a:r>
                      <a:r>
                        <a:rPr lang="en-US" dirty="0"/>
                        <a:t> </a:t>
                      </a:r>
                      <a:r>
                        <a:rPr lang="en-US" dirty="0" err="1"/>
                        <a:t>mức</a:t>
                      </a:r>
                      <a:endParaRPr lang="en-US" dirty="0"/>
                    </a:p>
                  </a:txBody>
                  <a:tcPr/>
                </a:tc>
                <a:extLst>
                  <a:ext uri="{0D108BD9-81ED-4DB2-BD59-A6C34878D82A}">
                    <a16:rowId xmlns:a16="http://schemas.microsoft.com/office/drawing/2014/main" val="82995065"/>
                  </a:ext>
                </a:extLst>
              </a:tr>
              <a:tr h="370840">
                <a:tc>
                  <a:txBody>
                    <a:bodyPr/>
                    <a:lstStyle/>
                    <a:p>
                      <a:r>
                        <a:rPr lang="en-US" b="1" dirty="0" err="1"/>
                        <a:t>Điều</a:t>
                      </a:r>
                      <a:r>
                        <a:rPr lang="en-US" b="1" dirty="0"/>
                        <a:t> </a:t>
                      </a:r>
                      <a:r>
                        <a:rPr lang="en-US" b="1" dirty="0" err="1"/>
                        <a:t>khiển</a:t>
                      </a:r>
                      <a:r>
                        <a:rPr lang="en-US" b="1" dirty="0"/>
                        <a:t> </a:t>
                      </a:r>
                      <a:r>
                        <a:rPr lang="en-US" dirty="0"/>
                        <a:t>(Control)</a:t>
                      </a:r>
                    </a:p>
                  </a:txBody>
                  <a:tcPr/>
                </a:tc>
                <a:tc>
                  <a:txBody>
                    <a:bodyPr/>
                    <a:lstStyle/>
                    <a:p>
                      <a:r>
                        <a:rPr lang="en-US" dirty="0" err="1"/>
                        <a:t>Thời</a:t>
                      </a:r>
                      <a:r>
                        <a:rPr lang="en-US" dirty="0"/>
                        <a:t> </a:t>
                      </a:r>
                      <a:r>
                        <a:rPr lang="en-US" dirty="0" err="1"/>
                        <a:t>gian</a:t>
                      </a:r>
                      <a:r>
                        <a:rPr lang="en-US" dirty="0"/>
                        <a:t> </a:t>
                      </a:r>
                      <a:r>
                        <a:rPr lang="en-US" dirty="0" err="1"/>
                        <a:t>đáp</a:t>
                      </a:r>
                      <a:r>
                        <a:rPr lang="en-US" dirty="0"/>
                        <a:t> </a:t>
                      </a:r>
                      <a:r>
                        <a:rPr lang="en-US" dirty="0" err="1"/>
                        <a:t>ứng</a:t>
                      </a:r>
                      <a:r>
                        <a:rPr lang="en-US" dirty="0"/>
                        <a:t> </a:t>
                      </a:r>
                      <a:r>
                        <a:rPr lang="en-US" dirty="0" err="1"/>
                        <a:t>hệ</a:t>
                      </a:r>
                      <a:r>
                        <a:rPr lang="en-US" dirty="0"/>
                        <a:t> </a:t>
                      </a:r>
                      <a:r>
                        <a:rPr lang="en-US" dirty="0" err="1"/>
                        <a:t>thống</a:t>
                      </a:r>
                      <a:endParaRPr lang="en-US" dirty="0"/>
                    </a:p>
                  </a:txBody>
                  <a:tcPr/>
                </a:tc>
                <a:extLst>
                  <a:ext uri="{0D108BD9-81ED-4DB2-BD59-A6C34878D82A}">
                    <a16:rowId xmlns:a16="http://schemas.microsoft.com/office/drawing/2014/main" val="1521518620"/>
                  </a:ext>
                </a:extLst>
              </a:tr>
            </a:tbl>
          </a:graphicData>
        </a:graphic>
      </p:graphicFrame>
    </p:spTree>
    <p:extLst>
      <p:ext uri="{BB962C8B-B14F-4D97-AF65-F5344CB8AC3E}">
        <p14:creationId xmlns:p14="http://schemas.microsoft.com/office/powerpoint/2010/main" val="772181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6CA2-5C0C-454B-B531-142146F9B5C6}"/>
              </a:ext>
            </a:extLst>
          </p:cNvPr>
          <p:cNvSpPr>
            <a:spLocks noGrp="1"/>
          </p:cNvSpPr>
          <p:nvPr>
            <p:ph type="title"/>
          </p:nvPr>
        </p:nvSpPr>
        <p:spPr/>
        <p:txBody>
          <a:bodyPr/>
          <a:lstStyle/>
          <a:p>
            <a:r>
              <a:rPr lang="en-US" b="1" dirty="0" err="1"/>
              <a:t>Xác</a:t>
            </a:r>
            <a:r>
              <a:rPr lang="en-US" b="1" dirty="0"/>
              <a:t> </a:t>
            </a:r>
            <a:r>
              <a:rPr lang="en-US" b="1" dirty="0" err="1"/>
              <a:t>định</a:t>
            </a:r>
            <a:r>
              <a:rPr lang="en-US" b="1" dirty="0"/>
              <a:t> </a:t>
            </a:r>
            <a:r>
              <a:rPr lang="en-US" b="1" dirty="0" err="1"/>
              <a:t>thông</a:t>
            </a:r>
            <a:r>
              <a:rPr lang="en-US" b="1" dirty="0"/>
              <a:t> </a:t>
            </a:r>
            <a:r>
              <a:rPr lang="en-US" b="1" dirty="0" err="1"/>
              <a:t>số</a:t>
            </a:r>
            <a:r>
              <a:rPr lang="en-US" b="1" dirty="0"/>
              <a:t> </a:t>
            </a:r>
            <a:r>
              <a:rPr lang="en-US" b="1" dirty="0" err="1"/>
              <a:t>mục</a:t>
            </a:r>
            <a:r>
              <a:rPr lang="en-US" b="1" dirty="0"/>
              <a:t> </a:t>
            </a:r>
            <a:r>
              <a:rPr lang="en-US" b="1" dirty="0" err="1"/>
              <a:t>tiêu</a:t>
            </a:r>
            <a:endParaRPr lang="en-US" dirty="0"/>
          </a:p>
        </p:txBody>
      </p:sp>
      <p:sp>
        <p:nvSpPr>
          <p:cNvPr id="3" name="Content Placeholder 2">
            <a:extLst>
              <a:ext uri="{FF2B5EF4-FFF2-40B4-BE49-F238E27FC236}">
                <a16:creationId xmlns:a16="http://schemas.microsoft.com/office/drawing/2014/main" id="{994EBB2B-48CB-4C56-8D78-5463508632B2}"/>
              </a:ext>
            </a:extLst>
          </p:cNvPr>
          <p:cNvSpPr>
            <a:spLocks noGrp="1"/>
          </p:cNvSpPr>
          <p:nvPr>
            <p:ph idx="1"/>
          </p:nvPr>
        </p:nvSpPr>
        <p:spPr/>
        <p:txBody>
          <a:bodyPr/>
          <a:lstStyle/>
          <a:p>
            <a:r>
              <a:rPr lang="en-US" dirty="0" err="1"/>
              <a:t>Các</a:t>
            </a:r>
            <a:r>
              <a:rPr lang="en-US" dirty="0"/>
              <a:t> </a:t>
            </a:r>
            <a:r>
              <a:rPr lang="en-US" dirty="0" err="1"/>
              <a:t>phương</a:t>
            </a:r>
            <a:r>
              <a:rPr lang="en-US" dirty="0"/>
              <a:t> </a:t>
            </a:r>
            <a:r>
              <a:rPr lang="en-US" dirty="0" err="1"/>
              <a:t>pháp</a:t>
            </a:r>
            <a:r>
              <a:rPr lang="en-US" dirty="0"/>
              <a:t> </a:t>
            </a:r>
            <a:r>
              <a:rPr lang="en-US" dirty="0" err="1"/>
              <a:t>chính</a:t>
            </a:r>
            <a:r>
              <a:rPr lang="en-US" dirty="0"/>
              <a:t> </a:t>
            </a:r>
            <a:r>
              <a:rPr lang="en-US" dirty="0" err="1"/>
              <a:t>để</a:t>
            </a:r>
            <a:r>
              <a:rPr lang="en-US" dirty="0"/>
              <a:t> </a:t>
            </a:r>
            <a:r>
              <a:rPr lang="en-US" dirty="0" err="1"/>
              <a:t>xác</a:t>
            </a:r>
            <a:r>
              <a:rPr lang="en-US" dirty="0"/>
              <a:t> </a:t>
            </a:r>
            <a:r>
              <a:rPr lang="en-US" dirty="0" err="1"/>
              <a:t>định</a:t>
            </a:r>
            <a:r>
              <a:rPr lang="en-US" dirty="0"/>
              <a:t> </a:t>
            </a:r>
            <a:r>
              <a:rPr lang="en-US" dirty="0" err="1"/>
              <a:t>thông</a:t>
            </a:r>
            <a:r>
              <a:rPr lang="en-US" dirty="0"/>
              <a:t> </a:t>
            </a:r>
            <a:r>
              <a:rPr lang="en-US" dirty="0" err="1"/>
              <a:t>số</a:t>
            </a:r>
            <a:r>
              <a:rPr lang="en-US" dirty="0"/>
              <a:t> </a:t>
            </a:r>
            <a:r>
              <a:rPr lang="en-US" dirty="0" err="1"/>
              <a:t>mục</a:t>
            </a:r>
            <a:r>
              <a:rPr lang="en-US" dirty="0"/>
              <a:t> </a:t>
            </a:r>
            <a:r>
              <a:rPr lang="en-US" dirty="0" err="1"/>
              <a:t>tiêu</a:t>
            </a:r>
            <a:r>
              <a:rPr lang="en-US" dirty="0"/>
              <a:t>:</a:t>
            </a:r>
          </a:p>
          <a:p>
            <a:pPr lvl="1"/>
            <a:r>
              <a:rPr lang="vi-VN" dirty="0"/>
              <a:t>Phương pháp Triển khai Chức năng Chất lượng</a:t>
            </a:r>
            <a:r>
              <a:rPr lang="en-US" dirty="0"/>
              <a:t> (Quality Function Deployment - QFD)</a:t>
            </a:r>
          </a:p>
          <a:p>
            <a:pPr lvl="1"/>
            <a:r>
              <a:rPr lang="en-US" dirty="0" err="1"/>
              <a:t>Phân</a:t>
            </a:r>
            <a:r>
              <a:rPr lang="en-US" dirty="0"/>
              <a:t> </a:t>
            </a:r>
            <a:r>
              <a:rPr lang="en-US" dirty="0" err="1"/>
              <a:t>tích</a:t>
            </a:r>
            <a:r>
              <a:rPr lang="en-US" dirty="0"/>
              <a:t> </a:t>
            </a:r>
            <a:r>
              <a:rPr lang="en-US" dirty="0" err="1"/>
              <a:t>dựa</a:t>
            </a:r>
            <a:r>
              <a:rPr lang="en-US" dirty="0"/>
              <a:t> </a:t>
            </a:r>
            <a:r>
              <a:rPr lang="en-US" dirty="0" err="1"/>
              <a:t>trên</a:t>
            </a:r>
            <a:r>
              <a:rPr lang="en-US" dirty="0"/>
              <a:t> </a:t>
            </a:r>
            <a:r>
              <a:rPr lang="en-US" dirty="0" err="1"/>
              <a:t>Nhiệm</a:t>
            </a:r>
            <a:r>
              <a:rPr lang="en-US" dirty="0"/>
              <a:t> </a:t>
            </a:r>
            <a:r>
              <a:rPr lang="en-US" dirty="0" err="1"/>
              <a:t>vụ</a:t>
            </a:r>
            <a:r>
              <a:rPr lang="en-US" dirty="0"/>
              <a:t> (Mission-Based Analysis)</a:t>
            </a:r>
          </a:p>
          <a:p>
            <a:pPr lvl="1"/>
            <a:r>
              <a:rPr lang="en-US" dirty="0" err="1"/>
              <a:t>Phương</a:t>
            </a:r>
            <a:r>
              <a:rPr lang="en-US" dirty="0"/>
              <a:t> </a:t>
            </a:r>
            <a:r>
              <a:rPr lang="en-US" dirty="0" err="1"/>
              <a:t>pháp</a:t>
            </a:r>
            <a:r>
              <a:rPr lang="en-US" dirty="0"/>
              <a:t> So </a:t>
            </a:r>
            <a:r>
              <a:rPr lang="en-US" dirty="0" err="1"/>
              <a:t>sánh</a:t>
            </a:r>
            <a:r>
              <a:rPr lang="en-US" dirty="0"/>
              <a:t> (Benchmarking)</a:t>
            </a:r>
          </a:p>
        </p:txBody>
      </p:sp>
      <p:sp>
        <p:nvSpPr>
          <p:cNvPr id="4" name="Slide Number Placeholder 3">
            <a:extLst>
              <a:ext uri="{FF2B5EF4-FFF2-40B4-BE49-F238E27FC236}">
                <a16:creationId xmlns:a16="http://schemas.microsoft.com/office/drawing/2014/main" id="{8BC1FA33-1D94-4EEC-83AA-15378A29FE71}"/>
              </a:ext>
            </a:extLst>
          </p:cNvPr>
          <p:cNvSpPr>
            <a:spLocks noGrp="1"/>
          </p:cNvSpPr>
          <p:nvPr>
            <p:ph type="sldNum" sz="quarter" idx="12"/>
          </p:nvPr>
        </p:nvSpPr>
        <p:spPr/>
        <p:txBody>
          <a:bodyPr/>
          <a:lstStyle/>
          <a:p>
            <a:fld id="{3957FE44-DABC-424D-A234-74BB9410FF27}" type="slidenum">
              <a:rPr lang="en-US" smtClean="0"/>
              <a:pPr/>
              <a:t>14</a:t>
            </a:fld>
            <a:endParaRPr lang="en-US" dirty="0"/>
          </a:p>
        </p:txBody>
      </p:sp>
    </p:spTree>
    <p:extLst>
      <p:ext uri="{BB962C8B-B14F-4D97-AF65-F5344CB8AC3E}">
        <p14:creationId xmlns:p14="http://schemas.microsoft.com/office/powerpoint/2010/main" val="447800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B6FA-CC27-4E9E-BB6A-1D57639B3F41}"/>
              </a:ext>
            </a:extLst>
          </p:cNvPr>
          <p:cNvSpPr>
            <a:spLocks noGrp="1"/>
          </p:cNvSpPr>
          <p:nvPr>
            <p:ph type="title"/>
          </p:nvPr>
        </p:nvSpPr>
        <p:spPr/>
        <p:txBody>
          <a:bodyPr/>
          <a:lstStyle/>
          <a:p>
            <a:r>
              <a:rPr lang="en-US" b="1" dirty="0"/>
              <a:t>PP </a:t>
            </a:r>
            <a:r>
              <a:rPr lang="vi-VN" b="1" dirty="0"/>
              <a:t>Triển khai Chức năng Chất lượng </a:t>
            </a:r>
            <a:endParaRPr lang="en-US" b="1" dirty="0"/>
          </a:p>
        </p:txBody>
      </p:sp>
      <p:sp>
        <p:nvSpPr>
          <p:cNvPr id="3" name="Content Placeholder 2">
            <a:extLst>
              <a:ext uri="{FF2B5EF4-FFF2-40B4-BE49-F238E27FC236}">
                <a16:creationId xmlns:a16="http://schemas.microsoft.com/office/drawing/2014/main" id="{8DEBE169-C4CD-4505-AAFA-785DC8B4D02E}"/>
              </a:ext>
            </a:extLst>
          </p:cNvPr>
          <p:cNvSpPr>
            <a:spLocks noGrp="1"/>
          </p:cNvSpPr>
          <p:nvPr>
            <p:ph idx="1"/>
          </p:nvPr>
        </p:nvSpPr>
        <p:spPr/>
        <p:txBody>
          <a:bodyPr/>
          <a:lstStyle/>
          <a:p>
            <a:r>
              <a:rPr lang="en-US" dirty="0" err="1"/>
              <a:t>Mục</a:t>
            </a:r>
            <a:r>
              <a:rPr lang="en-US" dirty="0"/>
              <a:t> </a:t>
            </a:r>
            <a:r>
              <a:rPr lang="en-US" dirty="0" err="1"/>
              <a:t>tiêu</a:t>
            </a:r>
            <a:r>
              <a:rPr lang="en-US" dirty="0"/>
              <a:t>: </a:t>
            </a:r>
            <a:r>
              <a:rPr lang="vi-VN" dirty="0"/>
              <a:t>chuyển đổi những </a:t>
            </a:r>
            <a:r>
              <a:rPr lang="vi-VN" b="1" dirty="0"/>
              <a:t>mong muốn mơ hồ </a:t>
            </a:r>
            <a:r>
              <a:rPr lang="vi-VN" dirty="0"/>
              <a:t>của người dùng thành các </a:t>
            </a:r>
            <a:r>
              <a:rPr lang="vi-VN" b="1" dirty="0"/>
              <a:t>đặc tính kỹ thuật </a:t>
            </a:r>
            <a:r>
              <a:rPr lang="vi-VN" dirty="0"/>
              <a:t>cụ thể trong quá trình thiết kế</a:t>
            </a:r>
            <a:endParaRPr lang="en-US" dirty="0"/>
          </a:p>
          <a:p>
            <a:r>
              <a:rPr lang="vi-VN" dirty="0"/>
              <a:t>QFD được phát triển tại Nhật Bản vào cuối thập niên 1960 bởi Yoji Akao và Shigeru Mizuno</a:t>
            </a:r>
            <a:endParaRPr lang="en-US" dirty="0"/>
          </a:p>
          <a:p>
            <a:r>
              <a:rPr lang="en-US" dirty="0"/>
              <a:t>QFD </a:t>
            </a:r>
            <a:r>
              <a:rPr lang="en-US" dirty="0" err="1"/>
              <a:t>sau</a:t>
            </a:r>
            <a:r>
              <a:rPr lang="en-US" dirty="0"/>
              <a:t> </a:t>
            </a:r>
            <a:r>
              <a:rPr lang="en-US" dirty="0" err="1"/>
              <a:t>đó</a:t>
            </a:r>
            <a:r>
              <a:rPr lang="en-US" dirty="0"/>
              <a:t> </a:t>
            </a:r>
            <a:r>
              <a:rPr lang="en-US" dirty="0" err="1"/>
              <a:t>nhanh</a:t>
            </a:r>
            <a:r>
              <a:rPr lang="en-US" dirty="0"/>
              <a:t> </a:t>
            </a:r>
            <a:r>
              <a:rPr lang="en-US" dirty="0" err="1"/>
              <a:t>chóng</a:t>
            </a:r>
            <a:r>
              <a:rPr lang="en-US" dirty="0"/>
              <a:t> </a:t>
            </a:r>
            <a:r>
              <a:rPr lang="en-US" dirty="0" err="1"/>
              <a:t>được</a:t>
            </a:r>
            <a:r>
              <a:rPr lang="en-US" dirty="0"/>
              <a:t> </a:t>
            </a:r>
            <a:r>
              <a:rPr lang="en-US" dirty="0" err="1"/>
              <a:t>áp</a:t>
            </a:r>
            <a:r>
              <a:rPr lang="en-US" dirty="0"/>
              <a:t> </a:t>
            </a:r>
            <a:r>
              <a:rPr lang="en-US" dirty="0" err="1"/>
              <a:t>dụng</a:t>
            </a:r>
            <a:r>
              <a:rPr lang="en-US" dirty="0"/>
              <a:t> </a:t>
            </a:r>
            <a:r>
              <a:rPr lang="en-US" dirty="0" err="1"/>
              <a:t>trong</a:t>
            </a:r>
            <a:r>
              <a:rPr lang="en-US" dirty="0"/>
              <a:t> CN:</a:t>
            </a:r>
          </a:p>
          <a:p>
            <a:pPr lvl="1"/>
            <a:r>
              <a:rPr lang="en-US" dirty="0"/>
              <a:t>1972 </a:t>
            </a:r>
            <a:r>
              <a:rPr lang="en-US" dirty="0" err="1"/>
              <a:t>Xưởng</a:t>
            </a:r>
            <a:r>
              <a:rPr lang="en-US" dirty="0"/>
              <a:t> </a:t>
            </a:r>
            <a:r>
              <a:rPr lang="en-US" dirty="0" err="1"/>
              <a:t>đóng</a:t>
            </a:r>
            <a:r>
              <a:rPr lang="en-US" dirty="0"/>
              <a:t> </a:t>
            </a:r>
            <a:r>
              <a:rPr lang="en-US" dirty="0" err="1"/>
              <a:t>tàu</a:t>
            </a:r>
            <a:r>
              <a:rPr lang="en-US" dirty="0"/>
              <a:t> </a:t>
            </a:r>
            <a:r>
              <a:rPr lang="en-US" dirty="0" err="1"/>
              <a:t>của</a:t>
            </a:r>
            <a:r>
              <a:rPr lang="en-US" dirty="0"/>
              <a:t> Mitsubishi</a:t>
            </a:r>
          </a:p>
          <a:p>
            <a:pPr lvl="1"/>
            <a:r>
              <a:rPr lang="en-US" dirty="0"/>
              <a:t>1973 Toyota</a:t>
            </a:r>
          </a:p>
          <a:p>
            <a:pPr lvl="1"/>
            <a:r>
              <a:rPr lang="en-US" dirty="0"/>
              <a:t>1980 Ford and Xerox </a:t>
            </a:r>
          </a:p>
          <a:p>
            <a:r>
              <a:rPr lang="en-US" dirty="0" err="1"/>
              <a:t>Triết</a:t>
            </a:r>
            <a:r>
              <a:rPr lang="en-US" dirty="0"/>
              <a:t> </a:t>
            </a:r>
            <a:r>
              <a:rPr lang="en-US" dirty="0" err="1"/>
              <a:t>lý</a:t>
            </a:r>
            <a:r>
              <a:rPr lang="en-US" dirty="0"/>
              <a:t> </a:t>
            </a:r>
            <a:r>
              <a:rPr lang="en-US" dirty="0" err="1"/>
              <a:t>cốt</a:t>
            </a:r>
            <a:r>
              <a:rPr lang="en-US" dirty="0"/>
              <a:t> </a:t>
            </a:r>
            <a:r>
              <a:rPr lang="en-US" dirty="0" err="1"/>
              <a:t>lõi</a:t>
            </a:r>
            <a:r>
              <a:rPr lang="en-US" dirty="0"/>
              <a:t>: </a:t>
            </a:r>
            <a:r>
              <a:rPr lang="en-US" dirty="0" err="1"/>
              <a:t>Thiết</a:t>
            </a:r>
            <a:r>
              <a:rPr lang="en-US" dirty="0"/>
              <a:t> </a:t>
            </a:r>
            <a:r>
              <a:rPr lang="en-US" dirty="0" err="1"/>
              <a:t>kết</a:t>
            </a:r>
            <a:r>
              <a:rPr lang="en-US" dirty="0"/>
              <a:t> </a:t>
            </a:r>
            <a:r>
              <a:rPr lang="en-US" dirty="0" err="1"/>
              <a:t>phải</a:t>
            </a:r>
            <a:r>
              <a:rPr lang="en-US" dirty="0"/>
              <a:t> </a:t>
            </a:r>
            <a:r>
              <a:rPr lang="en-US" dirty="0" err="1"/>
              <a:t>xuất</a:t>
            </a:r>
            <a:r>
              <a:rPr lang="en-US" dirty="0"/>
              <a:t> </a:t>
            </a:r>
            <a:r>
              <a:rPr lang="en-US" dirty="0" err="1"/>
              <a:t>phát</a:t>
            </a:r>
            <a:r>
              <a:rPr lang="en-US" dirty="0"/>
              <a:t> </a:t>
            </a:r>
            <a:r>
              <a:rPr lang="en-US" dirty="0" err="1"/>
              <a:t>từ</a:t>
            </a:r>
            <a:r>
              <a:rPr lang="en-US" dirty="0"/>
              <a:t> </a:t>
            </a:r>
            <a:r>
              <a:rPr lang="en-US" dirty="0" err="1"/>
              <a:t>nhu</a:t>
            </a:r>
            <a:r>
              <a:rPr lang="en-US" dirty="0"/>
              <a:t> </a:t>
            </a:r>
            <a:r>
              <a:rPr lang="en-US" dirty="0" err="1"/>
              <a:t>cầu</a:t>
            </a:r>
            <a:r>
              <a:rPr lang="en-US" dirty="0"/>
              <a:t> </a:t>
            </a:r>
            <a:r>
              <a:rPr lang="en-US" dirty="0" err="1"/>
              <a:t>của</a:t>
            </a:r>
            <a:r>
              <a:rPr lang="en-US" dirty="0"/>
              <a:t> </a:t>
            </a:r>
            <a:r>
              <a:rPr lang="en-US" dirty="0" err="1"/>
              <a:t>khách</a:t>
            </a:r>
            <a:r>
              <a:rPr lang="en-US" dirty="0"/>
              <a:t> </a:t>
            </a:r>
            <a:r>
              <a:rPr lang="en-US" dirty="0" err="1"/>
              <a:t>hàng</a:t>
            </a:r>
            <a:r>
              <a:rPr lang="en-US" dirty="0"/>
              <a:t> </a:t>
            </a:r>
            <a:r>
              <a:rPr lang="en-US" dirty="0" err="1"/>
              <a:t>và</a:t>
            </a:r>
            <a:r>
              <a:rPr lang="en-US" dirty="0"/>
              <a:t> </a:t>
            </a:r>
            <a:r>
              <a:rPr lang="en-US" dirty="0" err="1"/>
              <a:t>yêu</a:t>
            </a:r>
            <a:r>
              <a:rPr lang="en-US" dirty="0"/>
              <a:t> </a:t>
            </a:r>
            <a:r>
              <a:rPr lang="en-US" dirty="0" err="1"/>
              <a:t>cầu</a:t>
            </a:r>
            <a:r>
              <a:rPr lang="en-US" dirty="0"/>
              <a:t> </a:t>
            </a:r>
            <a:r>
              <a:rPr lang="en-US" dirty="0" err="1"/>
              <a:t>thực</a:t>
            </a:r>
            <a:r>
              <a:rPr lang="en-US" dirty="0"/>
              <a:t> </a:t>
            </a:r>
            <a:r>
              <a:rPr lang="en-US" dirty="0" err="1"/>
              <a:t>tế</a:t>
            </a:r>
            <a:r>
              <a:rPr lang="en-US" dirty="0"/>
              <a:t> </a:t>
            </a:r>
          </a:p>
          <a:p>
            <a:pPr lvl="1"/>
            <a:endParaRPr lang="en-US" dirty="0"/>
          </a:p>
        </p:txBody>
      </p:sp>
      <p:sp>
        <p:nvSpPr>
          <p:cNvPr id="4" name="Slide Number Placeholder 3">
            <a:extLst>
              <a:ext uri="{FF2B5EF4-FFF2-40B4-BE49-F238E27FC236}">
                <a16:creationId xmlns:a16="http://schemas.microsoft.com/office/drawing/2014/main" id="{D0078686-06CF-40C9-A6A2-363AD240459B}"/>
              </a:ext>
            </a:extLst>
          </p:cNvPr>
          <p:cNvSpPr>
            <a:spLocks noGrp="1"/>
          </p:cNvSpPr>
          <p:nvPr>
            <p:ph type="sldNum" sz="quarter" idx="12"/>
          </p:nvPr>
        </p:nvSpPr>
        <p:spPr/>
        <p:txBody>
          <a:bodyPr/>
          <a:lstStyle/>
          <a:p>
            <a:fld id="{3957FE44-DABC-424D-A234-74BB9410FF27}" type="slidenum">
              <a:rPr lang="en-US" smtClean="0"/>
              <a:pPr/>
              <a:t>15</a:t>
            </a:fld>
            <a:endParaRPr lang="en-US" dirty="0"/>
          </a:p>
        </p:txBody>
      </p:sp>
    </p:spTree>
    <p:extLst>
      <p:ext uri="{BB962C8B-B14F-4D97-AF65-F5344CB8AC3E}">
        <p14:creationId xmlns:p14="http://schemas.microsoft.com/office/powerpoint/2010/main" val="4257985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B6FA-CC27-4E9E-BB6A-1D57639B3F41}"/>
              </a:ext>
            </a:extLst>
          </p:cNvPr>
          <p:cNvSpPr>
            <a:spLocks noGrp="1"/>
          </p:cNvSpPr>
          <p:nvPr>
            <p:ph type="title"/>
          </p:nvPr>
        </p:nvSpPr>
        <p:spPr/>
        <p:txBody>
          <a:bodyPr/>
          <a:lstStyle/>
          <a:p>
            <a:r>
              <a:rPr lang="en-US" b="1" dirty="0"/>
              <a:t>PP </a:t>
            </a:r>
            <a:r>
              <a:rPr lang="vi-VN" b="1" dirty="0"/>
              <a:t>Triển khai Chức năng Chất lượng </a:t>
            </a:r>
            <a:endParaRPr lang="en-US" b="1" dirty="0"/>
          </a:p>
        </p:txBody>
      </p:sp>
      <p:sp>
        <p:nvSpPr>
          <p:cNvPr id="3" name="Content Placeholder 2">
            <a:extLst>
              <a:ext uri="{FF2B5EF4-FFF2-40B4-BE49-F238E27FC236}">
                <a16:creationId xmlns:a16="http://schemas.microsoft.com/office/drawing/2014/main" id="{8DEBE169-C4CD-4505-AAFA-785DC8B4D02E}"/>
              </a:ext>
            </a:extLst>
          </p:cNvPr>
          <p:cNvSpPr>
            <a:spLocks noGrp="1"/>
          </p:cNvSpPr>
          <p:nvPr>
            <p:ph idx="1"/>
          </p:nvPr>
        </p:nvSpPr>
        <p:spPr/>
        <p:txBody>
          <a:bodyPr/>
          <a:lstStyle/>
          <a:p>
            <a:r>
              <a:rPr lang="vi-VN" dirty="0"/>
              <a:t>Ngôi nhà Chất lượng</a:t>
            </a:r>
            <a:endParaRPr lang="en-US" dirty="0"/>
          </a:p>
        </p:txBody>
      </p:sp>
      <p:sp>
        <p:nvSpPr>
          <p:cNvPr id="4" name="Slide Number Placeholder 3">
            <a:extLst>
              <a:ext uri="{FF2B5EF4-FFF2-40B4-BE49-F238E27FC236}">
                <a16:creationId xmlns:a16="http://schemas.microsoft.com/office/drawing/2014/main" id="{D0078686-06CF-40C9-A6A2-363AD240459B}"/>
              </a:ext>
            </a:extLst>
          </p:cNvPr>
          <p:cNvSpPr>
            <a:spLocks noGrp="1"/>
          </p:cNvSpPr>
          <p:nvPr>
            <p:ph type="sldNum" sz="quarter" idx="12"/>
          </p:nvPr>
        </p:nvSpPr>
        <p:spPr/>
        <p:txBody>
          <a:bodyPr/>
          <a:lstStyle/>
          <a:p>
            <a:fld id="{3957FE44-DABC-424D-A234-74BB9410FF27}" type="slidenum">
              <a:rPr lang="en-US" smtClean="0"/>
              <a:pPr/>
              <a:t>16</a:t>
            </a:fld>
            <a:endParaRPr lang="en-US" dirty="0"/>
          </a:p>
        </p:txBody>
      </p:sp>
      <p:pic>
        <p:nvPicPr>
          <p:cNvPr id="6" name="Picture 5">
            <a:extLst>
              <a:ext uri="{FF2B5EF4-FFF2-40B4-BE49-F238E27FC236}">
                <a16:creationId xmlns:a16="http://schemas.microsoft.com/office/drawing/2014/main" id="{C6129190-38B2-46A0-87F7-F4131D3D1CBA}"/>
              </a:ext>
            </a:extLst>
          </p:cNvPr>
          <p:cNvPicPr>
            <a:picLocks noChangeAspect="1"/>
          </p:cNvPicPr>
          <p:nvPr/>
        </p:nvPicPr>
        <p:blipFill>
          <a:blip r:embed="rId2"/>
          <a:stretch>
            <a:fillRect/>
          </a:stretch>
        </p:blipFill>
        <p:spPr>
          <a:xfrm>
            <a:off x="4114800" y="2554798"/>
            <a:ext cx="4733960" cy="3914804"/>
          </a:xfrm>
          <a:prstGeom prst="rect">
            <a:avLst/>
          </a:prstGeom>
        </p:spPr>
      </p:pic>
      <p:sp>
        <p:nvSpPr>
          <p:cNvPr id="7" name="TextBox 6">
            <a:extLst>
              <a:ext uri="{FF2B5EF4-FFF2-40B4-BE49-F238E27FC236}">
                <a16:creationId xmlns:a16="http://schemas.microsoft.com/office/drawing/2014/main" id="{7BAC3996-15FB-6A10-0B7B-8A4740B0BB39}"/>
              </a:ext>
            </a:extLst>
          </p:cNvPr>
          <p:cNvSpPr txBox="1"/>
          <p:nvPr/>
        </p:nvSpPr>
        <p:spPr>
          <a:xfrm>
            <a:off x="228600" y="3657600"/>
            <a:ext cx="3886200" cy="1200329"/>
          </a:xfrm>
          <a:prstGeom prst="rect">
            <a:avLst/>
          </a:prstGeom>
          <a:noFill/>
        </p:spPr>
        <p:txBody>
          <a:bodyPr wrap="square">
            <a:spAutoFit/>
          </a:bodyPr>
          <a:lstStyle/>
          <a:p>
            <a:r>
              <a:rPr lang="en-US" b="1" dirty="0"/>
              <a:t>What - Nhu </a:t>
            </a:r>
            <a:r>
              <a:rPr lang="en-US" b="1" dirty="0" err="1"/>
              <a:t>cầu</a:t>
            </a:r>
            <a:r>
              <a:rPr lang="en-US" b="1" dirty="0"/>
              <a:t> </a:t>
            </a:r>
            <a:r>
              <a:rPr lang="en-US" b="1" dirty="0" err="1"/>
              <a:t>của</a:t>
            </a:r>
            <a:r>
              <a:rPr lang="en-US" b="1" dirty="0"/>
              <a:t> </a:t>
            </a:r>
            <a:r>
              <a:rPr lang="en-US" b="1" dirty="0" err="1"/>
              <a:t>khách</a:t>
            </a:r>
            <a:r>
              <a:rPr lang="en-US" b="1" dirty="0"/>
              <a:t> </a:t>
            </a:r>
            <a:r>
              <a:rPr lang="en-US" b="1" dirty="0" err="1"/>
              <a:t>hàng</a:t>
            </a:r>
            <a:endParaRPr lang="en-US" b="1" dirty="0"/>
          </a:p>
          <a:p>
            <a:pPr marL="285750" indent="-285750">
              <a:buFont typeface="Arial" panose="020B0604020202020204" pitchFamily="34" charset="0"/>
              <a:buChar char="•"/>
            </a:pPr>
            <a:r>
              <a:rPr lang="en-US" dirty="0"/>
              <a:t>Danh </a:t>
            </a:r>
            <a:r>
              <a:rPr lang="en-US" dirty="0" err="1"/>
              <a:t>sách</a:t>
            </a:r>
            <a:r>
              <a:rPr lang="en-US" dirty="0"/>
              <a:t> </a:t>
            </a:r>
            <a:r>
              <a:rPr lang="en-US" dirty="0" err="1"/>
              <a:t>yêu</a:t>
            </a:r>
            <a:r>
              <a:rPr lang="en-US" dirty="0"/>
              <a:t> </a:t>
            </a:r>
            <a:r>
              <a:rPr lang="en-US" dirty="0" err="1"/>
              <a:t>cầu</a:t>
            </a:r>
            <a:endParaRPr lang="en-US" dirty="0"/>
          </a:p>
          <a:p>
            <a:pPr marL="742950" lvl="1" indent="-285750">
              <a:buFont typeface="Arial" panose="020B0604020202020204" pitchFamily="34" charset="0"/>
              <a:buChar char="•"/>
            </a:pPr>
            <a:r>
              <a:rPr lang="en-US" dirty="0" err="1"/>
              <a:t>Vd</a:t>
            </a:r>
            <a:r>
              <a:rPr lang="en-US" dirty="0"/>
              <a:t>: </a:t>
            </a:r>
            <a:r>
              <a:rPr lang="en-US" dirty="0" err="1"/>
              <a:t>dễ</a:t>
            </a:r>
            <a:r>
              <a:rPr lang="en-US" dirty="0"/>
              <a:t> </a:t>
            </a:r>
            <a:r>
              <a:rPr lang="en-US" dirty="0" err="1"/>
              <a:t>vận</a:t>
            </a:r>
            <a:r>
              <a:rPr lang="en-US" dirty="0"/>
              <a:t> </a:t>
            </a:r>
            <a:r>
              <a:rPr lang="en-US" dirty="0" err="1"/>
              <a:t>hành</a:t>
            </a:r>
            <a:r>
              <a:rPr lang="en-US" dirty="0"/>
              <a:t>, an </a:t>
            </a:r>
            <a:r>
              <a:rPr lang="en-US" dirty="0" err="1"/>
              <a:t>toàn</a:t>
            </a:r>
            <a:r>
              <a:rPr lang="en-US" dirty="0"/>
              <a:t> …</a:t>
            </a:r>
          </a:p>
          <a:p>
            <a:pPr marL="285750" indent="-285750">
              <a:buFont typeface="Arial" panose="020B0604020202020204" pitchFamily="34" charset="0"/>
              <a:buChar char="•"/>
            </a:pPr>
            <a:r>
              <a:rPr lang="en-US" dirty="0" err="1"/>
              <a:t>Mức</a:t>
            </a:r>
            <a:r>
              <a:rPr lang="en-US" dirty="0"/>
              <a:t> </a:t>
            </a:r>
            <a:r>
              <a:rPr lang="en-US" dirty="0" err="1"/>
              <a:t>độ</a:t>
            </a:r>
            <a:r>
              <a:rPr lang="en-US" dirty="0"/>
              <a:t> </a:t>
            </a:r>
            <a:r>
              <a:rPr lang="en-US" dirty="0" err="1"/>
              <a:t>quan</a:t>
            </a:r>
            <a:r>
              <a:rPr lang="en-US" dirty="0"/>
              <a:t> </a:t>
            </a:r>
            <a:r>
              <a:rPr lang="en-US" dirty="0" err="1"/>
              <a:t>trọng</a:t>
            </a:r>
            <a:endParaRPr lang="en-US" dirty="0"/>
          </a:p>
        </p:txBody>
      </p:sp>
      <p:sp>
        <p:nvSpPr>
          <p:cNvPr id="10" name="TextBox 9">
            <a:extLst>
              <a:ext uri="{FF2B5EF4-FFF2-40B4-BE49-F238E27FC236}">
                <a16:creationId xmlns:a16="http://schemas.microsoft.com/office/drawing/2014/main" id="{9AB4AF80-420B-6A5F-768F-D43A8C6BBB22}"/>
              </a:ext>
            </a:extLst>
          </p:cNvPr>
          <p:cNvSpPr txBox="1"/>
          <p:nvPr/>
        </p:nvSpPr>
        <p:spPr>
          <a:xfrm>
            <a:off x="5410200" y="1752600"/>
            <a:ext cx="4343400" cy="923330"/>
          </a:xfrm>
          <a:prstGeom prst="rect">
            <a:avLst/>
          </a:prstGeom>
          <a:noFill/>
        </p:spPr>
        <p:txBody>
          <a:bodyPr wrap="square">
            <a:spAutoFit/>
          </a:bodyPr>
          <a:lstStyle/>
          <a:p>
            <a:r>
              <a:rPr lang="en-US" b="1" dirty="0"/>
              <a:t>HOWs – Thông </a:t>
            </a:r>
            <a:r>
              <a:rPr lang="en-US" b="1" dirty="0" err="1"/>
              <a:t>số</a:t>
            </a:r>
            <a:r>
              <a:rPr lang="en-US" b="1" dirty="0"/>
              <a:t> </a:t>
            </a:r>
            <a:r>
              <a:rPr lang="en-US" b="1" dirty="0" err="1"/>
              <a:t>kỹ</a:t>
            </a:r>
            <a:r>
              <a:rPr lang="en-US" b="1" dirty="0"/>
              <a:t> </a:t>
            </a:r>
            <a:r>
              <a:rPr lang="en-US" b="1" dirty="0" err="1"/>
              <a:t>thuật</a:t>
            </a:r>
            <a:endParaRPr lang="en-US" b="1" dirty="0"/>
          </a:p>
          <a:p>
            <a:pPr marL="285750" indent="-285750">
              <a:buFont typeface="Arial" panose="020B0604020202020204" pitchFamily="34" charset="0"/>
              <a:buChar char="•"/>
            </a:pPr>
            <a:r>
              <a:rPr lang="en-US" dirty="0"/>
              <a:t>Thông </a:t>
            </a:r>
            <a:r>
              <a:rPr lang="en-US" dirty="0" err="1"/>
              <a:t>số</a:t>
            </a:r>
            <a:r>
              <a:rPr lang="en-US" dirty="0"/>
              <a:t> </a:t>
            </a:r>
            <a:r>
              <a:rPr lang="en-US" dirty="0" err="1"/>
              <a:t>kỹ</a:t>
            </a:r>
            <a:r>
              <a:rPr lang="en-US" dirty="0"/>
              <a:t> </a:t>
            </a:r>
            <a:r>
              <a:rPr lang="en-US" dirty="0" err="1"/>
              <a:t>thuật</a:t>
            </a:r>
            <a:r>
              <a:rPr lang="en-US" dirty="0"/>
              <a:t> </a:t>
            </a:r>
            <a:r>
              <a:rPr lang="en-US" dirty="0" err="1"/>
              <a:t>đo</a:t>
            </a:r>
            <a:r>
              <a:rPr lang="en-US" dirty="0"/>
              <a:t> </a:t>
            </a:r>
            <a:r>
              <a:rPr lang="en-US" dirty="0" err="1"/>
              <a:t>lường</a:t>
            </a:r>
            <a:r>
              <a:rPr lang="en-US" dirty="0"/>
              <a:t> </a:t>
            </a:r>
            <a:r>
              <a:rPr lang="en-US" dirty="0" err="1"/>
              <a:t>được</a:t>
            </a:r>
            <a:endParaRPr lang="en-US" dirty="0"/>
          </a:p>
          <a:p>
            <a:endParaRPr lang="en-US" b="1" dirty="0"/>
          </a:p>
        </p:txBody>
      </p:sp>
      <p:sp>
        <p:nvSpPr>
          <p:cNvPr id="11" name="TextBox 10">
            <a:extLst>
              <a:ext uri="{FF2B5EF4-FFF2-40B4-BE49-F238E27FC236}">
                <a16:creationId xmlns:a16="http://schemas.microsoft.com/office/drawing/2014/main" id="{C9026B6B-1B12-9E0B-0A01-59E075EF1177}"/>
              </a:ext>
            </a:extLst>
          </p:cNvPr>
          <p:cNvSpPr txBox="1"/>
          <p:nvPr/>
        </p:nvSpPr>
        <p:spPr>
          <a:xfrm>
            <a:off x="9001160" y="5396390"/>
            <a:ext cx="3038440" cy="1200329"/>
          </a:xfrm>
          <a:prstGeom prst="rect">
            <a:avLst/>
          </a:prstGeom>
          <a:noFill/>
        </p:spPr>
        <p:txBody>
          <a:bodyPr wrap="square">
            <a:spAutoFit/>
          </a:bodyPr>
          <a:lstStyle/>
          <a:p>
            <a:r>
              <a:rPr lang="en-US" b="1" dirty="0"/>
              <a:t>Ma </a:t>
            </a:r>
            <a:r>
              <a:rPr lang="en-US" b="1" dirty="0" err="1"/>
              <a:t>trận</a:t>
            </a:r>
            <a:r>
              <a:rPr lang="en-US" b="1" dirty="0"/>
              <a:t> </a:t>
            </a:r>
            <a:r>
              <a:rPr lang="en-US" b="1" dirty="0" err="1"/>
              <a:t>mối</a:t>
            </a:r>
            <a:r>
              <a:rPr lang="en-US" b="1" dirty="0"/>
              <a:t> </a:t>
            </a:r>
            <a:r>
              <a:rPr lang="en-US" b="1" dirty="0" err="1"/>
              <a:t>quan</a:t>
            </a:r>
            <a:r>
              <a:rPr lang="en-US" b="1" dirty="0"/>
              <a:t> </a:t>
            </a:r>
            <a:r>
              <a:rPr lang="en-US" b="1" dirty="0" err="1"/>
              <a:t>hệ</a:t>
            </a:r>
            <a:endParaRPr lang="en-US" b="1" dirty="0"/>
          </a:p>
          <a:p>
            <a:pPr marL="285750" indent="-285750">
              <a:buFont typeface="Arial" panose="020B0604020202020204" pitchFamily="34" charset="0"/>
              <a:buChar char="•"/>
            </a:pPr>
            <a:r>
              <a:rPr lang="vi-VN" dirty="0"/>
              <a:t>mức độ ảnh hưởng của các "HOWs" lên "WHATs"</a:t>
            </a:r>
            <a:endParaRPr lang="en-US" b="1" dirty="0"/>
          </a:p>
        </p:txBody>
      </p:sp>
      <p:cxnSp>
        <p:nvCxnSpPr>
          <p:cNvPr id="13" name="Straight Arrow Connector 12">
            <a:extLst>
              <a:ext uri="{FF2B5EF4-FFF2-40B4-BE49-F238E27FC236}">
                <a16:creationId xmlns:a16="http://schemas.microsoft.com/office/drawing/2014/main" id="{6CF8F24B-9A0A-6D26-443F-38BB9FE8BB61}"/>
              </a:ext>
            </a:extLst>
          </p:cNvPr>
          <p:cNvCxnSpPr>
            <a:cxnSpLocks/>
          </p:cNvCxnSpPr>
          <p:nvPr/>
        </p:nvCxnSpPr>
        <p:spPr>
          <a:xfrm flipH="1" flipV="1">
            <a:off x="7315200" y="4953000"/>
            <a:ext cx="1685960" cy="68580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776C7FE-7A3E-FDF9-6C87-810BA9A1E0BD}"/>
              </a:ext>
            </a:extLst>
          </p:cNvPr>
          <p:cNvSpPr txBox="1"/>
          <p:nvPr/>
        </p:nvSpPr>
        <p:spPr>
          <a:xfrm>
            <a:off x="9025574" y="2969165"/>
            <a:ext cx="3038440" cy="1477328"/>
          </a:xfrm>
          <a:prstGeom prst="rect">
            <a:avLst/>
          </a:prstGeom>
          <a:noFill/>
        </p:spPr>
        <p:txBody>
          <a:bodyPr wrap="square">
            <a:spAutoFit/>
          </a:bodyPr>
          <a:lstStyle/>
          <a:p>
            <a:r>
              <a:rPr lang="en-US" b="1" dirty="0"/>
              <a:t>Ma </a:t>
            </a:r>
            <a:r>
              <a:rPr lang="en-US" b="1" dirty="0" err="1"/>
              <a:t>trận</a:t>
            </a:r>
            <a:r>
              <a:rPr lang="en-US" b="1" dirty="0"/>
              <a:t> </a:t>
            </a:r>
            <a:r>
              <a:rPr lang="en-US" b="1" dirty="0" err="1"/>
              <a:t>tương</a:t>
            </a:r>
            <a:r>
              <a:rPr lang="en-US" b="1" dirty="0"/>
              <a:t> </a:t>
            </a:r>
            <a:r>
              <a:rPr lang="en-US" b="1" dirty="0" err="1"/>
              <a:t>qun</a:t>
            </a:r>
            <a:r>
              <a:rPr lang="en-US" b="1" dirty="0"/>
              <a:t> </a:t>
            </a:r>
            <a:r>
              <a:rPr lang="en-US" b="1" dirty="0" err="1"/>
              <a:t>kỹ</a:t>
            </a:r>
            <a:r>
              <a:rPr lang="en-US" b="1" dirty="0"/>
              <a:t> </a:t>
            </a:r>
            <a:r>
              <a:rPr lang="en-US" b="1" dirty="0" err="1"/>
              <a:t>thuật</a:t>
            </a:r>
            <a:endParaRPr lang="en-US" b="1" dirty="0"/>
          </a:p>
          <a:p>
            <a:pPr marL="285750" indent="-285750">
              <a:buFont typeface="Arial" panose="020B0604020202020204" pitchFamily="34" charset="0"/>
              <a:buChar char="•"/>
            </a:pPr>
            <a:r>
              <a:rPr lang="vi-VN" dirty="0"/>
              <a:t>Xác định các thông số kỹ thuật hỗ trợ hoặc mâu thuẫn với nhau</a:t>
            </a:r>
            <a:endParaRPr lang="en-US" b="1" dirty="0"/>
          </a:p>
        </p:txBody>
      </p:sp>
      <p:cxnSp>
        <p:nvCxnSpPr>
          <p:cNvPr id="16" name="Straight Arrow Connector 15">
            <a:extLst>
              <a:ext uri="{FF2B5EF4-FFF2-40B4-BE49-F238E27FC236}">
                <a16:creationId xmlns:a16="http://schemas.microsoft.com/office/drawing/2014/main" id="{4C21A88F-6B10-74C2-62D3-5605EC88D12A}"/>
              </a:ext>
            </a:extLst>
          </p:cNvPr>
          <p:cNvCxnSpPr>
            <a:cxnSpLocks/>
          </p:cNvCxnSpPr>
          <p:nvPr/>
        </p:nvCxnSpPr>
        <p:spPr>
          <a:xfrm flipH="1" flipV="1">
            <a:off x="7315200" y="3077936"/>
            <a:ext cx="1774367" cy="585089"/>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C6DA605-A84D-BFAF-44E4-94FA3459B4B9}"/>
              </a:ext>
            </a:extLst>
          </p:cNvPr>
          <p:cNvSpPr txBox="1"/>
          <p:nvPr/>
        </p:nvSpPr>
        <p:spPr>
          <a:xfrm>
            <a:off x="1381160" y="5937058"/>
            <a:ext cx="3038440" cy="369332"/>
          </a:xfrm>
          <a:prstGeom prst="rect">
            <a:avLst/>
          </a:prstGeom>
          <a:noFill/>
        </p:spPr>
        <p:txBody>
          <a:bodyPr wrap="square">
            <a:spAutoFit/>
          </a:bodyPr>
          <a:lstStyle/>
          <a:p>
            <a:r>
              <a:rPr lang="en-US" b="1" dirty="0"/>
              <a:t>Thông </a:t>
            </a:r>
            <a:r>
              <a:rPr lang="en-US" b="1" dirty="0" err="1"/>
              <a:t>số</a:t>
            </a:r>
            <a:r>
              <a:rPr lang="en-US" b="1" dirty="0"/>
              <a:t> </a:t>
            </a:r>
            <a:r>
              <a:rPr lang="en-US" b="1" dirty="0" err="1"/>
              <a:t>mục</a:t>
            </a:r>
            <a:r>
              <a:rPr lang="en-US" b="1" dirty="0"/>
              <a:t> </a:t>
            </a:r>
            <a:r>
              <a:rPr lang="en-US" b="1" dirty="0" err="1"/>
              <a:t>tiêu</a:t>
            </a:r>
            <a:endParaRPr lang="en-US" b="1" dirty="0"/>
          </a:p>
        </p:txBody>
      </p:sp>
      <p:cxnSp>
        <p:nvCxnSpPr>
          <p:cNvPr id="19" name="Straight Arrow Connector 18">
            <a:extLst>
              <a:ext uri="{FF2B5EF4-FFF2-40B4-BE49-F238E27FC236}">
                <a16:creationId xmlns:a16="http://schemas.microsoft.com/office/drawing/2014/main" id="{027791B1-0489-77C9-509D-D2742966CFDC}"/>
              </a:ext>
            </a:extLst>
          </p:cNvPr>
          <p:cNvCxnSpPr>
            <a:cxnSpLocks/>
          </p:cNvCxnSpPr>
          <p:nvPr/>
        </p:nvCxnSpPr>
        <p:spPr>
          <a:xfrm>
            <a:off x="3638024" y="6160239"/>
            <a:ext cx="1695976" cy="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575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41A56-CA70-E69E-2183-CD973B2CA4B6}"/>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55511F21-D48E-5524-718F-810E40B398F1}"/>
              </a:ext>
            </a:extLst>
          </p:cNvPr>
          <p:cNvSpPr>
            <a:spLocks noGrp="1"/>
          </p:cNvSpPr>
          <p:nvPr>
            <p:ph type="sldNum" sz="quarter" idx="12"/>
          </p:nvPr>
        </p:nvSpPr>
        <p:spPr/>
        <p:txBody>
          <a:bodyPr/>
          <a:lstStyle/>
          <a:p>
            <a:fld id="{3957FE44-DABC-424D-A234-74BB9410FF27}" type="slidenum">
              <a:rPr lang="en-US" smtClean="0"/>
              <a:pPr/>
              <a:t>17</a:t>
            </a:fld>
            <a:endParaRPr lang="en-US" dirty="0"/>
          </a:p>
        </p:txBody>
      </p:sp>
      <p:pic>
        <p:nvPicPr>
          <p:cNvPr id="1026" name="Picture 2" descr="Quality Function Deployment (QFD) showing the alignment between the requirements and technical features of the tracking framework. The left side details the system requirements, while the top section presents the technical features.">
            <a:extLst>
              <a:ext uri="{FF2B5EF4-FFF2-40B4-BE49-F238E27FC236}">
                <a16:creationId xmlns:a16="http://schemas.microsoft.com/office/drawing/2014/main" id="{C78067B9-F13B-C42E-67AE-A0173DB0A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0419" y="95411"/>
            <a:ext cx="5491162" cy="6667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615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AE84D-D59B-ECD0-8E22-C12B1BEBBBF0}"/>
              </a:ext>
            </a:extLst>
          </p:cNvPr>
          <p:cNvSpPr>
            <a:spLocks noGrp="1"/>
          </p:cNvSpPr>
          <p:nvPr>
            <p:ph type="title"/>
          </p:nvPr>
        </p:nvSpPr>
        <p:spPr/>
        <p:txBody>
          <a:bodyPr/>
          <a:lstStyle/>
          <a:p>
            <a:r>
              <a:rPr lang="en-US" b="1" dirty="0"/>
              <a:t>PP </a:t>
            </a:r>
            <a:r>
              <a:rPr lang="en-US" b="1" dirty="0" err="1"/>
              <a:t>Phân</a:t>
            </a:r>
            <a:r>
              <a:rPr lang="en-US" b="1" dirty="0"/>
              <a:t> </a:t>
            </a:r>
            <a:r>
              <a:rPr lang="en-US" b="1" dirty="0" err="1"/>
              <a:t>tích</a:t>
            </a:r>
            <a:r>
              <a:rPr lang="en-US" b="1" dirty="0"/>
              <a:t> </a:t>
            </a:r>
            <a:r>
              <a:rPr lang="en-US" b="1" dirty="0" err="1"/>
              <a:t>dựa</a:t>
            </a:r>
            <a:r>
              <a:rPr lang="en-US" b="1" dirty="0"/>
              <a:t> </a:t>
            </a:r>
            <a:r>
              <a:rPr lang="en-US" b="1" dirty="0" err="1"/>
              <a:t>trên</a:t>
            </a:r>
            <a:r>
              <a:rPr lang="en-US" b="1" dirty="0"/>
              <a:t> </a:t>
            </a:r>
            <a:r>
              <a:rPr lang="en-US" b="1" dirty="0" err="1"/>
              <a:t>Nhiệm</a:t>
            </a:r>
            <a:r>
              <a:rPr lang="en-US" b="1" dirty="0"/>
              <a:t> </a:t>
            </a:r>
            <a:r>
              <a:rPr lang="en-US" b="1" dirty="0" err="1"/>
              <a:t>vụ</a:t>
            </a:r>
            <a:r>
              <a:rPr lang="en-US" b="1" dirty="0"/>
              <a:t> </a:t>
            </a:r>
          </a:p>
        </p:txBody>
      </p:sp>
      <p:sp>
        <p:nvSpPr>
          <p:cNvPr id="3" name="Content Placeholder 2">
            <a:extLst>
              <a:ext uri="{FF2B5EF4-FFF2-40B4-BE49-F238E27FC236}">
                <a16:creationId xmlns:a16="http://schemas.microsoft.com/office/drawing/2014/main" id="{819B8A47-7DEF-328E-7A7B-FD2456955C7D}"/>
              </a:ext>
            </a:extLst>
          </p:cNvPr>
          <p:cNvSpPr>
            <a:spLocks noGrp="1"/>
          </p:cNvSpPr>
          <p:nvPr>
            <p:ph idx="1"/>
          </p:nvPr>
        </p:nvSpPr>
        <p:spPr/>
        <p:txBody>
          <a:bodyPr/>
          <a:lstStyle/>
          <a:p>
            <a:r>
              <a:rPr lang="en-US" dirty="0" err="1"/>
              <a:t>Mục</a:t>
            </a:r>
            <a:r>
              <a:rPr lang="en-US" dirty="0"/>
              <a:t> </a:t>
            </a:r>
            <a:r>
              <a:rPr lang="en-US" dirty="0" err="1"/>
              <a:t>tiêu</a:t>
            </a:r>
            <a:r>
              <a:rPr lang="en-US" dirty="0"/>
              <a:t>: </a:t>
            </a:r>
            <a:r>
              <a:rPr lang="en-US" dirty="0" err="1"/>
              <a:t>định</a:t>
            </a:r>
            <a:r>
              <a:rPr lang="en-US" dirty="0"/>
              <a:t> </a:t>
            </a:r>
            <a:r>
              <a:rPr lang="en-US" dirty="0" err="1"/>
              <a:t>nghĩa</a:t>
            </a:r>
            <a:r>
              <a:rPr lang="en-US" dirty="0"/>
              <a:t> </a:t>
            </a:r>
            <a:r>
              <a:rPr lang="en-US" dirty="0" err="1"/>
              <a:t>các</a:t>
            </a:r>
            <a:r>
              <a:rPr lang="en-US" dirty="0"/>
              <a:t> </a:t>
            </a:r>
            <a:r>
              <a:rPr lang="en-US" dirty="0" err="1"/>
              <a:t>thông</a:t>
            </a:r>
            <a:r>
              <a:rPr lang="en-US" dirty="0"/>
              <a:t> </a:t>
            </a:r>
            <a:r>
              <a:rPr lang="en-US" dirty="0" err="1"/>
              <a:t>số</a:t>
            </a:r>
            <a:r>
              <a:rPr lang="en-US" dirty="0"/>
              <a:t> </a:t>
            </a:r>
            <a:r>
              <a:rPr lang="en-US" dirty="0" err="1"/>
              <a:t>mục</a:t>
            </a:r>
            <a:r>
              <a:rPr lang="en-US" dirty="0"/>
              <a:t> </a:t>
            </a:r>
            <a:r>
              <a:rPr lang="en-US" dirty="0" err="1"/>
              <a:t>tiêu</a:t>
            </a:r>
            <a:r>
              <a:rPr lang="en-US" dirty="0"/>
              <a:t> </a:t>
            </a:r>
            <a:r>
              <a:rPr lang="en-US" dirty="0" err="1"/>
              <a:t>dựa</a:t>
            </a:r>
            <a:r>
              <a:rPr lang="en-US" dirty="0"/>
              <a:t> </a:t>
            </a:r>
            <a:r>
              <a:rPr lang="en-US" dirty="0" err="1"/>
              <a:t>trên</a:t>
            </a:r>
            <a:r>
              <a:rPr lang="en-US" dirty="0"/>
              <a:t> </a:t>
            </a:r>
            <a:r>
              <a:rPr lang="en-US" dirty="0" err="1"/>
              <a:t>kịch</a:t>
            </a:r>
            <a:r>
              <a:rPr lang="en-US" dirty="0"/>
              <a:t> </a:t>
            </a:r>
            <a:r>
              <a:rPr lang="en-US" dirty="0" err="1"/>
              <a:t>bản</a:t>
            </a:r>
            <a:r>
              <a:rPr lang="en-US" dirty="0"/>
              <a:t> </a:t>
            </a:r>
            <a:r>
              <a:rPr lang="en-US" dirty="0" err="1"/>
              <a:t>vận</a:t>
            </a:r>
            <a:r>
              <a:rPr lang="en-US" dirty="0"/>
              <a:t> </a:t>
            </a:r>
            <a:r>
              <a:rPr lang="en-US" dirty="0" err="1"/>
              <a:t>hành</a:t>
            </a:r>
            <a:r>
              <a:rPr lang="en-US" dirty="0"/>
              <a:t> </a:t>
            </a:r>
            <a:r>
              <a:rPr lang="en-US" dirty="0" err="1"/>
              <a:t>cuối</a:t>
            </a:r>
            <a:r>
              <a:rPr lang="en-US" dirty="0"/>
              <a:t> </a:t>
            </a:r>
            <a:r>
              <a:rPr lang="en-US" dirty="0" err="1"/>
              <a:t>cùng</a:t>
            </a:r>
            <a:r>
              <a:rPr lang="en-US" dirty="0"/>
              <a:t> </a:t>
            </a:r>
            <a:r>
              <a:rPr lang="en-US" dirty="0" err="1"/>
              <a:t>thay</a:t>
            </a:r>
            <a:r>
              <a:rPr lang="en-US" dirty="0"/>
              <a:t> </a:t>
            </a:r>
            <a:r>
              <a:rPr lang="en-US" dirty="0" err="1"/>
              <a:t>vì</a:t>
            </a:r>
            <a:r>
              <a:rPr lang="en-US" dirty="0"/>
              <a:t> </a:t>
            </a:r>
            <a:r>
              <a:rPr lang="en-US" dirty="0" err="1"/>
              <a:t>các</a:t>
            </a:r>
            <a:r>
              <a:rPr lang="en-US" dirty="0"/>
              <a:t> </a:t>
            </a:r>
            <a:r>
              <a:rPr lang="en-US" dirty="0" err="1"/>
              <a:t>lý</a:t>
            </a:r>
            <a:r>
              <a:rPr lang="en-US" dirty="0"/>
              <a:t> </a:t>
            </a:r>
            <a:r>
              <a:rPr lang="en-US" dirty="0" err="1"/>
              <a:t>thuyết</a:t>
            </a:r>
            <a:r>
              <a:rPr lang="en-US" dirty="0"/>
              <a:t> </a:t>
            </a:r>
            <a:r>
              <a:rPr lang="en-US" dirty="0" err="1"/>
              <a:t>tính</a:t>
            </a:r>
            <a:r>
              <a:rPr lang="en-US" dirty="0"/>
              <a:t> </a:t>
            </a:r>
            <a:r>
              <a:rPr lang="en-US" dirty="0" err="1"/>
              <a:t>toán</a:t>
            </a:r>
            <a:r>
              <a:rPr lang="en-US" dirty="0"/>
              <a:t> </a:t>
            </a:r>
            <a:r>
              <a:rPr lang="en-US" dirty="0" err="1"/>
              <a:t>rời</a:t>
            </a:r>
            <a:r>
              <a:rPr lang="en-US" dirty="0"/>
              <a:t> </a:t>
            </a:r>
            <a:r>
              <a:rPr lang="en-US" dirty="0" err="1"/>
              <a:t>rạc</a:t>
            </a:r>
            <a:endParaRPr lang="en-US" dirty="0"/>
          </a:p>
          <a:p>
            <a:r>
              <a:rPr lang="en-US" dirty="0"/>
              <a:t>MBA </a:t>
            </a:r>
            <a:r>
              <a:rPr lang="en-US" dirty="0" err="1"/>
              <a:t>được</a:t>
            </a:r>
            <a:r>
              <a:rPr lang="en-US" dirty="0"/>
              <a:t> </a:t>
            </a:r>
            <a:r>
              <a:rPr lang="en-US" dirty="0" err="1"/>
              <a:t>xây</a:t>
            </a:r>
            <a:r>
              <a:rPr lang="en-US" dirty="0"/>
              <a:t> </a:t>
            </a:r>
            <a:r>
              <a:rPr lang="en-US" dirty="0" err="1"/>
              <a:t>dựng</a:t>
            </a:r>
            <a:r>
              <a:rPr lang="en-US" dirty="0"/>
              <a:t> </a:t>
            </a:r>
            <a:r>
              <a:rPr lang="en-US" dirty="0" err="1"/>
              <a:t>bởi</a:t>
            </a:r>
            <a:r>
              <a:rPr lang="en-US" dirty="0"/>
              <a:t> </a:t>
            </a:r>
            <a:r>
              <a:rPr lang="en-US" dirty="0" err="1"/>
              <a:t>nhóm</a:t>
            </a:r>
            <a:r>
              <a:rPr lang="en-US" dirty="0"/>
              <a:t> </a:t>
            </a:r>
            <a:r>
              <a:rPr lang="en-US" dirty="0" err="1"/>
              <a:t>các</a:t>
            </a:r>
            <a:r>
              <a:rPr lang="en-US" dirty="0"/>
              <a:t> </a:t>
            </a:r>
            <a:r>
              <a:rPr lang="en-US" dirty="0" err="1"/>
              <a:t>kỹ</a:t>
            </a:r>
            <a:r>
              <a:rPr lang="en-US" dirty="0"/>
              <a:t> </a:t>
            </a:r>
            <a:r>
              <a:rPr lang="en-US" dirty="0" err="1"/>
              <a:t>sư</a:t>
            </a:r>
            <a:r>
              <a:rPr lang="en-US" dirty="0"/>
              <a:t> </a:t>
            </a:r>
            <a:r>
              <a:rPr lang="vi-VN" dirty="0"/>
              <a:t>thiết kế các hệ thống tên lửa</a:t>
            </a:r>
            <a:r>
              <a:rPr lang="en-US" dirty="0"/>
              <a:t> </a:t>
            </a:r>
            <a:r>
              <a:rPr lang="en-US" dirty="0" err="1"/>
              <a:t>và</a:t>
            </a:r>
            <a:r>
              <a:rPr lang="en-US" dirty="0"/>
              <a:t> </a:t>
            </a:r>
            <a:r>
              <a:rPr lang="en-US" dirty="0" err="1"/>
              <a:t>tàu</a:t>
            </a:r>
            <a:r>
              <a:rPr lang="en-US" dirty="0"/>
              <a:t> </a:t>
            </a:r>
            <a:r>
              <a:rPr lang="en-US" dirty="0" err="1"/>
              <a:t>vũ</a:t>
            </a:r>
            <a:r>
              <a:rPr lang="en-US" dirty="0"/>
              <a:t> </a:t>
            </a:r>
            <a:r>
              <a:rPr lang="en-US" dirty="0" err="1"/>
              <a:t>trụ</a:t>
            </a:r>
            <a:r>
              <a:rPr lang="en-US" dirty="0"/>
              <a:t> </a:t>
            </a:r>
            <a:r>
              <a:rPr lang="en-US" dirty="0" err="1"/>
              <a:t>của</a:t>
            </a:r>
            <a:r>
              <a:rPr lang="en-US" dirty="0"/>
              <a:t> </a:t>
            </a:r>
            <a:r>
              <a:rPr lang="en-US" dirty="0" err="1"/>
              <a:t>Mỹ</a:t>
            </a:r>
            <a:endParaRPr lang="en-US" dirty="0"/>
          </a:p>
          <a:p>
            <a:r>
              <a:rPr lang="en-US" dirty="0"/>
              <a:t>MBA </a:t>
            </a:r>
            <a:r>
              <a:rPr lang="en-US" dirty="0" err="1"/>
              <a:t>được</a:t>
            </a:r>
            <a:r>
              <a:rPr lang="en-US" dirty="0"/>
              <a:t> </a:t>
            </a:r>
            <a:r>
              <a:rPr lang="en-US" dirty="0" err="1"/>
              <a:t>áp</a:t>
            </a:r>
            <a:r>
              <a:rPr lang="en-US" dirty="0"/>
              <a:t> </a:t>
            </a:r>
            <a:r>
              <a:rPr lang="en-US" dirty="0" err="1"/>
              <a:t>dụng</a:t>
            </a:r>
            <a:r>
              <a:rPr lang="en-US" dirty="0"/>
              <a:t> </a:t>
            </a:r>
            <a:r>
              <a:rPr lang="en-US" dirty="0" err="1"/>
              <a:t>nhiều</a:t>
            </a:r>
            <a:r>
              <a:rPr lang="en-US" dirty="0"/>
              <a:t> </a:t>
            </a:r>
            <a:r>
              <a:rPr lang="en-US" dirty="0" err="1"/>
              <a:t>cho</a:t>
            </a:r>
            <a:r>
              <a:rPr lang="en-US" dirty="0"/>
              <a:t> </a:t>
            </a:r>
            <a:r>
              <a:rPr lang="en-US" dirty="0" err="1"/>
              <a:t>thiết</a:t>
            </a:r>
            <a:r>
              <a:rPr lang="en-US" dirty="0"/>
              <a:t> </a:t>
            </a:r>
            <a:r>
              <a:rPr lang="en-US" dirty="0" err="1"/>
              <a:t>kế</a:t>
            </a:r>
            <a:r>
              <a:rPr lang="en-US" dirty="0"/>
              <a:t> robot </a:t>
            </a:r>
            <a:r>
              <a:rPr lang="en-US" dirty="0" err="1"/>
              <a:t>từ</a:t>
            </a:r>
            <a:r>
              <a:rPr lang="en-US" dirty="0"/>
              <a:t> </a:t>
            </a:r>
            <a:r>
              <a:rPr lang="en-US" dirty="0" err="1"/>
              <a:t>hành</a:t>
            </a:r>
            <a:r>
              <a:rPr lang="en-US" dirty="0"/>
              <a:t>, </a:t>
            </a:r>
            <a:r>
              <a:rPr lang="en-US" dirty="0" err="1"/>
              <a:t>xe</a:t>
            </a:r>
            <a:r>
              <a:rPr lang="en-US" dirty="0"/>
              <a:t> </a:t>
            </a:r>
            <a:r>
              <a:rPr lang="en-US" dirty="0" err="1"/>
              <a:t>tự</a:t>
            </a:r>
            <a:r>
              <a:rPr lang="en-US" dirty="0"/>
              <a:t> </a:t>
            </a:r>
            <a:r>
              <a:rPr lang="en-US" dirty="0" err="1"/>
              <a:t>hành</a:t>
            </a:r>
            <a:r>
              <a:rPr lang="en-US" dirty="0"/>
              <a:t> … </a:t>
            </a:r>
            <a:r>
              <a:rPr lang="en-US" dirty="0" err="1"/>
              <a:t>nơi</a:t>
            </a:r>
            <a:r>
              <a:rPr lang="en-US" dirty="0"/>
              <a:t> </a:t>
            </a:r>
            <a:r>
              <a:rPr lang="en-US" dirty="0" err="1"/>
              <a:t>môi</a:t>
            </a:r>
            <a:r>
              <a:rPr lang="en-US" dirty="0"/>
              <a:t> </a:t>
            </a:r>
            <a:r>
              <a:rPr lang="en-US" dirty="0" err="1"/>
              <a:t>trường</a:t>
            </a:r>
            <a:r>
              <a:rPr lang="en-US" dirty="0"/>
              <a:t> </a:t>
            </a:r>
            <a:r>
              <a:rPr lang="en-US" dirty="0" err="1"/>
              <a:t>vận</a:t>
            </a:r>
            <a:r>
              <a:rPr lang="en-US" dirty="0"/>
              <a:t> </a:t>
            </a:r>
            <a:r>
              <a:rPr lang="en-US" dirty="0" err="1"/>
              <a:t>hành</a:t>
            </a:r>
            <a:r>
              <a:rPr lang="en-US" dirty="0"/>
              <a:t> </a:t>
            </a:r>
            <a:r>
              <a:rPr lang="en-US" dirty="0" err="1"/>
              <a:t>có</a:t>
            </a:r>
            <a:r>
              <a:rPr lang="en-US" dirty="0"/>
              <a:t> </a:t>
            </a:r>
            <a:r>
              <a:rPr lang="en-US" dirty="0" err="1"/>
              <a:t>nhiều</a:t>
            </a:r>
            <a:r>
              <a:rPr lang="en-US" dirty="0"/>
              <a:t> </a:t>
            </a:r>
            <a:r>
              <a:rPr lang="en-US" dirty="0" err="1"/>
              <a:t>biến</a:t>
            </a:r>
            <a:r>
              <a:rPr lang="en-US" dirty="0"/>
              <a:t> </a:t>
            </a:r>
            <a:r>
              <a:rPr lang="en-US" dirty="0" err="1"/>
              <a:t>động</a:t>
            </a:r>
            <a:endParaRPr lang="en-US" dirty="0"/>
          </a:p>
          <a:p>
            <a:r>
              <a:rPr lang="en-US" dirty="0"/>
              <a:t>Triết </a:t>
            </a:r>
            <a:r>
              <a:rPr lang="en-US" dirty="0" err="1"/>
              <a:t>lý</a:t>
            </a:r>
            <a:r>
              <a:rPr lang="en-US" dirty="0"/>
              <a:t> </a:t>
            </a:r>
            <a:r>
              <a:rPr lang="en-US" dirty="0" err="1"/>
              <a:t>cốt</a:t>
            </a:r>
            <a:r>
              <a:rPr lang="en-US" dirty="0"/>
              <a:t> </a:t>
            </a:r>
            <a:r>
              <a:rPr lang="en-US" dirty="0" err="1"/>
              <a:t>lõi</a:t>
            </a:r>
            <a:r>
              <a:rPr lang="en-US" dirty="0"/>
              <a:t>: </a:t>
            </a:r>
            <a:r>
              <a:rPr lang="en-US" dirty="0" err="1"/>
              <a:t>Nhiệm</a:t>
            </a:r>
            <a:r>
              <a:rPr lang="en-US" dirty="0"/>
              <a:t> </a:t>
            </a:r>
            <a:r>
              <a:rPr lang="en-US" dirty="0" err="1"/>
              <a:t>vụ</a:t>
            </a:r>
            <a:r>
              <a:rPr lang="en-US" dirty="0"/>
              <a:t> </a:t>
            </a:r>
            <a:r>
              <a:rPr lang="en-US" dirty="0" err="1"/>
              <a:t>định</a:t>
            </a:r>
            <a:r>
              <a:rPr lang="en-US" dirty="0"/>
              <a:t> </a:t>
            </a:r>
            <a:r>
              <a:rPr lang="en-US" dirty="0" err="1"/>
              <a:t>hình</a:t>
            </a:r>
            <a:r>
              <a:rPr lang="en-US" dirty="0"/>
              <a:t> </a:t>
            </a:r>
            <a:r>
              <a:rPr lang="en-US" dirty="0" err="1"/>
              <a:t>thông</a:t>
            </a:r>
            <a:r>
              <a:rPr lang="en-US" dirty="0"/>
              <a:t> </a:t>
            </a:r>
            <a:r>
              <a:rPr lang="en-US" dirty="0" err="1"/>
              <a:t>số</a:t>
            </a:r>
            <a:endParaRPr lang="en-US" dirty="0"/>
          </a:p>
          <a:p>
            <a:pPr lvl="1"/>
            <a:r>
              <a:rPr lang="en-US" dirty="0" err="1"/>
              <a:t>Vd</a:t>
            </a:r>
            <a:r>
              <a:rPr lang="en-US" dirty="0"/>
              <a:t>: </a:t>
            </a:r>
            <a:r>
              <a:rPr lang="en-US" dirty="0" err="1"/>
              <a:t>Để</a:t>
            </a:r>
            <a:r>
              <a:rPr lang="en-US" dirty="0"/>
              <a:t> </a:t>
            </a:r>
            <a:r>
              <a:rPr lang="en-US" dirty="0" err="1"/>
              <a:t>hoàn</a:t>
            </a:r>
            <a:r>
              <a:rPr lang="en-US" dirty="0"/>
              <a:t> </a:t>
            </a:r>
            <a:r>
              <a:rPr lang="en-US" dirty="0" err="1"/>
              <a:t>thành</a:t>
            </a:r>
            <a:r>
              <a:rPr lang="en-US" dirty="0"/>
              <a:t> </a:t>
            </a:r>
            <a:r>
              <a:rPr lang="en-US" dirty="0" err="1"/>
              <a:t>việc</a:t>
            </a:r>
            <a:r>
              <a:rPr lang="en-US" dirty="0"/>
              <a:t> </a:t>
            </a:r>
            <a:r>
              <a:rPr lang="en-US" dirty="0" err="1"/>
              <a:t>vận</a:t>
            </a:r>
            <a:r>
              <a:rPr lang="en-US" dirty="0"/>
              <a:t> </a:t>
            </a:r>
            <a:r>
              <a:rPr lang="en-US" dirty="0" err="1"/>
              <a:t>chuyển</a:t>
            </a:r>
            <a:r>
              <a:rPr lang="en-US" dirty="0"/>
              <a:t> </a:t>
            </a:r>
            <a:r>
              <a:rPr lang="en-US" dirty="0" err="1"/>
              <a:t>hàng</a:t>
            </a:r>
            <a:r>
              <a:rPr lang="en-US" dirty="0"/>
              <a:t> </a:t>
            </a:r>
            <a:r>
              <a:rPr lang="en-US" dirty="0" err="1"/>
              <a:t>trong</a:t>
            </a:r>
            <a:r>
              <a:rPr lang="en-US" dirty="0"/>
              <a:t> </a:t>
            </a:r>
            <a:r>
              <a:rPr lang="en-US" dirty="0" err="1"/>
              <a:t>kho</a:t>
            </a:r>
            <a:r>
              <a:rPr lang="en-US" dirty="0"/>
              <a:t> 1000m</a:t>
            </a:r>
            <a:r>
              <a:rPr lang="en-US" baseline="30000" dirty="0"/>
              <a:t>2</a:t>
            </a:r>
            <a:r>
              <a:rPr lang="en-US" baseline="-25000" dirty="0"/>
              <a:t> </a:t>
            </a:r>
            <a:r>
              <a:rPr lang="en-US" dirty="0" err="1"/>
              <a:t>trong</a:t>
            </a:r>
            <a:r>
              <a:rPr lang="en-US" dirty="0"/>
              <a:t> 5 </a:t>
            </a:r>
            <a:r>
              <a:rPr lang="en-US" dirty="0" err="1"/>
              <a:t>phút</a:t>
            </a:r>
            <a:r>
              <a:rPr lang="en-US" dirty="0"/>
              <a:t>, robot </a:t>
            </a:r>
            <a:r>
              <a:rPr lang="en-US" dirty="0" err="1"/>
              <a:t>cần</a:t>
            </a:r>
            <a:r>
              <a:rPr lang="en-US" dirty="0"/>
              <a:t> </a:t>
            </a:r>
            <a:r>
              <a:rPr lang="en-US" dirty="0" err="1"/>
              <a:t>đạt</a:t>
            </a:r>
            <a:r>
              <a:rPr lang="en-US" dirty="0"/>
              <a:t> </a:t>
            </a:r>
            <a:r>
              <a:rPr lang="en-US" dirty="0" err="1"/>
              <a:t>vận</a:t>
            </a:r>
            <a:r>
              <a:rPr lang="en-US" dirty="0"/>
              <a:t> </a:t>
            </a:r>
            <a:r>
              <a:rPr lang="en-US" dirty="0" err="1"/>
              <a:t>tốc</a:t>
            </a:r>
            <a:r>
              <a:rPr lang="en-US" dirty="0"/>
              <a:t> bao </a:t>
            </a:r>
            <a:r>
              <a:rPr lang="en-US" dirty="0" err="1"/>
              <a:t>nhiêu</a:t>
            </a:r>
            <a:r>
              <a:rPr lang="en-US" dirty="0"/>
              <a:t>?</a:t>
            </a:r>
          </a:p>
        </p:txBody>
      </p:sp>
      <p:sp>
        <p:nvSpPr>
          <p:cNvPr id="4" name="Slide Number Placeholder 3">
            <a:extLst>
              <a:ext uri="{FF2B5EF4-FFF2-40B4-BE49-F238E27FC236}">
                <a16:creationId xmlns:a16="http://schemas.microsoft.com/office/drawing/2014/main" id="{FC1AF25E-5DEE-0AA8-2EC8-DED888354C31}"/>
              </a:ext>
            </a:extLst>
          </p:cNvPr>
          <p:cNvSpPr>
            <a:spLocks noGrp="1"/>
          </p:cNvSpPr>
          <p:nvPr>
            <p:ph type="sldNum" sz="quarter" idx="12"/>
          </p:nvPr>
        </p:nvSpPr>
        <p:spPr/>
        <p:txBody>
          <a:bodyPr/>
          <a:lstStyle/>
          <a:p>
            <a:fld id="{3957FE44-DABC-424D-A234-74BB9410FF27}" type="slidenum">
              <a:rPr lang="en-US" smtClean="0"/>
              <a:pPr/>
              <a:t>18</a:t>
            </a:fld>
            <a:endParaRPr lang="en-US" dirty="0"/>
          </a:p>
        </p:txBody>
      </p:sp>
    </p:spTree>
    <p:extLst>
      <p:ext uri="{BB962C8B-B14F-4D97-AF65-F5344CB8AC3E}">
        <p14:creationId xmlns:p14="http://schemas.microsoft.com/office/powerpoint/2010/main" val="4038476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7B542-A003-1416-F0DB-421BA74F4CD2}"/>
              </a:ext>
            </a:extLst>
          </p:cNvPr>
          <p:cNvSpPr>
            <a:spLocks noGrp="1"/>
          </p:cNvSpPr>
          <p:nvPr>
            <p:ph type="title"/>
          </p:nvPr>
        </p:nvSpPr>
        <p:spPr/>
        <p:txBody>
          <a:bodyPr/>
          <a:lstStyle/>
          <a:p>
            <a:r>
              <a:rPr lang="en-US" b="1" dirty="0"/>
              <a:t>PP </a:t>
            </a:r>
            <a:r>
              <a:rPr lang="en-US" b="1" dirty="0" err="1"/>
              <a:t>Phân</a:t>
            </a:r>
            <a:r>
              <a:rPr lang="en-US" b="1" dirty="0"/>
              <a:t> </a:t>
            </a:r>
            <a:r>
              <a:rPr lang="en-US" b="1" dirty="0" err="1"/>
              <a:t>tích</a:t>
            </a:r>
            <a:r>
              <a:rPr lang="en-US" b="1" dirty="0"/>
              <a:t> </a:t>
            </a:r>
            <a:r>
              <a:rPr lang="en-US" b="1" dirty="0" err="1"/>
              <a:t>dựa</a:t>
            </a:r>
            <a:r>
              <a:rPr lang="en-US" b="1" dirty="0"/>
              <a:t> </a:t>
            </a:r>
            <a:r>
              <a:rPr lang="en-US" b="1" dirty="0" err="1"/>
              <a:t>trên</a:t>
            </a:r>
            <a:r>
              <a:rPr lang="en-US" b="1" dirty="0"/>
              <a:t> </a:t>
            </a:r>
            <a:r>
              <a:rPr lang="en-US" b="1" dirty="0" err="1"/>
              <a:t>Nhiệm</a:t>
            </a:r>
            <a:r>
              <a:rPr lang="en-US" b="1" dirty="0"/>
              <a:t> </a:t>
            </a:r>
            <a:r>
              <a:rPr lang="en-US" b="1" dirty="0" err="1"/>
              <a:t>vụ</a:t>
            </a:r>
            <a:r>
              <a:rPr lang="en-US" b="1" dirty="0"/>
              <a:t> </a:t>
            </a:r>
            <a:endParaRPr lang="en-US" dirty="0"/>
          </a:p>
        </p:txBody>
      </p:sp>
      <p:sp>
        <p:nvSpPr>
          <p:cNvPr id="3" name="Content Placeholder 2">
            <a:extLst>
              <a:ext uri="{FF2B5EF4-FFF2-40B4-BE49-F238E27FC236}">
                <a16:creationId xmlns:a16="http://schemas.microsoft.com/office/drawing/2014/main" id="{57183218-B975-6450-15EA-D4F418E258A9}"/>
              </a:ext>
            </a:extLst>
          </p:cNvPr>
          <p:cNvSpPr>
            <a:spLocks noGrp="1"/>
          </p:cNvSpPr>
          <p:nvPr>
            <p:ph idx="1"/>
          </p:nvPr>
        </p:nvSpPr>
        <p:spPr/>
        <p:txBody>
          <a:bodyPr/>
          <a:lstStyle/>
          <a:p>
            <a:pPr marL="0" indent="0">
              <a:buNone/>
            </a:pPr>
            <a:r>
              <a:rPr lang="vi-VN" dirty="0"/>
              <a:t>Quy trình MBA thường được thực hiện qua 4 giai đoạn chính</a:t>
            </a:r>
            <a:endParaRPr lang="en-US" dirty="0"/>
          </a:p>
          <a:p>
            <a:r>
              <a:rPr lang="en-US" b="1" dirty="0" err="1"/>
              <a:t>Bước</a:t>
            </a:r>
            <a:r>
              <a:rPr lang="en-US" b="1" dirty="0"/>
              <a:t> 1: </a:t>
            </a:r>
            <a:r>
              <a:rPr lang="en-US" dirty="0"/>
              <a:t>Định </a:t>
            </a:r>
            <a:r>
              <a:rPr lang="en-US" dirty="0" err="1"/>
              <a:t>nghĩa</a:t>
            </a:r>
            <a:r>
              <a:rPr lang="en-US" dirty="0"/>
              <a:t> </a:t>
            </a:r>
            <a:r>
              <a:rPr lang="en-US" dirty="0" err="1"/>
              <a:t>kịch</a:t>
            </a:r>
            <a:r>
              <a:rPr lang="en-US" dirty="0"/>
              <a:t> </a:t>
            </a:r>
            <a:r>
              <a:rPr lang="en-US" dirty="0" err="1"/>
              <a:t>bản</a:t>
            </a:r>
            <a:r>
              <a:rPr lang="en-US" dirty="0"/>
              <a:t> </a:t>
            </a:r>
            <a:r>
              <a:rPr lang="en-US" dirty="0" err="1"/>
              <a:t>nhiệm</a:t>
            </a:r>
            <a:r>
              <a:rPr lang="en-US" dirty="0"/>
              <a:t> </a:t>
            </a:r>
            <a:r>
              <a:rPr lang="en-US" dirty="0" err="1"/>
              <a:t>vụ</a:t>
            </a:r>
            <a:endParaRPr lang="en-US" dirty="0"/>
          </a:p>
          <a:p>
            <a:pPr lvl="1"/>
            <a:r>
              <a:rPr lang="vi-VN" dirty="0"/>
              <a:t>Môi trường: Trong nhà, ngoài trời, dưới nước</a:t>
            </a:r>
            <a:r>
              <a:rPr lang="en-US" dirty="0"/>
              <a:t>?</a:t>
            </a:r>
          </a:p>
          <a:p>
            <a:pPr lvl="1"/>
            <a:r>
              <a:rPr lang="en-US" dirty="0" err="1"/>
              <a:t>Thời</a:t>
            </a:r>
            <a:r>
              <a:rPr lang="en-US" dirty="0"/>
              <a:t> </a:t>
            </a:r>
            <a:r>
              <a:rPr lang="en-US" dirty="0" err="1"/>
              <a:t>gian</a:t>
            </a:r>
            <a:r>
              <a:rPr lang="en-US" dirty="0"/>
              <a:t>: Robot </a:t>
            </a:r>
            <a:r>
              <a:rPr lang="en-US" dirty="0" err="1"/>
              <a:t>phải</a:t>
            </a:r>
            <a:r>
              <a:rPr lang="en-US" dirty="0"/>
              <a:t> </a:t>
            </a:r>
            <a:r>
              <a:rPr lang="en-US" dirty="0" err="1"/>
              <a:t>hoạt</a:t>
            </a:r>
            <a:r>
              <a:rPr lang="en-US" dirty="0"/>
              <a:t> </a:t>
            </a:r>
            <a:r>
              <a:rPr lang="en-US" dirty="0" err="1"/>
              <a:t>động</a:t>
            </a:r>
            <a:r>
              <a:rPr lang="en-US" dirty="0"/>
              <a:t> </a:t>
            </a:r>
            <a:r>
              <a:rPr lang="en-US" dirty="0" err="1"/>
              <a:t>trong</a:t>
            </a:r>
            <a:r>
              <a:rPr lang="en-US" dirty="0"/>
              <a:t> bao </a:t>
            </a:r>
            <a:r>
              <a:rPr lang="en-US" dirty="0" err="1"/>
              <a:t>lâu</a:t>
            </a:r>
            <a:r>
              <a:rPr lang="en-US" dirty="0"/>
              <a:t>?</a:t>
            </a:r>
          </a:p>
          <a:p>
            <a:pPr lvl="1"/>
            <a:r>
              <a:rPr lang="vi-VN" dirty="0"/>
              <a:t>Đối tượng </a:t>
            </a:r>
            <a:r>
              <a:rPr lang="en-US" dirty="0" err="1"/>
              <a:t>công</a:t>
            </a:r>
            <a:r>
              <a:rPr lang="en-US" dirty="0"/>
              <a:t> </a:t>
            </a:r>
            <a:r>
              <a:rPr lang="en-US" dirty="0" err="1"/>
              <a:t>tác</a:t>
            </a:r>
            <a:r>
              <a:rPr lang="vi-VN" dirty="0"/>
              <a:t>: Robot nâng hàng nặng bao nhiêu? Gắp vật thể có hình dạng gì?</a:t>
            </a:r>
            <a:endParaRPr lang="en-US" dirty="0"/>
          </a:p>
          <a:p>
            <a:r>
              <a:rPr lang="en-US" b="1" dirty="0" err="1"/>
              <a:t>Bước</a:t>
            </a:r>
            <a:r>
              <a:rPr lang="en-US" b="1" dirty="0"/>
              <a:t> 2:</a:t>
            </a:r>
            <a:r>
              <a:rPr lang="en-US" dirty="0"/>
              <a:t> </a:t>
            </a:r>
            <a:r>
              <a:rPr lang="en-US" dirty="0" err="1"/>
              <a:t>Phân</a:t>
            </a:r>
            <a:r>
              <a:rPr lang="en-US" dirty="0"/>
              <a:t> </a:t>
            </a:r>
            <a:r>
              <a:rPr lang="en-US" dirty="0" err="1"/>
              <a:t>tích</a:t>
            </a:r>
            <a:r>
              <a:rPr lang="en-US" dirty="0"/>
              <a:t> </a:t>
            </a:r>
            <a:r>
              <a:rPr lang="en-US" dirty="0" err="1"/>
              <a:t>tiến</a:t>
            </a:r>
            <a:r>
              <a:rPr lang="en-US" dirty="0"/>
              <a:t> </a:t>
            </a:r>
            <a:r>
              <a:rPr lang="en-US" dirty="0" err="1"/>
              <a:t>trình</a:t>
            </a:r>
            <a:r>
              <a:rPr lang="en-US" dirty="0"/>
              <a:t> </a:t>
            </a:r>
            <a:r>
              <a:rPr lang="en-US" dirty="0" err="1"/>
              <a:t>nhiệm</a:t>
            </a:r>
            <a:r>
              <a:rPr lang="en-US" dirty="0"/>
              <a:t> </a:t>
            </a:r>
            <a:r>
              <a:rPr lang="en-US" dirty="0" err="1"/>
              <a:t>vụ</a:t>
            </a:r>
            <a:r>
              <a:rPr lang="en-US" dirty="0"/>
              <a:t> - </a:t>
            </a:r>
            <a:r>
              <a:rPr lang="vi-VN" dirty="0"/>
              <a:t>bản đồ các bước mà robot phải thực hiện từ lúc bắt đầu đến khi kết thúc</a:t>
            </a:r>
            <a:endParaRPr lang="en-US" dirty="0"/>
          </a:p>
          <a:p>
            <a:pPr lvl="1"/>
            <a:r>
              <a:rPr lang="en-US" dirty="0"/>
              <a:t>VD: Robot </a:t>
            </a:r>
            <a:r>
              <a:rPr lang="en-US" dirty="0" err="1"/>
              <a:t>phục</a:t>
            </a:r>
            <a:r>
              <a:rPr lang="en-US" dirty="0"/>
              <a:t> </a:t>
            </a:r>
            <a:r>
              <a:rPr lang="en-US" dirty="0" err="1"/>
              <a:t>vụ</a:t>
            </a:r>
            <a:r>
              <a:rPr lang="en-US" dirty="0"/>
              <a:t> </a:t>
            </a:r>
            <a:r>
              <a:rPr lang="en-US" dirty="0" err="1"/>
              <a:t>trong</a:t>
            </a:r>
            <a:r>
              <a:rPr lang="en-US" dirty="0"/>
              <a:t> </a:t>
            </a:r>
            <a:r>
              <a:rPr lang="en-US" dirty="0" err="1"/>
              <a:t>nhà</a:t>
            </a:r>
            <a:r>
              <a:rPr lang="en-US" dirty="0"/>
              <a:t> </a:t>
            </a:r>
            <a:r>
              <a:rPr lang="en-US" dirty="0" err="1"/>
              <a:t>hàng</a:t>
            </a:r>
            <a:r>
              <a:rPr lang="en-US" dirty="0"/>
              <a:t>:</a:t>
            </a:r>
          </a:p>
          <a:p>
            <a:pPr marL="274320" lvl="1" indent="0">
              <a:buNone/>
            </a:pPr>
            <a:r>
              <a:rPr lang="en-US" dirty="0"/>
              <a:t>   </a:t>
            </a:r>
            <a:r>
              <a:rPr lang="vi-VN" dirty="0"/>
              <a:t>Nhận </a:t>
            </a:r>
            <a:r>
              <a:rPr lang="en-US" dirty="0" err="1"/>
              <a:t>yêu</a:t>
            </a:r>
            <a:r>
              <a:rPr lang="en-US" dirty="0"/>
              <a:t> </a:t>
            </a:r>
            <a:r>
              <a:rPr lang="en-US" dirty="0" err="1"/>
              <a:t>cầu</a:t>
            </a:r>
            <a:r>
              <a:rPr lang="en-US" dirty="0"/>
              <a:t> </a:t>
            </a:r>
            <a:r>
              <a:rPr lang="en-US" dirty="0">
                <a:sym typeface="Wingdings" panose="05000000000000000000" pitchFamily="2" charset="2"/>
              </a:rPr>
              <a:t> </a:t>
            </a:r>
            <a:r>
              <a:rPr lang="vi-VN" dirty="0"/>
              <a:t>Lập lộ trình </a:t>
            </a:r>
            <a:r>
              <a:rPr lang="en-US" dirty="0">
                <a:sym typeface="Wingdings" panose="05000000000000000000" pitchFamily="2" charset="2"/>
              </a:rPr>
              <a:t> </a:t>
            </a:r>
            <a:r>
              <a:rPr lang="vi-VN" dirty="0"/>
              <a:t>Di chuyển đến điểm lấy hàng </a:t>
            </a:r>
            <a:r>
              <a:rPr lang="en-US" dirty="0">
                <a:sym typeface="Wingdings" panose="05000000000000000000" pitchFamily="2" charset="2"/>
              </a:rPr>
              <a:t> </a:t>
            </a:r>
            <a:r>
              <a:rPr lang="vi-VN" dirty="0"/>
              <a:t>Tránh vật cản </a:t>
            </a:r>
            <a:r>
              <a:rPr lang="en-US" dirty="0">
                <a:sym typeface="Wingdings" panose="05000000000000000000" pitchFamily="2" charset="2"/>
              </a:rPr>
              <a:t> </a:t>
            </a:r>
            <a:r>
              <a:rPr lang="vi-VN" dirty="0"/>
              <a:t>Giao hàng và xác nhận.</a:t>
            </a:r>
            <a:endParaRPr lang="en-US" dirty="0"/>
          </a:p>
          <a:p>
            <a:pPr lvl="1"/>
            <a:endParaRPr lang="en-US" dirty="0"/>
          </a:p>
        </p:txBody>
      </p:sp>
      <p:sp>
        <p:nvSpPr>
          <p:cNvPr id="4" name="Slide Number Placeholder 3">
            <a:extLst>
              <a:ext uri="{FF2B5EF4-FFF2-40B4-BE49-F238E27FC236}">
                <a16:creationId xmlns:a16="http://schemas.microsoft.com/office/drawing/2014/main" id="{BD09BD7E-C9F0-1BF1-8BC4-4890A2750D7C}"/>
              </a:ext>
            </a:extLst>
          </p:cNvPr>
          <p:cNvSpPr>
            <a:spLocks noGrp="1"/>
          </p:cNvSpPr>
          <p:nvPr>
            <p:ph type="sldNum" sz="quarter" idx="12"/>
          </p:nvPr>
        </p:nvSpPr>
        <p:spPr/>
        <p:txBody>
          <a:bodyPr/>
          <a:lstStyle/>
          <a:p>
            <a:fld id="{3957FE44-DABC-424D-A234-74BB9410FF27}" type="slidenum">
              <a:rPr lang="en-US" smtClean="0"/>
              <a:pPr/>
              <a:t>19</a:t>
            </a:fld>
            <a:endParaRPr lang="en-US" dirty="0"/>
          </a:p>
        </p:txBody>
      </p:sp>
    </p:spTree>
    <p:extLst>
      <p:ext uri="{BB962C8B-B14F-4D97-AF65-F5344CB8AC3E}">
        <p14:creationId xmlns:p14="http://schemas.microsoft.com/office/powerpoint/2010/main" val="4233519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272E9-21D8-FE8C-535F-E9C37621B174}"/>
              </a:ext>
            </a:extLst>
          </p:cNvPr>
          <p:cNvSpPr>
            <a:spLocks noGrp="1"/>
          </p:cNvSpPr>
          <p:nvPr>
            <p:ph type="title"/>
          </p:nvPr>
        </p:nvSpPr>
        <p:spPr/>
        <p:txBody>
          <a:bodyPr/>
          <a:lstStyle/>
          <a:p>
            <a:r>
              <a:rPr lang="en-US" b="1" dirty="0"/>
              <a:t>PP </a:t>
            </a:r>
            <a:r>
              <a:rPr lang="en-US" b="1" dirty="0" err="1"/>
              <a:t>Phân</a:t>
            </a:r>
            <a:r>
              <a:rPr lang="en-US" b="1" dirty="0"/>
              <a:t> </a:t>
            </a:r>
            <a:r>
              <a:rPr lang="en-US" b="1" dirty="0" err="1"/>
              <a:t>tích</a:t>
            </a:r>
            <a:r>
              <a:rPr lang="en-US" b="1" dirty="0"/>
              <a:t> </a:t>
            </a:r>
            <a:r>
              <a:rPr lang="en-US" b="1" dirty="0" err="1"/>
              <a:t>dựa</a:t>
            </a:r>
            <a:r>
              <a:rPr lang="en-US" b="1" dirty="0"/>
              <a:t> </a:t>
            </a:r>
            <a:r>
              <a:rPr lang="en-US" b="1" dirty="0" err="1"/>
              <a:t>trên</a:t>
            </a:r>
            <a:r>
              <a:rPr lang="en-US" b="1" dirty="0"/>
              <a:t> </a:t>
            </a:r>
            <a:r>
              <a:rPr lang="en-US" b="1" dirty="0" err="1"/>
              <a:t>Nhiệm</a:t>
            </a:r>
            <a:r>
              <a:rPr lang="en-US" b="1" dirty="0"/>
              <a:t> </a:t>
            </a:r>
            <a:r>
              <a:rPr lang="en-US" b="1" dirty="0" err="1"/>
              <a:t>vụ</a:t>
            </a:r>
            <a:r>
              <a:rPr lang="en-US" b="1" dirty="0"/>
              <a:t> </a:t>
            </a:r>
            <a:endParaRPr lang="en-US" dirty="0"/>
          </a:p>
        </p:txBody>
      </p:sp>
      <p:sp>
        <p:nvSpPr>
          <p:cNvPr id="3" name="Content Placeholder 2">
            <a:extLst>
              <a:ext uri="{FF2B5EF4-FFF2-40B4-BE49-F238E27FC236}">
                <a16:creationId xmlns:a16="http://schemas.microsoft.com/office/drawing/2014/main" id="{C3FB4B71-EBC8-E265-AAA2-627634ACDAC8}"/>
              </a:ext>
            </a:extLst>
          </p:cNvPr>
          <p:cNvSpPr>
            <a:spLocks noGrp="1"/>
          </p:cNvSpPr>
          <p:nvPr>
            <p:ph idx="1"/>
          </p:nvPr>
        </p:nvSpPr>
        <p:spPr/>
        <p:txBody>
          <a:bodyPr/>
          <a:lstStyle/>
          <a:p>
            <a:r>
              <a:rPr lang="en-US" dirty="0" err="1"/>
              <a:t>Bước</a:t>
            </a:r>
            <a:r>
              <a:rPr lang="en-US" dirty="0"/>
              <a:t> 3: </a:t>
            </a:r>
            <a:r>
              <a:rPr lang="en-US" dirty="0" err="1"/>
              <a:t>Xác</a:t>
            </a:r>
            <a:r>
              <a:rPr lang="en-US" dirty="0"/>
              <a:t> </a:t>
            </a:r>
            <a:r>
              <a:rPr lang="en-US" dirty="0" err="1"/>
              <a:t>định</a:t>
            </a:r>
            <a:r>
              <a:rPr lang="en-US" dirty="0"/>
              <a:t> </a:t>
            </a:r>
            <a:r>
              <a:rPr lang="en-US" dirty="0" err="1"/>
              <a:t>các</a:t>
            </a:r>
            <a:r>
              <a:rPr lang="en-US" dirty="0"/>
              <a:t> </a:t>
            </a:r>
            <a:r>
              <a:rPr lang="en-US" dirty="0" err="1"/>
              <a:t>thông</a:t>
            </a:r>
            <a:r>
              <a:rPr lang="en-US" dirty="0"/>
              <a:t> </a:t>
            </a:r>
            <a:r>
              <a:rPr lang="en-US" dirty="0" err="1"/>
              <a:t>số</a:t>
            </a:r>
            <a:r>
              <a:rPr lang="en-US" dirty="0"/>
              <a:t> </a:t>
            </a:r>
            <a:r>
              <a:rPr lang="en-US" dirty="0" err="1"/>
              <a:t>kỹ</a:t>
            </a:r>
            <a:r>
              <a:rPr lang="en-US" dirty="0"/>
              <a:t> </a:t>
            </a:r>
            <a:r>
              <a:rPr lang="en-US" dirty="0" err="1"/>
              <a:t>thuật</a:t>
            </a:r>
            <a:r>
              <a:rPr lang="en-US" dirty="0"/>
              <a:t> </a:t>
            </a:r>
            <a:r>
              <a:rPr lang="en-US" dirty="0" err="1"/>
              <a:t>mục</a:t>
            </a:r>
            <a:r>
              <a:rPr lang="en-US" dirty="0"/>
              <a:t> </a:t>
            </a:r>
            <a:r>
              <a:rPr lang="en-US" dirty="0" err="1"/>
              <a:t>tiêu</a:t>
            </a:r>
            <a:endParaRPr lang="en-US" dirty="0"/>
          </a:p>
          <a:p>
            <a:pPr lvl="1"/>
            <a:r>
              <a:rPr lang="en-US" dirty="0" err="1"/>
              <a:t>Tải</a:t>
            </a:r>
            <a:r>
              <a:rPr lang="en-US" dirty="0"/>
              <a:t> </a:t>
            </a:r>
            <a:r>
              <a:rPr lang="en-US" dirty="0" err="1"/>
              <a:t>trọng</a:t>
            </a:r>
            <a:r>
              <a:rPr lang="en-US" dirty="0"/>
              <a:t>, </a:t>
            </a:r>
            <a:r>
              <a:rPr lang="vi-VN" dirty="0"/>
              <a:t>Năng lượng</a:t>
            </a:r>
            <a:r>
              <a:rPr lang="en-US" dirty="0"/>
              <a:t>, </a:t>
            </a:r>
            <a:r>
              <a:rPr lang="en-US" dirty="0" err="1"/>
              <a:t>Độ</a:t>
            </a:r>
            <a:r>
              <a:rPr lang="en-US" dirty="0"/>
              <a:t> </a:t>
            </a:r>
            <a:r>
              <a:rPr lang="en-US" dirty="0" err="1"/>
              <a:t>chính</a:t>
            </a:r>
            <a:r>
              <a:rPr lang="en-US" dirty="0"/>
              <a:t> </a:t>
            </a:r>
            <a:r>
              <a:rPr lang="en-US" dirty="0" err="1"/>
              <a:t>xác</a:t>
            </a:r>
            <a:r>
              <a:rPr lang="en-US" dirty="0"/>
              <a:t>, Động </a:t>
            </a:r>
            <a:r>
              <a:rPr lang="en-US" dirty="0" err="1"/>
              <a:t>lực</a:t>
            </a:r>
            <a:r>
              <a:rPr lang="en-US" dirty="0"/>
              <a:t> </a:t>
            </a:r>
            <a:r>
              <a:rPr lang="en-US" dirty="0" err="1"/>
              <a:t>học</a:t>
            </a:r>
            <a:r>
              <a:rPr lang="en-US" dirty="0"/>
              <a:t> ….</a:t>
            </a:r>
          </a:p>
          <a:p>
            <a:r>
              <a:rPr lang="vi-VN" dirty="0"/>
              <a:t>Bước 4: Phân tích tình huống xấu nhất</a:t>
            </a:r>
            <a:endParaRPr lang="en-US" dirty="0"/>
          </a:p>
          <a:p>
            <a:pPr lvl="1"/>
            <a:r>
              <a:rPr lang="en-US" dirty="0" err="1"/>
              <a:t>Thiết</a:t>
            </a:r>
            <a:r>
              <a:rPr lang="en-US" dirty="0"/>
              <a:t> </a:t>
            </a:r>
            <a:r>
              <a:rPr lang="en-US" dirty="0" err="1"/>
              <a:t>kế</a:t>
            </a:r>
            <a:r>
              <a:rPr lang="en-US" dirty="0"/>
              <a:t> </a:t>
            </a:r>
            <a:r>
              <a:rPr lang="en-US" dirty="0" err="1"/>
              <a:t>thông</a:t>
            </a:r>
            <a:r>
              <a:rPr lang="en-US" dirty="0"/>
              <a:t> </a:t>
            </a:r>
            <a:r>
              <a:rPr lang="en-US" dirty="0" err="1"/>
              <a:t>số</a:t>
            </a:r>
            <a:r>
              <a:rPr lang="en-US" dirty="0"/>
              <a:t> </a:t>
            </a:r>
            <a:r>
              <a:rPr lang="en-US" dirty="0" err="1"/>
              <a:t>dựa</a:t>
            </a:r>
            <a:r>
              <a:rPr lang="en-US" dirty="0"/>
              <a:t> </a:t>
            </a:r>
            <a:r>
              <a:rPr lang="en-US" dirty="0" err="1"/>
              <a:t>trên</a:t>
            </a:r>
            <a:r>
              <a:rPr lang="en-US" dirty="0"/>
              <a:t> </a:t>
            </a:r>
            <a:r>
              <a:rPr lang="en-US" dirty="0" err="1"/>
              <a:t>điều</a:t>
            </a:r>
            <a:r>
              <a:rPr lang="en-US" dirty="0"/>
              <a:t> </a:t>
            </a:r>
            <a:r>
              <a:rPr lang="en-US" dirty="0" err="1"/>
              <a:t>kiện</a:t>
            </a:r>
            <a:r>
              <a:rPr lang="en-US" dirty="0"/>
              <a:t> </a:t>
            </a:r>
            <a:r>
              <a:rPr lang="en-US" dirty="0" err="1"/>
              <a:t>khắc</a:t>
            </a:r>
            <a:r>
              <a:rPr lang="en-US" dirty="0"/>
              <a:t> </a:t>
            </a:r>
            <a:r>
              <a:rPr lang="en-US" dirty="0" err="1"/>
              <a:t>nghiệt</a:t>
            </a:r>
            <a:r>
              <a:rPr lang="en-US" dirty="0"/>
              <a:t> </a:t>
            </a:r>
            <a:r>
              <a:rPr lang="en-US" dirty="0" err="1"/>
              <a:t>nhất</a:t>
            </a:r>
            <a:r>
              <a:rPr lang="en-US" dirty="0"/>
              <a:t> </a:t>
            </a:r>
            <a:r>
              <a:rPr lang="en-US" dirty="0" err="1"/>
              <a:t>mà</a:t>
            </a:r>
            <a:r>
              <a:rPr lang="en-US" dirty="0"/>
              <a:t> robot </a:t>
            </a:r>
            <a:r>
              <a:rPr lang="en-US" dirty="0" err="1"/>
              <a:t>có</a:t>
            </a:r>
            <a:r>
              <a:rPr lang="en-US" dirty="0"/>
              <a:t> </a:t>
            </a:r>
            <a:r>
              <a:rPr lang="en-US" dirty="0" err="1"/>
              <a:t>thể</a:t>
            </a:r>
            <a:r>
              <a:rPr lang="en-US" dirty="0"/>
              <a:t> </a:t>
            </a:r>
            <a:r>
              <a:rPr lang="en-US" dirty="0" err="1"/>
              <a:t>gặp</a:t>
            </a:r>
            <a:r>
              <a:rPr lang="en-US" dirty="0"/>
              <a:t> </a:t>
            </a:r>
            <a:r>
              <a:rPr lang="en-US" dirty="0" err="1"/>
              <a:t>phải</a:t>
            </a:r>
            <a:r>
              <a:rPr lang="en-US" dirty="0"/>
              <a:t> </a:t>
            </a:r>
            <a:r>
              <a:rPr lang="en-US" dirty="0" err="1"/>
              <a:t>trong</a:t>
            </a:r>
            <a:r>
              <a:rPr lang="en-US" dirty="0"/>
              <a:t> </a:t>
            </a:r>
            <a:r>
              <a:rPr lang="en-US" dirty="0" err="1"/>
              <a:t>nhiệm</a:t>
            </a:r>
            <a:r>
              <a:rPr lang="en-US" dirty="0"/>
              <a:t> </a:t>
            </a:r>
            <a:r>
              <a:rPr lang="en-US" dirty="0" err="1"/>
              <a:t>vụ</a:t>
            </a:r>
            <a:endParaRPr lang="en-US" dirty="0"/>
          </a:p>
          <a:p>
            <a:endParaRPr lang="en-US" dirty="0"/>
          </a:p>
        </p:txBody>
      </p:sp>
      <p:sp>
        <p:nvSpPr>
          <p:cNvPr id="4" name="Slide Number Placeholder 3">
            <a:extLst>
              <a:ext uri="{FF2B5EF4-FFF2-40B4-BE49-F238E27FC236}">
                <a16:creationId xmlns:a16="http://schemas.microsoft.com/office/drawing/2014/main" id="{A9C8C27F-580E-92F6-014C-70B5C7F8AC05}"/>
              </a:ext>
            </a:extLst>
          </p:cNvPr>
          <p:cNvSpPr>
            <a:spLocks noGrp="1"/>
          </p:cNvSpPr>
          <p:nvPr>
            <p:ph type="sldNum" sz="quarter" idx="12"/>
          </p:nvPr>
        </p:nvSpPr>
        <p:spPr/>
        <p:txBody>
          <a:bodyPr/>
          <a:lstStyle/>
          <a:p>
            <a:fld id="{3957FE44-DABC-424D-A234-74BB9410FF27}" type="slidenum">
              <a:rPr lang="en-US" smtClean="0"/>
              <a:pPr/>
              <a:t>20</a:t>
            </a:fld>
            <a:endParaRPr lang="en-US" dirty="0"/>
          </a:p>
        </p:txBody>
      </p:sp>
    </p:spTree>
    <p:extLst>
      <p:ext uri="{BB962C8B-B14F-4D97-AF65-F5344CB8AC3E}">
        <p14:creationId xmlns:p14="http://schemas.microsoft.com/office/powerpoint/2010/main" val="2712799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ojourner: NASA's first Mars rover | Astronomy.com">
            <a:extLst>
              <a:ext uri="{FF2B5EF4-FFF2-40B4-BE49-F238E27FC236}">
                <a16:creationId xmlns:a16="http://schemas.microsoft.com/office/drawing/2014/main" id="{4F882F95-09C9-3769-9CF4-4342CADF22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219200"/>
            <a:ext cx="6950075" cy="487170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099177E-C493-9681-83BB-864C9CB9746C}"/>
              </a:ext>
            </a:extLst>
          </p:cNvPr>
          <p:cNvSpPr>
            <a:spLocks noGrp="1"/>
          </p:cNvSpPr>
          <p:nvPr>
            <p:ph type="title"/>
          </p:nvPr>
        </p:nvSpPr>
        <p:spPr/>
        <p:txBody>
          <a:bodyPr/>
          <a:lstStyle/>
          <a:p>
            <a:r>
              <a:rPr lang="en-US" b="1" dirty="0"/>
              <a:t>PP </a:t>
            </a:r>
            <a:r>
              <a:rPr lang="en-US" b="1" dirty="0" err="1"/>
              <a:t>Phân</a:t>
            </a:r>
            <a:r>
              <a:rPr lang="en-US" b="1" dirty="0"/>
              <a:t> </a:t>
            </a:r>
            <a:r>
              <a:rPr lang="en-US" b="1" dirty="0" err="1"/>
              <a:t>tích</a:t>
            </a:r>
            <a:r>
              <a:rPr lang="en-US" b="1" dirty="0"/>
              <a:t> </a:t>
            </a:r>
            <a:r>
              <a:rPr lang="en-US" b="1" dirty="0" err="1"/>
              <a:t>dựa</a:t>
            </a:r>
            <a:r>
              <a:rPr lang="en-US" b="1" dirty="0"/>
              <a:t> </a:t>
            </a:r>
            <a:r>
              <a:rPr lang="en-US" b="1" dirty="0" err="1"/>
              <a:t>trên</a:t>
            </a:r>
            <a:r>
              <a:rPr lang="en-US" b="1" dirty="0"/>
              <a:t> </a:t>
            </a:r>
            <a:r>
              <a:rPr lang="en-US" b="1" dirty="0" err="1"/>
              <a:t>Nhiệm</a:t>
            </a:r>
            <a:r>
              <a:rPr lang="en-US" b="1" dirty="0"/>
              <a:t> </a:t>
            </a:r>
            <a:r>
              <a:rPr lang="en-US" b="1" dirty="0" err="1"/>
              <a:t>vụ</a:t>
            </a:r>
            <a:r>
              <a:rPr lang="en-US" b="1" dirty="0"/>
              <a:t> </a:t>
            </a:r>
            <a:endParaRPr lang="en-US" dirty="0"/>
          </a:p>
        </p:txBody>
      </p:sp>
      <p:sp>
        <p:nvSpPr>
          <p:cNvPr id="4" name="Slide Number Placeholder 3">
            <a:extLst>
              <a:ext uri="{FF2B5EF4-FFF2-40B4-BE49-F238E27FC236}">
                <a16:creationId xmlns:a16="http://schemas.microsoft.com/office/drawing/2014/main" id="{E222A692-CEBA-244B-108D-B3488A006218}"/>
              </a:ext>
            </a:extLst>
          </p:cNvPr>
          <p:cNvSpPr>
            <a:spLocks noGrp="1"/>
          </p:cNvSpPr>
          <p:nvPr>
            <p:ph type="sldNum" sz="quarter" idx="12"/>
          </p:nvPr>
        </p:nvSpPr>
        <p:spPr/>
        <p:txBody>
          <a:bodyPr/>
          <a:lstStyle/>
          <a:p>
            <a:fld id="{3957FE44-DABC-424D-A234-74BB9410FF27}" type="slidenum">
              <a:rPr lang="en-US" smtClean="0"/>
              <a:pPr/>
              <a:t>21</a:t>
            </a:fld>
            <a:endParaRPr lang="en-US" dirty="0"/>
          </a:p>
        </p:txBody>
      </p:sp>
      <p:sp>
        <p:nvSpPr>
          <p:cNvPr id="6" name="TextBox 5">
            <a:extLst>
              <a:ext uri="{FF2B5EF4-FFF2-40B4-BE49-F238E27FC236}">
                <a16:creationId xmlns:a16="http://schemas.microsoft.com/office/drawing/2014/main" id="{864BD216-7CCE-5788-4394-C66E241591E7}"/>
              </a:ext>
            </a:extLst>
          </p:cNvPr>
          <p:cNvSpPr txBox="1"/>
          <p:nvPr/>
        </p:nvSpPr>
        <p:spPr>
          <a:xfrm>
            <a:off x="3048740" y="5860073"/>
            <a:ext cx="6094520" cy="461665"/>
          </a:xfrm>
          <a:prstGeom prst="rect">
            <a:avLst/>
          </a:prstGeom>
          <a:noFill/>
        </p:spPr>
        <p:txBody>
          <a:bodyPr wrap="square">
            <a:spAutoFit/>
          </a:bodyPr>
          <a:lstStyle/>
          <a:p>
            <a:r>
              <a:rPr lang="en-US" sz="2400" b="1" i="0" dirty="0">
                <a:solidFill>
                  <a:srgbClr val="000000"/>
                </a:solidFill>
                <a:effectLst/>
                <a:latin typeface="Times New Roman" panose="02020603050405020304" pitchFamily="18" charset="0"/>
                <a:cs typeface="Times New Roman" panose="02020603050405020304" pitchFamily="18" charset="0"/>
              </a:rPr>
              <a:t>NASA’s first Mars rover - </a:t>
            </a:r>
            <a:r>
              <a:rPr lang="en-US" sz="2400" b="1" dirty="0">
                <a:solidFill>
                  <a:srgbClr val="000000"/>
                </a:solidFill>
                <a:latin typeface="Times New Roman" panose="02020603050405020304" pitchFamily="18" charset="0"/>
                <a:cs typeface="Times New Roman" panose="02020603050405020304" pitchFamily="18" charset="0"/>
              </a:rPr>
              <a:t>Sojourner robot </a:t>
            </a:r>
          </a:p>
        </p:txBody>
      </p:sp>
    </p:spTree>
    <p:extLst>
      <p:ext uri="{BB962C8B-B14F-4D97-AF65-F5344CB8AC3E}">
        <p14:creationId xmlns:p14="http://schemas.microsoft.com/office/powerpoint/2010/main" val="3791259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05E37-4BD5-E9DC-EABB-4FF074F8CAC9}"/>
              </a:ext>
            </a:extLst>
          </p:cNvPr>
          <p:cNvSpPr>
            <a:spLocks noGrp="1"/>
          </p:cNvSpPr>
          <p:nvPr>
            <p:ph type="title"/>
          </p:nvPr>
        </p:nvSpPr>
        <p:spPr/>
        <p:txBody>
          <a:bodyPr>
            <a:normAutofit/>
          </a:bodyPr>
          <a:lstStyle/>
          <a:p>
            <a:r>
              <a:rPr lang="en-US" b="1" dirty="0"/>
              <a:t>Phương </a:t>
            </a:r>
            <a:r>
              <a:rPr lang="en-US" b="1" dirty="0" err="1"/>
              <a:t>pháp</a:t>
            </a:r>
            <a:r>
              <a:rPr lang="en-US" b="1" dirty="0"/>
              <a:t> So </a:t>
            </a:r>
            <a:r>
              <a:rPr lang="en-US" b="1" dirty="0" err="1"/>
              <a:t>sánh</a:t>
            </a:r>
            <a:endParaRPr lang="en-US" b="1" dirty="0"/>
          </a:p>
        </p:txBody>
      </p:sp>
      <p:sp>
        <p:nvSpPr>
          <p:cNvPr id="3" name="Content Placeholder 2">
            <a:extLst>
              <a:ext uri="{FF2B5EF4-FFF2-40B4-BE49-F238E27FC236}">
                <a16:creationId xmlns:a16="http://schemas.microsoft.com/office/drawing/2014/main" id="{D3F2F38D-2B81-1A44-D1C4-8FC639B5F2AC}"/>
              </a:ext>
            </a:extLst>
          </p:cNvPr>
          <p:cNvSpPr>
            <a:spLocks noGrp="1"/>
          </p:cNvSpPr>
          <p:nvPr>
            <p:ph idx="1"/>
          </p:nvPr>
        </p:nvSpPr>
        <p:spPr/>
        <p:txBody>
          <a:bodyPr/>
          <a:lstStyle/>
          <a:p>
            <a:r>
              <a:rPr lang="en-US" dirty="0" err="1"/>
              <a:t>Mục</a:t>
            </a:r>
            <a:r>
              <a:rPr lang="en-US" dirty="0"/>
              <a:t> </a:t>
            </a:r>
            <a:r>
              <a:rPr lang="en-US" dirty="0" err="1"/>
              <a:t>tiêu</a:t>
            </a:r>
            <a:r>
              <a:rPr lang="en-US" dirty="0"/>
              <a:t>: </a:t>
            </a:r>
            <a:r>
              <a:rPr lang="vi-VN" dirty="0"/>
              <a:t>Đo lường sự chênh lệch giữa robot</a:t>
            </a:r>
            <a:r>
              <a:rPr lang="en-US" dirty="0"/>
              <a:t> </a:t>
            </a:r>
            <a:r>
              <a:rPr lang="vi-VN" dirty="0"/>
              <a:t>của bạn và đối thủ</a:t>
            </a:r>
            <a:r>
              <a:rPr lang="en-US" dirty="0"/>
              <a:t>, </a:t>
            </a:r>
            <a:r>
              <a:rPr lang="en-US" dirty="0" err="1"/>
              <a:t>từ</a:t>
            </a:r>
            <a:r>
              <a:rPr lang="en-US" dirty="0"/>
              <a:t> </a:t>
            </a:r>
            <a:r>
              <a:rPr lang="en-US" dirty="0" err="1"/>
              <a:t>đó</a:t>
            </a:r>
            <a:r>
              <a:rPr lang="en-US" dirty="0"/>
              <a:t> </a:t>
            </a:r>
            <a:r>
              <a:rPr lang="en-US" dirty="0" err="1"/>
              <a:t>đề</a:t>
            </a:r>
            <a:r>
              <a:rPr lang="en-US" dirty="0"/>
              <a:t> </a:t>
            </a:r>
            <a:r>
              <a:rPr lang="en-US" dirty="0" err="1"/>
              <a:t>xuất</a:t>
            </a:r>
            <a:r>
              <a:rPr lang="en-US" dirty="0"/>
              <a:t> </a:t>
            </a:r>
            <a:r>
              <a:rPr lang="en-US" dirty="0" err="1"/>
              <a:t>các</a:t>
            </a:r>
            <a:r>
              <a:rPr lang="en-US" dirty="0"/>
              <a:t> </a:t>
            </a:r>
            <a:r>
              <a:rPr lang="en-US" dirty="0" err="1"/>
              <a:t>thông</a:t>
            </a:r>
            <a:r>
              <a:rPr lang="en-US" dirty="0"/>
              <a:t> </a:t>
            </a:r>
            <a:r>
              <a:rPr lang="en-US" dirty="0" err="1"/>
              <a:t>số</a:t>
            </a:r>
            <a:r>
              <a:rPr lang="en-US" dirty="0"/>
              <a:t> </a:t>
            </a:r>
            <a:r>
              <a:rPr lang="en-US" dirty="0" err="1"/>
              <a:t>mục</a:t>
            </a:r>
            <a:r>
              <a:rPr lang="en-US" dirty="0"/>
              <a:t> </a:t>
            </a:r>
            <a:r>
              <a:rPr lang="en-US" dirty="0" err="1"/>
              <a:t>tiêu</a:t>
            </a:r>
            <a:endParaRPr lang="en-US" dirty="0"/>
          </a:p>
          <a:p>
            <a:r>
              <a:rPr lang="vi-VN" dirty="0"/>
              <a:t>Khái niệm Benchmarking bắt đầu từ công ty Xerox vào cuối thập niên 1970</a:t>
            </a:r>
            <a:endParaRPr lang="en-US" dirty="0"/>
          </a:p>
          <a:p>
            <a:r>
              <a:rPr lang="en-US" dirty="0"/>
              <a:t>Triết </a:t>
            </a:r>
            <a:r>
              <a:rPr lang="en-US" dirty="0" err="1"/>
              <a:t>lý</a:t>
            </a:r>
            <a:r>
              <a:rPr lang="en-US" dirty="0"/>
              <a:t> </a:t>
            </a:r>
            <a:r>
              <a:rPr lang="en-US" dirty="0" err="1"/>
              <a:t>cốt</a:t>
            </a:r>
            <a:r>
              <a:rPr lang="en-US" dirty="0"/>
              <a:t> </a:t>
            </a:r>
            <a:r>
              <a:rPr lang="en-US" dirty="0" err="1"/>
              <a:t>lõi</a:t>
            </a:r>
            <a:r>
              <a:rPr lang="en-US" dirty="0"/>
              <a:t>: Học </a:t>
            </a:r>
            <a:r>
              <a:rPr lang="en-US" dirty="0" err="1"/>
              <a:t>hỏi</a:t>
            </a:r>
            <a:r>
              <a:rPr lang="en-US" dirty="0"/>
              <a:t> </a:t>
            </a:r>
            <a:r>
              <a:rPr lang="en-US" dirty="0" err="1"/>
              <a:t>để</a:t>
            </a:r>
            <a:r>
              <a:rPr lang="en-US" dirty="0"/>
              <a:t> </a:t>
            </a:r>
            <a:r>
              <a:rPr lang="en-US" dirty="0" err="1"/>
              <a:t>cải</a:t>
            </a:r>
            <a:r>
              <a:rPr lang="en-US" dirty="0"/>
              <a:t> </a:t>
            </a:r>
            <a:r>
              <a:rPr lang="en-US" dirty="0" err="1"/>
              <a:t>tiến</a:t>
            </a:r>
            <a:endParaRPr lang="en-US" dirty="0"/>
          </a:p>
          <a:p>
            <a:pPr lvl="1"/>
            <a:r>
              <a:rPr lang="en-US" dirty="0" err="1"/>
              <a:t>Xác</a:t>
            </a:r>
            <a:r>
              <a:rPr lang="en-US" dirty="0"/>
              <a:t> </a:t>
            </a:r>
            <a:r>
              <a:rPr lang="en-US" dirty="0" err="1"/>
              <a:t>định</a:t>
            </a:r>
            <a:r>
              <a:rPr lang="en-US" dirty="0"/>
              <a:t> </a:t>
            </a:r>
            <a:r>
              <a:rPr lang="en-US" dirty="0" err="1"/>
              <a:t>tiêu</a:t>
            </a:r>
            <a:r>
              <a:rPr lang="en-US" dirty="0"/>
              <a:t> </a:t>
            </a:r>
            <a:r>
              <a:rPr lang="en-US" dirty="0" err="1"/>
              <a:t>chuẩn</a:t>
            </a:r>
            <a:r>
              <a:rPr lang="en-US" dirty="0"/>
              <a:t> </a:t>
            </a:r>
            <a:r>
              <a:rPr lang="en-US" dirty="0" err="1"/>
              <a:t>cao</a:t>
            </a:r>
            <a:r>
              <a:rPr lang="en-US" dirty="0"/>
              <a:t> </a:t>
            </a:r>
            <a:r>
              <a:rPr lang="en-US" dirty="0" err="1"/>
              <a:t>nhất</a:t>
            </a:r>
            <a:r>
              <a:rPr lang="en-US" dirty="0"/>
              <a:t> </a:t>
            </a:r>
            <a:r>
              <a:rPr lang="en-US" dirty="0" err="1"/>
              <a:t>hiện</a:t>
            </a:r>
            <a:r>
              <a:rPr lang="en-US" dirty="0"/>
              <a:t> </a:t>
            </a:r>
            <a:r>
              <a:rPr lang="en-US" dirty="0" err="1"/>
              <a:t>tại</a:t>
            </a:r>
            <a:r>
              <a:rPr lang="en-US" dirty="0"/>
              <a:t> </a:t>
            </a:r>
            <a:r>
              <a:rPr lang="en-US" dirty="0" err="1"/>
              <a:t>của</a:t>
            </a:r>
            <a:r>
              <a:rPr lang="en-US" dirty="0"/>
              <a:t> </a:t>
            </a:r>
            <a:r>
              <a:rPr lang="en-US" dirty="0" err="1"/>
              <a:t>ngành</a:t>
            </a:r>
            <a:r>
              <a:rPr lang="en-US" dirty="0"/>
              <a:t>/</a:t>
            </a:r>
            <a:r>
              <a:rPr lang="en-US" dirty="0" err="1"/>
              <a:t>sản</a:t>
            </a:r>
            <a:r>
              <a:rPr lang="en-US" dirty="0"/>
              <a:t> </a:t>
            </a:r>
            <a:r>
              <a:rPr lang="en-US" dirty="0" err="1"/>
              <a:t>phẩm</a:t>
            </a:r>
            <a:r>
              <a:rPr lang="en-US" dirty="0"/>
              <a:t> </a:t>
            </a:r>
            <a:r>
              <a:rPr lang="en-US" dirty="0" err="1"/>
              <a:t>là</a:t>
            </a:r>
            <a:r>
              <a:rPr lang="en-US" dirty="0"/>
              <a:t> </a:t>
            </a:r>
            <a:r>
              <a:rPr lang="en-US" dirty="0" err="1"/>
              <a:t>gì</a:t>
            </a:r>
            <a:r>
              <a:rPr lang="en-US" dirty="0"/>
              <a:t>?</a:t>
            </a:r>
          </a:p>
          <a:p>
            <a:pPr lvl="1"/>
            <a:r>
              <a:rPr lang="en-US" dirty="0" err="1"/>
              <a:t>Xác</a:t>
            </a:r>
            <a:r>
              <a:rPr lang="en-US" dirty="0"/>
              <a:t> </a:t>
            </a:r>
            <a:r>
              <a:rPr lang="en-US" dirty="0" err="1"/>
              <a:t>định</a:t>
            </a:r>
            <a:r>
              <a:rPr lang="en-US" dirty="0"/>
              <a:t> </a:t>
            </a:r>
            <a:r>
              <a:rPr lang="en-US" dirty="0" err="1"/>
              <a:t>khoảng</a:t>
            </a:r>
            <a:r>
              <a:rPr lang="en-US" dirty="0"/>
              <a:t> </a:t>
            </a:r>
            <a:r>
              <a:rPr lang="en-US" dirty="0" err="1"/>
              <a:t>cách</a:t>
            </a:r>
            <a:r>
              <a:rPr lang="en-US" dirty="0"/>
              <a:t> </a:t>
            </a:r>
            <a:r>
              <a:rPr lang="en-US" dirty="0" err="1"/>
              <a:t>với</a:t>
            </a:r>
            <a:r>
              <a:rPr lang="en-US" dirty="0"/>
              <a:t> </a:t>
            </a:r>
            <a:r>
              <a:rPr lang="en-US" dirty="0" err="1"/>
              <a:t>đối</a:t>
            </a:r>
            <a:r>
              <a:rPr lang="en-US" dirty="0"/>
              <a:t> </a:t>
            </a:r>
            <a:r>
              <a:rPr lang="en-US" dirty="0" err="1"/>
              <a:t>thủ</a:t>
            </a:r>
            <a:endParaRPr lang="en-US" dirty="0"/>
          </a:p>
          <a:p>
            <a:pPr lvl="1"/>
            <a:r>
              <a:rPr lang="vi-VN" dirty="0"/>
              <a:t>Cải tiến </a:t>
            </a:r>
            <a:r>
              <a:rPr lang="en-US" dirty="0" err="1"/>
              <a:t>dựa</a:t>
            </a:r>
            <a:r>
              <a:rPr lang="en-US" dirty="0"/>
              <a:t> </a:t>
            </a:r>
            <a:r>
              <a:rPr lang="en-US" dirty="0" err="1"/>
              <a:t>trên</a:t>
            </a:r>
            <a:r>
              <a:rPr lang="en-US" dirty="0"/>
              <a:t> </a:t>
            </a:r>
            <a:r>
              <a:rPr lang="en-US" dirty="0" err="1"/>
              <a:t>bối</a:t>
            </a:r>
            <a:r>
              <a:rPr lang="en-US" dirty="0"/>
              <a:t> </a:t>
            </a:r>
            <a:r>
              <a:rPr lang="en-US" dirty="0" err="1"/>
              <a:t>cảnh</a:t>
            </a:r>
            <a:r>
              <a:rPr lang="en-US" dirty="0"/>
              <a:t> </a:t>
            </a:r>
          </a:p>
          <a:p>
            <a:r>
              <a:rPr lang="en-US" dirty="0"/>
              <a:t>Các </a:t>
            </a:r>
            <a:r>
              <a:rPr lang="en-US" dirty="0" err="1"/>
              <a:t>bước</a:t>
            </a:r>
            <a:r>
              <a:rPr lang="en-US" dirty="0"/>
              <a:t> </a:t>
            </a:r>
            <a:r>
              <a:rPr lang="en-US" dirty="0" err="1"/>
              <a:t>tiến</a:t>
            </a:r>
            <a:r>
              <a:rPr lang="en-US" dirty="0"/>
              <a:t> </a:t>
            </a:r>
            <a:r>
              <a:rPr lang="en-US" dirty="0" err="1"/>
              <a:t>hành</a:t>
            </a:r>
            <a:r>
              <a:rPr lang="en-US" dirty="0"/>
              <a:t>:</a:t>
            </a:r>
          </a:p>
          <a:p>
            <a:pPr marL="0" indent="0">
              <a:buNone/>
            </a:pPr>
            <a:r>
              <a:rPr lang="en-US" dirty="0"/>
              <a:t>  </a:t>
            </a:r>
            <a:r>
              <a:rPr lang="vi-VN" sz="2000" dirty="0"/>
              <a:t>Xác định đối tượng so sánh</a:t>
            </a:r>
            <a:r>
              <a:rPr lang="en-US" sz="2000" dirty="0"/>
              <a:t> </a:t>
            </a:r>
            <a:r>
              <a:rPr lang="en-US" sz="2000" dirty="0">
                <a:sym typeface="Wingdings" panose="05000000000000000000" pitchFamily="2" charset="2"/>
              </a:rPr>
              <a:t> </a:t>
            </a:r>
            <a:r>
              <a:rPr lang="en-US" sz="2000" dirty="0" err="1">
                <a:sym typeface="Wingdings" panose="05000000000000000000" pitchFamily="2" charset="2"/>
              </a:rPr>
              <a:t>Lựa</a:t>
            </a:r>
            <a:r>
              <a:rPr lang="en-US" sz="2000" dirty="0">
                <a:sym typeface="Wingdings" panose="05000000000000000000" pitchFamily="2" charset="2"/>
              </a:rPr>
              <a:t> </a:t>
            </a:r>
            <a:r>
              <a:rPr lang="en-US" sz="2000" dirty="0" err="1">
                <a:sym typeface="Wingdings" panose="05000000000000000000" pitchFamily="2" charset="2"/>
              </a:rPr>
              <a:t>chọn</a:t>
            </a:r>
            <a:r>
              <a:rPr lang="en-US" sz="2000" dirty="0">
                <a:sym typeface="Wingdings" panose="05000000000000000000" pitchFamily="2" charset="2"/>
              </a:rPr>
              <a:t> </a:t>
            </a:r>
            <a:r>
              <a:rPr lang="en-US" sz="2000" dirty="0" err="1">
                <a:sym typeface="Wingdings" panose="05000000000000000000" pitchFamily="2" charset="2"/>
              </a:rPr>
              <a:t>đối</a:t>
            </a:r>
            <a:r>
              <a:rPr lang="en-US" sz="2000" dirty="0">
                <a:sym typeface="Wingdings" panose="05000000000000000000" pitchFamily="2" charset="2"/>
              </a:rPr>
              <a:t> </a:t>
            </a:r>
            <a:r>
              <a:rPr lang="en-US" sz="2000" dirty="0" err="1">
                <a:sym typeface="Wingdings" panose="05000000000000000000" pitchFamily="2" charset="2"/>
              </a:rPr>
              <a:t>tác</a:t>
            </a:r>
            <a:r>
              <a:rPr lang="en-US" sz="2000" dirty="0">
                <a:sym typeface="Wingdings" panose="05000000000000000000" pitchFamily="2" charset="2"/>
              </a:rPr>
              <a:t> so </a:t>
            </a:r>
            <a:r>
              <a:rPr lang="en-US" sz="2000" dirty="0" err="1">
                <a:sym typeface="Wingdings" panose="05000000000000000000" pitchFamily="2" charset="2"/>
              </a:rPr>
              <a:t>sánh</a:t>
            </a:r>
            <a:r>
              <a:rPr lang="en-US" sz="2000" dirty="0">
                <a:sym typeface="Wingdings" panose="05000000000000000000" pitchFamily="2" charset="2"/>
              </a:rPr>
              <a:t>  Thu </a:t>
            </a:r>
            <a:r>
              <a:rPr lang="en-US" sz="2000" dirty="0" err="1">
                <a:sym typeface="Wingdings" panose="05000000000000000000" pitchFamily="2" charset="2"/>
              </a:rPr>
              <a:t>thập</a:t>
            </a:r>
            <a:r>
              <a:rPr lang="en-US" sz="2000" dirty="0">
                <a:sym typeface="Wingdings" panose="05000000000000000000" pitchFamily="2" charset="2"/>
              </a:rPr>
              <a:t> </a:t>
            </a:r>
            <a:r>
              <a:rPr lang="en-US" sz="2000" dirty="0" err="1">
                <a:sym typeface="Wingdings" panose="05000000000000000000" pitchFamily="2" charset="2"/>
              </a:rPr>
              <a:t>dữ</a:t>
            </a:r>
            <a:r>
              <a:rPr lang="en-US" sz="2000" dirty="0">
                <a:sym typeface="Wingdings" panose="05000000000000000000" pitchFamily="2" charset="2"/>
              </a:rPr>
              <a:t> </a:t>
            </a:r>
            <a:r>
              <a:rPr lang="en-US" sz="2000" dirty="0" err="1">
                <a:sym typeface="Wingdings" panose="05000000000000000000" pitchFamily="2" charset="2"/>
              </a:rPr>
              <a:t>liệu</a:t>
            </a:r>
            <a:r>
              <a:rPr lang="en-US" sz="2000" dirty="0">
                <a:sym typeface="Wingdings" panose="05000000000000000000" pitchFamily="2" charset="2"/>
              </a:rPr>
              <a:t>  </a:t>
            </a:r>
            <a:r>
              <a:rPr lang="en-US" sz="2000" dirty="0" err="1">
                <a:sym typeface="Wingdings" panose="05000000000000000000" pitchFamily="2" charset="2"/>
              </a:rPr>
              <a:t>Phân</a:t>
            </a:r>
            <a:r>
              <a:rPr lang="en-US" sz="2000" dirty="0">
                <a:sym typeface="Wingdings" panose="05000000000000000000" pitchFamily="2" charset="2"/>
              </a:rPr>
              <a:t> </a:t>
            </a:r>
            <a:r>
              <a:rPr lang="en-US" sz="2000" dirty="0" err="1">
                <a:sym typeface="Wingdings" panose="05000000000000000000" pitchFamily="2" charset="2"/>
              </a:rPr>
              <a:t>tích</a:t>
            </a:r>
            <a:r>
              <a:rPr lang="en-US" sz="2000" dirty="0">
                <a:sym typeface="Wingdings" panose="05000000000000000000" pitchFamily="2" charset="2"/>
              </a:rPr>
              <a:t> </a:t>
            </a:r>
            <a:r>
              <a:rPr lang="en-US" sz="2000" dirty="0" err="1">
                <a:sym typeface="Wingdings" panose="05000000000000000000" pitchFamily="2" charset="2"/>
              </a:rPr>
              <a:t>khoảng</a:t>
            </a:r>
            <a:r>
              <a:rPr lang="en-US" sz="2000" dirty="0">
                <a:sym typeface="Wingdings" panose="05000000000000000000" pitchFamily="2" charset="2"/>
              </a:rPr>
              <a:t> </a:t>
            </a:r>
            <a:r>
              <a:rPr lang="en-US" sz="2000" dirty="0" err="1">
                <a:sym typeface="Wingdings" panose="05000000000000000000" pitchFamily="2" charset="2"/>
              </a:rPr>
              <a:t>cách</a:t>
            </a:r>
            <a:r>
              <a:rPr lang="en-US" sz="2000" dirty="0">
                <a:sym typeface="Wingdings" panose="05000000000000000000" pitchFamily="2" charset="2"/>
              </a:rPr>
              <a:t> </a:t>
            </a:r>
            <a:r>
              <a:rPr lang="en-US" sz="2000" dirty="0" err="1">
                <a:sym typeface="Wingdings" panose="05000000000000000000" pitchFamily="2" charset="2"/>
              </a:rPr>
              <a:t>và</a:t>
            </a:r>
            <a:r>
              <a:rPr lang="en-US" sz="2000" dirty="0">
                <a:sym typeface="Wingdings" panose="05000000000000000000" pitchFamily="2" charset="2"/>
              </a:rPr>
              <a:t> Hiệu </a:t>
            </a:r>
            <a:r>
              <a:rPr lang="en-US" sz="2000" dirty="0" err="1">
                <a:sym typeface="Wingdings" panose="05000000000000000000" pitchFamily="2" charset="2"/>
              </a:rPr>
              <a:t>suất</a:t>
            </a:r>
            <a:r>
              <a:rPr lang="en-US" sz="2000" dirty="0">
                <a:sym typeface="Wingdings" panose="05000000000000000000" pitchFamily="2" charset="2"/>
              </a:rPr>
              <a:t>  </a:t>
            </a:r>
            <a:r>
              <a:rPr lang="en-US" sz="2000" dirty="0" err="1">
                <a:sym typeface="Wingdings" panose="05000000000000000000" pitchFamily="2" charset="2"/>
              </a:rPr>
              <a:t>Lập</a:t>
            </a:r>
            <a:r>
              <a:rPr lang="en-US" sz="2000" dirty="0">
                <a:sym typeface="Wingdings" panose="05000000000000000000" pitchFamily="2" charset="2"/>
              </a:rPr>
              <a:t> </a:t>
            </a:r>
            <a:r>
              <a:rPr lang="en-US" sz="2000" dirty="0" err="1">
                <a:sym typeface="Wingdings" panose="05000000000000000000" pitchFamily="2" charset="2"/>
              </a:rPr>
              <a:t>kế</a:t>
            </a:r>
            <a:r>
              <a:rPr lang="en-US" sz="2000" dirty="0">
                <a:sym typeface="Wingdings" panose="05000000000000000000" pitchFamily="2" charset="2"/>
              </a:rPr>
              <a:t> </a:t>
            </a:r>
            <a:r>
              <a:rPr lang="en-US" sz="2000" dirty="0" err="1">
                <a:sym typeface="Wingdings" panose="05000000000000000000" pitchFamily="2" charset="2"/>
              </a:rPr>
              <a:t>hoạch</a:t>
            </a:r>
            <a:r>
              <a:rPr lang="en-US" sz="2000" dirty="0">
                <a:sym typeface="Wingdings" panose="05000000000000000000" pitchFamily="2" charset="2"/>
              </a:rPr>
              <a:t> </a:t>
            </a:r>
            <a:r>
              <a:rPr lang="en-US" sz="2000" dirty="0" err="1">
                <a:sym typeface="Wingdings" panose="05000000000000000000" pitchFamily="2" charset="2"/>
              </a:rPr>
              <a:t>hành</a:t>
            </a:r>
            <a:r>
              <a:rPr lang="en-US" sz="2000" dirty="0">
                <a:sym typeface="Wingdings" panose="05000000000000000000" pitchFamily="2" charset="2"/>
              </a:rPr>
              <a:t> </a:t>
            </a:r>
            <a:r>
              <a:rPr lang="en-US" sz="2000" dirty="0" err="1">
                <a:sym typeface="Wingdings" panose="05000000000000000000" pitchFamily="2" charset="2"/>
              </a:rPr>
              <a:t>động</a:t>
            </a:r>
            <a:endParaRPr lang="en-US" dirty="0"/>
          </a:p>
        </p:txBody>
      </p:sp>
      <p:sp>
        <p:nvSpPr>
          <p:cNvPr id="4" name="Slide Number Placeholder 3">
            <a:extLst>
              <a:ext uri="{FF2B5EF4-FFF2-40B4-BE49-F238E27FC236}">
                <a16:creationId xmlns:a16="http://schemas.microsoft.com/office/drawing/2014/main" id="{4A374C08-9B4B-1F3E-02E5-C394C82636A9}"/>
              </a:ext>
            </a:extLst>
          </p:cNvPr>
          <p:cNvSpPr>
            <a:spLocks noGrp="1"/>
          </p:cNvSpPr>
          <p:nvPr>
            <p:ph type="sldNum" sz="quarter" idx="12"/>
          </p:nvPr>
        </p:nvSpPr>
        <p:spPr/>
        <p:txBody>
          <a:bodyPr/>
          <a:lstStyle/>
          <a:p>
            <a:fld id="{3957FE44-DABC-424D-A234-74BB9410FF27}" type="slidenum">
              <a:rPr lang="en-US" smtClean="0"/>
              <a:pPr/>
              <a:t>22</a:t>
            </a:fld>
            <a:endParaRPr lang="en-US" dirty="0"/>
          </a:p>
        </p:txBody>
      </p:sp>
    </p:spTree>
    <p:extLst>
      <p:ext uri="{BB962C8B-B14F-4D97-AF65-F5344CB8AC3E}">
        <p14:creationId xmlns:p14="http://schemas.microsoft.com/office/powerpoint/2010/main" val="1689134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8E02-C5C1-1011-D87A-B4B82BF85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35721-4C25-8394-C4A8-F8EEDFDF22F3}"/>
              </a:ext>
            </a:extLst>
          </p:cNvPr>
          <p:cNvSpPr>
            <a:spLocks noGrp="1"/>
          </p:cNvSpPr>
          <p:nvPr>
            <p:ph type="title"/>
          </p:nvPr>
        </p:nvSpPr>
        <p:spPr/>
        <p:txBody>
          <a:bodyPr/>
          <a:lstStyle/>
          <a:p>
            <a:r>
              <a:rPr lang="en-US" b="1" dirty="0" err="1"/>
              <a:t>Dự</a:t>
            </a:r>
            <a:r>
              <a:rPr lang="en-US" b="1" dirty="0"/>
              <a:t> </a:t>
            </a:r>
            <a:r>
              <a:rPr lang="en-US" b="1" dirty="0" err="1"/>
              <a:t>án</a:t>
            </a:r>
            <a:r>
              <a:rPr lang="en-US" b="1" dirty="0"/>
              <a:t> </a:t>
            </a:r>
            <a:r>
              <a:rPr lang="en-US" b="1" dirty="0" err="1"/>
              <a:t>mẫu</a:t>
            </a:r>
            <a:endParaRPr lang="en-US" b="1" dirty="0"/>
          </a:p>
        </p:txBody>
      </p:sp>
      <p:sp>
        <p:nvSpPr>
          <p:cNvPr id="4" name="Slide Number Placeholder 3">
            <a:extLst>
              <a:ext uri="{FF2B5EF4-FFF2-40B4-BE49-F238E27FC236}">
                <a16:creationId xmlns:a16="http://schemas.microsoft.com/office/drawing/2014/main" id="{ACB84FAF-4F2B-063A-EB34-4510A4B9B8C7}"/>
              </a:ext>
            </a:extLst>
          </p:cNvPr>
          <p:cNvSpPr>
            <a:spLocks noGrp="1"/>
          </p:cNvSpPr>
          <p:nvPr>
            <p:ph type="sldNum" sz="quarter" idx="12"/>
          </p:nvPr>
        </p:nvSpPr>
        <p:spPr/>
        <p:txBody>
          <a:bodyPr/>
          <a:lstStyle/>
          <a:p>
            <a:fld id="{3957FE44-DABC-424D-A234-74BB9410FF27}" type="slidenum">
              <a:rPr lang="en-US" smtClean="0"/>
              <a:pPr/>
              <a:t>23</a:t>
            </a:fld>
            <a:endParaRPr lang="en-US" dirty="0"/>
          </a:p>
        </p:txBody>
      </p:sp>
      <p:pic>
        <p:nvPicPr>
          <p:cNvPr id="1026" name="Picture 2" descr="Boston Dynamics' Robot Dog Price and Availability - IEEE Spectrum">
            <a:extLst>
              <a:ext uri="{FF2B5EF4-FFF2-40B4-BE49-F238E27FC236}">
                <a16:creationId xmlns:a16="http://schemas.microsoft.com/office/drawing/2014/main" id="{A9A152C5-C58C-D0D2-4734-F4C73A0011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2286000"/>
            <a:ext cx="3189768" cy="2057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1A8A9D0-CFD0-C67F-0547-BBF5161351FA}"/>
              </a:ext>
            </a:extLst>
          </p:cNvPr>
          <p:cNvSpPr txBox="1"/>
          <p:nvPr/>
        </p:nvSpPr>
        <p:spPr>
          <a:xfrm>
            <a:off x="1523999" y="4367212"/>
            <a:ext cx="3552576" cy="461665"/>
          </a:xfrm>
          <a:prstGeom prst="rect">
            <a:avLst/>
          </a:prstGeom>
          <a:noFill/>
        </p:spPr>
        <p:txBody>
          <a:bodyPr wrap="none" rtlCol="0">
            <a:spAutoFit/>
          </a:bodyPr>
          <a:lstStyle/>
          <a:p>
            <a:r>
              <a:rPr lang="en-US" sz="2400" b="1" dirty="0"/>
              <a:t>Boston Dynamics Spot</a:t>
            </a:r>
          </a:p>
        </p:txBody>
      </p:sp>
      <p:pic>
        <p:nvPicPr>
          <p:cNvPr id="8" name="Picture 7">
            <a:extLst>
              <a:ext uri="{FF2B5EF4-FFF2-40B4-BE49-F238E27FC236}">
                <a16:creationId xmlns:a16="http://schemas.microsoft.com/office/drawing/2014/main" id="{017DF802-9365-AE8C-AAB2-5B11ABFABEF5}"/>
              </a:ext>
            </a:extLst>
          </p:cNvPr>
          <p:cNvPicPr>
            <a:picLocks noChangeAspect="1"/>
          </p:cNvPicPr>
          <p:nvPr/>
        </p:nvPicPr>
        <p:blipFill>
          <a:blip r:embed="rId3"/>
          <a:srcRect r="39179"/>
          <a:stretch>
            <a:fillRect/>
          </a:stretch>
        </p:blipFill>
        <p:spPr>
          <a:xfrm>
            <a:off x="5664200" y="798514"/>
            <a:ext cx="4495800" cy="5702593"/>
          </a:xfrm>
          <a:prstGeom prst="rect">
            <a:avLst/>
          </a:prstGeom>
        </p:spPr>
      </p:pic>
    </p:spTree>
    <p:extLst>
      <p:ext uri="{BB962C8B-B14F-4D97-AF65-F5344CB8AC3E}">
        <p14:creationId xmlns:p14="http://schemas.microsoft.com/office/powerpoint/2010/main" val="515209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8300-637A-B18B-0373-167E47B3F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536A5-DF61-0DE7-0C50-F729A8713B40}"/>
              </a:ext>
            </a:extLst>
          </p:cNvPr>
          <p:cNvSpPr>
            <a:spLocks noGrp="1"/>
          </p:cNvSpPr>
          <p:nvPr>
            <p:ph type="title"/>
          </p:nvPr>
        </p:nvSpPr>
        <p:spPr/>
        <p:txBody>
          <a:bodyPr/>
          <a:lstStyle/>
          <a:p>
            <a:r>
              <a:rPr lang="en-US" b="1" dirty="0" err="1"/>
              <a:t>Dự</a:t>
            </a:r>
            <a:r>
              <a:rPr lang="en-US" b="1" dirty="0"/>
              <a:t> </a:t>
            </a:r>
            <a:r>
              <a:rPr lang="en-US" b="1" dirty="0" err="1"/>
              <a:t>án</a:t>
            </a:r>
            <a:r>
              <a:rPr lang="en-US" b="1" dirty="0"/>
              <a:t> </a:t>
            </a:r>
            <a:r>
              <a:rPr lang="en-US" b="1" dirty="0" err="1"/>
              <a:t>mẫu</a:t>
            </a:r>
            <a:endParaRPr lang="en-US" b="1" dirty="0"/>
          </a:p>
        </p:txBody>
      </p:sp>
      <p:sp>
        <p:nvSpPr>
          <p:cNvPr id="4" name="Slide Number Placeholder 3">
            <a:extLst>
              <a:ext uri="{FF2B5EF4-FFF2-40B4-BE49-F238E27FC236}">
                <a16:creationId xmlns:a16="http://schemas.microsoft.com/office/drawing/2014/main" id="{B596106B-1329-142D-02F8-65101BDB6B65}"/>
              </a:ext>
            </a:extLst>
          </p:cNvPr>
          <p:cNvSpPr>
            <a:spLocks noGrp="1"/>
          </p:cNvSpPr>
          <p:nvPr>
            <p:ph type="sldNum" sz="quarter" idx="12"/>
          </p:nvPr>
        </p:nvSpPr>
        <p:spPr/>
        <p:txBody>
          <a:bodyPr/>
          <a:lstStyle/>
          <a:p>
            <a:fld id="{3957FE44-DABC-424D-A234-74BB9410FF27}" type="slidenum">
              <a:rPr lang="en-US" smtClean="0"/>
              <a:pPr/>
              <a:t>24</a:t>
            </a:fld>
            <a:endParaRPr lang="en-US" dirty="0"/>
          </a:p>
        </p:txBody>
      </p:sp>
      <p:pic>
        <p:nvPicPr>
          <p:cNvPr id="1028" name="Picture 4" descr="Heyup | Unitree GO2 robot dog - Heyup">
            <a:extLst>
              <a:ext uri="{FF2B5EF4-FFF2-40B4-BE49-F238E27FC236}">
                <a16:creationId xmlns:a16="http://schemas.microsoft.com/office/drawing/2014/main" id="{F352A0E2-D6AC-4445-32A4-AF6EFC916D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2245814"/>
            <a:ext cx="3071813" cy="307181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73F1D0B-A8D9-FE3D-7E65-646893B59976}"/>
              </a:ext>
            </a:extLst>
          </p:cNvPr>
          <p:cNvSpPr txBox="1"/>
          <p:nvPr/>
        </p:nvSpPr>
        <p:spPr>
          <a:xfrm>
            <a:off x="3091707" y="5317627"/>
            <a:ext cx="2013693" cy="461665"/>
          </a:xfrm>
          <a:prstGeom prst="rect">
            <a:avLst/>
          </a:prstGeom>
          <a:noFill/>
        </p:spPr>
        <p:txBody>
          <a:bodyPr wrap="none" rtlCol="0">
            <a:spAutoFit/>
          </a:bodyPr>
          <a:lstStyle/>
          <a:p>
            <a:r>
              <a:rPr lang="en-US" sz="2400" b="1" dirty="0"/>
              <a:t>Unitree Go 2</a:t>
            </a:r>
          </a:p>
        </p:txBody>
      </p:sp>
      <p:grpSp>
        <p:nvGrpSpPr>
          <p:cNvPr id="9" name="Group 8">
            <a:extLst>
              <a:ext uri="{FF2B5EF4-FFF2-40B4-BE49-F238E27FC236}">
                <a16:creationId xmlns:a16="http://schemas.microsoft.com/office/drawing/2014/main" id="{34519D78-6D6A-F617-6EF1-E8E897559B3A}"/>
              </a:ext>
            </a:extLst>
          </p:cNvPr>
          <p:cNvGrpSpPr/>
          <p:nvPr/>
        </p:nvGrpSpPr>
        <p:grpSpPr>
          <a:xfrm>
            <a:off x="5664200" y="798513"/>
            <a:ext cx="4928394" cy="5702594"/>
            <a:chOff x="5664200" y="798513"/>
            <a:chExt cx="4928394" cy="5702594"/>
          </a:xfrm>
        </p:grpSpPr>
        <p:pic>
          <p:nvPicPr>
            <p:cNvPr id="3" name="Picture 2">
              <a:extLst>
                <a:ext uri="{FF2B5EF4-FFF2-40B4-BE49-F238E27FC236}">
                  <a16:creationId xmlns:a16="http://schemas.microsoft.com/office/drawing/2014/main" id="{F05183F4-AF33-A0FA-830E-E72B748C2704}"/>
                </a:ext>
              </a:extLst>
            </p:cNvPr>
            <p:cNvPicPr>
              <a:picLocks noChangeAspect="1"/>
            </p:cNvPicPr>
            <p:nvPr/>
          </p:nvPicPr>
          <p:blipFill>
            <a:blip r:embed="rId3"/>
            <a:srcRect r="39179"/>
            <a:stretch>
              <a:fillRect/>
            </a:stretch>
          </p:blipFill>
          <p:spPr>
            <a:xfrm>
              <a:off x="5664200" y="798514"/>
              <a:ext cx="4495800" cy="5702593"/>
            </a:xfrm>
            <a:prstGeom prst="rect">
              <a:avLst/>
            </a:prstGeom>
          </p:spPr>
        </p:pic>
        <p:pic>
          <p:nvPicPr>
            <p:cNvPr id="8" name="Picture 7">
              <a:extLst>
                <a:ext uri="{FF2B5EF4-FFF2-40B4-BE49-F238E27FC236}">
                  <a16:creationId xmlns:a16="http://schemas.microsoft.com/office/drawing/2014/main" id="{BA84A8D1-6A00-CBEC-34A6-CFA7F7BFFCBE}"/>
                </a:ext>
              </a:extLst>
            </p:cNvPr>
            <p:cNvPicPr>
              <a:picLocks noChangeAspect="1"/>
            </p:cNvPicPr>
            <p:nvPr/>
          </p:nvPicPr>
          <p:blipFill>
            <a:blip r:embed="rId3"/>
            <a:srcRect l="60480" r="-694"/>
            <a:stretch>
              <a:fillRect/>
            </a:stretch>
          </p:blipFill>
          <p:spPr>
            <a:xfrm>
              <a:off x="7620000" y="798513"/>
              <a:ext cx="2972594" cy="5702593"/>
            </a:xfrm>
            <a:prstGeom prst="rect">
              <a:avLst/>
            </a:prstGeom>
          </p:spPr>
        </p:pic>
      </p:grpSp>
    </p:spTree>
    <p:extLst>
      <p:ext uri="{BB962C8B-B14F-4D97-AF65-F5344CB8AC3E}">
        <p14:creationId xmlns:p14="http://schemas.microsoft.com/office/powerpoint/2010/main" val="3430650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EDF4E-1B8E-85E3-1CD4-1B83547B1B7A}"/>
              </a:ext>
            </a:extLst>
          </p:cNvPr>
          <p:cNvSpPr>
            <a:spLocks noGrp="1"/>
          </p:cNvSpPr>
          <p:nvPr>
            <p:ph type="title"/>
          </p:nvPr>
        </p:nvSpPr>
        <p:spPr/>
        <p:txBody>
          <a:bodyPr/>
          <a:lstStyle/>
          <a:p>
            <a:r>
              <a:rPr lang="en-US" b="1" dirty="0"/>
              <a:t>Hoạt </a:t>
            </a:r>
            <a:r>
              <a:rPr lang="en-US" b="1" dirty="0" err="1"/>
              <a:t>động</a:t>
            </a:r>
            <a:r>
              <a:rPr lang="en-US" b="1" dirty="0"/>
              <a:t> </a:t>
            </a:r>
            <a:r>
              <a:rPr lang="en-US" b="1" dirty="0" err="1"/>
              <a:t>trên</a:t>
            </a:r>
            <a:r>
              <a:rPr lang="en-US" b="1" dirty="0"/>
              <a:t> </a:t>
            </a:r>
            <a:r>
              <a:rPr lang="en-US" b="1" dirty="0" err="1"/>
              <a:t>lớp</a:t>
            </a:r>
            <a:endParaRPr lang="en-US" b="1" dirty="0"/>
          </a:p>
        </p:txBody>
      </p:sp>
      <p:sp>
        <p:nvSpPr>
          <p:cNvPr id="3" name="Content Placeholder 2">
            <a:extLst>
              <a:ext uri="{FF2B5EF4-FFF2-40B4-BE49-F238E27FC236}">
                <a16:creationId xmlns:a16="http://schemas.microsoft.com/office/drawing/2014/main" id="{CB638BF1-471C-AE30-AE7E-F8B72B5DAD2A}"/>
              </a:ext>
            </a:extLst>
          </p:cNvPr>
          <p:cNvSpPr>
            <a:spLocks noGrp="1"/>
          </p:cNvSpPr>
          <p:nvPr>
            <p:ph idx="1"/>
          </p:nvPr>
        </p:nvSpPr>
        <p:spPr/>
        <p:txBody>
          <a:bodyPr/>
          <a:lstStyle/>
          <a:p>
            <a:r>
              <a:rPr lang="en-US" dirty="0" err="1"/>
              <a:t>Áp</a:t>
            </a:r>
            <a:r>
              <a:rPr lang="en-US" dirty="0"/>
              <a:t> </a:t>
            </a:r>
            <a:r>
              <a:rPr lang="en-US" dirty="0" err="1"/>
              <a:t>dụng</a:t>
            </a:r>
            <a:r>
              <a:rPr lang="en-US" dirty="0"/>
              <a:t> </a:t>
            </a:r>
            <a:r>
              <a:rPr lang="en-US" dirty="0" err="1"/>
              <a:t>quy</a:t>
            </a:r>
            <a:r>
              <a:rPr lang="en-US" dirty="0"/>
              <a:t> </a:t>
            </a:r>
            <a:r>
              <a:rPr lang="en-US" dirty="0" err="1"/>
              <a:t>trình</a:t>
            </a:r>
            <a:r>
              <a:rPr lang="en-US" dirty="0"/>
              <a:t> MBA </a:t>
            </a:r>
            <a:r>
              <a:rPr lang="en-US" dirty="0" err="1"/>
              <a:t>để</a:t>
            </a:r>
            <a:r>
              <a:rPr lang="en-US" dirty="0"/>
              <a:t> </a:t>
            </a:r>
            <a:r>
              <a:rPr lang="en-US" dirty="0" err="1"/>
              <a:t>xác</a:t>
            </a:r>
            <a:r>
              <a:rPr lang="en-US" dirty="0"/>
              <a:t> </a:t>
            </a:r>
            <a:r>
              <a:rPr lang="en-US" dirty="0" err="1"/>
              <a:t>định</a:t>
            </a:r>
            <a:r>
              <a:rPr lang="en-US" dirty="0"/>
              <a:t> </a:t>
            </a:r>
            <a:r>
              <a:rPr lang="en-US" dirty="0" err="1"/>
              <a:t>các</a:t>
            </a:r>
            <a:r>
              <a:rPr lang="en-US" dirty="0"/>
              <a:t> </a:t>
            </a:r>
            <a:r>
              <a:rPr lang="en-US" dirty="0" err="1"/>
              <a:t>thông</a:t>
            </a:r>
            <a:r>
              <a:rPr lang="en-US" dirty="0"/>
              <a:t> </a:t>
            </a:r>
            <a:r>
              <a:rPr lang="en-US" dirty="0" err="1"/>
              <a:t>số</a:t>
            </a:r>
            <a:r>
              <a:rPr lang="en-US" dirty="0"/>
              <a:t> </a:t>
            </a:r>
            <a:r>
              <a:rPr lang="en-US" dirty="0" err="1"/>
              <a:t>mục</a:t>
            </a:r>
            <a:r>
              <a:rPr lang="en-US" dirty="0"/>
              <a:t> </a:t>
            </a:r>
            <a:r>
              <a:rPr lang="en-US" dirty="0" err="1"/>
              <a:t>tiêu</a:t>
            </a:r>
            <a:r>
              <a:rPr lang="en-US" dirty="0"/>
              <a:t> </a:t>
            </a:r>
            <a:r>
              <a:rPr lang="en-US" dirty="0" err="1"/>
              <a:t>cho</a:t>
            </a:r>
            <a:r>
              <a:rPr lang="en-US" dirty="0"/>
              <a:t> robot </a:t>
            </a:r>
            <a:r>
              <a:rPr lang="en-US" dirty="0" err="1"/>
              <a:t>chó</a:t>
            </a:r>
            <a:r>
              <a:rPr lang="en-US" dirty="0"/>
              <a:t> </a:t>
            </a:r>
            <a:r>
              <a:rPr lang="en-US" dirty="0" err="1"/>
              <a:t>mà</a:t>
            </a:r>
            <a:r>
              <a:rPr lang="en-US" dirty="0"/>
              <a:t> </a:t>
            </a:r>
            <a:r>
              <a:rPr lang="en-US" dirty="0" err="1"/>
              <a:t>nhóm</a:t>
            </a:r>
            <a:r>
              <a:rPr lang="en-US" dirty="0"/>
              <a:t> </a:t>
            </a:r>
            <a:r>
              <a:rPr lang="en-US" dirty="0" err="1"/>
              <a:t>đề</a:t>
            </a:r>
            <a:r>
              <a:rPr lang="en-US" dirty="0"/>
              <a:t> </a:t>
            </a:r>
            <a:r>
              <a:rPr lang="en-US" dirty="0" err="1"/>
              <a:t>xuất</a:t>
            </a:r>
            <a:r>
              <a:rPr lang="en-US" dirty="0"/>
              <a:t>.</a:t>
            </a:r>
          </a:p>
        </p:txBody>
      </p:sp>
      <p:sp>
        <p:nvSpPr>
          <p:cNvPr id="4" name="Slide Number Placeholder 3">
            <a:extLst>
              <a:ext uri="{FF2B5EF4-FFF2-40B4-BE49-F238E27FC236}">
                <a16:creationId xmlns:a16="http://schemas.microsoft.com/office/drawing/2014/main" id="{B9A2D75C-DBA8-7622-847D-C72CC9DD252B}"/>
              </a:ext>
            </a:extLst>
          </p:cNvPr>
          <p:cNvSpPr>
            <a:spLocks noGrp="1"/>
          </p:cNvSpPr>
          <p:nvPr>
            <p:ph type="sldNum" sz="quarter" idx="12"/>
          </p:nvPr>
        </p:nvSpPr>
        <p:spPr/>
        <p:txBody>
          <a:bodyPr/>
          <a:lstStyle/>
          <a:p>
            <a:fld id="{3957FE44-DABC-424D-A234-74BB9410FF27}" type="slidenum">
              <a:rPr lang="en-US" smtClean="0"/>
              <a:pPr/>
              <a:t>25</a:t>
            </a:fld>
            <a:endParaRPr lang="en-US" dirty="0"/>
          </a:p>
        </p:txBody>
      </p:sp>
    </p:spTree>
    <p:extLst>
      <p:ext uri="{BB962C8B-B14F-4D97-AF65-F5344CB8AC3E}">
        <p14:creationId xmlns:p14="http://schemas.microsoft.com/office/powerpoint/2010/main" val="39590797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5821</TotalTime>
  <Words>1988</Words>
  <Application>Microsoft Office PowerPoint</Application>
  <PresentationFormat>Widescreen</PresentationFormat>
  <Paragraphs>187</Paragraphs>
  <Slides>25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Wingdings</vt:lpstr>
      <vt:lpstr>Clarity</vt:lpstr>
      <vt:lpstr>  Thiết kế robot Tổng quan về thiết kế robot</vt:lpstr>
      <vt:lpstr>Các loại robot phổ biến</vt:lpstr>
      <vt:lpstr>Các thành phần cơ bản của robot</vt:lpstr>
      <vt:lpstr>Quy trình thiết kế</vt:lpstr>
      <vt:lpstr>Bước 1: Xác định &amp; Lập kế hoạch dự án</vt:lpstr>
      <vt:lpstr>Bước 2: Xác định thông số kỹ thuật</vt:lpstr>
      <vt:lpstr>Bước 3: Xây dựng phương án thiết kế</vt:lpstr>
      <vt:lpstr>Bước 4: Phát triển sản phẩm</vt:lpstr>
      <vt:lpstr>Bước 5: Hỗ trợ sản phẩm</vt:lpstr>
      <vt:lpstr>Dự án mẫu</vt:lpstr>
      <vt:lpstr>Hoạt động trên lớp</vt:lpstr>
      <vt:lpstr>Xây dựng danh mục công việc</vt:lpstr>
      <vt:lpstr>Xác định thông số mục tiêu</vt:lpstr>
      <vt:lpstr>Xác định thông số mục tiêu</vt:lpstr>
      <vt:lpstr>PP Triển khai Chức năng Chất lượng </vt:lpstr>
      <vt:lpstr>PP Triển khai Chức năng Chất lượng </vt:lpstr>
      <vt:lpstr>PowerPoint Presentation</vt:lpstr>
      <vt:lpstr>PP Phân tích dựa trên Nhiệm vụ </vt:lpstr>
      <vt:lpstr>PP Phân tích dựa trên Nhiệm vụ </vt:lpstr>
      <vt:lpstr>PP Phân tích dựa trên Nhiệm vụ </vt:lpstr>
      <vt:lpstr>PP Phân tích dựa trên Nhiệm vụ </vt:lpstr>
      <vt:lpstr>Phương pháp So sánh</vt:lpstr>
      <vt:lpstr>Dự án mẫu</vt:lpstr>
      <vt:lpstr>Dự án mẫu</vt:lpstr>
      <vt:lpstr>Hoạt động trên lớp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Thực tập vi điều khiển</dc:title>
  <dc:creator>haduc</dc:creator>
  <cp:lastModifiedBy>duc b</cp:lastModifiedBy>
  <cp:revision>627</cp:revision>
  <dcterms:created xsi:type="dcterms:W3CDTF">2015-08-30T01:38:28Z</dcterms:created>
  <dcterms:modified xsi:type="dcterms:W3CDTF">2026-05-05T12:37:46Z</dcterms:modified>
</cp:coreProperties>
</file>