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4"/>
  </p:notesMasterIdLst>
  <p:sldIdLst>
    <p:sldId id="256" r:id="rId2"/>
    <p:sldId id="314" r:id="rId3"/>
    <p:sldId id="315" r:id="rId4"/>
    <p:sldId id="316" r:id="rId5"/>
    <p:sldId id="317" r:id="rId6"/>
    <p:sldId id="318" r:id="rId7"/>
    <p:sldId id="319" r:id="rId8"/>
    <p:sldId id="324" r:id="rId9"/>
    <p:sldId id="325" r:id="rId10"/>
    <p:sldId id="320" r:id="rId11"/>
    <p:sldId id="326" r:id="rId12"/>
    <p:sldId id="327" r:id="rId13"/>
    <p:sldId id="321" r:id="rId14"/>
    <p:sldId id="328" r:id="rId15"/>
    <p:sldId id="329" r:id="rId16"/>
    <p:sldId id="322" r:id="rId17"/>
    <p:sldId id="323" r:id="rId18"/>
    <p:sldId id="330" r:id="rId19"/>
    <p:sldId id="331" r:id="rId20"/>
    <p:sldId id="332" r:id="rId21"/>
    <p:sldId id="333" r:id="rId22"/>
    <p:sldId id="334" r:id="rId23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Lora" pitchFamily="2" charset="0"/>
      <p:regular r:id="rId29"/>
      <p:bold r:id="rId30"/>
      <p:italic r:id="rId31"/>
      <p:boldItalic r:id="rId32"/>
    </p:embeddedFont>
    <p:embeddedFont>
      <p:font typeface="Quattrocento Sans" panose="020B0502050000020003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836041E-B032-4468-B547-B3CB4120DE19}">
          <p14:sldIdLst>
            <p14:sldId id="256"/>
            <p14:sldId id="314"/>
            <p14:sldId id="315"/>
            <p14:sldId id="316"/>
            <p14:sldId id="317"/>
            <p14:sldId id="318"/>
            <p14:sldId id="319"/>
            <p14:sldId id="324"/>
            <p14:sldId id="325"/>
            <p14:sldId id="320"/>
            <p14:sldId id="326"/>
            <p14:sldId id="327"/>
            <p14:sldId id="321"/>
            <p14:sldId id="328"/>
            <p14:sldId id="329"/>
            <p14:sldId id="322"/>
            <p14:sldId id="323"/>
            <p14:sldId id="330"/>
            <p14:sldId id="331"/>
            <p14:sldId id="332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5B2040-0373-4AB5-8C16-54180E59C3D7}">
  <a:tblStyle styleId="{DA5B2040-0373-4AB5-8C16-54180E59C3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83C8C0-4F54-423C-8FE9-BE38F65F23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94" autoAdjust="0"/>
  </p:normalViewPr>
  <p:slideViewPr>
    <p:cSldViewPr snapToGrid="0">
      <p:cViewPr varScale="1">
        <p:scale>
          <a:sx n="100" d="100"/>
          <a:sy n="100" d="100"/>
        </p:scale>
        <p:origin x="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38939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41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1250" y="47022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8"/>
          <p:cNvCxnSpPr/>
          <p:nvPr/>
        </p:nvCxnSpPr>
        <p:spPr>
          <a:xfrm>
            <a:off x="0" y="705841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8"/>
          <p:cNvSpPr/>
          <p:nvPr/>
        </p:nvSpPr>
        <p:spPr>
          <a:xfrm>
            <a:off x="817475" y="502883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5265650" y="705841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996630" y="2007698"/>
            <a:ext cx="558504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Generative Adversarial Network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4CC9D-0593-F680-AC87-921FD464BE28}"/>
              </a:ext>
            </a:extLst>
          </p:cNvPr>
          <p:cNvSpPr/>
          <p:nvPr/>
        </p:nvSpPr>
        <p:spPr>
          <a:xfrm>
            <a:off x="889279" y="616328"/>
            <a:ext cx="6742444" cy="1276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oogle Shape;72;p12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1;p12"/>
          <p:cNvSpPr txBox="1">
            <a:spLocks/>
          </p:cNvSpPr>
          <p:nvPr/>
        </p:nvSpPr>
        <p:spPr>
          <a:xfrm>
            <a:off x="996630" y="1227804"/>
            <a:ext cx="5449388" cy="664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Introduction to Artificial Intelligent (AI)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09E7-92A9-B80C-6B0B-7003B11B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Generative Adversarial Networks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F933A4-1F6C-99BE-3C60-0CFC8A8974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CADD7-A800-4BA4-8578-573B004EFD0B}"/>
              </a:ext>
            </a:extLst>
          </p:cNvPr>
          <p:cNvSpPr txBox="1"/>
          <p:nvPr/>
        </p:nvSpPr>
        <p:spPr>
          <a:xfrm>
            <a:off x="908712" y="1118088"/>
            <a:ext cx="7634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GAN is a deep learning architecture.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GAN trains two neural networks to compete against each other to generate more authentic new data from a given training dataset.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B97EE9-201B-2D72-F6A3-E099BA3CF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848" y="2571750"/>
            <a:ext cx="4916303" cy="20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3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48C8-A416-72FB-3CA5-E2EAB3B9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Generative Adversarial Networks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FC715C-2A06-C8F8-EFA2-99D5C8757A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2050" name="Picture 2" descr="A diagram of a generator and discriminator">
            <a:extLst>
              <a:ext uri="{FF2B5EF4-FFF2-40B4-BE49-F238E27FC236}">
                <a16:creationId xmlns:a16="http://schemas.microsoft.com/office/drawing/2014/main" id="{04263450-0F99-109C-39AC-3201723A4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8" y="1500665"/>
            <a:ext cx="4252202" cy="237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second diagram of a generator and discriminator">
            <a:extLst>
              <a:ext uri="{FF2B5EF4-FFF2-40B4-BE49-F238E27FC236}">
                <a16:creationId xmlns:a16="http://schemas.microsoft.com/office/drawing/2014/main" id="{982C7794-3B51-292F-0C72-311DAE8D9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80755"/>
            <a:ext cx="4363618" cy="2816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A2DA20EB-3A4B-E905-A8DD-D0B83AC49831}"/>
              </a:ext>
            </a:extLst>
          </p:cNvPr>
          <p:cNvSpPr/>
          <p:nvPr/>
        </p:nvSpPr>
        <p:spPr>
          <a:xfrm>
            <a:off x="4236539" y="2505133"/>
            <a:ext cx="476137" cy="43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0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DBE3-6148-99C9-C421-F7158D58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discriminator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EBAAC-D31B-F7FC-8D2F-C9763F31E7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33526-6708-43FA-C498-921BF40E9C4D}"/>
              </a:ext>
            </a:extLst>
          </p:cNvPr>
          <p:cNvSpPr txBox="1"/>
          <p:nvPr/>
        </p:nvSpPr>
        <p:spPr>
          <a:xfrm>
            <a:off x="908712" y="1118088"/>
            <a:ext cx="5253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The Discriminator is a </a:t>
            </a:r>
            <a:r>
              <a:rPr lang="en-US" sz="1800" dirty="0">
                <a:solidFill>
                  <a:srgbClr val="0070C0"/>
                </a:solidFill>
                <a:latin typeface="Georgia" panose="02040502050405020303" pitchFamily="18" charset="0"/>
              </a:rPr>
              <a:t>classification model</a:t>
            </a:r>
            <a:r>
              <a:rPr lang="en-US" sz="1800" dirty="0">
                <a:latin typeface="Georgia" panose="02040502050405020303" pitchFamily="18" charset="0"/>
              </a:rPr>
              <a:t>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The discriminator is also used to classify whether the output from the generator is real or fake.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If the discriminator performs significantly better than the generator </a:t>
            </a:r>
            <a:r>
              <a:rPr lang="en-US" sz="1800" dirty="0">
                <a:latin typeface="Georgia" panose="02040502050405020303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rgbClr val="0070C0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Vanishing Gradients</a:t>
            </a:r>
            <a:endParaRPr lang="en-US" sz="1800" dirty="0">
              <a:solidFill>
                <a:srgbClr val="0070C0"/>
              </a:solidFill>
              <a:latin typeface="Georgia" panose="02040502050405020303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Georgia" panose="02040502050405020303" pitchFamily="18" charset="0"/>
              </a:rPr>
              <a:t>Discriminator loss function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1D2037-FA16-58D0-2E6B-C9A9275DC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941" y="1079660"/>
            <a:ext cx="2311138" cy="289888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F8A980D-4ED2-7169-A75C-663FAAF52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200" y="3918563"/>
            <a:ext cx="4278575" cy="75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041D99-02F5-923E-374C-3F20F5029465}"/>
              </a:ext>
            </a:extLst>
          </p:cNvPr>
          <p:cNvSpPr/>
          <p:nvPr/>
        </p:nvSpPr>
        <p:spPr>
          <a:xfrm>
            <a:off x="2628900" y="4038600"/>
            <a:ext cx="1054100" cy="4699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98819-BB7E-7E0F-E1AE-44180901FB96}"/>
              </a:ext>
            </a:extLst>
          </p:cNvPr>
          <p:cNvSpPr/>
          <p:nvPr/>
        </p:nvSpPr>
        <p:spPr>
          <a:xfrm>
            <a:off x="3831688" y="4038600"/>
            <a:ext cx="1978562" cy="4699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8ABA2-6450-7888-FF4E-AF67E724B664}"/>
              </a:ext>
            </a:extLst>
          </p:cNvPr>
          <p:cNvSpPr txBox="1"/>
          <p:nvPr/>
        </p:nvSpPr>
        <p:spPr>
          <a:xfrm>
            <a:off x="2591492" y="4535727"/>
            <a:ext cx="1457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Real sample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AFFE3-8C35-AC23-B7B1-EADC7FA1B2A7}"/>
              </a:ext>
            </a:extLst>
          </p:cNvPr>
          <p:cNvSpPr txBox="1"/>
          <p:nvPr/>
        </p:nvSpPr>
        <p:spPr>
          <a:xfrm>
            <a:off x="4820969" y="4535728"/>
            <a:ext cx="1457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 u="none" strike="noStrike" baseline="0" dirty="0">
                <a:solidFill>
                  <a:srgbClr val="0070C0"/>
                </a:solidFill>
                <a:latin typeface="Georgia" panose="02040502050405020303" pitchFamily="18" charset="0"/>
              </a:rPr>
              <a:t>Fake sample</a:t>
            </a:r>
            <a:endParaRPr lang="en-US" dirty="0">
              <a:solidFill>
                <a:srgbClr val="0070C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89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DE2F-E516-79B6-6B76-73BD1116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A96B60-5093-ACEA-FDA5-0A76388F7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78DA4-AA41-D268-8A31-DB0EA4375104}"/>
              </a:ext>
            </a:extLst>
          </p:cNvPr>
          <p:cNvSpPr txBox="1"/>
          <p:nvPr/>
        </p:nvSpPr>
        <p:spPr>
          <a:xfrm>
            <a:off x="908712" y="1118088"/>
            <a:ext cx="50539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The Generator is a generative model.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This model generates samples that are intended to resemble the samples from our training set.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the generator is always trying to find the one output that seems most plausible to the discriminator.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Generator loss function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0E465-2561-04F7-0E66-DB1CBD55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489" y="905828"/>
            <a:ext cx="1952175" cy="39117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1BA884A-3BF4-7AC1-81D2-0364E6143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814" y="4078203"/>
            <a:ext cx="2792412" cy="73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38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2A68-FBA9-DB3B-D31B-73CB7648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9742C-6958-CB24-3310-C3ECF4D392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CA0A6-C00A-CD45-7CE0-5EE3526C4B71}"/>
              </a:ext>
            </a:extLst>
          </p:cNvPr>
          <p:cNvSpPr txBox="1"/>
          <p:nvPr/>
        </p:nvSpPr>
        <p:spPr>
          <a:xfrm>
            <a:off x="908712" y="1118088"/>
            <a:ext cx="44099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Georgia" panose="02040502050405020303" pitchFamily="18" charset="0"/>
              </a:rPr>
              <a:t>Train the Discriminator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Georgia" panose="02040502050405020303" pitchFamily="18" charset="0"/>
              </a:rPr>
              <a:t>Set the Discriminator as non-trainable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Georgia" panose="02040502050405020303" pitchFamily="18" charset="0"/>
              </a:rPr>
              <a:t>Train the Generator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Georgia" panose="02040502050405020303" pitchFamily="18" charset="0"/>
              </a:rPr>
              <a:t>Repeat again and again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46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54B8-E4DF-B7DF-FD11-9C8C136A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619DB-508A-A9F7-D966-C248556618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B0D45-CB7D-19B8-AD6E-451453EC0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991" y="780976"/>
            <a:ext cx="1958655" cy="4359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E8E17D-38E5-3E6D-1AED-B18BEFBF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75" y="1073922"/>
            <a:ext cx="3729497" cy="199317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ED1805-1868-7692-F03F-0D4D88AF4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509" y="1478677"/>
            <a:ext cx="2983696" cy="597727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67F49D5-DD1E-F5D7-919F-8EE05CA4B8EF}"/>
              </a:ext>
            </a:extLst>
          </p:cNvPr>
          <p:cNvSpPr/>
          <p:nvPr/>
        </p:nvSpPr>
        <p:spPr>
          <a:xfrm>
            <a:off x="3353930" y="1666622"/>
            <a:ext cx="330050" cy="22183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F8A61E-DFB3-81F7-92BE-433435C86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14" y="3402085"/>
            <a:ext cx="2897810" cy="1334986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83474-2A8A-B74E-BDE2-8FF7DAD60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049" y="2577214"/>
            <a:ext cx="3650156" cy="235683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17" name="Arrow: Left 16">
            <a:extLst>
              <a:ext uri="{FF2B5EF4-FFF2-40B4-BE49-F238E27FC236}">
                <a16:creationId xmlns:a16="http://schemas.microsoft.com/office/drawing/2014/main" id="{EEE074F2-87F0-5564-088F-FA02122F9085}"/>
              </a:ext>
            </a:extLst>
          </p:cNvPr>
          <p:cNvSpPr/>
          <p:nvPr/>
        </p:nvSpPr>
        <p:spPr>
          <a:xfrm>
            <a:off x="2873056" y="3928133"/>
            <a:ext cx="346281" cy="22724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3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54B8-E4DF-B7DF-FD11-9C8C136A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619DB-508A-A9F7-D966-C248556618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A5B7A0-F62E-BA8D-A404-AFA78ED3A1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85" b="46112"/>
          <a:stretch/>
        </p:blipFill>
        <p:spPr>
          <a:xfrm>
            <a:off x="119035" y="1012245"/>
            <a:ext cx="4006606" cy="3094894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98844C-C4A9-E395-49D5-4B03383506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888"/>
          <a:stretch/>
        </p:blipFill>
        <p:spPr>
          <a:xfrm>
            <a:off x="3879437" y="1012245"/>
            <a:ext cx="5145528" cy="2374468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756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54B8-E4DF-B7DF-FD11-9C8C136A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619DB-508A-A9F7-D966-C248556618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B0D45-CB7D-19B8-AD6E-451453EC0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991" y="780976"/>
            <a:ext cx="1958655" cy="4359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1843F6-AF04-6A35-2200-F4ECF71B0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09" y="1026142"/>
            <a:ext cx="5306835" cy="401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9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F644-9F7C-D5B8-1308-76D1625B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convolution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0765A-300F-B8C6-E3B1-8B912C94AC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0D092-C887-B678-C586-0BB093743675}"/>
              </a:ext>
            </a:extLst>
          </p:cNvPr>
          <p:cNvSpPr txBox="1"/>
          <p:nvPr/>
        </p:nvSpPr>
        <p:spPr>
          <a:xfrm>
            <a:off x="908711" y="1118088"/>
            <a:ext cx="743451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 Deep Convolutional GAN was published in 2016 by Radford et al.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DCGAN emphasized using deeper architectures with Up-sampling layer  for the Generator to create high resolution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CAB49D-882D-A130-5D94-308C517C1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268" y="2797841"/>
            <a:ext cx="5085397" cy="1952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858ED1-F81F-104F-FD52-D41F874C6ED2}"/>
              </a:ext>
            </a:extLst>
          </p:cNvPr>
          <p:cNvSpPr txBox="1"/>
          <p:nvPr/>
        </p:nvSpPr>
        <p:spPr>
          <a:xfrm>
            <a:off x="3185183" y="4638874"/>
            <a:ext cx="3166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baseline="0" dirty="0">
                <a:latin typeface="Georgia" panose="02040502050405020303" pitchFamily="18" charset="0"/>
              </a:rPr>
              <a:t>DCGAN generator architecture</a:t>
            </a:r>
            <a:endParaRPr lang="en-US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6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F644-9F7C-D5B8-1308-76D1625B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convolution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0765A-300F-B8C6-E3B1-8B912C94AC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58ED1-F81F-104F-FD52-D41F874C6ED2}"/>
              </a:ext>
            </a:extLst>
          </p:cNvPr>
          <p:cNvSpPr txBox="1"/>
          <p:nvPr/>
        </p:nvSpPr>
        <p:spPr>
          <a:xfrm>
            <a:off x="5822358" y="2263973"/>
            <a:ext cx="3166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baseline="0" dirty="0">
                <a:latin typeface="Georgia" panose="02040502050405020303" pitchFamily="18" charset="0"/>
              </a:rPr>
              <a:t>DCGAN generator architecture</a:t>
            </a:r>
            <a:endParaRPr lang="en-US" b="1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70170-B17B-E554-7AEB-F9C6F6CA0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3" y="1180322"/>
            <a:ext cx="5089662" cy="3569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CAB49D-882D-A130-5D94-308C517C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96" y="1138487"/>
            <a:ext cx="3308145" cy="10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67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F644-9F7C-D5B8-1308-76D1625B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convolution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0765A-300F-B8C6-E3B1-8B912C94AC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F4476-C65C-2CEF-B9F9-C27C604D1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89" y="1052721"/>
            <a:ext cx="4909021" cy="396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5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06DF-7717-339D-A6D2-13B40F10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65C88-31A5-3495-CF16-AB363219C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4508B-7F82-C8D1-945E-1AF5BDBC6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665" y="973917"/>
            <a:ext cx="3520450" cy="2375151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4BD6C-4C71-77CD-F347-D5323858AAF4}"/>
              </a:ext>
            </a:extLst>
          </p:cNvPr>
          <p:cNvSpPr txBox="1"/>
          <p:nvPr/>
        </p:nvSpPr>
        <p:spPr>
          <a:xfrm>
            <a:off x="908712" y="1118088"/>
            <a:ext cx="407449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Georgia" panose="02040502050405020303" pitchFamily="18" charset="0"/>
              </a:rPr>
              <a:t>Conditional GANs (CGANs)</a:t>
            </a:r>
            <a:r>
              <a:rPr lang="en-US" sz="2000" dirty="0">
                <a:latin typeface="Georgia" panose="02040502050405020303" pitchFamily="18" charset="0"/>
              </a:rPr>
              <a:t> are the class of GANs that provide the control needed to </a:t>
            </a:r>
            <a:r>
              <a:rPr lang="en-US" sz="2000" dirty="0">
                <a:solidFill>
                  <a:srgbClr val="0070C0"/>
                </a:solidFill>
                <a:latin typeface="Georgia" panose="02040502050405020303" pitchFamily="18" charset="0"/>
              </a:rPr>
              <a:t>generate a specific output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CGANs work by training the generator model to generate fake samples conditioned on specific characteristics of the output required</a:t>
            </a:r>
          </a:p>
        </p:txBody>
      </p:sp>
    </p:spTree>
    <p:extLst>
      <p:ext uri="{BB962C8B-B14F-4D97-AF65-F5344CB8AC3E}">
        <p14:creationId xmlns:p14="http://schemas.microsoft.com/office/powerpoint/2010/main" val="261192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06DF-7717-339D-A6D2-13B40F10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65C88-31A5-3495-CF16-AB363219C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23CC45-240E-0A40-0E6B-10E0FD7D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37" y="1018595"/>
            <a:ext cx="4242405" cy="3937561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8EA108-9D55-FFFB-2551-85E874285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981" y="1018595"/>
            <a:ext cx="4205358" cy="339108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8108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06DF-7717-339D-A6D2-13B40F10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65C88-31A5-3495-CF16-AB363219C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95B28-EBF7-1CFC-633E-97C179BE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390" y="905828"/>
            <a:ext cx="5361220" cy="417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6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4F02-D57C-1080-2270-E8CFFF94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Wasserstein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CE349-69C8-8C20-339D-15A8CEBFA6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0A136-CA0C-0181-F420-70F194CA9ADE}"/>
              </a:ext>
            </a:extLst>
          </p:cNvPr>
          <p:cNvSpPr txBox="1"/>
          <p:nvPr/>
        </p:nvSpPr>
        <p:spPr>
          <a:xfrm>
            <a:off x="919532" y="1101856"/>
            <a:ext cx="77050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Georgia" panose="02040502050405020303" pitchFamily="18" charset="0"/>
              </a:rPr>
              <a:t>W-GANs 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treat the discriminator as a </a:t>
            </a:r>
            <a:r>
              <a:rPr lang="en-US" sz="2000" dirty="0">
                <a:solidFill>
                  <a:srgbClr val="0070C0"/>
                </a:solidFill>
                <a:latin typeface="Georgia" panose="02040502050405020303" pitchFamily="18" charset="0"/>
              </a:rPr>
              <a:t>critic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W-GAN discriminator (or critic) generates </a:t>
            </a:r>
            <a:r>
              <a:rPr lang="en-US" sz="2000" dirty="0">
                <a:solidFill>
                  <a:srgbClr val="0070C0"/>
                </a:solidFill>
                <a:latin typeface="Georgia" panose="02040502050405020303" pitchFamily="18" charset="0"/>
              </a:rPr>
              <a:t>a score </a:t>
            </a:r>
            <a:r>
              <a:rPr lang="en-US" sz="2000" dirty="0">
                <a:latin typeface="Georgia" panose="02040502050405020303" pitchFamily="18" charset="0"/>
              </a:rPr>
              <a:t>to inform the generator about the realness or fakeness of the input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43219-C945-E98E-827A-7C1F8FF7B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5" y="2325838"/>
            <a:ext cx="4018129" cy="1261423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2E957B-9558-4C13-FB75-6FE10950A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15" y="3716311"/>
            <a:ext cx="7044053" cy="117581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6361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11CE-7186-251C-4AC9-CD89C191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Wasserstein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7C74B8-1C8D-60B4-081F-7B1C1C1BB2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D25809-A568-6FDF-24A3-413C6D35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26" y="1006381"/>
            <a:ext cx="5342147" cy="407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11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C8CB-CE12-97F5-F746-A29CE3B8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D5D82-A9EB-416C-69B4-B46E95B1ED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ED6D3B-EA87-9BFC-FA47-03E63BB26020}"/>
              </a:ext>
            </a:extLst>
          </p:cNvPr>
          <p:cNvGrpSpPr/>
          <p:nvPr/>
        </p:nvGrpSpPr>
        <p:grpSpPr>
          <a:xfrm>
            <a:off x="331161" y="1306460"/>
            <a:ext cx="5249150" cy="2837025"/>
            <a:chOff x="1196134" y="921232"/>
            <a:chExt cx="6751732" cy="38286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8CE5F3-9A9B-2710-9524-987212AF5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6134" y="921232"/>
              <a:ext cx="6751732" cy="382861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371FA8-6D53-42D6-7418-0DA241FCFB8C}"/>
                </a:ext>
              </a:extLst>
            </p:cNvPr>
            <p:cNvSpPr/>
            <p:nvPr/>
          </p:nvSpPr>
          <p:spPr>
            <a:xfrm>
              <a:off x="3365981" y="4013475"/>
              <a:ext cx="568410" cy="2421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EEAEACE-E8C5-F856-E427-B5911586B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659" y="1614815"/>
            <a:ext cx="2794117" cy="191387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23810AE-C532-ABFE-CDED-BC0255184BC2}"/>
              </a:ext>
            </a:extLst>
          </p:cNvPr>
          <p:cNvSpPr/>
          <p:nvPr/>
        </p:nvSpPr>
        <p:spPr>
          <a:xfrm>
            <a:off x="5580311" y="2497608"/>
            <a:ext cx="449787" cy="227365"/>
          </a:xfrm>
          <a:prstGeom prst="rightArrow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2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CEFC-257E-10D9-6F34-B24DC2D4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AEEC04-3292-B91A-A2BF-8326521F1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94212-3354-292D-65A5-F66AB6C8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26" y="1420100"/>
            <a:ext cx="4070558" cy="2095607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DAA8F6-C57F-728E-0557-B20CAA5FC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567" y="1784389"/>
            <a:ext cx="4030123" cy="1731318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00F85-8988-03EF-BD61-56B404E55397}"/>
              </a:ext>
            </a:extLst>
          </p:cNvPr>
          <p:cNvSpPr txBox="1"/>
          <p:nvPr/>
        </p:nvSpPr>
        <p:spPr>
          <a:xfrm>
            <a:off x="2805042" y="3671113"/>
            <a:ext cx="382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baseline="0" dirty="0">
                <a:latin typeface="Georgia" panose="02040502050405020303" pitchFamily="18" charset="0"/>
              </a:rPr>
              <a:t>Popular Dataset for Time-series GAN</a:t>
            </a:r>
          </a:p>
        </p:txBody>
      </p:sp>
    </p:spTree>
    <p:extLst>
      <p:ext uri="{BB962C8B-B14F-4D97-AF65-F5344CB8AC3E}">
        <p14:creationId xmlns:p14="http://schemas.microsoft.com/office/powerpoint/2010/main" val="146220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29DB-FB2E-9A17-0A97-BF34457D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F86FB-EDF0-9ECB-DD31-88154CF25C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0E0D5-CD1A-6522-6D2F-17CFD764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79" y="905828"/>
            <a:ext cx="6652438" cy="28498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983E5A-9A73-2037-7935-668398CC62C3}"/>
              </a:ext>
            </a:extLst>
          </p:cNvPr>
          <p:cNvSpPr txBox="1"/>
          <p:nvPr/>
        </p:nvSpPr>
        <p:spPr>
          <a:xfrm>
            <a:off x="954809" y="3755641"/>
            <a:ext cx="7465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RCGAN architecture with conditional input c, input data x and latent variable z</a:t>
            </a:r>
          </a:p>
          <a:p>
            <a:pPr algn="ctr"/>
            <a:r>
              <a:rPr lang="en-US" b="1" dirty="0">
                <a:latin typeface="Georgia" panose="02040502050405020303" pitchFamily="18" charset="0"/>
              </a:rPr>
              <a:t>(2017)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5EFE79-6DBF-ACEA-B486-1B3E5882E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858" y="2715545"/>
            <a:ext cx="3306769" cy="79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00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29DB-FB2E-9A17-0A97-BF34457D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GAN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F86FB-EDF0-9ECB-DD31-88154CF25C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0E0D5-CD1A-6522-6D2F-17CFD764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79" y="905828"/>
            <a:ext cx="6652438" cy="28498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983E5A-9A73-2037-7935-668398CC62C3}"/>
              </a:ext>
            </a:extLst>
          </p:cNvPr>
          <p:cNvSpPr txBox="1"/>
          <p:nvPr/>
        </p:nvSpPr>
        <p:spPr>
          <a:xfrm>
            <a:off x="954809" y="3755641"/>
            <a:ext cx="7465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RCGAN architecture with conditional input c, input data x and latent variable z</a:t>
            </a:r>
          </a:p>
          <a:p>
            <a:pPr algn="ctr"/>
            <a:r>
              <a:rPr lang="en-US" b="1" dirty="0">
                <a:latin typeface="Georgia" panose="02040502050405020303" pitchFamily="18" charset="0"/>
              </a:rPr>
              <a:t>(2017)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5EFE79-6DBF-ACEA-B486-1B3E5882E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858" y="2715545"/>
            <a:ext cx="3306769" cy="79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71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841D-3F47-E5AD-9996-D6D6C8A3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DFD46C-427A-F036-E44A-536A0E24C9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6943398"/>
      </p:ext>
    </p:extLst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351</Words>
  <Application>Microsoft Office PowerPoint</Application>
  <PresentationFormat>On-screen Show (16:9)</PresentationFormat>
  <Paragraphs>72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Lora</vt:lpstr>
      <vt:lpstr>Georgia</vt:lpstr>
      <vt:lpstr>Quattrocento Sans</vt:lpstr>
      <vt:lpstr>Viola template</vt:lpstr>
      <vt:lpstr>Generative Adversarial Network</vt:lpstr>
      <vt:lpstr>Generative Adversarial Networks</vt:lpstr>
      <vt:lpstr>Generative Adversarial Networks</vt:lpstr>
      <vt:lpstr>The discriminator</vt:lpstr>
      <vt:lpstr>The Generator</vt:lpstr>
      <vt:lpstr>Training GAN</vt:lpstr>
      <vt:lpstr>Vanilla GAN</vt:lpstr>
      <vt:lpstr>Vanilla GAN</vt:lpstr>
      <vt:lpstr>Vanilla GAN</vt:lpstr>
      <vt:lpstr>Deep convolution GAN</vt:lpstr>
      <vt:lpstr>Deep convolution GAN</vt:lpstr>
      <vt:lpstr>Deep convolution GAN</vt:lpstr>
      <vt:lpstr>Conditional GAN</vt:lpstr>
      <vt:lpstr>Conditional GAN</vt:lpstr>
      <vt:lpstr>Conditional GAN</vt:lpstr>
      <vt:lpstr>Wasserstein GAN</vt:lpstr>
      <vt:lpstr>Wasserstein GAN</vt:lpstr>
      <vt:lpstr>Time-Series GAN</vt:lpstr>
      <vt:lpstr>Time-Series GAN</vt:lpstr>
      <vt:lpstr>Time-Series GAN</vt:lpstr>
      <vt:lpstr>Time-Series GAN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PC</dc:creator>
  <cp:lastModifiedBy>Duc Bui H.</cp:lastModifiedBy>
  <cp:revision>124</cp:revision>
  <dcterms:modified xsi:type="dcterms:W3CDTF">2023-11-20T01:00:19Z</dcterms:modified>
</cp:coreProperties>
</file>