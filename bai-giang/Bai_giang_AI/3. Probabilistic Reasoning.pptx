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9"/>
  </p:notesMasterIdLst>
  <p:sldIdLst>
    <p:sldId id="256" r:id="rId2"/>
    <p:sldId id="314" r:id="rId3"/>
    <p:sldId id="315" r:id="rId4"/>
    <p:sldId id="296" r:id="rId5"/>
    <p:sldId id="297" r:id="rId6"/>
    <p:sldId id="298" r:id="rId7"/>
    <p:sldId id="300" r:id="rId8"/>
    <p:sldId id="299" r:id="rId9"/>
    <p:sldId id="301" r:id="rId10"/>
    <p:sldId id="302" r:id="rId11"/>
    <p:sldId id="303" r:id="rId12"/>
    <p:sldId id="304" r:id="rId13"/>
    <p:sldId id="305" r:id="rId14"/>
    <p:sldId id="306" r:id="rId15"/>
    <p:sldId id="307" r:id="rId16"/>
    <p:sldId id="308" r:id="rId17"/>
    <p:sldId id="309" r:id="rId18"/>
    <p:sldId id="310" r:id="rId19"/>
    <p:sldId id="330" r:id="rId20"/>
    <p:sldId id="311" r:id="rId21"/>
    <p:sldId id="312" r:id="rId22"/>
    <p:sldId id="313" r:id="rId23"/>
    <p:sldId id="316" r:id="rId24"/>
    <p:sldId id="317" r:id="rId25"/>
    <p:sldId id="319" r:id="rId26"/>
    <p:sldId id="322" r:id="rId27"/>
    <p:sldId id="318" r:id="rId28"/>
    <p:sldId id="321" r:id="rId29"/>
    <p:sldId id="323" r:id="rId30"/>
    <p:sldId id="324" r:id="rId31"/>
    <p:sldId id="326" r:id="rId32"/>
    <p:sldId id="327" r:id="rId33"/>
    <p:sldId id="325" r:id="rId34"/>
    <p:sldId id="328" r:id="rId35"/>
    <p:sldId id="329" r:id="rId36"/>
    <p:sldId id="331" r:id="rId37"/>
    <p:sldId id="332"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Cambria Math" panose="02040503050406030204" pitchFamily="18" charset="0"/>
      <p:regular r:id="rId44"/>
    </p:embeddedFont>
    <p:embeddedFont>
      <p:font typeface="Georgia" panose="02040502050405020303" pitchFamily="18" charset="0"/>
      <p:regular r:id="rId45"/>
      <p:bold r:id="rId46"/>
      <p:italic r:id="rId47"/>
      <p:boldItalic r:id="rId48"/>
    </p:embeddedFont>
    <p:embeddedFont>
      <p:font typeface="Lora" panose="020B0604020202020204" charset="0"/>
      <p:regular r:id="rId49"/>
      <p:bold r:id="rId50"/>
      <p:italic r:id="rId51"/>
      <p:boldItalic r:id="rId52"/>
    </p:embeddedFont>
    <p:embeddedFont>
      <p:font typeface="Quattrocento Sans" panose="020B060402020202020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836041E-B032-4468-B547-B3CB4120DE19}">
          <p14:sldIdLst>
            <p14:sldId id="256"/>
            <p14:sldId id="314"/>
            <p14:sldId id="315"/>
            <p14:sldId id="296"/>
            <p14:sldId id="297"/>
            <p14:sldId id="298"/>
            <p14:sldId id="300"/>
            <p14:sldId id="299"/>
            <p14:sldId id="301"/>
            <p14:sldId id="302"/>
            <p14:sldId id="303"/>
            <p14:sldId id="304"/>
            <p14:sldId id="305"/>
            <p14:sldId id="306"/>
            <p14:sldId id="307"/>
            <p14:sldId id="308"/>
            <p14:sldId id="309"/>
            <p14:sldId id="310"/>
            <p14:sldId id="330"/>
            <p14:sldId id="311"/>
            <p14:sldId id="312"/>
            <p14:sldId id="313"/>
            <p14:sldId id="316"/>
            <p14:sldId id="317"/>
            <p14:sldId id="319"/>
            <p14:sldId id="322"/>
            <p14:sldId id="318"/>
            <p14:sldId id="321"/>
            <p14:sldId id="323"/>
            <p14:sldId id="324"/>
            <p14:sldId id="326"/>
            <p14:sldId id="327"/>
            <p14:sldId id="325"/>
            <p14:sldId id="328"/>
            <p14:sldId id="329"/>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5B2040-0373-4AB5-8C16-54180E59C3D7}">
  <a:tblStyle styleId="{DA5B2040-0373-4AB5-8C16-54180E59C3D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D83C8C0-4F54-423C-8FE9-BE38F65F230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894" autoAdjust="0"/>
  </p:normalViewPr>
  <p:slideViewPr>
    <p:cSldViewPr snapToGrid="0">
      <p:cViewPr varScale="1">
        <p:scale>
          <a:sx n="121" d="100"/>
          <a:sy n="121" d="100"/>
        </p:scale>
        <p:origin x="771"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1389390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414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4271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6630" y="2003888"/>
            <a:ext cx="4523700" cy="1159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cxnSp>
        <p:nvCxnSpPr>
          <p:cNvPr id="11" name="Google Shape;11;p2"/>
          <p:cNvCxnSpPr/>
          <p:nvPr/>
        </p:nvCxnSpPr>
        <p:spPr>
          <a:xfrm>
            <a:off x="-6025" y="3676512"/>
            <a:ext cx="9162000" cy="0"/>
          </a:xfrm>
          <a:prstGeom prst="straightConnector1">
            <a:avLst/>
          </a:prstGeom>
          <a:noFill/>
          <a:ln w="9525" cap="flat" cmpd="sng">
            <a:solidFill>
              <a:srgbClr val="000000"/>
            </a:solidFill>
            <a:prstDash val="solid"/>
            <a:round/>
            <a:headEnd type="none" w="med" len="med"/>
            <a:tailEnd type="none" w="med" len="med"/>
          </a:ln>
        </p:spPr>
      </p:cxnSp>
      <p:sp>
        <p:nvSpPr>
          <p:cNvPr id="12" name="Google Shape;12;p2"/>
          <p:cNvSpPr/>
          <p:nvPr/>
        </p:nvSpPr>
        <p:spPr>
          <a:xfrm>
            <a:off x="1117950" y="3393000"/>
            <a:ext cx="567000" cy="567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381250" y="470228"/>
            <a:ext cx="3878400" cy="435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cxnSp>
        <p:nvCxnSpPr>
          <p:cNvPr id="52" name="Google Shape;52;p8"/>
          <p:cNvCxnSpPr/>
          <p:nvPr/>
        </p:nvCxnSpPr>
        <p:spPr>
          <a:xfrm>
            <a:off x="0" y="705841"/>
            <a:ext cx="1375800" cy="0"/>
          </a:xfrm>
          <a:prstGeom prst="straightConnector1">
            <a:avLst/>
          </a:prstGeom>
          <a:noFill/>
          <a:ln w="9525" cap="flat" cmpd="sng">
            <a:solidFill>
              <a:srgbClr val="CCCCCC"/>
            </a:solidFill>
            <a:prstDash val="solid"/>
            <a:round/>
            <a:headEnd type="none" w="med" len="med"/>
            <a:tailEnd type="none" w="med" len="med"/>
          </a:ln>
        </p:spPr>
      </p:cxnSp>
      <p:sp>
        <p:nvSpPr>
          <p:cNvPr id="53" name="Google Shape;53;p8"/>
          <p:cNvSpPr/>
          <p:nvPr/>
        </p:nvSpPr>
        <p:spPr>
          <a:xfrm>
            <a:off x="817475" y="502883"/>
            <a:ext cx="405900" cy="405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 name="Google Shape;54;p8"/>
          <p:cNvCxnSpPr/>
          <p:nvPr/>
        </p:nvCxnSpPr>
        <p:spPr>
          <a:xfrm>
            <a:off x="5265650" y="705841"/>
            <a:ext cx="3878400" cy="0"/>
          </a:xfrm>
          <a:prstGeom prst="straightConnector1">
            <a:avLst/>
          </a:prstGeom>
          <a:noFill/>
          <a:ln w="9525" cap="flat" cmpd="sng">
            <a:solidFill>
              <a:srgbClr val="CCCCCC"/>
            </a:solidFill>
            <a:prstDash val="solid"/>
            <a:round/>
            <a:headEnd type="none" w="med" len="med"/>
            <a:tailEnd type="none" w="med" len="med"/>
          </a:ln>
        </p:spPr>
      </p:cxnSp>
      <p:sp>
        <p:nvSpPr>
          <p:cNvPr id="55" name="Google Shape;55;p8"/>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1381250" y="1616470"/>
            <a:ext cx="6809700" cy="31122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Quattrocento Sans"/>
              <a:buChar char="◉"/>
              <a:defRPr sz="2400">
                <a:solidFill>
                  <a:schemeClr val="dk1"/>
                </a:solidFill>
                <a:latin typeface="Quattrocento Sans"/>
                <a:ea typeface="Quattrocento Sans"/>
                <a:cs typeface="Quattrocento Sans"/>
                <a:sym typeface="Quattrocento Sans"/>
              </a:defRPr>
            </a:lvl1pPr>
            <a:lvl2pPr marL="914400" lvl="1" indent="-355600">
              <a:spcBef>
                <a:spcPts val="0"/>
              </a:spcBef>
              <a:spcAft>
                <a:spcPts val="0"/>
              </a:spcAft>
              <a:buClr>
                <a:schemeClr val="accent1"/>
              </a:buClr>
              <a:buSzPts val="2000"/>
              <a:buFont typeface="Quattrocento Sans"/>
              <a:buChar char="○"/>
              <a:defRPr sz="2000">
                <a:solidFill>
                  <a:schemeClr val="dk1"/>
                </a:solidFill>
                <a:latin typeface="Quattrocento Sans"/>
                <a:ea typeface="Quattrocento Sans"/>
                <a:cs typeface="Quattrocento Sans"/>
                <a:sym typeface="Quattrocento Sans"/>
              </a:defRPr>
            </a:lvl2pPr>
            <a:lvl3pPr marL="1371600" lvl="2" indent="-355600">
              <a:spcBef>
                <a:spcPts val="0"/>
              </a:spcBef>
              <a:spcAft>
                <a:spcPts val="0"/>
              </a:spcAft>
              <a:buClr>
                <a:schemeClr val="accent1"/>
              </a:buClr>
              <a:buSzPts val="2000"/>
              <a:buFont typeface="Quattrocento Sans"/>
              <a:buChar char="■"/>
              <a:defRPr sz="2000">
                <a:solidFill>
                  <a:schemeClr val="dk1"/>
                </a:solidFill>
                <a:latin typeface="Quattrocento Sans"/>
                <a:ea typeface="Quattrocento Sans"/>
                <a:cs typeface="Quattrocento Sans"/>
                <a:sym typeface="Quattrocento Sans"/>
              </a:defRPr>
            </a:lvl3pPr>
            <a:lvl4pPr marL="1828800" lvl="3" indent="-342900">
              <a:spcBef>
                <a:spcPts val="0"/>
              </a:spcBef>
              <a:spcAft>
                <a:spcPts val="0"/>
              </a:spcAft>
              <a:buClr>
                <a:schemeClr val="accent1"/>
              </a:buClr>
              <a:buSzPts val="1800"/>
              <a:buFont typeface="Quattrocento Sans"/>
              <a:buChar char="●"/>
              <a:defRPr sz="1800">
                <a:solidFill>
                  <a:schemeClr val="dk1"/>
                </a:solidFill>
                <a:latin typeface="Quattrocento Sans"/>
                <a:ea typeface="Quattrocento Sans"/>
                <a:cs typeface="Quattrocento Sans"/>
                <a:sym typeface="Quattrocento Sans"/>
              </a:defRPr>
            </a:lvl4pPr>
            <a:lvl5pPr marL="2286000" lvl="4" indent="-342900">
              <a:spcBef>
                <a:spcPts val="0"/>
              </a:spcBef>
              <a:spcAft>
                <a:spcPts val="0"/>
              </a:spcAft>
              <a:buClr>
                <a:schemeClr val="dk1"/>
              </a:buClr>
              <a:buSzPts val="1800"/>
              <a:buFont typeface="Quattrocento Sans"/>
              <a:buChar char="○"/>
              <a:defRPr sz="1800">
                <a:solidFill>
                  <a:schemeClr val="dk1"/>
                </a:solidFill>
                <a:latin typeface="Quattrocento Sans"/>
                <a:ea typeface="Quattrocento Sans"/>
                <a:cs typeface="Quattrocento Sans"/>
                <a:sym typeface="Quattrocento Sans"/>
              </a:defRPr>
            </a:lvl5pPr>
            <a:lvl6pPr marL="2743200" lvl="5" indent="-342900">
              <a:spcBef>
                <a:spcPts val="0"/>
              </a:spcBef>
              <a:spcAft>
                <a:spcPts val="0"/>
              </a:spcAft>
              <a:buClr>
                <a:schemeClr val="dk1"/>
              </a:buClr>
              <a:buSzPts val="1800"/>
              <a:buFont typeface="Quattrocento Sans"/>
              <a:buChar char="■"/>
              <a:defRPr sz="1800">
                <a:solidFill>
                  <a:schemeClr val="dk1"/>
                </a:solidFill>
                <a:latin typeface="Quattrocento Sans"/>
                <a:ea typeface="Quattrocento Sans"/>
                <a:cs typeface="Quattrocento Sans"/>
                <a:sym typeface="Quattrocento Sans"/>
              </a:defRPr>
            </a:lvl6pPr>
            <a:lvl7pPr marL="3200400" lvl="6" indent="-342900">
              <a:spcBef>
                <a:spcPts val="0"/>
              </a:spcBef>
              <a:spcAft>
                <a:spcPts val="0"/>
              </a:spcAft>
              <a:buClr>
                <a:schemeClr val="dk1"/>
              </a:buClr>
              <a:buSzPts val="1800"/>
              <a:buFont typeface="Quattrocento Sans"/>
              <a:buChar char="●"/>
              <a:defRPr sz="1800">
                <a:solidFill>
                  <a:schemeClr val="dk1"/>
                </a:solidFill>
                <a:latin typeface="Quattrocento Sans"/>
                <a:ea typeface="Quattrocento Sans"/>
                <a:cs typeface="Quattrocento Sans"/>
                <a:sym typeface="Quattrocento Sans"/>
              </a:defRPr>
            </a:lvl7pPr>
            <a:lvl8pPr marL="3657600" lvl="7" indent="-342900">
              <a:spcBef>
                <a:spcPts val="0"/>
              </a:spcBef>
              <a:spcAft>
                <a:spcPts val="0"/>
              </a:spcAft>
              <a:buClr>
                <a:schemeClr val="dk1"/>
              </a:buClr>
              <a:buSzPts val="1800"/>
              <a:buFont typeface="Quattrocento Sans"/>
              <a:buChar char="○"/>
              <a:defRPr sz="1800">
                <a:solidFill>
                  <a:schemeClr val="dk1"/>
                </a:solidFill>
                <a:latin typeface="Quattrocento Sans"/>
                <a:ea typeface="Quattrocento Sans"/>
                <a:cs typeface="Quattrocento Sans"/>
                <a:sym typeface="Quattrocento Sans"/>
              </a:defRPr>
            </a:lvl8pPr>
            <a:lvl9pPr marL="4114800" lvl="8" indent="-342900">
              <a:spcBef>
                <a:spcPts val="0"/>
              </a:spcBef>
              <a:spcAft>
                <a:spcPts val="0"/>
              </a:spcAft>
              <a:buClr>
                <a:schemeClr val="dk1"/>
              </a:buClr>
              <a:buSzPts val="1800"/>
              <a:buFont typeface="Quattrocento Sans"/>
              <a:buChar char="■"/>
              <a:defRPr sz="1800">
                <a:solidFill>
                  <a:schemeClr val="dk1"/>
                </a:solidFill>
                <a:latin typeface="Quattrocento Sans"/>
                <a:ea typeface="Quattrocento Sans"/>
                <a:cs typeface="Quattrocento Sans"/>
                <a:sym typeface="Quattrocento Sans"/>
              </a:defRPr>
            </a:lvl9pPr>
          </a:lstStyle>
          <a:p>
            <a:endParaRPr/>
          </a:p>
        </p:txBody>
      </p:sp>
      <p:sp>
        <p:nvSpPr>
          <p:cNvPr id="7" name="Google Shape;7;p1"/>
          <p:cNvSpPr txBox="1">
            <a:spLocks noGrp="1"/>
          </p:cNvSpPr>
          <p:nvPr>
            <p:ph type="title"/>
          </p:nvPr>
        </p:nvSpPr>
        <p:spPr>
          <a:xfrm>
            <a:off x="1381250" y="896549"/>
            <a:ext cx="6809700" cy="435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000"/>
              <a:buFont typeface="Lora"/>
              <a:buNone/>
              <a:defRPr sz="2000" b="1">
                <a:solidFill>
                  <a:schemeClr val="dk1"/>
                </a:solidFill>
                <a:latin typeface="Lora"/>
                <a:ea typeface="Lora"/>
                <a:cs typeface="Lora"/>
                <a:sym typeface="Lora"/>
              </a:defRPr>
            </a:lvl1pPr>
            <a:lvl2pPr lvl="1">
              <a:spcBef>
                <a:spcPts val="0"/>
              </a:spcBef>
              <a:spcAft>
                <a:spcPts val="0"/>
              </a:spcAft>
              <a:buClr>
                <a:schemeClr val="dk1"/>
              </a:buClr>
              <a:buSzPts val="2000"/>
              <a:buFont typeface="Lora"/>
              <a:buNone/>
              <a:defRPr sz="2000" b="1">
                <a:solidFill>
                  <a:schemeClr val="dk1"/>
                </a:solidFill>
                <a:latin typeface="Lora"/>
                <a:ea typeface="Lora"/>
                <a:cs typeface="Lora"/>
                <a:sym typeface="Lora"/>
              </a:defRPr>
            </a:lvl2pPr>
            <a:lvl3pPr lvl="2">
              <a:spcBef>
                <a:spcPts val="0"/>
              </a:spcBef>
              <a:spcAft>
                <a:spcPts val="0"/>
              </a:spcAft>
              <a:buClr>
                <a:schemeClr val="dk1"/>
              </a:buClr>
              <a:buSzPts val="2000"/>
              <a:buFont typeface="Lora"/>
              <a:buNone/>
              <a:defRPr sz="2000" b="1">
                <a:solidFill>
                  <a:schemeClr val="dk1"/>
                </a:solidFill>
                <a:latin typeface="Lora"/>
                <a:ea typeface="Lora"/>
                <a:cs typeface="Lora"/>
                <a:sym typeface="Lora"/>
              </a:defRPr>
            </a:lvl3pPr>
            <a:lvl4pPr lvl="3">
              <a:spcBef>
                <a:spcPts val="0"/>
              </a:spcBef>
              <a:spcAft>
                <a:spcPts val="0"/>
              </a:spcAft>
              <a:buClr>
                <a:schemeClr val="dk1"/>
              </a:buClr>
              <a:buSzPts val="2000"/>
              <a:buFont typeface="Lora"/>
              <a:buNone/>
              <a:defRPr sz="2000" b="1">
                <a:solidFill>
                  <a:schemeClr val="dk1"/>
                </a:solidFill>
                <a:latin typeface="Lora"/>
                <a:ea typeface="Lora"/>
                <a:cs typeface="Lora"/>
                <a:sym typeface="Lora"/>
              </a:defRPr>
            </a:lvl4pPr>
            <a:lvl5pPr lvl="4">
              <a:spcBef>
                <a:spcPts val="0"/>
              </a:spcBef>
              <a:spcAft>
                <a:spcPts val="0"/>
              </a:spcAft>
              <a:buClr>
                <a:schemeClr val="dk1"/>
              </a:buClr>
              <a:buSzPts val="2000"/>
              <a:buFont typeface="Lora"/>
              <a:buNone/>
              <a:defRPr sz="2000" b="1">
                <a:solidFill>
                  <a:schemeClr val="dk1"/>
                </a:solidFill>
                <a:latin typeface="Lora"/>
                <a:ea typeface="Lora"/>
                <a:cs typeface="Lora"/>
                <a:sym typeface="Lora"/>
              </a:defRPr>
            </a:lvl5pPr>
            <a:lvl6pPr lvl="5">
              <a:spcBef>
                <a:spcPts val="0"/>
              </a:spcBef>
              <a:spcAft>
                <a:spcPts val="0"/>
              </a:spcAft>
              <a:buClr>
                <a:schemeClr val="dk1"/>
              </a:buClr>
              <a:buSzPts val="2000"/>
              <a:buFont typeface="Lora"/>
              <a:buNone/>
              <a:defRPr sz="2000" b="1">
                <a:solidFill>
                  <a:schemeClr val="dk1"/>
                </a:solidFill>
                <a:latin typeface="Lora"/>
                <a:ea typeface="Lora"/>
                <a:cs typeface="Lora"/>
                <a:sym typeface="Lora"/>
              </a:defRPr>
            </a:lvl6pPr>
            <a:lvl7pPr lvl="6">
              <a:spcBef>
                <a:spcPts val="0"/>
              </a:spcBef>
              <a:spcAft>
                <a:spcPts val="0"/>
              </a:spcAft>
              <a:buClr>
                <a:schemeClr val="dk1"/>
              </a:buClr>
              <a:buSzPts val="2000"/>
              <a:buFont typeface="Lora"/>
              <a:buNone/>
              <a:defRPr sz="2000" b="1">
                <a:solidFill>
                  <a:schemeClr val="dk1"/>
                </a:solidFill>
                <a:latin typeface="Lora"/>
                <a:ea typeface="Lora"/>
                <a:cs typeface="Lora"/>
                <a:sym typeface="Lora"/>
              </a:defRPr>
            </a:lvl7pPr>
            <a:lvl8pPr lvl="7">
              <a:spcBef>
                <a:spcPts val="0"/>
              </a:spcBef>
              <a:spcAft>
                <a:spcPts val="0"/>
              </a:spcAft>
              <a:buClr>
                <a:schemeClr val="dk1"/>
              </a:buClr>
              <a:buSzPts val="2000"/>
              <a:buFont typeface="Lora"/>
              <a:buNone/>
              <a:defRPr sz="2000" b="1">
                <a:solidFill>
                  <a:schemeClr val="dk1"/>
                </a:solidFill>
                <a:latin typeface="Lora"/>
                <a:ea typeface="Lora"/>
                <a:cs typeface="Lora"/>
                <a:sym typeface="Lora"/>
              </a:defRPr>
            </a:lvl8pPr>
            <a:lvl9pPr lvl="8">
              <a:spcBef>
                <a:spcPts val="0"/>
              </a:spcBef>
              <a:spcAft>
                <a:spcPts val="0"/>
              </a:spcAft>
              <a:buClr>
                <a:schemeClr val="dk1"/>
              </a:buClr>
              <a:buSzPts val="2000"/>
              <a:buFont typeface="Lora"/>
              <a:buNone/>
              <a:defRPr sz="2000" b="1">
                <a:solidFill>
                  <a:schemeClr val="dk1"/>
                </a:solidFill>
                <a:latin typeface="Lora"/>
                <a:ea typeface="Lora"/>
                <a:cs typeface="Lora"/>
                <a:sym typeface="Lora"/>
              </a:defRPr>
            </a:lvl9pPr>
          </a:lstStyle>
          <a:p>
            <a:endParaRPr/>
          </a:p>
        </p:txBody>
      </p:sp>
      <p:sp>
        <p:nvSpPr>
          <p:cNvPr id="8" name="Google Shape;8;p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lvl1pPr lvl="0" algn="r">
              <a:buNone/>
              <a:defRPr sz="1000">
                <a:solidFill>
                  <a:srgbClr val="1D1D1B"/>
                </a:solidFill>
                <a:latin typeface="Lora"/>
                <a:ea typeface="Lora"/>
                <a:cs typeface="Lora"/>
                <a:sym typeface="Lora"/>
              </a:defRPr>
            </a:lvl1pPr>
            <a:lvl2pPr lvl="1" algn="r">
              <a:buNone/>
              <a:defRPr sz="1000">
                <a:solidFill>
                  <a:srgbClr val="1D1D1B"/>
                </a:solidFill>
                <a:latin typeface="Lora"/>
                <a:ea typeface="Lora"/>
                <a:cs typeface="Lora"/>
                <a:sym typeface="Lora"/>
              </a:defRPr>
            </a:lvl2pPr>
            <a:lvl3pPr lvl="2" algn="r">
              <a:buNone/>
              <a:defRPr sz="1000">
                <a:solidFill>
                  <a:srgbClr val="1D1D1B"/>
                </a:solidFill>
                <a:latin typeface="Lora"/>
                <a:ea typeface="Lora"/>
                <a:cs typeface="Lora"/>
                <a:sym typeface="Lora"/>
              </a:defRPr>
            </a:lvl3pPr>
            <a:lvl4pPr lvl="3" algn="r">
              <a:buNone/>
              <a:defRPr sz="1000">
                <a:solidFill>
                  <a:srgbClr val="1D1D1B"/>
                </a:solidFill>
                <a:latin typeface="Lora"/>
                <a:ea typeface="Lora"/>
                <a:cs typeface="Lora"/>
                <a:sym typeface="Lora"/>
              </a:defRPr>
            </a:lvl4pPr>
            <a:lvl5pPr lvl="4" algn="r">
              <a:buNone/>
              <a:defRPr sz="1000">
                <a:solidFill>
                  <a:srgbClr val="1D1D1B"/>
                </a:solidFill>
                <a:latin typeface="Lora"/>
                <a:ea typeface="Lora"/>
                <a:cs typeface="Lora"/>
                <a:sym typeface="Lora"/>
              </a:defRPr>
            </a:lvl5pPr>
            <a:lvl6pPr lvl="5" algn="r">
              <a:buNone/>
              <a:defRPr sz="1000">
                <a:solidFill>
                  <a:srgbClr val="1D1D1B"/>
                </a:solidFill>
                <a:latin typeface="Lora"/>
                <a:ea typeface="Lora"/>
                <a:cs typeface="Lora"/>
                <a:sym typeface="Lora"/>
              </a:defRPr>
            </a:lvl6pPr>
            <a:lvl7pPr lvl="6" algn="r">
              <a:buNone/>
              <a:defRPr sz="1000">
                <a:solidFill>
                  <a:srgbClr val="1D1D1B"/>
                </a:solidFill>
                <a:latin typeface="Lora"/>
                <a:ea typeface="Lora"/>
                <a:cs typeface="Lora"/>
                <a:sym typeface="Lora"/>
              </a:defRPr>
            </a:lvl7pPr>
            <a:lvl8pPr lvl="7" algn="r">
              <a:buNone/>
              <a:defRPr sz="1000">
                <a:solidFill>
                  <a:srgbClr val="1D1D1B"/>
                </a:solidFill>
                <a:latin typeface="Lora"/>
                <a:ea typeface="Lora"/>
                <a:cs typeface="Lora"/>
                <a:sym typeface="Lora"/>
              </a:defRPr>
            </a:lvl8pPr>
            <a:lvl9pPr lvl="8" algn="r">
              <a:buNone/>
              <a:defRPr sz="1000">
                <a:solidFill>
                  <a:srgbClr val="1D1D1B"/>
                </a:solidFill>
                <a:latin typeface="Lora"/>
                <a:ea typeface="Lora"/>
                <a:cs typeface="Lora"/>
                <a:sym typeface="Lor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O2L2Uv9pdDA" TargetMode="External"/><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2"/>
          <p:cNvSpPr txBox="1">
            <a:spLocks noGrp="1"/>
          </p:cNvSpPr>
          <p:nvPr>
            <p:ph type="ctrTitle"/>
          </p:nvPr>
        </p:nvSpPr>
        <p:spPr>
          <a:xfrm>
            <a:off x="996630" y="2007698"/>
            <a:ext cx="558504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3</a:t>
            </a:r>
            <a:r>
              <a:rPr lang="en"/>
              <a:t>. </a:t>
            </a:r>
            <a:r>
              <a:rPr lang="en" dirty="0"/>
              <a:t>Probabilistic Reasoning</a:t>
            </a:r>
            <a:endParaRPr dirty="0"/>
          </a:p>
        </p:txBody>
      </p:sp>
      <p:sp>
        <p:nvSpPr>
          <p:cNvPr id="2" name="Rectangle 1">
            <a:extLst>
              <a:ext uri="{FF2B5EF4-FFF2-40B4-BE49-F238E27FC236}">
                <a16:creationId xmlns:a16="http://schemas.microsoft.com/office/drawing/2014/main" id="{6904CC9D-0593-F680-AC87-921FD464BE28}"/>
              </a:ext>
            </a:extLst>
          </p:cNvPr>
          <p:cNvSpPr/>
          <p:nvPr/>
        </p:nvSpPr>
        <p:spPr>
          <a:xfrm>
            <a:off x="889279" y="616328"/>
            <a:ext cx="6742444" cy="12761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oogle Shape;72;p12"/>
          <p:cNvGrpSpPr/>
          <p:nvPr/>
        </p:nvGrpSpPr>
        <p:grpSpPr>
          <a:xfrm>
            <a:off x="1299165" y="3511424"/>
            <a:ext cx="215966" cy="342399"/>
            <a:chOff x="6718575" y="2318625"/>
            <a:chExt cx="256950" cy="407375"/>
          </a:xfrm>
        </p:grpSpPr>
        <p:sp>
          <p:nvSpPr>
            <p:cNvPr id="73" name="Google Shape;73;p12"/>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2"/>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2"/>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2"/>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2"/>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2"/>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2"/>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2"/>
            <p:cNvSpPr/>
            <p:nvPr/>
          </p:nvSpPr>
          <p:spPr>
            <a:xfrm>
              <a:off x="6795900" y="2628550"/>
              <a:ext cx="102300" cy="25"/>
            </a:xfrm>
            <a:custGeom>
              <a:avLst/>
              <a:gdLst/>
              <a:ahLst/>
              <a:cxnLst/>
              <a:rect l="l" t="t" r="r" b="b"/>
              <a:pathLst>
                <a:path w="4092" h="1" fill="none" extrusionOk="0">
                  <a:moveTo>
                    <a:pt x="0" y="1"/>
                  </a:moveTo>
                  <a:lnTo>
                    <a:pt x="4092"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71;p12"/>
          <p:cNvSpPr txBox="1">
            <a:spLocks/>
          </p:cNvSpPr>
          <p:nvPr/>
        </p:nvSpPr>
        <p:spPr>
          <a:xfrm>
            <a:off x="996630" y="1227804"/>
            <a:ext cx="5449388" cy="6646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1pPr>
            <a:lvl2pPr marR="0" lvl="1"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2pPr>
            <a:lvl3pPr marR="0" lvl="2"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3pPr>
            <a:lvl4pPr marR="0" lvl="3"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4pPr>
            <a:lvl5pPr marR="0" lvl="4"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5pPr>
            <a:lvl6pPr marR="0" lvl="5"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6pPr>
            <a:lvl7pPr marR="0" lvl="6"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7pPr>
            <a:lvl8pPr marR="0" lvl="7"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8pPr>
            <a:lvl9pPr marR="0" lvl="8" algn="l" rtl="0">
              <a:lnSpc>
                <a:spcPct val="100000"/>
              </a:lnSpc>
              <a:spcBef>
                <a:spcPts val="0"/>
              </a:spcBef>
              <a:spcAft>
                <a:spcPts val="0"/>
              </a:spcAft>
              <a:buClr>
                <a:schemeClr val="dk1"/>
              </a:buClr>
              <a:buSzPts val="3600"/>
              <a:buFont typeface="Lora"/>
              <a:buNone/>
              <a:defRPr sz="3600" b="1" i="0" u="none" strike="noStrike" cap="none">
                <a:solidFill>
                  <a:schemeClr val="dk1"/>
                </a:solidFill>
                <a:latin typeface="Lora"/>
                <a:ea typeface="Lora"/>
                <a:cs typeface="Lora"/>
                <a:sym typeface="Lora"/>
              </a:defRPr>
            </a:lvl9pPr>
          </a:lstStyle>
          <a:p>
            <a:r>
              <a:rPr lang="en-GB" dirty="0">
                <a:solidFill>
                  <a:schemeClr val="tx1"/>
                </a:solidFill>
              </a:rPr>
              <a:t>Introduction to Artificial Intelligent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09E7-92A9-B80C-6B0B-7003B11B4052}"/>
              </a:ext>
            </a:extLst>
          </p:cNvPr>
          <p:cNvSpPr>
            <a:spLocks noGrp="1"/>
          </p:cNvSpPr>
          <p:nvPr>
            <p:ph type="title"/>
          </p:nvPr>
        </p:nvSpPr>
        <p:spPr/>
        <p:txBody>
          <a:bodyPr/>
          <a:lstStyle/>
          <a:p>
            <a:r>
              <a:rPr lang="en-US" sz="2400" dirty="0"/>
              <a:t>Probabilistic Reasoning</a:t>
            </a:r>
          </a:p>
        </p:txBody>
      </p:sp>
      <p:sp>
        <p:nvSpPr>
          <p:cNvPr id="3" name="Slide Number Placeholder 2">
            <a:extLst>
              <a:ext uri="{FF2B5EF4-FFF2-40B4-BE49-F238E27FC236}">
                <a16:creationId xmlns:a16="http://schemas.microsoft.com/office/drawing/2014/main" id="{08F933A4-1F6C-99BE-3C60-0CFC8A8974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4" name="TextBox 3">
            <a:extLst>
              <a:ext uri="{FF2B5EF4-FFF2-40B4-BE49-F238E27FC236}">
                <a16:creationId xmlns:a16="http://schemas.microsoft.com/office/drawing/2014/main" id="{C33CADD7-A800-4BA4-8578-573B004EFD0B}"/>
              </a:ext>
            </a:extLst>
          </p:cNvPr>
          <p:cNvSpPr txBox="1"/>
          <p:nvPr/>
        </p:nvSpPr>
        <p:spPr>
          <a:xfrm>
            <a:off x="908712" y="1118088"/>
            <a:ext cx="7634515" cy="332398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Real world is filled with uncertainty and ambiguity</a:t>
            </a:r>
          </a:p>
          <a:p>
            <a:pPr>
              <a:spcBef>
                <a:spcPts val="600"/>
              </a:spcBef>
              <a:spcAft>
                <a:spcPts val="600"/>
              </a:spcAft>
            </a:pPr>
            <a:r>
              <a:rPr lang="en-US" sz="2000" dirty="0">
                <a:latin typeface="Georgia" panose="02040502050405020303" pitchFamily="18" charset="0"/>
              </a:rPr>
              <a:t>       -  unreliable source of information</a:t>
            </a:r>
          </a:p>
          <a:p>
            <a:pPr>
              <a:spcBef>
                <a:spcPts val="600"/>
              </a:spcBef>
              <a:spcAft>
                <a:spcPts val="600"/>
              </a:spcAft>
            </a:pPr>
            <a:r>
              <a:rPr lang="en-US" sz="2000" dirty="0">
                <a:latin typeface="Georgia" panose="02040502050405020303" pitchFamily="18" charset="0"/>
              </a:rPr>
              <a:t>       -  equipment faults/errors</a:t>
            </a:r>
          </a:p>
          <a:p>
            <a:pPr>
              <a:spcBef>
                <a:spcPts val="600"/>
              </a:spcBef>
              <a:spcAft>
                <a:spcPts val="600"/>
              </a:spcAft>
            </a:pPr>
            <a:r>
              <a:rPr lang="en-US" sz="2000" dirty="0">
                <a:latin typeface="Georgia" panose="02040502050405020303" pitchFamily="18" charset="0"/>
              </a:rPr>
              <a:t>       -  temperature variation …	</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Probabilistic reasoning is making decisions based on probabilities and likelihoods rather than absolute facts.</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Probabilistic reasoning provides a mathematical framework for dealing with uncertainty and making rational decisions</a:t>
            </a:r>
          </a:p>
        </p:txBody>
      </p:sp>
    </p:spTree>
    <p:extLst>
      <p:ext uri="{BB962C8B-B14F-4D97-AF65-F5344CB8AC3E}">
        <p14:creationId xmlns:p14="http://schemas.microsoft.com/office/powerpoint/2010/main" val="350393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1290-9A1C-D285-6BC8-CABD1D17CC2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CF96D604-4B07-79BF-3EA1-569B116A5A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4" name="Rectangle 3">
            <a:extLst>
              <a:ext uri="{FF2B5EF4-FFF2-40B4-BE49-F238E27FC236}">
                <a16:creationId xmlns:a16="http://schemas.microsoft.com/office/drawing/2014/main" id="{8CB1D6DC-014A-A134-D682-318A8795BB99}"/>
              </a:ext>
            </a:extLst>
          </p:cNvPr>
          <p:cNvSpPr/>
          <p:nvPr/>
        </p:nvSpPr>
        <p:spPr>
          <a:xfrm>
            <a:off x="978708" y="2110085"/>
            <a:ext cx="7186584"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Review of Probability</a:t>
            </a:r>
          </a:p>
        </p:txBody>
      </p:sp>
    </p:spTree>
    <p:extLst>
      <p:ext uri="{BB962C8B-B14F-4D97-AF65-F5344CB8AC3E}">
        <p14:creationId xmlns:p14="http://schemas.microsoft.com/office/powerpoint/2010/main" val="66072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sz="2400" dirty="0"/>
              <a:t>Review of Probability</a:t>
            </a:r>
            <a:endParaRPr lang="en-GB"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2" name="TextBox 1">
            <a:extLst>
              <a:ext uri="{FF2B5EF4-FFF2-40B4-BE49-F238E27FC236}">
                <a16:creationId xmlns:a16="http://schemas.microsoft.com/office/drawing/2014/main" id="{76321203-35DA-4F34-B086-D54E99D49B93}"/>
              </a:ext>
            </a:extLst>
          </p:cNvPr>
          <p:cNvSpPr txBox="1"/>
          <p:nvPr/>
        </p:nvSpPr>
        <p:spPr>
          <a:xfrm>
            <a:off x="908712" y="1118088"/>
            <a:ext cx="7634515" cy="3093154"/>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Random variable</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Joint and Marginal Distributions</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Conditional distribution</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Product Rule, chain rule, Bayes’ Rule</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Inference</a:t>
            </a:r>
          </a:p>
          <a:p>
            <a:pPr marL="342900" indent="-342900">
              <a:spcBef>
                <a:spcPts val="600"/>
              </a:spcBef>
              <a:spcAft>
                <a:spcPts val="600"/>
              </a:spcAft>
              <a:buFont typeface="Arial" panose="020B0604020202020204" pitchFamily="34" charset="0"/>
              <a:buChar char="•"/>
            </a:pPr>
            <a:r>
              <a:rPr lang="en-US" sz="2000" dirty="0">
                <a:latin typeface="Georgia" panose="02040502050405020303" pitchFamily="18" charset="0"/>
              </a:rPr>
              <a:t>Independence</a:t>
            </a:r>
          </a:p>
          <a:p>
            <a:pPr marL="342900" indent="-342900">
              <a:buFont typeface="Arial" panose="020B0604020202020204" pitchFamily="34" charset="0"/>
              <a:buChar char="•"/>
            </a:pPr>
            <a:endParaRPr lang="en-US" sz="2000" dirty="0">
              <a:latin typeface="Georgia" panose="02040502050405020303" pitchFamily="18" charset="0"/>
            </a:endParaRPr>
          </a:p>
        </p:txBody>
      </p:sp>
    </p:spTree>
    <p:extLst>
      <p:ext uri="{BB962C8B-B14F-4D97-AF65-F5344CB8AC3E}">
        <p14:creationId xmlns:p14="http://schemas.microsoft.com/office/powerpoint/2010/main" val="2152634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0F5BA-49A7-2552-294D-5EBD1FB7DD31}"/>
              </a:ext>
            </a:extLst>
          </p:cNvPr>
          <p:cNvSpPr>
            <a:spLocks noGrp="1"/>
          </p:cNvSpPr>
          <p:nvPr>
            <p:ph type="title"/>
          </p:nvPr>
        </p:nvSpPr>
        <p:spPr/>
        <p:txBody>
          <a:bodyPr/>
          <a:lstStyle/>
          <a:p>
            <a:r>
              <a:rPr lang="en-GB" sz="2400" dirty="0"/>
              <a:t>Review of Probability</a:t>
            </a:r>
            <a:endParaRPr lang="en-US" sz="2400" dirty="0"/>
          </a:p>
        </p:txBody>
      </p:sp>
      <p:sp>
        <p:nvSpPr>
          <p:cNvPr id="3" name="Slide Number Placeholder 2">
            <a:extLst>
              <a:ext uri="{FF2B5EF4-FFF2-40B4-BE49-F238E27FC236}">
                <a16:creationId xmlns:a16="http://schemas.microsoft.com/office/drawing/2014/main" id="{0C4A675F-9948-087B-00D7-CE28CE10D9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4" name="TextBox 3">
            <a:extLst>
              <a:ext uri="{FF2B5EF4-FFF2-40B4-BE49-F238E27FC236}">
                <a16:creationId xmlns:a16="http://schemas.microsoft.com/office/drawing/2014/main" id="{67E93DD9-9D3E-680F-3FBE-E563D3FE807B}"/>
              </a:ext>
            </a:extLst>
          </p:cNvPr>
          <p:cNvSpPr txBox="1"/>
          <p:nvPr/>
        </p:nvSpPr>
        <p:spPr>
          <a:xfrm>
            <a:off x="326423" y="1067289"/>
            <a:ext cx="5681133" cy="432426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A </a:t>
            </a:r>
            <a:r>
              <a:rPr lang="en-US" sz="1800" b="1" dirty="0">
                <a:solidFill>
                  <a:srgbClr val="0070C0"/>
                </a:solidFill>
                <a:latin typeface="Georgia" panose="02040502050405020303" pitchFamily="18" charset="0"/>
              </a:rPr>
              <a:t>random variable </a:t>
            </a:r>
            <a:r>
              <a:rPr lang="en-US" sz="1800" dirty="0">
                <a:latin typeface="Georgia" panose="02040502050405020303" pitchFamily="18" charset="0"/>
              </a:rPr>
              <a:t>represents an event whose outcome is unknown</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A </a:t>
            </a:r>
            <a:r>
              <a:rPr lang="en-US" sz="1800" b="1" dirty="0">
                <a:solidFill>
                  <a:srgbClr val="0070C0"/>
                </a:solidFill>
                <a:latin typeface="Georgia" panose="02040502050405020303" pitchFamily="18" charset="0"/>
              </a:rPr>
              <a:t>probability distribution </a:t>
            </a:r>
            <a:r>
              <a:rPr lang="en-US" sz="1800" dirty="0">
                <a:latin typeface="Georgia" panose="02040502050405020303" pitchFamily="18" charset="0"/>
              </a:rPr>
              <a:t>is an assignment of weight to outcomes</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Example: traffic on freeway</a:t>
            </a:r>
          </a:p>
          <a:p>
            <a:pPr lvl="1">
              <a:spcBef>
                <a:spcPts val="600"/>
              </a:spcBef>
              <a:spcAft>
                <a:spcPts val="600"/>
              </a:spcAft>
            </a:pPr>
            <a:r>
              <a:rPr lang="en-US" sz="1800" dirty="0">
                <a:latin typeface="Georgia" panose="02040502050405020303" pitchFamily="18" charset="0"/>
              </a:rPr>
              <a:t>	Random variable: T = whether there’s traffic </a:t>
            </a:r>
          </a:p>
          <a:p>
            <a:pPr lvl="1">
              <a:spcBef>
                <a:spcPts val="600"/>
              </a:spcBef>
              <a:spcAft>
                <a:spcPts val="600"/>
              </a:spcAft>
            </a:pPr>
            <a:r>
              <a:rPr lang="en-US" sz="1800" dirty="0">
                <a:latin typeface="Georgia" panose="02040502050405020303" pitchFamily="18" charset="0"/>
              </a:rPr>
              <a:t>	Outcomes: T in {none, light, heavy}</a:t>
            </a:r>
          </a:p>
          <a:p>
            <a:pPr lvl="1">
              <a:spcBef>
                <a:spcPts val="600"/>
              </a:spcBef>
              <a:spcAft>
                <a:spcPts val="600"/>
              </a:spcAft>
            </a:pPr>
            <a:r>
              <a:rPr lang="en-US" sz="1800" dirty="0">
                <a:latin typeface="Georgia" panose="02040502050405020303" pitchFamily="18" charset="0"/>
              </a:rPr>
              <a:t>	Distribution: 	 P(T=none) = 0.25, </a:t>
            </a:r>
          </a:p>
          <a:p>
            <a:pPr lvl="1">
              <a:spcBef>
                <a:spcPts val="600"/>
              </a:spcBef>
              <a:spcAft>
                <a:spcPts val="600"/>
              </a:spcAft>
            </a:pPr>
            <a:r>
              <a:rPr lang="en-US" sz="1800" dirty="0">
                <a:latin typeface="Georgia" panose="02040502050405020303" pitchFamily="18" charset="0"/>
              </a:rPr>
              <a:t>			 P(T=light) = 0.5, </a:t>
            </a:r>
          </a:p>
          <a:p>
            <a:pPr lvl="1">
              <a:spcBef>
                <a:spcPts val="600"/>
              </a:spcBef>
              <a:spcAft>
                <a:spcPts val="600"/>
              </a:spcAft>
            </a:pPr>
            <a:r>
              <a:rPr lang="en-US" sz="1800" dirty="0">
                <a:latin typeface="Georgia" panose="02040502050405020303" pitchFamily="18" charset="0"/>
              </a:rPr>
              <a:t>			 P(T=heavy) = 0.25</a:t>
            </a:r>
          </a:p>
          <a:p>
            <a:pPr marL="342900" indent="-342900">
              <a:buFont typeface="Arial" panose="020B0604020202020204" pitchFamily="34" charset="0"/>
              <a:buChar char="•"/>
            </a:pPr>
            <a:endParaRPr lang="en-US" sz="2000" dirty="0">
              <a:latin typeface="Georgia" panose="02040502050405020303" pitchFamily="18" charset="0"/>
            </a:endParaRPr>
          </a:p>
        </p:txBody>
      </p:sp>
      <p:pic>
        <p:nvPicPr>
          <p:cNvPr id="1026" name="Picture 2" descr="Cầu Sài Gòn tê liệt vì kẹt xe - Tuổi Trẻ Online">
            <a:extLst>
              <a:ext uri="{FF2B5EF4-FFF2-40B4-BE49-F238E27FC236}">
                <a16:creationId xmlns:a16="http://schemas.microsoft.com/office/drawing/2014/main" id="{C428C517-0178-1D23-0982-C0663347E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5328" y="3551818"/>
            <a:ext cx="2040835" cy="11980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ầu Sài Gòn Ở Quận Mấy? Tuyến Đường Để Đi Đến Cầu Sài Gòn">
            <a:extLst>
              <a:ext uri="{FF2B5EF4-FFF2-40B4-BE49-F238E27FC236}">
                <a16:creationId xmlns:a16="http://schemas.microsoft.com/office/drawing/2014/main" id="{E201F982-2C38-F9A8-72FB-30E9367645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5328" y="2082729"/>
            <a:ext cx="2040835" cy="11466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Ảnh: Đường phố Sài Gòn sau 18h vắng lặng như thế nào?">
            <a:extLst>
              <a:ext uri="{FF2B5EF4-FFF2-40B4-BE49-F238E27FC236}">
                <a16:creationId xmlns:a16="http://schemas.microsoft.com/office/drawing/2014/main" id="{2DAFD68E-D327-E83F-CBCE-1EC4688AB7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328" y="561982"/>
            <a:ext cx="2040835" cy="13580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44D0C16-77B9-58B9-1776-A903E91C1E86}"/>
              </a:ext>
            </a:extLst>
          </p:cNvPr>
          <p:cNvSpPr txBox="1"/>
          <p:nvPr/>
        </p:nvSpPr>
        <p:spPr>
          <a:xfrm>
            <a:off x="8306163" y="1067289"/>
            <a:ext cx="1055807" cy="400110"/>
          </a:xfrm>
          <a:prstGeom prst="rect">
            <a:avLst/>
          </a:prstGeom>
          <a:noFill/>
        </p:spPr>
        <p:txBody>
          <a:bodyPr wrap="square">
            <a:spAutoFit/>
          </a:bodyPr>
          <a:lstStyle/>
          <a:p>
            <a:r>
              <a:rPr lang="en-US" sz="2000" b="1" dirty="0">
                <a:latin typeface="Georgia" panose="02040502050405020303" pitchFamily="18" charset="0"/>
              </a:rPr>
              <a:t>0.25</a:t>
            </a:r>
            <a:endParaRPr lang="en-US" sz="2000" b="1" dirty="0"/>
          </a:p>
        </p:txBody>
      </p:sp>
      <p:sp>
        <p:nvSpPr>
          <p:cNvPr id="7" name="TextBox 6">
            <a:extLst>
              <a:ext uri="{FF2B5EF4-FFF2-40B4-BE49-F238E27FC236}">
                <a16:creationId xmlns:a16="http://schemas.microsoft.com/office/drawing/2014/main" id="{C2570DDA-219A-299E-484B-909AA6412CDC}"/>
              </a:ext>
            </a:extLst>
          </p:cNvPr>
          <p:cNvSpPr txBox="1"/>
          <p:nvPr/>
        </p:nvSpPr>
        <p:spPr>
          <a:xfrm>
            <a:off x="8306163" y="3950779"/>
            <a:ext cx="1055807" cy="400110"/>
          </a:xfrm>
          <a:prstGeom prst="rect">
            <a:avLst/>
          </a:prstGeom>
          <a:noFill/>
        </p:spPr>
        <p:txBody>
          <a:bodyPr wrap="square">
            <a:spAutoFit/>
          </a:bodyPr>
          <a:lstStyle/>
          <a:p>
            <a:r>
              <a:rPr lang="en-US" sz="2000" b="1" dirty="0">
                <a:latin typeface="Georgia" panose="02040502050405020303" pitchFamily="18" charset="0"/>
              </a:rPr>
              <a:t>0.25</a:t>
            </a:r>
            <a:endParaRPr lang="en-US" sz="2000" b="1" dirty="0"/>
          </a:p>
        </p:txBody>
      </p:sp>
      <p:sp>
        <p:nvSpPr>
          <p:cNvPr id="8" name="TextBox 7">
            <a:extLst>
              <a:ext uri="{FF2B5EF4-FFF2-40B4-BE49-F238E27FC236}">
                <a16:creationId xmlns:a16="http://schemas.microsoft.com/office/drawing/2014/main" id="{FFC1AFF9-FA94-1919-C44D-B4B3FAA50159}"/>
              </a:ext>
            </a:extLst>
          </p:cNvPr>
          <p:cNvSpPr txBox="1"/>
          <p:nvPr/>
        </p:nvSpPr>
        <p:spPr>
          <a:xfrm>
            <a:off x="8306163" y="2456019"/>
            <a:ext cx="1055807" cy="400110"/>
          </a:xfrm>
          <a:prstGeom prst="rect">
            <a:avLst/>
          </a:prstGeom>
          <a:noFill/>
        </p:spPr>
        <p:txBody>
          <a:bodyPr wrap="square">
            <a:spAutoFit/>
          </a:bodyPr>
          <a:lstStyle/>
          <a:p>
            <a:r>
              <a:rPr lang="en-US" sz="2000" b="1" dirty="0">
                <a:latin typeface="Georgia" panose="02040502050405020303" pitchFamily="18" charset="0"/>
              </a:rPr>
              <a:t>0.5</a:t>
            </a:r>
            <a:endParaRPr lang="en-US" sz="2000" b="1" dirty="0"/>
          </a:p>
        </p:txBody>
      </p:sp>
    </p:spTree>
    <p:extLst>
      <p:ext uri="{BB962C8B-B14F-4D97-AF65-F5344CB8AC3E}">
        <p14:creationId xmlns:p14="http://schemas.microsoft.com/office/powerpoint/2010/main" val="1341146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0F5BA-49A7-2552-294D-5EBD1FB7DD31}"/>
              </a:ext>
            </a:extLst>
          </p:cNvPr>
          <p:cNvSpPr>
            <a:spLocks noGrp="1"/>
          </p:cNvSpPr>
          <p:nvPr>
            <p:ph type="title"/>
          </p:nvPr>
        </p:nvSpPr>
        <p:spPr/>
        <p:txBody>
          <a:bodyPr/>
          <a:lstStyle/>
          <a:p>
            <a:r>
              <a:rPr lang="en-GB" sz="2400" dirty="0"/>
              <a:t>Review of Probability</a:t>
            </a:r>
            <a:endParaRPr lang="en-US" sz="2400" dirty="0"/>
          </a:p>
        </p:txBody>
      </p:sp>
      <p:sp>
        <p:nvSpPr>
          <p:cNvPr id="3" name="Slide Number Placeholder 2">
            <a:extLst>
              <a:ext uri="{FF2B5EF4-FFF2-40B4-BE49-F238E27FC236}">
                <a16:creationId xmlns:a16="http://schemas.microsoft.com/office/drawing/2014/main" id="{0C4A675F-9948-087B-00D7-CE28CE10D9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7E93DD9-9D3E-680F-3FBE-E563D3FE807B}"/>
                  </a:ext>
                </a:extLst>
              </p:cNvPr>
              <p:cNvSpPr txBox="1"/>
              <p:nvPr/>
            </p:nvSpPr>
            <p:spPr>
              <a:xfrm>
                <a:off x="326424" y="1067289"/>
                <a:ext cx="4541910" cy="4011547"/>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n-US" sz="1800" dirty="0">
                    <a:latin typeface="Georgia" panose="02040502050405020303" pitchFamily="18" charset="0"/>
                  </a:rPr>
                  <a:t>Probabilities are always non-negative</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Probabilities over all possible outcomes sum to 1</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𝑃</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𝑋</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e>
                      </m:d>
                      <m:r>
                        <a:rPr lang="en-US" sz="1800" b="0" i="1" smtClean="0">
                          <a:latin typeface="Cambria Math" panose="02040503050406030204" pitchFamily="18" charset="0"/>
                          <a:ea typeface="Cambria Math" panose="02040503050406030204" pitchFamily="18" charset="0"/>
                        </a:rPr>
                        <m:t>≥0 </m:t>
                      </m:r>
                      <m:r>
                        <a:rPr lang="en-US" sz="1800" b="0" i="1" smtClean="0">
                          <a:latin typeface="Cambria Math" panose="02040503050406030204" pitchFamily="18" charset="0"/>
                          <a:ea typeface="Cambria Math" panose="02040503050406030204" pitchFamily="18" charset="0"/>
                        </a:rPr>
                        <m:t>𝑎𝑛𝑑</m:t>
                      </m:r>
                      <m:r>
                        <a:rPr lang="en-US" sz="1800" b="0" i="1" smtClean="0">
                          <a:latin typeface="Cambria Math" panose="02040503050406030204" pitchFamily="18" charset="0"/>
                          <a:ea typeface="Cambria Math" panose="02040503050406030204" pitchFamily="18" charset="0"/>
                        </a:rPr>
                        <m:t> </m:t>
                      </m:r>
                      <m:nary>
                        <m:naryPr>
                          <m:chr m:val="∑"/>
                          <m:supHide m:val="on"/>
                          <m:ctrlPr>
                            <a:rPr lang="en-US" sz="1800" b="0" i="1" smtClean="0">
                              <a:latin typeface="Cambria Math" panose="02040503050406030204" pitchFamily="18" charset="0"/>
                              <a:ea typeface="Cambria Math" panose="02040503050406030204" pitchFamily="18" charset="0"/>
                            </a:rPr>
                          </m:ctrlPr>
                        </m:naryPr>
                        <m:sub>
                          <m:r>
                            <m:rPr>
                              <m:brk m:alnAt="7"/>
                            </m:rPr>
                            <a:rPr lang="en-US" sz="1800" b="0" i="1" smtClean="0">
                              <a:latin typeface="Cambria Math" panose="02040503050406030204" pitchFamily="18" charset="0"/>
                              <a:ea typeface="Cambria Math" panose="02040503050406030204" pitchFamily="18" charset="0"/>
                            </a:rPr>
                            <m:t>𝑥</m:t>
                          </m:r>
                        </m:sub>
                        <m:sup/>
                        <m:e>
                          <m:r>
                            <a:rPr lang="en-US" sz="1800" b="0" i="1" smtClean="0">
                              <a:latin typeface="Cambria Math" panose="02040503050406030204" pitchFamily="18" charset="0"/>
                              <a:ea typeface="Cambria Math" panose="02040503050406030204" pitchFamily="18" charset="0"/>
                            </a:rPr>
                            <m:t>𝑃</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𝑋</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e>
                          </m:d>
                          <m:r>
                            <a:rPr lang="en-US" sz="1800" b="0" i="1" smtClean="0">
                              <a:latin typeface="Cambria Math" panose="02040503050406030204" pitchFamily="18" charset="0"/>
                              <a:ea typeface="Cambria Math" panose="02040503050406030204" pitchFamily="18" charset="0"/>
                            </a:rPr>
                            <m:t>=1</m:t>
                          </m:r>
                        </m:e>
                      </m:nary>
                    </m:oMath>
                  </m:oMathPara>
                </a14:m>
                <a:endParaRPr lang="en-US" sz="1800" dirty="0">
                  <a:latin typeface="Georgia" panose="02040502050405020303" pitchFamily="18" charset="0"/>
                </a:endParaRPr>
              </a:p>
              <a:p>
                <a:pPr marL="342900" indent="-342900">
                  <a:spcBef>
                    <a:spcPts val="600"/>
                  </a:spcBef>
                  <a:buFont typeface="Arial" panose="020B0604020202020204" pitchFamily="34" charset="0"/>
                  <a:buChar char="•"/>
                </a:pPr>
                <a:r>
                  <a:rPr lang="en-US" sz="1800" dirty="0">
                    <a:latin typeface="Georgia" panose="02040502050405020303" pitchFamily="18" charset="0"/>
                  </a:rPr>
                  <a:t>The expected value of a function of a random variable is the average, weight by the probability distribution over outcomes</a:t>
                </a:r>
              </a:p>
              <a:p>
                <a:pPr>
                  <a:spcBef>
                    <a:spcPts val="600"/>
                  </a:spcBef>
                  <a:spcAft>
                    <a:spcPts val="600"/>
                  </a:spcAft>
                </a:pPr>
                <a:r>
                  <a:rPr lang="en-US" sz="1800" dirty="0">
                    <a:latin typeface="Georgia" panose="02040502050405020303" pitchFamily="18" charset="0"/>
                  </a:rPr>
                  <a:t>      </a:t>
                </a:r>
                <a:r>
                  <a:rPr lang="en-US" sz="1600" dirty="0">
                    <a:latin typeface="Georgia" panose="02040502050405020303" pitchFamily="18" charset="0"/>
                  </a:rPr>
                  <a:t>Example: how long to get to the school?</a:t>
                </a:r>
              </a:p>
              <a:p>
                <a:r>
                  <a:rPr lang="en-US" sz="1600" dirty="0">
                    <a:latin typeface="Georgia" panose="02040502050405020303" pitchFamily="18" charset="0"/>
                  </a:rPr>
                  <a:t>          f(T) = 20*0.25+30*0.5+60*0.25</a:t>
                </a:r>
              </a:p>
              <a:p>
                <a:r>
                  <a:rPr lang="en-US" sz="1600" dirty="0">
                    <a:latin typeface="Georgia" panose="02040502050405020303" pitchFamily="18" charset="0"/>
                  </a:rPr>
                  <a:t>                  = 35 min</a:t>
                </a:r>
              </a:p>
            </p:txBody>
          </p:sp>
        </mc:Choice>
        <mc:Fallback xmlns="">
          <p:sp>
            <p:nvSpPr>
              <p:cNvPr id="4" name="TextBox 3">
                <a:extLst>
                  <a:ext uri="{FF2B5EF4-FFF2-40B4-BE49-F238E27FC236}">
                    <a16:creationId xmlns:a16="http://schemas.microsoft.com/office/drawing/2014/main" id="{67E93DD9-9D3E-680F-3FBE-E563D3FE807B}"/>
                  </a:ext>
                </a:extLst>
              </p:cNvPr>
              <p:cNvSpPr txBox="1">
                <a:spLocks noRot="1" noChangeAspect="1" noMove="1" noResize="1" noEditPoints="1" noAdjustHandles="1" noChangeArrowheads="1" noChangeShapeType="1" noTextEdit="1"/>
              </p:cNvSpPr>
              <p:nvPr/>
            </p:nvSpPr>
            <p:spPr>
              <a:xfrm>
                <a:off x="326424" y="1067289"/>
                <a:ext cx="4541910" cy="4011547"/>
              </a:xfrm>
              <a:prstGeom prst="rect">
                <a:avLst/>
              </a:prstGeom>
              <a:blipFill>
                <a:blip r:embed="rId2"/>
                <a:stretch>
                  <a:fillRect l="-940" t="-760" r="-1745"/>
                </a:stretch>
              </a:blipFill>
            </p:spPr>
            <p:txBody>
              <a:bodyPr/>
              <a:lstStyle/>
              <a:p>
                <a:r>
                  <a:rPr lang="en-US">
                    <a:noFill/>
                  </a:rPr>
                  <a:t> </a:t>
                </a:r>
              </a:p>
            </p:txBody>
          </p:sp>
        </mc:Fallback>
      </mc:AlternateContent>
      <p:pic>
        <p:nvPicPr>
          <p:cNvPr id="1026" name="Picture 2" descr="Cầu Sài Gòn tê liệt vì kẹt xe - Tuổi Trẻ Online">
            <a:extLst>
              <a:ext uri="{FF2B5EF4-FFF2-40B4-BE49-F238E27FC236}">
                <a16:creationId xmlns:a16="http://schemas.microsoft.com/office/drawing/2014/main" id="{C428C517-0178-1D23-0982-C0663347E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6059" y="3551818"/>
            <a:ext cx="2040835" cy="11980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ầu Sài Gòn Ở Quận Mấy? Tuyến Đường Để Đi Đến Cầu Sài Gòn">
            <a:extLst>
              <a:ext uri="{FF2B5EF4-FFF2-40B4-BE49-F238E27FC236}">
                <a16:creationId xmlns:a16="http://schemas.microsoft.com/office/drawing/2014/main" id="{E201F982-2C38-F9A8-72FB-30E936764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6059" y="2158931"/>
            <a:ext cx="2040835" cy="11466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Ảnh: Đường phố Sài Gòn sau 18h vắng lặng như thế nào?">
            <a:extLst>
              <a:ext uri="{FF2B5EF4-FFF2-40B4-BE49-F238E27FC236}">
                <a16:creationId xmlns:a16="http://schemas.microsoft.com/office/drawing/2014/main" id="{2DAFD68E-D327-E83F-CBCE-1EC4688AB7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6059" y="561982"/>
            <a:ext cx="2040835" cy="13580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44D0C16-77B9-58B9-1776-A903E91C1E86}"/>
              </a:ext>
            </a:extLst>
          </p:cNvPr>
          <p:cNvSpPr txBox="1"/>
          <p:nvPr/>
        </p:nvSpPr>
        <p:spPr>
          <a:xfrm>
            <a:off x="6976894" y="1067289"/>
            <a:ext cx="1055807" cy="400110"/>
          </a:xfrm>
          <a:prstGeom prst="rect">
            <a:avLst/>
          </a:prstGeom>
          <a:noFill/>
        </p:spPr>
        <p:txBody>
          <a:bodyPr wrap="square">
            <a:spAutoFit/>
          </a:bodyPr>
          <a:lstStyle/>
          <a:p>
            <a:r>
              <a:rPr lang="en-US" sz="2000" b="1" dirty="0">
                <a:latin typeface="Georgia" panose="02040502050405020303" pitchFamily="18" charset="0"/>
              </a:rPr>
              <a:t>0.25</a:t>
            </a:r>
            <a:endParaRPr lang="en-US" sz="2000" b="1" dirty="0"/>
          </a:p>
        </p:txBody>
      </p:sp>
      <p:sp>
        <p:nvSpPr>
          <p:cNvPr id="7" name="TextBox 6">
            <a:extLst>
              <a:ext uri="{FF2B5EF4-FFF2-40B4-BE49-F238E27FC236}">
                <a16:creationId xmlns:a16="http://schemas.microsoft.com/office/drawing/2014/main" id="{C2570DDA-219A-299E-484B-909AA6412CDC}"/>
              </a:ext>
            </a:extLst>
          </p:cNvPr>
          <p:cNvSpPr txBox="1"/>
          <p:nvPr/>
        </p:nvSpPr>
        <p:spPr>
          <a:xfrm>
            <a:off x="6976894" y="3950779"/>
            <a:ext cx="1055807" cy="400110"/>
          </a:xfrm>
          <a:prstGeom prst="rect">
            <a:avLst/>
          </a:prstGeom>
          <a:noFill/>
        </p:spPr>
        <p:txBody>
          <a:bodyPr wrap="square">
            <a:spAutoFit/>
          </a:bodyPr>
          <a:lstStyle/>
          <a:p>
            <a:r>
              <a:rPr lang="en-US" sz="2000" b="1" dirty="0">
                <a:latin typeface="Georgia" panose="02040502050405020303" pitchFamily="18" charset="0"/>
              </a:rPr>
              <a:t>0.25</a:t>
            </a:r>
            <a:endParaRPr lang="en-US" sz="2000" b="1" dirty="0"/>
          </a:p>
        </p:txBody>
      </p:sp>
      <p:sp>
        <p:nvSpPr>
          <p:cNvPr id="8" name="TextBox 7">
            <a:extLst>
              <a:ext uri="{FF2B5EF4-FFF2-40B4-BE49-F238E27FC236}">
                <a16:creationId xmlns:a16="http://schemas.microsoft.com/office/drawing/2014/main" id="{FFC1AFF9-FA94-1919-C44D-B4B3FAA50159}"/>
              </a:ext>
            </a:extLst>
          </p:cNvPr>
          <p:cNvSpPr txBox="1"/>
          <p:nvPr/>
        </p:nvSpPr>
        <p:spPr>
          <a:xfrm>
            <a:off x="6976894" y="2532221"/>
            <a:ext cx="1055807" cy="400110"/>
          </a:xfrm>
          <a:prstGeom prst="rect">
            <a:avLst/>
          </a:prstGeom>
          <a:noFill/>
        </p:spPr>
        <p:txBody>
          <a:bodyPr wrap="square">
            <a:spAutoFit/>
          </a:bodyPr>
          <a:lstStyle/>
          <a:p>
            <a:r>
              <a:rPr lang="en-US" sz="2000" b="1" dirty="0">
                <a:latin typeface="Georgia" panose="02040502050405020303" pitchFamily="18" charset="0"/>
              </a:rPr>
              <a:t>0.5</a:t>
            </a:r>
            <a:endParaRPr lang="en-US" sz="2000" b="1" dirty="0"/>
          </a:p>
        </p:txBody>
      </p:sp>
      <p:sp>
        <p:nvSpPr>
          <p:cNvPr id="9" name="TextBox 8">
            <a:extLst>
              <a:ext uri="{FF2B5EF4-FFF2-40B4-BE49-F238E27FC236}">
                <a16:creationId xmlns:a16="http://schemas.microsoft.com/office/drawing/2014/main" id="{77C7CDBF-E41F-AB4B-757C-F20DC3405FFC}"/>
              </a:ext>
            </a:extLst>
          </p:cNvPr>
          <p:cNvSpPr txBox="1"/>
          <p:nvPr/>
        </p:nvSpPr>
        <p:spPr>
          <a:xfrm>
            <a:off x="6976894" y="740373"/>
            <a:ext cx="851716" cy="400110"/>
          </a:xfrm>
          <a:prstGeom prst="rect">
            <a:avLst/>
          </a:prstGeom>
          <a:noFill/>
        </p:spPr>
        <p:txBody>
          <a:bodyPr wrap="square">
            <a:spAutoFit/>
          </a:bodyPr>
          <a:lstStyle/>
          <a:p>
            <a:r>
              <a:rPr lang="en-US" sz="2000" b="1" dirty="0">
                <a:latin typeface="Georgia" panose="02040502050405020303" pitchFamily="18" charset="0"/>
              </a:rPr>
              <a:t>P(T)</a:t>
            </a:r>
            <a:endParaRPr lang="en-US" sz="2000" b="1" dirty="0"/>
          </a:p>
        </p:txBody>
      </p:sp>
      <p:sp>
        <p:nvSpPr>
          <p:cNvPr id="10" name="TextBox 9">
            <a:extLst>
              <a:ext uri="{FF2B5EF4-FFF2-40B4-BE49-F238E27FC236}">
                <a16:creationId xmlns:a16="http://schemas.microsoft.com/office/drawing/2014/main" id="{70ED6FE7-3BD0-3DBE-EB5E-F0D832DA940E}"/>
              </a:ext>
            </a:extLst>
          </p:cNvPr>
          <p:cNvSpPr txBox="1"/>
          <p:nvPr/>
        </p:nvSpPr>
        <p:spPr>
          <a:xfrm>
            <a:off x="8032701" y="738447"/>
            <a:ext cx="851716" cy="400110"/>
          </a:xfrm>
          <a:prstGeom prst="rect">
            <a:avLst/>
          </a:prstGeom>
          <a:noFill/>
        </p:spPr>
        <p:txBody>
          <a:bodyPr wrap="square">
            <a:spAutoFit/>
          </a:bodyPr>
          <a:lstStyle/>
          <a:p>
            <a:r>
              <a:rPr lang="en-US" sz="2000" b="1" dirty="0">
                <a:latin typeface="Georgia" panose="02040502050405020303" pitchFamily="18" charset="0"/>
              </a:rPr>
              <a:t>Time</a:t>
            </a:r>
          </a:p>
        </p:txBody>
      </p:sp>
      <p:sp>
        <p:nvSpPr>
          <p:cNvPr id="11" name="TextBox 10">
            <a:extLst>
              <a:ext uri="{FF2B5EF4-FFF2-40B4-BE49-F238E27FC236}">
                <a16:creationId xmlns:a16="http://schemas.microsoft.com/office/drawing/2014/main" id="{70C303A8-9CE4-1496-650B-86F072F4EE58}"/>
              </a:ext>
            </a:extLst>
          </p:cNvPr>
          <p:cNvSpPr txBox="1"/>
          <p:nvPr/>
        </p:nvSpPr>
        <p:spPr>
          <a:xfrm>
            <a:off x="8174639" y="1075756"/>
            <a:ext cx="1055807" cy="400110"/>
          </a:xfrm>
          <a:prstGeom prst="rect">
            <a:avLst/>
          </a:prstGeom>
          <a:noFill/>
        </p:spPr>
        <p:txBody>
          <a:bodyPr wrap="square">
            <a:spAutoFit/>
          </a:bodyPr>
          <a:lstStyle/>
          <a:p>
            <a:r>
              <a:rPr lang="en-US" sz="2000" b="1" dirty="0">
                <a:latin typeface="Georgia" panose="02040502050405020303" pitchFamily="18" charset="0"/>
              </a:rPr>
              <a:t>20’ </a:t>
            </a:r>
            <a:endParaRPr lang="en-US" sz="2000" b="1" dirty="0"/>
          </a:p>
        </p:txBody>
      </p:sp>
      <p:sp>
        <p:nvSpPr>
          <p:cNvPr id="12" name="TextBox 11">
            <a:extLst>
              <a:ext uri="{FF2B5EF4-FFF2-40B4-BE49-F238E27FC236}">
                <a16:creationId xmlns:a16="http://schemas.microsoft.com/office/drawing/2014/main" id="{ADF503F4-BA79-9310-0BCA-4896F6495838}"/>
              </a:ext>
            </a:extLst>
          </p:cNvPr>
          <p:cNvSpPr txBox="1"/>
          <p:nvPr/>
        </p:nvSpPr>
        <p:spPr>
          <a:xfrm>
            <a:off x="8174639" y="3959246"/>
            <a:ext cx="1055807" cy="400110"/>
          </a:xfrm>
          <a:prstGeom prst="rect">
            <a:avLst/>
          </a:prstGeom>
          <a:noFill/>
        </p:spPr>
        <p:txBody>
          <a:bodyPr wrap="square">
            <a:spAutoFit/>
          </a:bodyPr>
          <a:lstStyle/>
          <a:p>
            <a:r>
              <a:rPr lang="en-US" sz="2000" b="1" dirty="0">
                <a:latin typeface="Georgia" panose="02040502050405020303" pitchFamily="18" charset="0"/>
              </a:rPr>
              <a:t>60’</a:t>
            </a:r>
            <a:endParaRPr lang="en-US" sz="2000" b="1" dirty="0"/>
          </a:p>
        </p:txBody>
      </p:sp>
      <p:sp>
        <p:nvSpPr>
          <p:cNvPr id="13" name="TextBox 12">
            <a:extLst>
              <a:ext uri="{FF2B5EF4-FFF2-40B4-BE49-F238E27FC236}">
                <a16:creationId xmlns:a16="http://schemas.microsoft.com/office/drawing/2014/main" id="{3F4F9DFF-F891-CA2D-72DB-C8AAD401FD48}"/>
              </a:ext>
            </a:extLst>
          </p:cNvPr>
          <p:cNvSpPr txBox="1"/>
          <p:nvPr/>
        </p:nvSpPr>
        <p:spPr>
          <a:xfrm>
            <a:off x="8174639" y="2540688"/>
            <a:ext cx="1055807" cy="400110"/>
          </a:xfrm>
          <a:prstGeom prst="rect">
            <a:avLst/>
          </a:prstGeom>
          <a:noFill/>
        </p:spPr>
        <p:txBody>
          <a:bodyPr wrap="square">
            <a:spAutoFit/>
          </a:bodyPr>
          <a:lstStyle/>
          <a:p>
            <a:r>
              <a:rPr lang="en-US" sz="2000" b="1" dirty="0">
                <a:latin typeface="Georgia" panose="02040502050405020303" pitchFamily="18" charset="0"/>
              </a:rPr>
              <a:t>30’</a:t>
            </a:r>
            <a:endParaRPr lang="en-US" sz="2000" b="1" dirty="0"/>
          </a:p>
        </p:txBody>
      </p:sp>
    </p:spTree>
    <p:extLst>
      <p:ext uri="{BB962C8B-B14F-4D97-AF65-F5344CB8AC3E}">
        <p14:creationId xmlns:p14="http://schemas.microsoft.com/office/powerpoint/2010/main" val="321070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A62E-D4DC-509F-2359-F8A7748AAE89}"/>
              </a:ext>
            </a:extLst>
          </p:cNvPr>
          <p:cNvSpPr>
            <a:spLocks noGrp="1"/>
          </p:cNvSpPr>
          <p:nvPr>
            <p:ph type="title"/>
          </p:nvPr>
        </p:nvSpPr>
        <p:spPr/>
        <p:txBody>
          <a:bodyPr/>
          <a:lstStyle/>
          <a:p>
            <a:r>
              <a:rPr lang="en-US" sz="2400" dirty="0"/>
              <a:t>Joint Probability</a:t>
            </a:r>
          </a:p>
        </p:txBody>
      </p:sp>
      <p:sp>
        <p:nvSpPr>
          <p:cNvPr id="3" name="Slide Number Placeholder 2">
            <a:extLst>
              <a:ext uri="{FF2B5EF4-FFF2-40B4-BE49-F238E27FC236}">
                <a16:creationId xmlns:a16="http://schemas.microsoft.com/office/drawing/2014/main" id="{179E149C-29BE-3AC1-4E3A-2B08D89F45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1028" name="Picture 4" descr="Joint Probability: Definition, Formula, and Example">
            <a:extLst>
              <a:ext uri="{FF2B5EF4-FFF2-40B4-BE49-F238E27FC236}">
                <a16:creationId xmlns:a16="http://schemas.microsoft.com/office/drawing/2014/main" id="{EEDFB55A-31F2-914E-77DE-668E30B63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574" y="2018414"/>
            <a:ext cx="3878400" cy="245621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D265565-05F4-FE83-E3AD-9EB82EA97747}"/>
                  </a:ext>
                </a:extLst>
              </p:cNvPr>
              <p:cNvSpPr txBox="1"/>
              <p:nvPr/>
            </p:nvSpPr>
            <p:spPr>
              <a:xfrm>
                <a:off x="2700867" y="1195877"/>
                <a:ext cx="40802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1" i="0" smtClean="0">
                          <a:latin typeface="Cambria Math" panose="02040503050406030204" pitchFamily="18" charset="0"/>
                        </a:rPr>
                        <m:t>𝐏</m:t>
                      </m:r>
                      <m:d>
                        <m:dPr>
                          <m:ctrlPr>
                            <a:rPr lang="en-US" sz="2800" b="1" i="1" smtClean="0">
                              <a:latin typeface="Cambria Math" panose="02040503050406030204" pitchFamily="18" charset="0"/>
                            </a:rPr>
                          </m:ctrlPr>
                        </m:dPr>
                        <m:e>
                          <m:r>
                            <a:rPr lang="en-US" sz="2800" b="1" i="0" smtClean="0">
                              <a:latin typeface="Cambria Math" panose="02040503050406030204" pitchFamily="18" charset="0"/>
                            </a:rPr>
                            <m:t>𝐀</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𝑩</m:t>
                          </m:r>
                        </m:e>
                      </m:d>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𝑷</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𝑨</m:t>
                          </m:r>
                        </m:e>
                      </m:d>
                      <m:r>
                        <a:rPr lang="en-US" sz="2800" b="1" i="1" smtClean="0">
                          <a:latin typeface="Cambria Math" panose="02040503050406030204" pitchFamily="18" charset="0"/>
                          <a:ea typeface="Cambria Math" panose="02040503050406030204" pitchFamily="18" charset="0"/>
                        </a:rPr>
                        <m:t> ×</m:t>
                      </m:r>
                      <m:r>
                        <a:rPr lang="en-US" sz="2800" b="1" i="1" smtClean="0">
                          <a:latin typeface="Cambria Math" panose="02040503050406030204" pitchFamily="18" charset="0"/>
                          <a:ea typeface="Cambria Math" panose="02040503050406030204" pitchFamily="18" charset="0"/>
                        </a:rPr>
                        <m:t>𝑷</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𝑩</m:t>
                      </m:r>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4" name="TextBox 3">
                <a:extLst>
                  <a:ext uri="{FF2B5EF4-FFF2-40B4-BE49-F238E27FC236}">
                    <a16:creationId xmlns:a16="http://schemas.microsoft.com/office/drawing/2014/main" id="{9D265565-05F4-FE83-E3AD-9EB82EA97747}"/>
                  </a:ext>
                </a:extLst>
              </p:cNvPr>
              <p:cNvSpPr txBox="1">
                <a:spLocks noRot="1" noChangeAspect="1" noMove="1" noResize="1" noEditPoints="1" noAdjustHandles="1" noChangeArrowheads="1" noChangeShapeType="1" noTextEdit="1"/>
              </p:cNvSpPr>
              <p:nvPr/>
            </p:nvSpPr>
            <p:spPr>
              <a:xfrm>
                <a:off x="2700867" y="1195877"/>
                <a:ext cx="4080220"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A300C0-DCE5-0EE5-964D-C1F317A4568A}"/>
                  </a:ext>
                </a:extLst>
              </p:cNvPr>
              <p:cNvSpPr txBox="1"/>
              <p:nvPr/>
            </p:nvSpPr>
            <p:spPr>
              <a:xfrm>
                <a:off x="5049974" y="3015690"/>
                <a:ext cx="2590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𝐏</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𝟔</m:t>
                          </m:r>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𝑹𝒆𝒅</m:t>
                          </m:r>
                        </m:e>
                      </m:d>
                      <m:r>
                        <a:rPr lang="en-US" sz="2400" b="1" i="1" smtClean="0">
                          <a:latin typeface="Cambria Math" panose="02040503050406030204" pitchFamily="18" charset="0"/>
                          <a:ea typeface="Cambria Math" panose="02040503050406030204" pitchFamily="18" charset="0"/>
                        </a:rPr>
                        <m:t>= ?</m:t>
                      </m:r>
                    </m:oMath>
                  </m:oMathPara>
                </a14:m>
                <a:endParaRPr lang="en-US" sz="2400" dirty="0"/>
              </a:p>
            </p:txBody>
          </p:sp>
        </mc:Choice>
        <mc:Fallback xmlns="">
          <p:sp>
            <p:nvSpPr>
              <p:cNvPr id="6" name="TextBox 5">
                <a:extLst>
                  <a:ext uri="{FF2B5EF4-FFF2-40B4-BE49-F238E27FC236}">
                    <a16:creationId xmlns:a16="http://schemas.microsoft.com/office/drawing/2014/main" id="{F6A300C0-DCE5-0EE5-964D-C1F317A4568A}"/>
                  </a:ext>
                </a:extLst>
              </p:cNvPr>
              <p:cNvSpPr txBox="1">
                <a:spLocks noRot="1" noChangeAspect="1" noMove="1" noResize="1" noEditPoints="1" noAdjustHandles="1" noChangeArrowheads="1" noChangeShapeType="1" noTextEdit="1"/>
              </p:cNvSpPr>
              <p:nvPr/>
            </p:nvSpPr>
            <p:spPr>
              <a:xfrm>
                <a:off x="5049974" y="3015690"/>
                <a:ext cx="2590800" cy="46166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65771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2132-D381-D34D-8AA1-6EE28A16E86E}"/>
              </a:ext>
            </a:extLst>
          </p:cNvPr>
          <p:cNvSpPr>
            <a:spLocks noGrp="1"/>
          </p:cNvSpPr>
          <p:nvPr>
            <p:ph type="title"/>
          </p:nvPr>
        </p:nvSpPr>
        <p:spPr/>
        <p:txBody>
          <a:bodyPr/>
          <a:lstStyle/>
          <a:p>
            <a:r>
              <a:rPr lang="en-US" sz="2400" dirty="0"/>
              <a:t>Joint distributions</a:t>
            </a:r>
          </a:p>
        </p:txBody>
      </p:sp>
      <p:sp>
        <p:nvSpPr>
          <p:cNvPr id="3" name="Slide Number Placeholder 2">
            <a:extLst>
              <a:ext uri="{FF2B5EF4-FFF2-40B4-BE49-F238E27FC236}">
                <a16:creationId xmlns:a16="http://schemas.microsoft.com/office/drawing/2014/main" id="{C7C1F1F2-E205-084E-B8F0-35991FA8DC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5" name="TextBox 4">
            <a:extLst>
              <a:ext uri="{FF2B5EF4-FFF2-40B4-BE49-F238E27FC236}">
                <a16:creationId xmlns:a16="http://schemas.microsoft.com/office/drawing/2014/main" id="{FA5C63CA-6790-91E7-3178-06BC69F638EE}"/>
              </a:ext>
            </a:extLst>
          </p:cNvPr>
          <p:cNvSpPr txBox="1"/>
          <p:nvPr/>
        </p:nvSpPr>
        <p:spPr>
          <a:xfrm>
            <a:off x="903577" y="1095401"/>
            <a:ext cx="4955356" cy="3847207"/>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Joint distribution is </a:t>
            </a:r>
            <a:r>
              <a:rPr lang="en-US" sz="2000" b="0" i="0" dirty="0">
                <a:solidFill>
                  <a:srgbClr val="040C28"/>
                </a:solidFill>
                <a:effectLst/>
                <a:latin typeface="Georgia" panose="02040502050405020303" pitchFamily="18" charset="0"/>
              </a:rPr>
              <a:t>the probability of events (variables) happening together.</a:t>
            </a: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r>
              <a:rPr lang="en-US" sz="2000" dirty="0">
                <a:solidFill>
                  <a:srgbClr val="040C28"/>
                </a:solidFill>
                <a:latin typeface="Georgia" panose="02040502050405020303" pitchFamily="18" charset="0"/>
              </a:rPr>
              <a:t>From a joint distribution, we can calculate the probability of any event</a:t>
            </a:r>
          </a:p>
          <a:p>
            <a:pPr>
              <a:spcBef>
                <a:spcPts val="600"/>
              </a:spcBef>
            </a:pPr>
            <a:r>
              <a:rPr lang="en-US" sz="1800" b="0" i="0" dirty="0">
                <a:solidFill>
                  <a:srgbClr val="040C28"/>
                </a:solidFill>
                <a:effectLst/>
                <a:latin typeface="Georgia" panose="02040502050405020303" pitchFamily="18" charset="0"/>
              </a:rPr>
              <a:t>     E.g. Probability that it’s hot AND sunny?</a:t>
            </a:r>
          </a:p>
          <a:p>
            <a:pPr>
              <a:spcBef>
                <a:spcPts val="600"/>
              </a:spcBef>
            </a:pPr>
            <a:r>
              <a:rPr lang="en-US" sz="1800" b="0" i="0" dirty="0">
                <a:solidFill>
                  <a:srgbClr val="040C28"/>
                </a:solidFill>
                <a:effectLst/>
                <a:latin typeface="Georgia" panose="02040502050405020303" pitchFamily="18" charset="0"/>
              </a:rPr>
              <a:t>             Probability that it’s hot?</a:t>
            </a:r>
          </a:p>
          <a:p>
            <a:pPr marL="285750" indent="-285750">
              <a:buFont typeface="Arial" panose="020B0604020202020204" pitchFamily="34" charset="0"/>
              <a:buChar char="•"/>
            </a:pPr>
            <a:endParaRPr lang="en-US" sz="1800" dirty="0">
              <a:latin typeface="Georgia" panose="02040502050405020303" pitchFamily="18" charset="0"/>
            </a:endParaRPr>
          </a:p>
        </p:txBody>
      </p:sp>
      <p:pic>
        <p:nvPicPr>
          <p:cNvPr id="12" name="Picture 11">
            <a:extLst>
              <a:ext uri="{FF2B5EF4-FFF2-40B4-BE49-F238E27FC236}">
                <a16:creationId xmlns:a16="http://schemas.microsoft.com/office/drawing/2014/main" id="{4F0E7CA3-59B5-64B1-AA25-72CE766AB301}"/>
              </a:ext>
            </a:extLst>
          </p:cNvPr>
          <p:cNvPicPr>
            <a:picLocks noChangeAspect="1"/>
          </p:cNvPicPr>
          <p:nvPr/>
        </p:nvPicPr>
        <p:blipFill>
          <a:blip r:embed="rId4"/>
          <a:stretch>
            <a:fillRect/>
          </a:stretch>
        </p:blipFill>
        <p:spPr>
          <a:xfrm>
            <a:off x="6080609" y="1177853"/>
            <a:ext cx="2705239" cy="2787793"/>
          </a:xfrm>
          <a:prstGeom prst="rect">
            <a:avLst/>
          </a:prstGeom>
        </p:spPr>
      </p:pic>
      <p:pic>
        <p:nvPicPr>
          <p:cNvPr id="13" name="Picture 12" descr="txp_fig">
            <a:extLst>
              <a:ext uri="{FF2B5EF4-FFF2-40B4-BE49-F238E27FC236}">
                <a16:creationId xmlns:a16="http://schemas.microsoft.com/office/drawing/2014/main" id="{750D87E8-38FC-3E17-D4D4-FCBB1736475D}"/>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2156862" y="1917719"/>
            <a:ext cx="2456777" cy="25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txp_fig">
            <a:extLst>
              <a:ext uri="{FF2B5EF4-FFF2-40B4-BE49-F238E27FC236}">
                <a16:creationId xmlns:a16="http://schemas.microsoft.com/office/drawing/2014/main" id="{CD5E4CD3-04D1-D063-CBF1-8E2D06C868AC}"/>
              </a:ext>
            </a:extLst>
          </p:cNvPr>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903577" y="2333634"/>
            <a:ext cx="3568893" cy="549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639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2FF0D-20EC-517C-0F1E-761C91F7450B}"/>
              </a:ext>
            </a:extLst>
          </p:cNvPr>
          <p:cNvSpPr>
            <a:spLocks noGrp="1"/>
          </p:cNvSpPr>
          <p:nvPr>
            <p:ph type="title"/>
          </p:nvPr>
        </p:nvSpPr>
        <p:spPr/>
        <p:txBody>
          <a:bodyPr/>
          <a:lstStyle/>
          <a:p>
            <a:r>
              <a:rPr lang="en-US" sz="2400" dirty="0"/>
              <a:t>Marginal Distributions</a:t>
            </a:r>
          </a:p>
        </p:txBody>
      </p:sp>
      <p:sp>
        <p:nvSpPr>
          <p:cNvPr id="3" name="Slide Number Placeholder 2">
            <a:extLst>
              <a:ext uri="{FF2B5EF4-FFF2-40B4-BE49-F238E27FC236}">
                <a16:creationId xmlns:a16="http://schemas.microsoft.com/office/drawing/2014/main" id="{5C2699C2-9A7E-C572-1C0C-91860BEB91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4" name="TextBox 3">
            <a:extLst>
              <a:ext uri="{FF2B5EF4-FFF2-40B4-BE49-F238E27FC236}">
                <a16:creationId xmlns:a16="http://schemas.microsoft.com/office/drawing/2014/main" id="{56351805-9306-4E29-C438-4DF1F202DE03}"/>
              </a:ext>
            </a:extLst>
          </p:cNvPr>
          <p:cNvSpPr txBox="1"/>
          <p:nvPr/>
        </p:nvSpPr>
        <p:spPr>
          <a:xfrm>
            <a:off x="903577" y="1095401"/>
            <a:ext cx="7639650" cy="2523768"/>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Marginal distributions are sub-tables of joint distribution which eliminate variables </a:t>
            </a: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1800" dirty="0">
              <a:latin typeface="Georgia" panose="02040502050405020303" pitchFamily="18" charset="0"/>
            </a:endParaRPr>
          </a:p>
        </p:txBody>
      </p:sp>
      <p:pic>
        <p:nvPicPr>
          <p:cNvPr id="18" name="Picture 17">
            <a:extLst>
              <a:ext uri="{FF2B5EF4-FFF2-40B4-BE49-F238E27FC236}">
                <a16:creationId xmlns:a16="http://schemas.microsoft.com/office/drawing/2014/main" id="{8E27AE4E-E2D4-B7E4-8BA4-B9EF8FAC638F}"/>
              </a:ext>
            </a:extLst>
          </p:cNvPr>
          <p:cNvPicPr>
            <a:picLocks noChangeAspect="1"/>
          </p:cNvPicPr>
          <p:nvPr/>
        </p:nvPicPr>
        <p:blipFill>
          <a:blip r:embed="rId2"/>
          <a:stretch>
            <a:fillRect/>
          </a:stretch>
        </p:blipFill>
        <p:spPr>
          <a:xfrm>
            <a:off x="1780832" y="1828800"/>
            <a:ext cx="6034979" cy="3075518"/>
          </a:xfrm>
          <a:prstGeom prst="rect">
            <a:avLst/>
          </a:prstGeom>
        </p:spPr>
      </p:pic>
    </p:spTree>
    <p:extLst>
      <p:ext uri="{BB962C8B-B14F-4D97-AF65-F5344CB8AC3E}">
        <p14:creationId xmlns:p14="http://schemas.microsoft.com/office/powerpoint/2010/main" val="1223495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B10F-631B-D7C9-C502-8221FC879038}"/>
              </a:ext>
            </a:extLst>
          </p:cNvPr>
          <p:cNvSpPr>
            <a:spLocks noGrp="1"/>
          </p:cNvSpPr>
          <p:nvPr>
            <p:ph type="title"/>
          </p:nvPr>
        </p:nvSpPr>
        <p:spPr/>
        <p:txBody>
          <a:bodyPr/>
          <a:lstStyle/>
          <a:p>
            <a:r>
              <a:rPr lang="en-US" sz="2400" dirty="0"/>
              <a:t>Conditional Probabilities</a:t>
            </a:r>
          </a:p>
        </p:txBody>
      </p:sp>
      <p:sp>
        <p:nvSpPr>
          <p:cNvPr id="3" name="Slide Number Placeholder 2">
            <a:extLst>
              <a:ext uri="{FF2B5EF4-FFF2-40B4-BE49-F238E27FC236}">
                <a16:creationId xmlns:a16="http://schemas.microsoft.com/office/drawing/2014/main" id="{6144655F-16C7-E8BA-D180-813703C93F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4" name="TextBox 3">
            <a:extLst>
              <a:ext uri="{FF2B5EF4-FFF2-40B4-BE49-F238E27FC236}">
                <a16:creationId xmlns:a16="http://schemas.microsoft.com/office/drawing/2014/main" id="{48D455D6-A139-DD24-2A3E-D9C909E16D8F}"/>
              </a:ext>
            </a:extLst>
          </p:cNvPr>
          <p:cNvSpPr txBox="1"/>
          <p:nvPr/>
        </p:nvSpPr>
        <p:spPr>
          <a:xfrm>
            <a:off x="903577" y="1095401"/>
            <a:ext cx="7639650" cy="221599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Conditional probability is the likelihood of an event occurring, based on the occurrence of a previous event.</a:t>
            </a: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1800" dirty="0">
              <a:latin typeface="Georgia" panose="02040502050405020303"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7EDA61-6AC7-771E-8160-D29FD560E95C}"/>
                  </a:ext>
                </a:extLst>
              </p:cNvPr>
              <p:cNvSpPr txBox="1"/>
              <p:nvPr/>
            </p:nvSpPr>
            <p:spPr>
              <a:xfrm>
                <a:off x="2569232" y="1861791"/>
                <a:ext cx="35876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𝐏</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𝑩</m:t>
                          </m:r>
                          <m:r>
                            <a:rPr lang="en-US" sz="2400" b="1" i="1" smtClean="0">
                              <a:latin typeface="Cambria Math" panose="02040503050406030204" pitchFamily="18" charset="0"/>
                            </a:rPr>
                            <m:t>|</m:t>
                          </m:r>
                          <m:r>
                            <a:rPr lang="en-US" sz="2400" b="1" i="1" smtClean="0">
                              <a:latin typeface="Cambria Math" panose="02040503050406030204" pitchFamily="18" charset="0"/>
                            </a:rPr>
                            <m:t>𝑨</m:t>
                          </m:r>
                        </m:e>
                      </m:d>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𝑷</m:t>
                      </m:r>
                      <m:d>
                        <m:dPr>
                          <m:ctrlPr>
                            <a:rPr lang="en-US" sz="2400" b="1" i="1" smtClean="0">
                              <a:latin typeface="Cambria Math" panose="02040503050406030204" pitchFamily="18" charset="0"/>
                              <a:ea typeface="Cambria Math" panose="02040503050406030204" pitchFamily="18" charset="0"/>
                            </a:rPr>
                          </m:ctrlPr>
                        </m:dPr>
                        <m:e>
                          <m:r>
                            <a:rPr lang="en-US" sz="2400" b="1" i="1" smtClean="0">
                              <a:latin typeface="Cambria Math" panose="02040503050406030204" pitchFamily="18" charset="0"/>
                              <a:ea typeface="Cambria Math" panose="02040503050406030204" pitchFamily="18" charset="0"/>
                            </a:rPr>
                            <m:t>𝑨</m:t>
                          </m:r>
                          <m:r>
                            <a:rPr lang="en-US" sz="2400" b="1" i="1">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𝑩</m:t>
                          </m:r>
                        </m:e>
                      </m:d>
                      <m:r>
                        <a:rPr lang="en-US" sz="2400" b="1" i="1" smtClean="0">
                          <a:latin typeface="Cambria Math" panose="02040503050406030204" pitchFamily="18" charset="0"/>
                          <a:ea typeface="Cambria Math" panose="02040503050406030204" pitchFamily="18" charset="0"/>
                        </a:rPr>
                        <m:t> /</m:t>
                      </m:r>
                      <m:r>
                        <a:rPr lang="en-US" sz="2400" b="1" i="1" smtClean="0">
                          <a:latin typeface="Cambria Math" panose="02040503050406030204" pitchFamily="18" charset="0"/>
                          <a:ea typeface="Cambria Math" panose="02040503050406030204" pitchFamily="18" charset="0"/>
                        </a:rPr>
                        <m:t>𝑷</m:t>
                      </m:r>
                      <m:d>
                        <m:dPr>
                          <m:ctrlPr>
                            <a:rPr lang="en-US" sz="2400" b="1" i="1" smtClean="0">
                              <a:latin typeface="Cambria Math" panose="02040503050406030204" pitchFamily="18" charset="0"/>
                              <a:ea typeface="Cambria Math" panose="02040503050406030204" pitchFamily="18" charset="0"/>
                            </a:rPr>
                          </m:ctrlPr>
                        </m:dPr>
                        <m:e>
                          <m:r>
                            <a:rPr lang="en-US" sz="2400" b="1" i="1" smtClean="0">
                              <a:latin typeface="Cambria Math" panose="02040503050406030204" pitchFamily="18" charset="0"/>
                              <a:ea typeface="Cambria Math" panose="02040503050406030204" pitchFamily="18" charset="0"/>
                            </a:rPr>
                            <m:t>𝑨</m:t>
                          </m:r>
                        </m:e>
                      </m:d>
                    </m:oMath>
                  </m:oMathPara>
                </a14:m>
                <a:endParaRPr lang="en-US" sz="2400" b="1" dirty="0"/>
              </a:p>
            </p:txBody>
          </p:sp>
        </mc:Choice>
        <mc:Fallback xmlns="">
          <p:sp>
            <p:nvSpPr>
              <p:cNvPr id="5" name="TextBox 4">
                <a:extLst>
                  <a:ext uri="{FF2B5EF4-FFF2-40B4-BE49-F238E27FC236}">
                    <a16:creationId xmlns:a16="http://schemas.microsoft.com/office/drawing/2014/main" id="{DF7EDA61-6AC7-771E-8160-D29FD560E95C}"/>
                  </a:ext>
                </a:extLst>
              </p:cNvPr>
              <p:cNvSpPr txBox="1">
                <a:spLocks noRot="1" noChangeAspect="1" noMove="1" noResize="1" noEditPoints="1" noAdjustHandles="1" noChangeArrowheads="1" noChangeShapeType="1" noTextEdit="1"/>
              </p:cNvSpPr>
              <p:nvPr/>
            </p:nvSpPr>
            <p:spPr>
              <a:xfrm>
                <a:off x="2569232" y="1861791"/>
                <a:ext cx="3587649" cy="369332"/>
              </a:xfrm>
              <a:prstGeom prst="rect">
                <a:avLst/>
              </a:prstGeom>
              <a:blipFill>
                <a:blip r:embed="rId2"/>
                <a:stretch>
                  <a:fillRect l="-1188" b="-3770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E584C10-AA1D-686E-BBCA-26069885C3E6}"/>
              </a:ext>
            </a:extLst>
          </p:cNvPr>
          <p:cNvPicPr>
            <a:picLocks noChangeAspect="1"/>
          </p:cNvPicPr>
          <p:nvPr/>
        </p:nvPicPr>
        <p:blipFill>
          <a:blip r:embed="rId3"/>
          <a:stretch>
            <a:fillRect/>
          </a:stretch>
        </p:blipFill>
        <p:spPr>
          <a:xfrm>
            <a:off x="905898" y="2452220"/>
            <a:ext cx="2414552" cy="2488235"/>
          </a:xfrm>
          <a:prstGeom prst="rect">
            <a:avLst/>
          </a:prstGeom>
        </p:spPr>
      </p:pic>
      <p:pic>
        <p:nvPicPr>
          <p:cNvPr id="8" name="Picture 7">
            <a:extLst>
              <a:ext uri="{FF2B5EF4-FFF2-40B4-BE49-F238E27FC236}">
                <a16:creationId xmlns:a16="http://schemas.microsoft.com/office/drawing/2014/main" id="{CED6F876-F673-3DCF-3BAC-36A121514D06}"/>
              </a:ext>
            </a:extLst>
          </p:cNvPr>
          <p:cNvPicPr>
            <a:picLocks noChangeAspect="1"/>
          </p:cNvPicPr>
          <p:nvPr/>
        </p:nvPicPr>
        <p:blipFill>
          <a:blip r:embed="rId4"/>
          <a:stretch>
            <a:fillRect/>
          </a:stretch>
        </p:blipFill>
        <p:spPr>
          <a:xfrm>
            <a:off x="3555959" y="3223671"/>
            <a:ext cx="4987268" cy="1449601"/>
          </a:xfrm>
          <a:prstGeom prst="rect">
            <a:avLst/>
          </a:prstGeom>
        </p:spPr>
      </p:pic>
    </p:spTree>
    <p:extLst>
      <p:ext uri="{BB962C8B-B14F-4D97-AF65-F5344CB8AC3E}">
        <p14:creationId xmlns:p14="http://schemas.microsoft.com/office/powerpoint/2010/main" val="2225257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470A-B687-23A6-E10F-2A6097FD5B2C}"/>
              </a:ext>
            </a:extLst>
          </p:cNvPr>
          <p:cNvSpPr>
            <a:spLocks noGrp="1"/>
          </p:cNvSpPr>
          <p:nvPr>
            <p:ph type="title"/>
          </p:nvPr>
        </p:nvSpPr>
        <p:spPr>
          <a:xfrm>
            <a:off x="1381249" y="470228"/>
            <a:ext cx="4299883" cy="435600"/>
          </a:xfrm>
        </p:spPr>
        <p:txBody>
          <a:bodyPr/>
          <a:lstStyle/>
          <a:p>
            <a:r>
              <a:rPr lang="en-US" sz="2400" dirty="0"/>
              <a:t>Conditional Distributions</a:t>
            </a:r>
          </a:p>
        </p:txBody>
      </p:sp>
      <p:sp>
        <p:nvSpPr>
          <p:cNvPr id="3" name="Slide Number Placeholder 2">
            <a:extLst>
              <a:ext uri="{FF2B5EF4-FFF2-40B4-BE49-F238E27FC236}">
                <a16:creationId xmlns:a16="http://schemas.microsoft.com/office/drawing/2014/main" id="{2A9C05E4-18F7-D517-237B-B3044F7DB2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4" name="TextBox 3">
            <a:extLst>
              <a:ext uri="{FF2B5EF4-FFF2-40B4-BE49-F238E27FC236}">
                <a16:creationId xmlns:a16="http://schemas.microsoft.com/office/drawing/2014/main" id="{F6458A5F-3BDE-6512-2E19-E87B0BB5236B}"/>
              </a:ext>
            </a:extLst>
          </p:cNvPr>
          <p:cNvSpPr txBox="1"/>
          <p:nvPr/>
        </p:nvSpPr>
        <p:spPr>
          <a:xfrm>
            <a:off x="903577" y="1095401"/>
            <a:ext cx="7639650" cy="221599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Conditional distributions are probability distributions over some variables given fixed values of others</a:t>
            </a: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1800" dirty="0">
              <a:latin typeface="Georgia" panose="02040502050405020303" pitchFamily="18" charset="0"/>
            </a:endParaRPr>
          </a:p>
        </p:txBody>
      </p:sp>
      <p:pic>
        <p:nvPicPr>
          <p:cNvPr id="5" name="Picture 4">
            <a:extLst>
              <a:ext uri="{FF2B5EF4-FFF2-40B4-BE49-F238E27FC236}">
                <a16:creationId xmlns:a16="http://schemas.microsoft.com/office/drawing/2014/main" id="{A89D7285-3455-DC82-6867-4081E9099CE6}"/>
              </a:ext>
            </a:extLst>
          </p:cNvPr>
          <p:cNvPicPr>
            <a:picLocks noChangeAspect="1"/>
          </p:cNvPicPr>
          <p:nvPr/>
        </p:nvPicPr>
        <p:blipFill>
          <a:blip r:embed="rId2"/>
          <a:stretch>
            <a:fillRect/>
          </a:stretch>
        </p:blipFill>
        <p:spPr>
          <a:xfrm>
            <a:off x="990565" y="1944220"/>
            <a:ext cx="2414552" cy="2488235"/>
          </a:xfrm>
          <a:prstGeom prst="rect">
            <a:avLst/>
          </a:prstGeom>
        </p:spPr>
      </p:pic>
      <p:sp>
        <p:nvSpPr>
          <p:cNvPr id="6" name="Arrow: Right 5">
            <a:extLst>
              <a:ext uri="{FF2B5EF4-FFF2-40B4-BE49-F238E27FC236}">
                <a16:creationId xmlns:a16="http://schemas.microsoft.com/office/drawing/2014/main" id="{0AE3EF8A-740C-730F-24BC-B44C4AEFC06F}"/>
              </a:ext>
            </a:extLst>
          </p:cNvPr>
          <p:cNvSpPr/>
          <p:nvPr/>
        </p:nvSpPr>
        <p:spPr>
          <a:xfrm>
            <a:off x="3953933" y="3188337"/>
            <a:ext cx="821267" cy="423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E8F2B11-733D-7EFD-F31E-B5E38CF92F64}"/>
              </a:ext>
            </a:extLst>
          </p:cNvPr>
          <p:cNvPicPr>
            <a:picLocks noChangeAspect="1"/>
          </p:cNvPicPr>
          <p:nvPr/>
        </p:nvPicPr>
        <p:blipFill>
          <a:blip r:embed="rId3"/>
          <a:stretch>
            <a:fillRect/>
          </a:stretch>
        </p:blipFill>
        <p:spPr>
          <a:xfrm>
            <a:off x="5503118" y="1983874"/>
            <a:ext cx="1846039" cy="3034181"/>
          </a:xfrm>
          <a:prstGeom prst="rect">
            <a:avLst/>
          </a:prstGeom>
        </p:spPr>
      </p:pic>
    </p:spTree>
    <p:extLst>
      <p:ext uri="{BB962C8B-B14F-4D97-AF65-F5344CB8AC3E}">
        <p14:creationId xmlns:p14="http://schemas.microsoft.com/office/powerpoint/2010/main" val="3383268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F2ED-78B2-36EF-C8B7-1B6735188024}"/>
              </a:ext>
            </a:extLst>
          </p:cNvPr>
          <p:cNvSpPr>
            <a:spLocks noGrp="1"/>
          </p:cNvSpPr>
          <p:nvPr>
            <p:ph type="title"/>
          </p:nvPr>
        </p:nvSpPr>
        <p:spPr/>
        <p:txBody>
          <a:bodyPr/>
          <a:lstStyle/>
          <a:p>
            <a:r>
              <a:rPr lang="en-US" sz="2400" dirty="0"/>
              <a:t>Normalization</a:t>
            </a:r>
          </a:p>
        </p:txBody>
      </p:sp>
      <p:sp>
        <p:nvSpPr>
          <p:cNvPr id="3" name="Slide Number Placeholder 2">
            <a:extLst>
              <a:ext uri="{FF2B5EF4-FFF2-40B4-BE49-F238E27FC236}">
                <a16:creationId xmlns:a16="http://schemas.microsoft.com/office/drawing/2014/main" id="{E2DFDEAF-F542-CB5F-FD03-3362E3D96B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4" name="TextBox 3">
            <a:extLst>
              <a:ext uri="{FF2B5EF4-FFF2-40B4-BE49-F238E27FC236}">
                <a16:creationId xmlns:a16="http://schemas.microsoft.com/office/drawing/2014/main" id="{48518F36-47E5-6156-13B4-E2821852D725}"/>
              </a:ext>
            </a:extLst>
          </p:cNvPr>
          <p:cNvSpPr txBox="1"/>
          <p:nvPr/>
        </p:nvSpPr>
        <p:spPr>
          <a:xfrm>
            <a:off x="903577" y="1095401"/>
            <a:ext cx="7639650" cy="313932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Normalization is a process of bringing or restoring probabilities to </a:t>
            </a:r>
            <a:r>
              <a:rPr lang="en-US" sz="2000" b="1" i="0" dirty="0">
                <a:solidFill>
                  <a:srgbClr val="0070C0"/>
                </a:solidFill>
                <a:effectLst/>
                <a:latin typeface="Georgia" panose="02040502050405020303" pitchFamily="18" charset="0"/>
              </a:rPr>
              <a:t>normal condition </a:t>
            </a:r>
            <a:r>
              <a:rPr lang="en-US" sz="2000" b="0" i="0" dirty="0">
                <a:solidFill>
                  <a:srgbClr val="202124"/>
                </a:solidFill>
                <a:effectLst/>
                <a:latin typeface="Georgia" panose="02040502050405020303" pitchFamily="18" charset="0"/>
                <a:sym typeface="Wingdings" panose="05000000000000000000" pitchFamily="2" charset="2"/>
              </a:rPr>
              <a:t> All entries sum to ONE</a:t>
            </a:r>
            <a:r>
              <a:rPr lang="en-US" sz="2000" b="0" i="0" dirty="0">
                <a:solidFill>
                  <a:srgbClr val="202124"/>
                </a:solidFill>
                <a:effectLst/>
                <a:latin typeface="Georgia" panose="02040502050405020303" pitchFamily="18" charset="0"/>
              </a:rPr>
              <a:t> </a:t>
            </a: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r>
              <a:rPr lang="en-US" sz="2000" dirty="0">
                <a:solidFill>
                  <a:srgbClr val="040C28"/>
                </a:solidFill>
                <a:latin typeface="Georgia" panose="02040502050405020303" pitchFamily="18" charset="0"/>
              </a:rPr>
              <a:t>Procedure:</a:t>
            </a:r>
          </a:p>
          <a:p>
            <a:pPr lvl="3"/>
            <a:r>
              <a:rPr lang="en-US" sz="2000" dirty="0">
                <a:solidFill>
                  <a:srgbClr val="040C28"/>
                </a:solidFill>
                <a:latin typeface="Georgia" panose="02040502050405020303" pitchFamily="18" charset="0"/>
              </a:rPr>
              <a:t>     Step 1: Computer Z = sum over all entry</a:t>
            </a:r>
          </a:p>
          <a:p>
            <a:pPr lvl="3"/>
            <a:r>
              <a:rPr lang="en-US" sz="2000" b="0" i="0" dirty="0">
                <a:solidFill>
                  <a:srgbClr val="040C28"/>
                </a:solidFill>
                <a:effectLst/>
                <a:latin typeface="Georgia" panose="02040502050405020303" pitchFamily="18" charset="0"/>
              </a:rPr>
              <a:t>     Step 2: Divide every entry </a:t>
            </a:r>
            <a:r>
              <a:rPr lang="en-US" sz="2000" dirty="0">
                <a:solidFill>
                  <a:srgbClr val="040C28"/>
                </a:solidFill>
                <a:latin typeface="Georgia" panose="02040502050405020303" pitchFamily="18" charset="0"/>
              </a:rPr>
              <a:t>by Z</a:t>
            </a: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1800" dirty="0">
              <a:latin typeface="Georgia" panose="02040502050405020303" pitchFamily="18" charset="0"/>
            </a:endParaRPr>
          </a:p>
        </p:txBody>
      </p:sp>
      <p:pic>
        <p:nvPicPr>
          <p:cNvPr id="6" name="Picture 5">
            <a:extLst>
              <a:ext uri="{FF2B5EF4-FFF2-40B4-BE49-F238E27FC236}">
                <a16:creationId xmlns:a16="http://schemas.microsoft.com/office/drawing/2014/main" id="{04A8D63D-7143-06C8-4D90-A136DD53D891}"/>
              </a:ext>
            </a:extLst>
          </p:cNvPr>
          <p:cNvPicPr>
            <a:picLocks noChangeAspect="1"/>
          </p:cNvPicPr>
          <p:nvPr/>
        </p:nvPicPr>
        <p:blipFill>
          <a:blip r:embed="rId2"/>
          <a:stretch>
            <a:fillRect/>
          </a:stretch>
        </p:blipFill>
        <p:spPr>
          <a:xfrm>
            <a:off x="524801" y="3522498"/>
            <a:ext cx="3824768" cy="1211808"/>
          </a:xfrm>
          <a:prstGeom prst="rect">
            <a:avLst/>
          </a:prstGeom>
        </p:spPr>
      </p:pic>
      <p:pic>
        <p:nvPicPr>
          <p:cNvPr id="8" name="Picture 7">
            <a:extLst>
              <a:ext uri="{FF2B5EF4-FFF2-40B4-BE49-F238E27FC236}">
                <a16:creationId xmlns:a16="http://schemas.microsoft.com/office/drawing/2014/main" id="{49FFCED3-8829-AA07-C5B1-8294108225E4}"/>
              </a:ext>
            </a:extLst>
          </p:cNvPr>
          <p:cNvPicPr>
            <a:picLocks noChangeAspect="1"/>
          </p:cNvPicPr>
          <p:nvPr/>
        </p:nvPicPr>
        <p:blipFill>
          <a:blip r:embed="rId3"/>
          <a:stretch>
            <a:fillRect/>
          </a:stretch>
        </p:blipFill>
        <p:spPr>
          <a:xfrm>
            <a:off x="4833876" y="3423320"/>
            <a:ext cx="4088127" cy="1326531"/>
          </a:xfrm>
          <a:prstGeom prst="rect">
            <a:avLst/>
          </a:prstGeom>
        </p:spPr>
      </p:pic>
    </p:spTree>
    <p:extLst>
      <p:ext uri="{BB962C8B-B14F-4D97-AF65-F5344CB8AC3E}">
        <p14:creationId xmlns:p14="http://schemas.microsoft.com/office/powerpoint/2010/main" val="205343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C73B-FEC6-8FD8-AB30-BEF06ED09983}"/>
              </a:ext>
            </a:extLst>
          </p:cNvPr>
          <p:cNvSpPr>
            <a:spLocks noGrp="1"/>
          </p:cNvSpPr>
          <p:nvPr>
            <p:ph type="title"/>
          </p:nvPr>
        </p:nvSpPr>
        <p:spPr/>
        <p:txBody>
          <a:bodyPr/>
          <a:lstStyle/>
          <a:p>
            <a:r>
              <a:rPr lang="en-US" sz="2400" dirty="0"/>
              <a:t>Probabilistic Inference</a:t>
            </a:r>
          </a:p>
        </p:txBody>
      </p:sp>
      <p:sp>
        <p:nvSpPr>
          <p:cNvPr id="3" name="Slide Number Placeholder 2">
            <a:extLst>
              <a:ext uri="{FF2B5EF4-FFF2-40B4-BE49-F238E27FC236}">
                <a16:creationId xmlns:a16="http://schemas.microsoft.com/office/drawing/2014/main" id="{DDB5EFAA-6A29-AD94-08F3-A8311BB8AA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4" name="TextBox 3">
            <a:extLst>
              <a:ext uri="{FF2B5EF4-FFF2-40B4-BE49-F238E27FC236}">
                <a16:creationId xmlns:a16="http://schemas.microsoft.com/office/drawing/2014/main" id="{5584C5A0-BC89-1A48-4AAD-5F0EE2C8EA99}"/>
              </a:ext>
            </a:extLst>
          </p:cNvPr>
          <p:cNvSpPr txBox="1"/>
          <p:nvPr/>
        </p:nvSpPr>
        <p:spPr>
          <a:xfrm>
            <a:off x="902156" y="1109622"/>
            <a:ext cx="7725377" cy="2862322"/>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1800" b="1" dirty="0">
                <a:solidFill>
                  <a:srgbClr val="0070C0"/>
                </a:solidFill>
                <a:latin typeface="Georgia" panose="02040502050405020303" pitchFamily="18" charset="0"/>
              </a:rPr>
              <a:t>Probabilistic inference</a:t>
            </a:r>
            <a:r>
              <a:rPr lang="en-US" sz="1800" dirty="0">
                <a:latin typeface="Georgia" panose="02040502050405020303" pitchFamily="18" charset="0"/>
              </a:rPr>
              <a:t>: compute a desired probability from other known probabilities </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Generally compute conditional probabilities </a:t>
            </a:r>
          </a:p>
          <a:p>
            <a:pPr>
              <a:spcBef>
                <a:spcPts val="600"/>
              </a:spcBef>
              <a:spcAft>
                <a:spcPts val="600"/>
              </a:spcAft>
            </a:pPr>
            <a:r>
              <a:rPr lang="en-US" sz="1800" dirty="0">
                <a:latin typeface="Georgia" panose="02040502050405020303" pitchFamily="18" charset="0"/>
              </a:rPr>
              <a:t>	P(no accident | light traffic) = 0.90</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Probabilities change with new evidence</a:t>
            </a:r>
          </a:p>
          <a:p>
            <a:pPr lvl="1">
              <a:spcBef>
                <a:spcPts val="600"/>
              </a:spcBef>
              <a:spcAft>
                <a:spcPts val="600"/>
              </a:spcAft>
            </a:pPr>
            <a:r>
              <a:rPr lang="en-US" sz="1800" dirty="0">
                <a:latin typeface="Georgia" panose="02040502050405020303" pitchFamily="18" charset="0"/>
              </a:rPr>
              <a:t>	</a:t>
            </a:r>
            <a:r>
              <a:rPr lang="en-US" sz="2000" dirty="0">
                <a:latin typeface="Georgia" panose="02040502050405020303" pitchFamily="18" charset="0"/>
              </a:rPr>
              <a:t> P(no accident | light traffic, 5 am) = 0.95</a:t>
            </a:r>
          </a:p>
          <a:p>
            <a:pPr lvl="1">
              <a:spcBef>
                <a:spcPts val="600"/>
              </a:spcBef>
              <a:spcAft>
                <a:spcPts val="600"/>
              </a:spcAft>
            </a:pPr>
            <a:r>
              <a:rPr lang="en-US" sz="2000" dirty="0">
                <a:latin typeface="Georgia" panose="02040502050405020303" pitchFamily="18" charset="0"/>
              </a:rPr>
              <a:t>	 P(no accident | light traffic, 5 am, raining) = 0.70</a:t>
            </a:r>
          </a:p>
        </p:txBody>
      </p:sp>
    </p:spTree>
    <p:extLst>
      <p:ext uri="{BB962C8B-B14F-4D97-AF65-F5344CB8AC3E}">
        <p14:creationId xmlns:p14="http://schemas.microsoft.com/office/powerpoint/2010/main" val="1139600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C73B-FEC6-8FD8-AB30-BEF06ED09983}"/>
              </a:ext>
            </a:extLst>
          </p:cNvPr>
          <p:cNvSpPr>
            <a:spLocks noGrp="1"/>
          </p:cNvSpPr>
          <p:nvPr>
            <p:ph type="title"/>
          </p:nvPr>
        </p:nvSpPr>
        <p:spPr/>
        <p:txBody>
          <a:bodyPr/>
          <a:lstStyle/>
          <a:p>
            <a:r>
              <a:rPr lang="en-US" sz="2400" dirty="0"/>
              <a:t>Probabilistic Inference</a:t>
            </a:r>
          </a:p>
        </p:txBody>
      </p:sp>
      <p:sp>
        <p:nvSpPr>
          <p:cNvPr id="3" name="Slide Number Placeholder 2">
            <a:extLst>
              <a:ext uri="{FF2B5EF4-FFF2-40B4-BE49-F238E27FC236}">
                <a16:creationId xmlns:a16="http://schemas.microsoft.com/office/drawing/2014/main" id="{DDB5EFAA-6A29-AD94-08F3-A8311BB8AA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Picture 5">
            <a:extLst>
              <a:ext uri="{FF2B5EF4-FFF2-40B4-BE49-F238E27FC236}">
                <a16:creationId xmlns:a16="http://schemas.microsoft.com/office/drawing/2014/main" id="{9C58BCF3-B3DD-9780-4F3C-D29C70EA88EB}"/>
              </a:ext>
            </a:extLst>
          </p:cNvPr>
          <p:cNvPicPr>
            <a:picLocks noChangeAspect="1"/>
          </p:cNvPicPr>
          <p:nvPr/>
        </p:nvPicPr>
        <p:blipFill>
          <a:blip r:embed="rId2"/>
          <a:stretch>
            <a:fillRect/>
          </a:stretch>
        </p:blipFill>
        <p:spPr>
          <a:xfrm>
            <a:off x="752241" y="1133445"/>
            <a:ext cx="7959959" cy="1004009"/>
          </a:xfrm>
          <a:prstGeom prst="rect">
            <a:avLst/>
          </a:prstGeom>
        </p:spPr>
      </p:pic>
      <p:pic>
        <p:nvPicPr>
          <p:cNvPr id="8" name="Picture 7">
            <a:extLst>
              <a:ext uri="{FF2B5EF4-FFF2-40B4-BE49-F238E27FC236}">
                <a16:creationId xmlns:a16="http://schemas.microsoft.com/office/drawing/2014/main" id="{737B23D8-7079-72A5-6FE8-5743478645B1}"/>
              </a:ext>
            </a:extLst>
          </p:cNvPr>
          <p:cNvPicPr>
            <a:picLocks noChangeAspect="1"/>
          </p:cNvPicPr>
          <p:nvPr/>
        </p:nvPicPr>
        <p:blipFill>
          <a:blip r:embed="rId3"/>
          <a:stretch>
            <a:fillRect/>
          </a:stretch>
        </p:blipFill>
        <p:spPr>
          <a:xfrm>
            <a:off x="728133" y="2201806"/>
            <a:ext cx="7687733" cy="2548045"/>
          </a:xfrm>
          <a:prstGeom prst="rect">
            <a:avLst/>
          </a:prstGeom>
        </p:spPr>
      </p:pic>
    </p:spTree>
    <p:extLst>
      <p:ext uri="{BB962C8B-B14F-4D97-AF65-F5344CB8AC3E}">
        <p14:creationId xmlns:p14="http://schemas.microsoft.com/office/powerpoint/2010/main" val="245525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90550-7908-52A1-745F-E95BC5A065D1}"/>
              </a:ext>
            </a:extLst>
          </p:cNvPr>
          <p:cNvSpPr>
            <a:spLocks noGrp="1"/>
          </p:cNvSpPr>
          <p:nvPr>
            <p:ph type="title"/>
          </p:nvPr>
        </p:nvSpPr>
        <p:spPr/>
        <p:txBody>
          <a:bodyPr/>
          <a:lstStyle/>
          <a:p>
            <a:r>
              <a:rPr lang="en-US" sz="2400" dirty="0"/>
              <a:t>Probabilistic Inference</a:t>
            </a:r>
          </a:p>
        </p:txBody>
      </p:sp>
      <p:sp>
        <p:nvSpPr>
          <p:cNvPr id="3" name="Slide Number Placeholder 2">
            <a:extLst>
              <a:ext uri="{FF2B5EF4-FFF2-40B4-BE49-F238E27FC236}">
                <a16:creationId xmlns:a16="http://schemas.microsoft.com/office/drawing/2014/main" id="{72797AAA-82DF-A51B-1BCE-64746F024D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5" name="Picture 4">
            <a:extLst>
              <a:ext uri="{FF2B5EF4-FFF2-40B4-BE49-F238E27FC236}">
                <a16:creationId xmlns:a16="http://schemas.microsoft.com/office/drawing/2014/main" id="{168DF186-E4CB-59B3-8268-C4BF00C8262C}"/>
              </a:ext>
            </a:extLst>
          </p:cNvPr>
          <p:cNvPicPr>
            <a:picLocks noChangeAspect="1"/>
          </p:cNvPicPr>
          <p:nvPr/>
        </p:nvPicPr>
        <p:blipFill>
          <a:blip r:embed="rId2"/>
          <a:stretch>
            <a:fillRect/>
          </a:stretch>
        </p:blipFill>
        <p:spPr>
          <a:xfrm>
            <a:off x="4886245" y="1095299"/>
            <a:ext cx="3130711" cy="2952902"/>
          </a:xfrm>
          <a:prstGeom prst="rect">
            <a:avLst/>
          </a:prstGeom>
        </p:spPr>
      </p:pic>
      <p:sp>
        <p:nvSpPr>
          <p:cNvPr id="6" name="TextBox 5">
            <a:extLst>
              <a:ext uri="{FF2B5EF4-FFF2-40B4-BE49-F238E27FC236}">
                <a16:creationId xmlns:a16="http://schemas.microsoft.com/office/drawing/2014/main" id="{7314C9D3-F9FD-D186-4383-2AD868924A32}"/>
              </a:ext>
            </a:extLst>
          </p:cNvPr>
          <p:cNvSpPr txBox="1"/>
          <p:nvPr/>
        </p:nvSpPr>
        <p:spPr>
          <a:xfrm>
            <a:off x="1381250" y="1329757"/>
            <a:ext cx="4541910" cy="1938992"/>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n-US" sz="2000" dirty="0">
                <a:latin typeface="Georgia" panose="02040502050405020303" pitchFamily="18" charset="0"/>
              </a:rPr>
              <a:t>P(W)?</a:t>
            </a:r>
          </a:p>
          <a:p>
            <a:pPr marL="342900" indent="-342900">
              <a:spcBef>
                <a:spcPts val="600"/>
              </a:spcBef>
              <a:buFont typeface="Arial" panose="020B0604020202020204" pitchFamily="34" charset="0"/>
              <a:buChar char="•"/>
            </a:pPr>
            <a:endParaRPr lang="en-US" sz="2000" dirty="0">
              <a:latin typeface="Georgia" panose="02040502050405020303" pitchFamily="18" charset="0"/>
            </a:endParaRPr>
          </a:p>
          <a:p>
            <a:pPr marL="342900" indent="-342900">
              <a:spcBef>
                <a:spcPts val="600"/>
              </a:spcBef>
              <a:buFont typeface="Arial" panose="020B0604020202020204" pitchFamily="34" charset="0"/>
              <a:buChar char="•"/>
            </a:pPr>
            <a:r>
              <a:rPr lang="en-US" sz="2000" dirty="0">
                <a:latin typeface="Georgia" panose="02040502050405020303" pitchFamily="18" charset="0"/>
              </a:rPr>
              <a:t>P(W | winter)?</a:t>
            </a:r>
          </a:p>
          <a:p>
            <a:pPr marL="342900" indent="-342900">
              <a:spcBef>
                <a:spcPts val="600"/>
              </a:spcBef>
              <a:buFont typeface="Arial" panose="020B0604020202020204" pitchFamily="34" charset="0"/>
              <a:buChar char="•"/>
            </a:pPr>
            <a:endParaRPr lang="en-US" sz="2000" dirty="0">
              <a:latin typeface="Georgia" panose="02040502050405020303" pitchFamily="18" charset="0"/>
            </a:endParaRPr>
          </a:p>
          <a:p>
            <a:pPr marL="342900" indent="-342900">
              <a:spcBef>
                <a:spcPts val="600"/>
              </a:spcBef>
              <a:buFont typeface="Arial" panose="020B0604020202020204" pitchFamily="34" charset="0"/>
              <a:buChar char="•"/>
            </a:pPr>
            <a:r>
              <a:rPr lang="en-US" sz="2000" dirty="0">
                <a:latin typeface="Georgia" panose="02040502050405020303" pitchFamily="18" charset="0"/>
              </a:rPr>
              <a:t>P(W | winter, hot)?</a:t>
            </a:r>
          </a:p>
        </p:txBody>
      </p:sp>
    </p:spTree>
    <p:extLst>
      <p:ext uri="{BB962C8B-B14F-4D97-AF65-F5344CB8AC3E}">
        <p14:creationId xmlns:p14="http://schemas.microsoft.com/office/powerpoint/2010/main" val="3389962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0354-2255-2929-9C4B-E8F8BF74EB54}"/>
              </a:ext>
            </a:extLst>
          </p:cNvPr>
          <p:cNvSpPr>
            <a:spLocks noGrp="1"/>
          </p:cNvSpPr>
          <p:nvPr>
            <p:ph type="title"/>
          </p:nvPr>
        </p:nvSpPr>
        <p:spPr/>
        <p:txBody>
          <a:bodyPr/>
          <a:lstStyle/>
          <a:p>
            <a:r>
              <a:rPr lang="en-US" sz="2400" dirty="0"/>
              <a:t>The Product Rule</a:t>
            </a:r>
          </a:p>
        </p:txBody>
      </p:sp>
      <p:sp>
        <p:nvSpPr>
          <p:cNvPr id="3" name="Slide Number Placeholder 2">
            <a:extLst>
              <a:ext uri="{FF2B5EF4-FFF2-40B4-BE49-F238E27FC236}">
                <a16:creationId xmlns:a16="http://schemas.microsoft.com/office/drawing/2014/main" id="{EF7BCE4A-3CF4-21EA-8DDE-4C36BEB1B9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4" name="Picture 3" descr="txp_fig.png">
            <a:extLst>
              <a:ext uri="{FF2B5EF4-FFF2-40B4-BE49-F238E27FC236}">
                <a16:creationId xmlns:a16="http://schemas.microsoft.com/office/drawing/2014/main" id="{045CAAC6-927D-749A-D2A4-93890A5D22E5}"/>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bwMode="auto">
          <a:xfrm>
            <a:off x="677682" y="1302537"/>
            <a:ext cx="3369384" cy="341821"/>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7357" dir="2700000" rotWithShape="0">
                    <a:scrgbClr r="0" g="0" b="0"/>
                  </a:outerShdw>
                </a:effectLst>
              </a14:hiddenEffects>
            </a:ext>
            <a:ext uri="{31F19639-BCED-4A60-ADC4-E9642A236FB7}">
              <a14:hiddenScene3d xmlns:a14="http://schemas.microsoft.com/office/drawing/2010/main">
                <a:camera prst="orthographicFront">
                  <a:rot lat="0" lon="0" rev="0"/>
                </a:camera>
                <a:lightRig rig="threePt" dir="t">
                  <a:rot lat="0" lon="0" rev="0"/>
                </a:lightRig>
              </a14:hiddenScene3d>
            </a:ext>
            <a:ext uri="{E45631CC-5BF2-4C18-A39C-3461C7D3F71A}">
              <a14:hiddenSp3d xmlns:a14="http://schemas.microsoft.com/office/drawing/2010/main" extrusionH="457200">
                <a:contourClr>
                  <a:srgbClr val="000000"/>
                </a:contourClr>
              </a14:hiddenSp3d>
            </a:ext>
            <a:ext uri="{53640926-AAD7-44D8-BBD7-CCE9431645EC}">
              <a14:shadowObscured xmlns:a14="http://schemas.microsoft.com/office/drawing/2010/main"/>
            </a:ext>
          </a:extLst>
        </p:spPr>
      </p:pic>
      <p:sp>
        <p:nvSpPr>
          <p:cNvPr id="5" name="Arrow: Left-Right 4">
            <a:extLst>
              <a:ext uri="{FF2B5EF4-FFF2-40B4-BE49-F238E27FC236}">
                <a16:creationId xmlns:a16="http://schemas.microsoft.com/office/drawing/2014/main" id="{EF78470F-2B0B-EC9F-147D-C3A68BEA030C}"/>
              </a:ext>
            </a:extLst>
          </p:cNvPr>
          <p:cNvSpPr/>
          <p:nvPr/>
        </p:nvSpPr>
        <p:spPr>
          <a:xfrm>
            <a:off x="4277519" y="1341925"/>
            <a:ext cx="728133" cy="256268"/>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8" descr="txp_fig">
            <a:extLst>
              <a:ext uri="{FF2B5EF4-FFF2-40B4-BE49-F238E27FC236}">
                <a16:creationId xmlns:a16="http://schemas.microsoft.com/office/drawing/2014/main" id="{FFBBA4C0-181A-4BA7-6ED8-711BBCA75754}"/>
              </a:ext>
            </a:extLst>
          </p:cNvPr>
          <p:cNvPicPr>
            <a:picLocks noChangeAspect="1" noChangeArrowheads="1"/>
          </p:cNvPicPr>
          <p:nvPr>
            <p:custDataLst>
              <p:tags r:id="rId2"/>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5236105" y="986878"/>
            <a:ext cx="3232384" cy="96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AE558C72-D4BE-FD6C-4275-014F0BFE861B}"/>
              </a:ext>
            </a:extLst>
          </p:cNvPr>
          <p:cNvPicPr>
            <a:picLocks noChangeAspect="1"/>
          </p:cNvPicPr>
          <p:nvPr/>
        </p:nvPicPr>
        <p:blipFill>
          <a:blip r:embed="rId6"/>
          <a:stretch>
            <a:fillRect/>
          </a:stretch>
        </p:blipFill>
        <p:spPr>
          <a:xfrm>
            <a:off x="364416" y="2838743"/>
            <a:ext cx="3640887" cy="1980908"/>
          </a:xfrm>
          <a:prstGeom prst="rect">
            <a:avLst/>
          </a:prstGeom>
        </p:spPr>
      </p:pic>
      <p:sp>
        <p:nvSpPr>
          <p:cNvPr id="9" name="Arrow: Left-Right 8">
            <a:extLst>
              <a:ext uri="{FF2B5EF4-FFF2-40B4-BE49-F238E27FC236}">
                <a16:creationId xmlns:a16="http://schemas.microsoft.com/office/drawing/2014/main" id="{E6569CF7-2ADD-C5F3-F62B-0190C7B7C2E9}"/>
              </a:ext>
            </a:extLst>
          </p:cNvPr>
          <p:cNvSpPr/>
          <p:nvPr/>
        </p:nvSpPr>
        <p:spPr>
          <a:xfrm>
            <a:off x="4410566" y="3800553"/>
            <a:ext cx="728133" cy="256268"/>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7289AC4-EE2D-BE72-47B3-28984671525E}"/>
              </a:ext>
            </a:extLst>
          </p:cNvPr>
          <p:cNvPicPr>
            <a:picLocks noChangeAspect="1"/>
          </p:cNvPicPr>
          <p:nvPr/>
        </p:nvPicPr>
        <p:blipFill>
          <a:blip r:embed="rId7"/>
          <a:stretch>
            <a:fillRect/>
          </a:stretch>
        </p:blipFill>
        <p:spPr>
          <a:xfrm>
            <a:off x="5543962" y="2724043"/>
            <a:ext cx="2235315" cy="2095608"/>
          </a:xfrm>
          <a:prstGeom prst="rect">
            <a:avLst/>
          </a:prstGeom>
        </p:spPr>
      </p:pic>
    </p:spTree>
    <p:extLst>
      <p:ext uri="{BB962C8B-B14F-4D97-AF65-F5344CB8AC3E}">
        <p14:creationId xmlns:p14="http://schemas.microsoft.com/office/powerpoint/2010/main" val="4173131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95C4-B9A9-67E3-CCCB-7C5859D4D946}"/>
              </a:ext>
            </a:extLst>
          </p:cNvPr>
          <p:cNvSpPr>
            <a:spLocks noGrp="1"/>
          </p:cNvSpPr>
          <p:nvPr>
            <p:ph type="title"/>
          </p:nvPr>
        </p:nvSpPr>
        <p:spPr/>
        <p:txBody>
          <a:bodyPr/>
          <a:lstStyle/>
          <a:p>
            <a:r>
              <a:rPr lang="en-US" sz="2400" dirty="0"/>
              <a:t>The Chain Rule</a:t>
            </a:r>
          </a:p>
        </p:txBody>
      </p:sp>
      <p:sp>
        <p:nvSpPr>
          <p:cNvPr id="3" name="Slide Number Placeholder 2">
            <a:extLst>
              <a:ext uri="{FF2B5EF4-FFF2-40B4-BE49-F238E27FC236}">
                <a16:creationId xmlns:a16="http://schemas.microsoft.com/office/drawing/2014/main" id="{79F44F0F-B976-CBB2-1A6C-4F68C35112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4" name="Picture 8" descr="txp_fig">
            <a:extLst>
              <a:ext uri="{FF2B5EF4-FFF2-40B4-BE49-F238E27FC236}">
                <a16:creationId xmlns:a16="http://schemas.microsoft.com/office/drawing/2014/main" id="{16ED0B5E-5561-90DF-EA5C-7C1E6BD9CB14}"/>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1797375" y="2243429"/>
            <a:ext cx="6213350" cy="33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txp_fig">
            <a:extLst>
              <a:ext uri="{FF2B5EF4-FFF2-40B4-BE49-F238E27FC236}">
                <a16:creationId xmlns:a16="http://schemas.microsoft.com/office/drawing/2014/main" id="{95E6B639-F477-8D5F-896F-532BCB02A84A}"/>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797375" y="1375375"/>
            <a:ext cx="4964113"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225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3E56-7040-4D91-A48D-8AACCBF9F0B9}"/>
              </a:ext>
            </a:extLst>
          </p:cNvPr>
          <p:cNvSpPr>
            <a:spLocks noGrp="1"/>
          </p:cNvSpPr>
          <p:nvPr>
            <p:ph type="title"/>
          </p:nvPr>
        </p:nvSpPr>
        <p:spPr/>
        <p:txBody>
          <a:bodyPr/>
          <a:lstStyle/>
          <a:p>
            <a:r>
              <a:rPr lang="en-US" sz="2400" dirty="0"/>
              <a:t>Bayes’ Rule</a:t>
            </a:r>
          </a:p>
        </p:txBody>
      </p:sp>
      <p:sp>
        <p:nvSpPr>
          <p:cNvPr id="3" name="Slide Number Placeholder 2">
            <a:extLst>
              <a:ext uri="{FF2B5EF4-FFF2-40B4-BE49-F238E27FC236}">
                <a16:creationId xmlns:a16="http://schemas.microsoft.com/office/drawing/2014/main" id="{2DA727DC-A44D-76F2-1DEF-46F3E04043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2050" name="Picture 2" descr="Thomas Bayes - Wikipedia">
            <a:extLst>
              <a:ext uri="{FF2B5EF4-FFF2-40B4-BE49-F238E27FC236}">
                <a16:creationId xmlns:a16="http://schemas.microsoft.com/office/drawing/2014/main" id="{10A5E7D1-BAAB-B9A2-923A-9721CB139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977" y="1019175"/>
            <a:ext cx="2895600" cy="3105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960F6CC-3752-6759-1BE3-F4FE61EEBF56}"/>
              </a:ext>
            </a:extLst>
          </p:cNvPr>
          <p:cNvSpPr txBox="1"/>
          <p:nvPr/>
        </p:nvSpPr>
        <p:spPr>
          <a:xfrm>
            <a:off x="6470193" y="4144700"/>
            <a:ext cx="1799167" cy="584775"/>
          </a:xfrm>
          <a:prstGeom prst="rect">
            <a:avLst/>
          </a:prstGeom>
          <a:noFill/>
        </p:spPr>
        <p:txBody>
          <a:bodyPr wrap="square">
            <a:spAutoFit/>
          </a:bodyPr>
          <a:lstStyle/>
          <a:p>
            <a:pPr algn="ctr"/>
            <a:r>
              <a:rPr lang="en-US" sz="1600" b="1" i="0" dirty="0">
                <a:solidFill>
                  <a:srgbClr val="202122"/>
                </a:solidFill>
                <a:effectLst/>
                <a:latin typeface="Georgia" panose="02040502050405020303" pitchFamily="18" charset="0"/>
              </a:rPr>
              <a:t>Thomas Bayes</a:t>
            </a:r>
          </a:p>
          <a:p>
            <a:pPr algn="ctr"/>
            <a:r>
              <a:rPr lang="en-US" sz="1600" b="1" dirty="0">
                <a:solidFill>
                  <a:srgbClr val="202122"/>
                </a:solidFill>
                <a:latin typeface="Georgia" panose="02040502050405020303" pitchFamily="18" charset="0"/>
              </a:rPr>
              <a:t>(1701 – 1761)</a:t>
            </a:r>
            <a:endParaRPr lang="en-US" sz="1600" dirty="0">
              <a:latin typeface="Georgia" panose="02040502050405020303" pitchFamily="18" charset="0"/>
            </a:endParaRPr>
          </a:p>
        </p:txBody>
      </p:sp>
      <p:pic>
        <p:nvPicPr>
          <p:cNvPr id="7" name="Picture 6">
            <a:extLst>
              <a:ext uri="{FF2B5EF4-FFF2-40B4-BE49-F238E27FC236}">
                <a16:creationId xmlns:a16="http://schemas.microsoft.com/office/drawing/2014/main" id="{7286FE7C-A582-74A9-BAAD-682456567043}"/>
              </a:ext>
            </a:extLst>
          </p:cNvPr>
          <p:cNvPicPr>
            <a:picLocks noChangeAspect="1"/>
          </p:cNvPicPr>
          <p:nvPr/>
        </p:nvPicPr>
        <p:blipFill>
          <a:blip r:embed="rId4"/>
          <a:stretch>
            <a:fillRect/>
          </a:stretch>
        </p:blipFill>
        <p:spPr>
          <a:xfrm>
            <a:off x="823266" y="1149338"/>
            <a:ext cx="4534133" cy="457223"/>
          </a:xfrm>
          <a:prstGeom prst="rect">
            <a:avLst/>
          </a:prstGeom>
        </p:spPr>
      </p:pic>
      <p:sp>
        <p:nvSpPr>
          <p:cNvPr id="8" name="TextBox 7">
            <a:extLst>
              <a:ext uri="{FF2B5EF4-FFF2-40B4-BE49-F238E27FC236}">
                <a16:creationId xmlns:a16="http://schemas.microsoft.com/office/drawing/2014/main" id="{F6447217-8C6F-85D3-2BFC-AE3E69414604}"/>
              </a:ext>
            </a:extLst>
          </p:cNvPr>
          <p:cNvSpPr txBox="1"/>
          <p:nvPr/>
        </p:nvSpPr>
        <p:spPr>
          <a:xfrm>
            <a:off x="717739" y="1665405"/>
            <a:ext cx="5132728" cy="3231654"/>
          </a:xfrm>
          <a:prstGeom prst="rect">
            <a:avLst/>
          </a:prstGeom>
          <a:noFill/>
        </p:spPr>
        <p:txBody>
          <a:bodyPr wrap="square" rtlCol="0">
            <a:spAutoFit/>
          </a:bodyPr>
          <a:lstStyle/>
          <a:p>
            <a:pPr>
              <a:spcBef>
                <a:spcPts val="600"/>
              </a:spcBef>
              <a:spcAft>
                <a:spcPts val="600"/>
              </a:spcAft>
            </a:pPr>
            <a:r>
              <a:rPr lang="en-US" sz="1800" b="1" dirty="0">
                <a:latin typeface="Georgia" panose="02040502050405020303" pitchFamily="18" charset="0"/>
              </a:rPr>
              <a:t>Therefore:</a:t>
            </a:r>
          </a:p>
          <a:p>
            <a:pPr>
              <a:spcBef>
                <a:spcPts val="600"/>
              </a:spcBef>
              <a:spcAft>
                <a:spcPts val="600"/>
              </a:spcAft>
            </a:pPr>
            <a:endParaRPr lang="en-US" sz="1800" dirty="0">
              <a:latin typeface="Georgia" panose="02040502050405020303" pitchFamily="18" charset="0"/>
            </a:endParaRPr>
          </a:p>
          <a:p>
            <a:pPr>
              <a:spcBef>
                <a:spcPts val="600"/>
              </a:spcBef>
              <a:spcAft>
                <a:spcPts val="600"/>
              </a:spcAft>
            </a:pPr>
            <a:endParaRPr lang="en-US" sz="1800" dirty="0">
              <a:latin typeface="Georgia" panose="02040502050405020303" pitchFamily="18" charset="0"/>
            </a:endParaRPr>
          </a:p>
          <a:p>
            <a:pPr>
              <a:spcBef>
                <a:spcPts val="600"/>
              </a:spcBef>
              <a:spcAft>
                <a:spcPts val="600"/>
              </a:spcAft>
            </a:pPr>
            <a:r>
              <a:rPr lang="en-US" sz="1800" b="1" dirty="0">
                <a:latin typeface="Georgia" panose="02040502050405020303" pitchFamily="18" charset="0"/>
              </a:rPr>
              <a:t>Bayes’ formular is helpful</a:t>
            </a:r>
          </a:p>
          <a:p>
            <a:pPr marL="285750" indent="-285750">
              <a:spcBef>
                <a:spcPts val="600"/>
              </a:spcBef>
              <a:spcAft>
                <a:spcPts val="600"/>
              </a:spcAft>
              <a:buFont typeface="Arial" panose="020B0604020202020204" pitchFamily="34" charset="0"/>
              <a:buChar char="•"/>
            </a:pPr>
            <a:r>
              <a:rPr lang="en-US" sz="1800" dirty="0">
                <a:latin typeface="Georgia" panose="02040502050405020303" pitchFamily="18" charset="0"/>
              </a:rPr>
              <a:t>Lets us build one conditional from its reverse</a:t>
            </a:r>
          </a:p>
          <a:p>
            <a:pPr marL="285750" indent="-285750">
              <a:spcBef>
                <a:spcPts val="600"/>
              </a:spcBef>
              <a:spcAft>
                <a:spcPts val="600"/>
              </a:spcAft>
              <a:buFont typeface="Arial" panose="020B0604020202020204" pitchFamily="34" charset="0"/>
              <a:buChar char="•"/>
            </a:pPr>
            <a:r>
              <a:rPr lang="en-US" sz="1800" dirty="0">
                <a:latin typeface="Georgia" panose="02040502050405020303" pitchFamily="18" charset="0"/>
              </a:rPr>
              <a:t>Often one conditional is tricky but the other one is simple</a:t>
            </a:r>
          </a:p>
          <a:p>
            <a:pPr marL="285750" indent="-285750">
              <a:spcBef>
                <a:spcPts val="600"/>
              </a:spcBef>
              <a:spcAft>
                <a:spcPts val="600"/>
              </a:spcAft>
              <a:buFont typeface="Arial" panose="020B0604020202020204" pitchFamily="34" charset="0"/>
              <a:buChar char="•"/>
            </a:pPr>
            <a:r>
              <a:rPr lang="en-US" sz="1800" dirty="0">
                <a:latin typeface="Georgia" panose="02040502050405020303" pitchFamily="18" charset="0"/>
              </a:rPr>
              <a:t>Foundation of many advanced systems</a:t>
            </a:r>
          </a:p>
        </p:txBody>
      </p:sp>
      <p:pic>
        <p:nvPicPr>
          <p:cNvPr id="9" name="Picture 8" descr="txp_fig">
            <a:extLst>
              <a:ext uri="{FF2B5EF4-FFF2-40B4-BE49-F238E27FC236}">
                <a16:creationId xmlns:a16="http://schemas.microsoft.com/office/drawing/2014/main" id="{4F01CA96-748C-622A-9E03-C220391FF28E}"/>
              </a:ext>
            </a:extLst>
          </p:cNvPr>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381250" y="2099921"/>
            <a:ext cx="308768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907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85A53-B3CD-4733-8D2F-0D07821E441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276E09D-A9FB-49CB-AA0B-0281A556B8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5" name="Picture 4">
            <a:extLst>
              <a:ext uri="{FF2B5EF4-FFF2-40B4-BE49-F238E27FC236}">
                <a16:creationId xmlns:a16="http://schemas.microsoft.com/office/drawing/2014/main" id="{8A96814C-DC59-4B5B-944B-1B9FCE8695EC}"/>
              </a:ext>
            </a:extLst>
          </p:cNvPr>
          <p:cNvPicPr>
            <a:picLocks noChangeAspect="1"/>
          </p:cNvPicPr>
          <p:nvPr/>
        </p:nvPicPr>
        <p:blipFill>
          <a:blip r:embed="rId2"/>
          <a:stretch>
            <a:fillRect/>
          </a:stretch>
        </p:blipFill>
        <p:spPr>
          <a:xfrm>
            <a:off x="180943" y="395271"/>
            <a:ext cx="8782114" cy="4352957"/>
          </a:xfrm>
          <a:prstGeom prst="rect">
            <a:avLst/>
          </a:prstGeom>
        </p:spPr>
      </p:pic>
    </p:spTree>
    <p:extLst>
      <p:ext uri="{BB962C8B-B14F-4D97-AF65-F5344CB8AC3E}">
        <p14:creationId xmlns:p14="http://schemas.microsoft.com/office/powerpoint/2010/main" val="3224255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6D936-2185-03A9-7697-A9807A5E1111}"/>
              </a:ext>
            </a:extLst>
          </p:cNvPr>
          <p:cNvSpPr>
            <a:spLocks noGrp="1"/>
          </p:cNvSpPr>
          <p:nvPr>
            <p:ph type="title"/>
          </p:nvPr>
        </p:nvSpPr>
        <p:spPr/>
        <p:txBody>
          <a:bodyPr/>
          <a:lstStyle/>
          <a:p>
            <a:r>
              <a:rPr lang="en-US" sz="2400" dirty="0"/>
              <a:t>Inference with Bayes’ Rule</a:t>
            </a:r>
          </a:p>
        </p:txBody>
      </p:sp>
      <p:sp>
        <p:nvSpPr>
          <p:cNvPr id="3" name="Slide Number Placeholder 2">
            <a:extLst>
              <a:ext uri="{FF2B5EF4-FFF2-40B4-BE49-F238E27FC236}">
                <a16:creationId xmlns:a16="http://schemas.microsoft.com/office/drawing/2014/main" id="{D9DB3020-6B64-AF73-2170-283F0838F2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4" name="TextBox 3">
            <a:extLst>
              <a:ext uri="{FF2B5EF4-FFF2-40B4-BE49-F238E27FC236}">
                <a16:creationId xmlns:a16="http://schemas.microsoft.com/office/drawing/2014/main" id="{2D0EF40E-11BD-39F3-030E-BA6C15130F3A}"/>
              </a:ext>
            </a:extLst>
          </p:cNvPr>
          <p:cNvSpPr txBox="1"/>
          <p:nvPr/>
        </p:nvSpPr>
        <p:spPr>
          <a:xfrm>
            <a:off x="902156" y="1109622"/>
            <a:ext cx="7725377" cy="255454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1800" dirty="0">
                <a:solidFill>
                  <a:schemeClr val="tx1"/>
                </a:solidFill>
                <a:latin typeface="Georgia" panose="02040502050405020303" pitchFamily="18" charset="0"/>
              </a:rPr>
              <a:t>Given</a:t>
            </a:r>
          </a:p>
          <a:p>
            <a:pPr marL="342900" indent="-342900">
              <a:spcBef>
                <a:spcPts val="600"/>
              </a:spcBef>
              <a:spcAft>
                <a:spcPts val="600"/>
              </a:spcAft>
              <a:buFont typeface="Arial" panose="020B0604020202020204" pitchFamily="34" charset="0"/>
              <a:buChar char="•"/>
            </a:pPr>
            <a:endParaRPr lang="en-US" sz="1800" dirty="0">
              <a:solidFill>
                <a:schemeClr val="tx1"/>
              </a:solidFill>
              <a:latin typeface="Georgia" panose="02040502050405020303" pitchFamily="18" charset="0"/>
            </a:endParaRPr>
          </a:p>
          <a:p>
            <a:pPr marL="342900" indent="-342900">
              <a:spcBef>
                <a:spcPts val="600"/>
              </a:spcBef>
              <a:spcAft>
                <a:spcPts val="600"/>
              </a:spcAft>
              <a:buFont typeface="Arial" panose="020B0604020202020204" pitchFamily="34" charset="0"/>
              <a:buChar char="•"/>
            </a:pPr>
            <a:endParaRPr lang="en-US" sz="1800" dirty="0">
              <a:solidFill>
                <a:schemeClr val="tx1"/>
              </a:solidFill>
              <a:latin typeface="Georgia" panose="02040502050405020303" pitchFamily="18" charset="0"/>
            </a:endParaRPr>
          </a:p>
          <a:p>
            <a:pPr marL="342900" indent="-342900">
              <a:spcBef>
                <a:spcPts val="600"/>
              </a:spcBef>
              <a:spcAft>
                <a:spcPts val="600"/>
              </a:spcAft>
              <a:buFont typeface="Arial" panose="020B0604020202020204" pitchFamily="34" charset="0"/>
              <a:buChar char="•"/>
            </a:pPr>
            <a:endParaRPr lang="en-US" sz="1800" dirty="0">
              <a:solidFill>
                <a:schemeClr val="tx1"/>
              </a:solidFill>
              <a:latin typeface="Georgia" panose="02040502050405020303" pitchFamily="18" charset="0"/>
            </a:endParaRPr>
          </a:p>
          <a:p>
            <a:pPr marL="342900" indent="-342900">
              <a:spcBef>
                <a:spcPts val="600"/>
              </a:spcBef>
              <a:spcAft>
                <a:spcPts val="600"/>
              </a:spcAft>
              <a:buFont typeface="Arial" panose="020B0604020202020204" pitchFamily="34" charset="0"/>
              <a:buChar char="•"/>
            </a:pPr>
            <a:endParaRPr lang="en-US" sz="1800" dirty="0">
              <a:solidFill>
                <a:schemeClr val="tx1"/>
              </a:solidFill>
              <a:latin typeface="Georgia" panose="02040502050405020303" pitchFamily="18" charset="0"/>
            </a:endParaRPr>
          </a:p>
          <a:p>
            <a:pPr marL="342900" indent="-342900">
              <a:spcBef>
                <a:spcPts val="600"/>
              </a:spcBef>
              <a:spcAft>
                <a:spcPts val="600"/>
              </a:spcAft>
              <a:buFont typeface="Arial" panose="020B0604020202020204" pitchFamily="34" charset="0"/>
              <a:buChar char="•"/>
            </a:pPr>
            <a:r>
              <a:rPr lang="en-US" sz="1800" dirty="0">
                <a:solidFill>
                  <a:schemeClr val="tx1"/>
                </a:solidFill>
                <a:latin typeface="Georgia" panose="02040502050405020303" pitchFamily="18" charset="0"/>
              </a:rPr>
              <a:t>What is P(W | dry) ?</a:t>
            </a:r>
            <a:endParaRPr lang="en-US" sz="2000" dirty="0">
              <a:solidFill>
                <a:schemeClr val="tx1"/>
              </a:solidFill>
              <a:latin typeface="Georgia" panose="02040502050405020303" pitchFamily="18" charset="0"/>
            </a:endParaRPr>
          </a:p>
        </p:txBody>
      </p:sp>
      <p:pic>
        <p:nvPicPr>
          <p:cNvPr id="6" name="Picture 5">
            <a:extLst>
              <a:ext uri="{FF2B5EF4-FFF2-40B4-BE49-F238E27FC236}">
                <a16:creationId xmlns:a16="http://schemas.microsoft.com/office/drawing/2014/main" id="{CEC7F214-4235-6784-A10D-6AF3D51925DE}"/>
              </a:ext>
            </a:extLst>
          </p:cNvPr>
          <p:cNvPicPr>
            <a:picLocks noChangeAspect="1"/>
          </p:cNvPicPr>
          <p:nvPr/>
        </p:nvPicPr>
        <p:blipFill>
          <a:blip r:embed="rId2"/>
          <a:stretch>
            <a:fillRect/>
          </a:stretch>
        </p:blipFill>
        <p:spPr>
          <a:xfrm>
            <a:off x="2138855" y="1294288"/>
            <a:ext cx="1378021" cy="1409772"/>
          </a:xfrm>
          <a:prstGeom prst="rect">
            <a:avLst/>
          </a:prstGeom>
        </p:spPr>
      </p:pic>
      <p:pic>
        <p:nvPicPr>
          <p:cNvPr id="8" name="Picture 7">
            <a:extLst>
              <a:ext uri="{FF2B5EF4-FFF2-40B4-BE49-F238E27FC236}">
                <a16:creationId xmlns:a16="http://schemas.microsoft.com/office/drawing/2014/main" id="{6C910AFA-45AB-55CD-2D25-07777F529C3A}"/>
              </a:ext>
            </a:extLst>
          </p:cNvPr>
          <p:cNvPicPr>
            <a:picLocks noChangeAspect="1"/>
          </p:cNvPicPr>
          <p:nvPr/>
        </p:nvPicPr>
        <p:blipFill>
          <a:blip r:embed="rId3"/>
          <a:stretch>
            <a:fillRect/>
          </a:stretch>
        </p:blipFill>
        <p:spPr>
          <a:xfrm>
            <a:off x="3951764" y="957720"/>
            <a:ext cx="2019404" cy="2082907"/>
          </a:xfrm>
          <a:prstGeom prst="rect">
            <a:avLst/>
          </a:prstGeom>
        </p:spPr>
      </p:pic>
    </p:spTree>
    <p:extLst>
      <p:ext uri="{BB962C8B-B14F-4D97-AF65-F5344CB8AC3E}">
        <p14:creationId xmlns:p14="http://schemas.microsoft.com/office/powerpoint/2010/main" val="2217706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0194-EDD0-EE24-2D07-0F913E9AAD0E}"/>
              </a:ext>
            </a:extLst>
          </p:cNvPr>
          <p:cNvSpPr>
            <a:spLocks noGrp="1"/>
          </p:cNvSpPr>
          <p:nvPr>
            <p:ph type="title"/>
          </p:nvPr>
        </p:nvSpPr>
        <p:spPr/>
        <p:txBody>
          <a:bodyPr/>
          <a:lstStyle/>
          <a:p>
            <a:r>
              <a:rPr lang="en-US" sz="2400" dirty="0"/>
              <a:t>Independence</a:t>
            </a:r>
          </a:p>
        </p:txBody>
      </p:sp>
      <p:sp>
        <p:nvSpPr>
          <p:cNvPr id="3" name="Slide Number Placeholder 2">
            <a:extLst>
              <a:ext uri="{FF2B5EF4-FFF2-40B4-BE49-F238E27FC236}">
                <a16:creationId xmlns:a16="http://schemas.microsoft.com/office/drawing/2014/main" id="{BC21D638-FEF0-3B26-57E0-F802FDAB27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79D99C-326D-9ABE-A831-DFE72CBDE55C}"/>
                  </a:ext>
                </a:extLst>
              </p:cNvPr>
              <p:cNvSpPr txBox="1"/>
              <p:nvPr/>
            </p:nvSpPr>
            <p:spPr>
              <a:xfrm>
                <a:off x="903577" y="1095401"/>
                <a:ext cx="7639650" cy="3262432"/>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Two variables are independent if:</a:t>
                </a:r>
              </a:p>
              <a:p>
                <a:r>
                  <a:rPr lang="en-US" sz="2000" b="0" i="0" dirty="0">
                    <a:solidFill>
                      <a:srgbClr val="040C28"/>
                    </a:solidFill>
                    <a:effectLst/>
                    <a:latin typeface="Georgia" panose="02040502050405020303"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m:t>
                    </m:r>
                  </m:oMath>
                </a14:m>
                <a:endParaRPr lang="en-US" sz="2400" b="0" i="0" dirty="0">
                  <a:solidFill>
                    <a:srgbClr val="040C28"/>
                  </a:solidFill>
                  <a:effectLst/>
                  <a:latin typeface="Georgia" panose="02040502050405020303" pitchFamily="18" charset="0"/>
                </a:endParaRPr>
              </a:p>
              <a:p>
                <a:pPr>
                  <a:spcBef>
                    <a:spcPts val="600"/>
                  </a:spcBef>
                  <a:spcAft>
                    <a:spcPts val="600"/>
                  </a:spcAft>
                </a:pPr>
                <a:r>
                  <a:rPr lang="en-US" sz="2000" dirty="0">
                    <a:solidFill>
                      <a:srgbClr val="040C28"/>
                    </a:solidFill>
                    <a:latin typeface="Georgia" panose="02040502050405020303" pitchFamily="18" charset="0"/>
                  </a:rPr>
                  <a:t>     or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oMath>
                </a14:m>
                <a:endParaRPr lang="en-US" sz="2000" b="0" i="0" dirty="0">
                  <a:solidFill>
                    <a:srgbClr val="040C28"/>
                  </a:solidFill>
                  <a:effectLst/>
                  <a:latin typeface="Georgia" panose="02040502050405020303" pitchFamily="18" charset="0"/>
                </a:endParaRPr>
              </a:p>
              <a:p>
                <a:pPr marL="285750" indent="-285750">
                  <a:spcBef>
                    <a:spcPts val="600"/>
                  </a:spcBef>
                  <a:spcAft>
                    <a:spcPts val="600"/>
                  </a:spcAft>
                  <a:buFont typeface="Arial" panose="020B0604020202020204" pitchFamily="34" charset="0"/>
                  <a:buChar char="•"/>
                </a:pPr>
                <a:r>
                  <a:rPr lang="en-US" sz="2000" dirty="0">
                    <a:solidFill>
                      <a:srgbClr val="040C28"/>
                    </a:solidFill>
                    <a:latin typeface="Georgia" panose="02040502050405020303" pitchFamily="18" charset="0"/>
                  </a:rPr>
                  <a:t>Example: coin flip</a:t>
                </a:r>
              </a:p>
              <a:p>
                <a:r>
                  <a:rPr lang="en-US" sz="2000" dirty="0">
                    <a:solidFill>
                      <a:srgbClr val="040C28"/>
                    </a:solidFill>
                    <a:latin typeface="Georgia" panose="02040502050405020303" pitchFamily="18" charset="0"/>
                  </a:rPr>
                  <a:t>     </a:t>
                </a: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2000" b="0" i="0" dirty="0">
                  <a:solidFill>
                    <a:srgbClr val="040C28"/>
                  </a:solidFill>
                  <a:effectLst/>
                  <a:latin typeface="Georgia" panose="02040502050405020303" pitchFamily="18" charset="0"/>
                </a:endParaRPr>
              </a:p>
              <a:p>
                <a:pPr marL="285750" indent="-285750">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buFont typeface="Arial" panose="020B0604020202020204" pitchFamily="34" charset="0"/>
                  <a:buChar char="•"/>
                </a:pPr>
                <a:endParaRPr lang="en-US" sz="1800" dirty="0">
                  <a:latin typeface="Georgia" panose="02040502050405020303" pitchFamily="18" charset="0"/>
                </a:endParaRPr>
              </a:p>
            </p:txBody>
          </p:sp>
        </mc:Choice>
        <mc:Fallback xmlns="">
          <p:sp>
            <p:nvSpPr>
              <p:cNvPr id="4" name="TextBox 3">
                <a:extLst>
                  <a:ext uri="{FF2B5EF4-FFF2-40B4-BE49-F238E27FC236}">
                    <a16:creationId xmlns:a16="http://schemas.microsoft.com/office/drawing/2014/main" id="{F979D99C-326D-9ABE-A831-DFE72CBDE55C}"/>
                  </a:ext>
                </a:extLst>
              </p:cNvPr>
              <p:cNvSpPr txBox="1">
                <a:spLocks noRot="1" noChangeAspect="1" noMove="1" noResize="1" noEditPoints="1" noAdjustHandles="1" noChangeArrowheads="1" noChangeShapeType="1" noTextEdit="1"/>
              </p:cNvSpPr>
              <p:nvPr/>
            </p:nvSpPr>
            <p:spPr>
              <a:xfrm>
                <a:off x="903577" y="1095401"/>
                <a:ext cx="7639650" cy="3262432"/>
              </a:xfrm>
              <a:prstGeom prst="rect">
                <a:avLst/>
              </a:prstGeom>
              <a:blipFill>
                <a:blip r:embed="rId2"/>
                <a:stretch>
                  <a:fillRect l="-718" t="-1308"/>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F372313-CF15-5475-3DB2-FDF4E741F095}"/>
              </a:ext>
            </a:extLst>
          </p:cNvPr>
          <p:cNvPicPr>
            <a:picLocks noChangeAspect="1"/>
          </p:cNvPicPr>
          <p:nvPr/>
        </p:nvPicPr>
        <p:blipFill>
          <a:blip r:embed="rId3"/>
          <a:stretch>
            <a:fillRect/>
          </a:stretch>
        </p:blipFill>
        <p:spPr>
          <a:xfrm>
            <a:off x="1616986" y="2822486"/>
            <a:ext cx="5740695" cy="1225613"/>
          </a:xfrm>
          <a:prstGeom prst="rect">
            <a:avLst/>
          </a:prstGeom>
        </p:spPr>
      </p:pic>
    </p:spTree>
    <p:extLst>
      <p:ext uri="{BB962C8B-B14F-4D97-AF65-F5344CB8AC3E}">
        <p14:creationId xmlns:p14="http://schemas.microsoft.com/office/powerpoint/2010/main" val="232026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E2C3C-AE37-9C5B-4313-6DB4A2F6514A}"/>
              </a:ext>
            </a:extLst>
          </p:cNvPr>
          <p:cNvSpPr>
            <a:spLocks noGrp="1"/>
          </p:cNvSpPr>
          <p:nvPr>
            <p:ph type="title"/>
          </p:nvPr>
        </p:nvSpPr>
        <p:spPr>
          <a:xfrm>
            <a:off x="1381249" y="470228"/>
            <a:ext cx="4189817" cy="435600"/>
          </a:xfrm>
        </p:spPr>
        <p:txBody>
          <a:bodyPr/>
          <a:lstStyle/>
          <a:p>
            <a:r>
              <a:rPr lang="en-US" sz="2400" dirty="0"/>
              <a:t>Conditional Independence</a:t>
            </a:r>
          </a:p>
        </p:txBody>
      </p:sp>
      <p:sp>
        <p:nvSpPr>
          <p:cNvPr id="3" name="Slide Number Placeholder 2">
            <a:extLst>
              <a:ext uri="{FF2B5EF4-FFF2-40B4-BE49-F238E27FC236}">
                <a16:creationId xmlns:a16="http://schemas.microsoft.com/office/drawing/2014/main" id="{EF9C4BF1-102A-BC54-EEAD-9B91C10774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A0538A2-A3F8-6921-E5A2-44C6FD2B882C}"/>
                  </a:ext>
                </a:extLst>
              </p:cNvPr>
              <p:cNvSpPr txBox="1"/>
              <p:nvPr/>
            </p:nvSpPr>
            <p:spPr>
              <a:xfrm>
                <a:off x="903577" y="1095401"/>
                <a:ext cx="7639650" cy="340093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Unconditional (absolute) independence very rare</a:t>
                </a:r>
                <a:endParaRPr lang="en-US" sz="2000" b="0" i="0" dirty="0">
                  <a:solidFill>
                    <a:srgbClr val="040C28"/>
                  </a:solidFill>
                  <a:effectLst/>
                  <a:latin typeface="Georgia" panose="02040502050405020303" pitchFamily="18" charset="0"/>
                </a:endParaRPr>
              </a:p>
              <a:p>
                <a:pPr marL="285750" indent="-285750">
                  <a:spcBef>
                    <a:spcPts val="600"/>
                  </a:spcBef>
                  <a:spcAft>
                    <a:spcPts val="600"/>
                  </a:spcAft>
                  <a:buFont typeface="Arial" panose="020B0604020202020204" pitchFamily="34" charset="0"/>
                  <a:buChar char="•"/>
                </a:pPr>
                <a:r>
                  <a:rPr lang="en-US" sz="2000" dirty="0">
                    <a:solidFill>
                      <a:srgbClr val="040C28"/>
                    </a:solidFill>
                    <a:latin typeface="Georgia" panose="02040502050405020303" pitchFamily="18" charset="0"/>
                  </a:rPr>
                  <a:t>Conditional independence is our most basic and robust form of knowledge about uncertain environments.</a:t>
                </a:r>
              </a:p>
              <a:p>
                <a:pPr marL="285750" indent="-285750">
                  <a:spcBef>
                    <a:spcPts val="600"/>
                  </a:spcBef>
                  <a:spcAft>
                    <a:spcPts val="600"/>
                  </a:spcAft>
                  <a:buFont typeface="Arial" panose="020B0604020202020204" pitchFamily="34" charset="0"/>
                  <a:buChar char="•"/>
                </a:pPr>
                <a:r>
                  <a:rPr lang="en-US" sz="2000" dirty="0">
                    <a:solidFill>
                      <a:srgbClr val="040C28"/>
                    </a:solidFill>
                    <a:latin typeface="Georgia" panose="02040502050405020303" pitchFamily="18" charset="0"/>
                  </a:rPr>
                  <a:t>X is conditionally independent of Y given Z</a:t>
                </a:r>
              </a:p>
              <a:p>
                <a:pPr>
                  <a:spcBef>
                    <a:spcPts val="600"/>
                  </a:spcBef>
                  <a:spcAft>
                    <a:spcPts val="600"/>
                  </a:spcAft>
                </a:pPr>
                <a:r>
                  <a:rPr lang="en-US" sz="2000" dirty="0">
                    <a:solidFill>
                      <a:srgbClr val="040C28"/>
                    </a:solidFill>
                    <a:latin typeface="Georgia" panose="02040502050405020303" pitchFamily="18" charset="0"/>
                  </a:rPr>
                  <a:t>     </a:t>
                </a:r>
                <a:r>
                  <a:rPr lang="en-US" sz="2000" dirty="0">
                    <a:latin typeface="Calibri"/>
                    <a:cs typeface="Calibri"/>
                  </a:rPr>
                  <a:t>if and only if:</a:t>
                </a:r>
              </a:p>
              <a:p>
                <a:pPr>
                  <a:spcBef>
                    <a:spcPts val="600"/>
                  </a:spcBef>
                  <a:spcAft>
                    <a:spcPts val="600"/>
                  </a:spcAft>
                </a:pPr>
                <a:r>
                  <a:rPr lang="en-US" sz="2000" b="1" dirty="0">
                    <a:solidFill>
                      <a:srgbClr val="040C28"/>
                    </a:solidFill>
                    <a:latin typeface="Georgia" panose="02040502050405020303" pitchFamily="18" charset="0"/>
                  </a:rPr>
                  <a:t>              </a:t>
                </a:r>
                <a14:m>
                  <m:oMath xmlns:m="http://schemas.openxmlformats.org/officeDocument/2006/math">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 :  </m:t>
                    </m:r>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e>
                    </m:d>
                    <m:r>
                      <a:rPr lang="en-US" sz="2000" b="1" i="1" smtClean="0">
                        <a:latin typeface="Cambria Math" panose="02040503050406030204" pitchFamily="18" charset="0"/>
                        <a:ea typeface="Cambria Math" panose="02040503050406030204" pitchFamily="18" charset="0"/>
                      </a:rPr>
                      <m:t>𝑷</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m:t>
                    </m:r>
                  </m:oMath>
                </a14:m>
                <a:endParaRPr lang="en-US" sz="2000" b="1" i="0" dirty="0">
                  <a:solidFill>
                    <a:srgbClr val="040C28"/>
                  </a:solidFill>
                  <a:effectLst/>
                  <a:latin typeface="Georgia" panose="02040502050405020303" pitchFamily="18" charset="0"/>
                </a:endParaRPr>
              </a:p>
              <a:p>
                <a:pPr>
                  <a:spcBef>
                    <a:spcPts val="600"/>
                  </a:spcBef>
                  <a:spcAft>
                    <a:spcPts val="600"/>
                  </a:spcAft>
                </a:pPr>
                <a:r>
                  <a:rPr lang="en-US" sz="2000" dirty="0">
                    <a:solidFill>
                      <a:srgbClr val="040C28"/>
                    </a:solidFill>
                    <a:latin typeface="Georgia" panose="02040502050405020303" pitchFamily="18" charset="0"/>
                  </a:rPr>
                  <a:t>     or, </a:t>
                </a:r>
                <a:r>
                  <a:rPr lang="en-US" sz="2000" dirty="0">
                    <a:latin typeface="Calibri"/>
                    <a:cs typeface="Calibri"/>
                  </a:rPr>
                  <a:t>if and only if:</a:t>
                </a:r>
              </a:p>
              <a:p>
                <a:pPr>
                  <a:spcBef>
                    <a:spcPts val="600"/>
                  </a:spcBef>
                  <a:spcAft>
                    <a:spcPts val="600"/>
                  </a:spcAft>
                </a:pPr>
                <a:r>
                  <a:rPr lang="en-US" sz="2000" b="1" dirty="0">
                    <a:solidFill>
                      <a:srgbClr val="040C28"/>
                    </a:solidFill>
                    <a:latin typeface="Georgia" panose="02040502050405020303" pitchFamily="18" charset="0"/>
                  </a:rPr>
                  <a:t> </a:t>
                </a:r>
                <a14:m>
                  <m:oMath xmlns:m="http://schemas.openxmlformats.org/officeDocument/2006/math">
                    <m:r>
                      <a:rPr lang="en-US" sz="2000" b="1" i="0" smtClean="0">
                        <a:latin typeface="Cambria Math" panose="02040503050406030204" pitchFamily="18" charset="0"/>
                        <a:ea typeface="Cambria Math" panose="02040503050406030204" pitchFamily="18" charset="0"/>
                      </a:rPr>
                      <m:t>               </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 :  </m:t>
                    </m:r>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𝒚</m:t>
                        </m:r>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𝒛</m:t>
                        </m:r>
                      </m:e>
                    </m:d>
                  </m:oMath>
                </a14:m>
                <a:endParaRPr lang="en-US" sz="2000" dirty="0">
                  <a:latin typeface="Calibri"/>
                  <a:cs typeface="Calibri"/>
                </a:endParaRPr>
              </a:p>
            </p:txBody>
          </p:sp>
        </mc:Choice>
        <mc:Fallback xmlns="">
          <p:sp>
            <p:nvSpPr>
              <p:cNvPr id="4" name="TextBox 3">
                <a:extLst>
                  <a:ext uri="{FF2B5EF4-FFF2-40B4-BE49-F238E27FC236}">
                    <a16:creationId xmlns:a16="http://schemas.microsoft.com/office/drawing/2014/main" id="{EA0538A2-A3F8-6921-E5A2-44C6FD2B882C}"/>
                  </a:ext>
                </a:extLst>
              </p:cNvPr>
              <p:cNvSpPr txBox="1">
                <a:spLocks noRot="1" noChangeAspect="1" noMove="1" noResize="1" noEditPoints="1" noAdjustHandles="1" noChangeArrowheads="1" noChangeShapeType="1" noTextEdit="1"/>
              </p:cNvSpPr>
              <p:nvPr/>
            </p:nvSpPr>
            <p:spPr>
              <a:xfrm>
                <a:off x="903577" y="1095401"/>
                <a:ext cx="7639650" cy="3400931"/>
              </a:xfrm>
              <a:prstGeom prst="rect">
                <a:avLst/>
              </a:prstGeom>
              <a:blipFill>
                <a:blip r:embed="rId2"/>
                <a:stretch>
                  <a:fillRect l="-718" t="-1254" r="-399" b="-896"/>
                </a:stretch>
              </a:blipFill>
            </p:spPr>
            <p:txBody>
              <a:bodyPr/>
              <a:lstStyle/>
              <a:p>
                <a:r>
                  <a:rPr lang="en-US">
                    <a:noFill/>
                  </a:rPr>
                  <a:t> </a:t>
                </a:r>
              </a:p>
            </p:txBody>
          </p:sp>
        </mc:Fallback>
      </mc:AlternateContent>
    </p:spTree>
    <p:extLst>
      <p:ext uri="{BB962C8B-B14F-4D97-AF65-F5344CB8AC3E}">
        <p14:creationId xmlns:p14="http://schemas.microsoft.com/office/powerpoint/2010/main" val="3669987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1290-9A1C-D285-6BC8-CABD1D17CC2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CF96D604-4B07-79BF-3EA1-569B116A5A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4" name="Rectangle 3">
            <a:extLst>
              <a:ext uri="{FF2B5EF4-FFF2-40B4-BE49-F238E27FC236}">
                <a16:creationId xmlns:a16="http://schemas.microsoft.com/office/drawing/2014/main" id="{8CB1D6DC-014A-A134-D682-318A8795BB99}"/>
              </a:ext>
            </a:extLst>
          </p:cNvPr>
          <p:cNvSpPr/>
          <p:nvPr/>
        </p:nvSpPr>
        <p:spPr>
          <a:xfrm>
            <a:off x="1401907" y="2110085"/>
            <a:ext cx="6340197"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Bayesian Network</a:t>
            </a:r>
          </a:p>
        </p:txBody>
      </p:sp>
    </p:spTree>
    <p:extLst>
      <p:ext uri="{BB962C8B-B14F-4D97-AF65-F5344CB8AC3E}">
        <p14:creationId xmlns:p14="http://schemas.microsoft.com/office/powerpoint/2010/main" val="1646450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4C22C-BAD7-E700-BB57-D4C5A3D7C45F}"/>
              </a:ext>
            </a:extLst>
          </p:cNvPr>
          <p:cNvSpPr>
            <a:spLocks noGrp="1"/>
          </p:cNvSpPr>
          <p:nvPr>
            <p:ph type="title"/>
          </p:nvPr>
        </p:nvSpPr>
        <p:spPr/>
        <p:txBody>
          <a:bodyPr/>
          <a:lstStyle/>
          <a:p>
            <a:r>
              <a:rPr lang="en-US" sz="2400" dirty="0"/>
              <a:t>Bayesian Network</a:t>
            </a:r>
          </a:p>
        </p:txBody>
      </p:sp>
      <p:sp>
        <p:nvSpPr>
          <p:cNvPr id="3" name="Slide Number Placeholder 2">
            <a:extLst>
              <a:ext uri="{FF2B5EF4-FFF2-40B4-BE49-F238E27FC236}">
                <a16:creationId xmlns:a16="http://schemas.microsoft.com/office/drawing/2014/main" id="{B9F29958-8DA9-1478-CC68-5E2FD683EF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6146" name="Picture 2" descr="What does Bayesian networks mean in Machine Learning? - Quora">
            <a:extLst>
              <a:ext uri="{FF2B5EF4-FFF2-40B4-BE49-F238E27FC236}">
                <a16:creationId xmlns:a16="http://schemas.microsoft.com/office/drawing/2014/main" id="{8A81BA9E-69BF-FF4A-8A93-103A2FB8CC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3608" y="1422401"/>
            <a:ext cx="4278319" cy="28711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4576BB-0948-55A3-1414-ABCE6F5EE626}"/>
              </a:ext>
            </a:extLst>
          </p:cNvPr>
          <p:cNvSpPr txBox="1"/>
          <p:nvPr/>
        </p:nvSpPr>
        <p:spPr>
          <a:xfrm>
            <a:off x="362139" y="1168888"/>
            <a:ext cx="4897511" cy="3200876"/>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1800" b="1" dirty="0">
                <a:solidFill>
                  <a:srgbClr val="0070C0"/>
                </a:solidFill>
                <a:latin typeface="Georgia" panose="02040502050405020303" pitchFamily="18" charset="0"/>
              </a:rPr>
              <a:t>Bayes nets: </a:t>
            </a:r>
            <a:r>
              <a:rPr lang="en-US" sz="1800" dirty="0">
                <a:solidFill>
                  <a:schemeClr val="tx1"/>
                </a:solidFill>
                <a:latin typeface="Georgia" panose="02040502050405020303" pitchFamily="18" charset="0"/>
              </a:rPr>
              <a:t>a technique for describing complex joint distributions (models) using simple, local distributions (conditional probabilities)</a:t>
            </a:r>
          </a:p>
          <a:p>
            <a:pPr marL="342900" indent="-342900">
              <a:spcBef>
                <a:spcPts val="600"/>
              </a:spcBef>
              <a:spcAft>
                <a:spcPts val="600"/>
              </a:spcAft>
              <a:buFont typeface="Arial" panose="020B0604020202020204" pitchFamily="34" charset="0"/>
              <a:buChar char="•"/>
            </a:pPr>
            <a:r>
              <a:rPr lang="en-US" sz="1800" dirty="0">
                <a:latin typeface="Georgia" panose="02040502050405020303" pitchFamily="18" charset="0"/>
              </a:rPr>
              <a:t>Bayes Net consists of 2 parts</a:t>
            </a:r>
          </a:p>
          <a:p>
            <a:pPr>
              <a:spcBef>
                <a:spcPts val="600"/>
              </a:spcBef>
              <a:spcAft>
                <a:spcPts val="600"/>
              </a:spcAft>
            </a:pPr>
            <a:r>
              <a:rPr lang="en-US" sz="1800" dirty="0">
                <a:latin typeface="Georgia" panose="02040502050405020303" pitchFamily="18" charset="0"/>
              </a:rPr>
              <a:t>      -  Topology (in Directed Acyclic Graph form)</a:t>
            </a:r>
          </a:p>
          <a:p>
            <a:pPr>
              <a:spcBef>
                <a:spcPts val="600"/>
              </a:spcBef>
              <a:spcAft>
                <a:spcPts val="600"/>
              </a:spcAft>
            </a:pPr>
            <a:r>
              <a:rPr lang="en-US" sz="1800" dirty="0">
                <a:latin typeface="Georgia" panose="02040502050405020303" pitchFamily="18" charset="0"/>
              </a:rPr>
              <a:t>      -  Local conditional probabilities</a:t>
            </a:r>
          </a:p>
          <a:p>
            <a:pPr>
              <a:spcBef>
                <a:spcPts val="600"/>
              </a:spcBef>
              <a:spcAft>
                <a:spcPts val="600"/>
              </a:spcAft>
            </a:pPr>
            <a:r>
              <a:rPr lang="en-US" sz="1800" dirty="0">
                <a:latin typeface="Georgia" panose="02040502050405020303" pitchFamily="18" charset="0"/>
              </a:rPr>
              <a:t>	</a:t>
            </a:r>
            <a:endParaRPr lang="en-US" sz="2000" dirty="0">
              <a:latin typeface="Georgia" panose="02040502050405020303" pitchFamily="18" charset="0"/>
            </a:endParaRPr>
          </a:p>
        </p:txBody>
      </p:sp>
    </p:spTree>
    <p:extLst>
      <p:ext uri="{BB962C8B-B14F-4D97-AF65-F5344CB8AC3E}">
        <p14:creationId xmlns:p14="http://schemas.microsoft.com/office/powerpoint/2010/main" val="2918658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ACEB-6701-4E88-34D2-802996E1A732}"/>
              </a:ext>
            </a:extLst>
          </p:cNvPr>
          <p:cNvSpPr>
            <a:spLocks noGrp="1"/>
          </p:cNvSpPr>
          <p:nvPr>
            <p:ph type="title"/>
          </p:nvPr>
        </p:nvSpPr>
        <p:spPr/>
        <p:txBody>
          <a:bodyPr/>
          <a:lstStyle/>
          <a:p>
            <a:r>
              <a:rPr lang="en-US" dirty="0"/>
              <a:t>Inference in Bayes Net</a:t>
            </a:r>
          </a:p>
        </p:txBody>
      </p:sp>
      <p:sp>
        <p:nvSpPr>
          <p:cNvPr id="3" name="Slide Number Placeholder 2">
            <a:extLst>
              <a:ext uri="{FF2B5EF4-FFF2-40B4-BE49-F238E27FC236}">
                <a16:creationId xmlns:a16="http://schemas.microsoft.com/office/drawing/2014/main" id="{58BBCFB9-3266-31D5-8BE2-7789CDB49A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1E700E-D557-043C-90FA-76E4E6FC6765}"/>
                  </a:ext>
                </a:extLst>
              </p:cNvPr>
              <p:cNvSpPr txBox="1"/>
              <p:nvPr/>
            </p:nvSpPr>
            <p:spPr>
              <a:xfrm>
                <a:off x="903577" y="996547"/>
                <a:ext cx="7639650" cy="173836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02124"/>
                    </a:solidFill>
                    <a:effectLst/>
                    <a:latin typeface="Georgia" panose="02040502050405020303" pitchFamily="18" charset="0"/>
                  </a:rPr>
                  <a:t>Bayes nets encode joint distributions as product of conditional distributions on each variable:</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𝑷</m:t>
                      </m:r>
                      <m:d>
                        <m:dPr>
                          <m:ctrlPr>
                            <a:rPr lang="en-US" sz="2000" b="1"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𝑿</m:t>
                              </m:r>
                            </m:e>
                            <m:sub>
                              <m:r>
                                <a:rPr lang="en-US" sz="2000" b="1" i="1" smtClean="0">
                                  <a:latin typeface="Cambria Math" panose="02040503050406030204" pitchFamily="18" charset="0"/>
                                  <a:ea typeface="Cambria Math" panose="02040503050406030204" pitchFamily="18" charset="0"/>
                                </a:rPr>
                                <m:t>𝟏</m:t>
                              </m:r>
                            </m:sub>
                          </m:sSub>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𝑿</m:t>
                              </m:r>
                            </m:e>
                            <m:sub>
                              <m:r>
                                <a:rPr lang="en-US" sz="2000" b="1" i="1" smtClean="0">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𝑿</m:t>
                              </m:r>
                            </m:e>
                            <m:sub>
                              <m:r>
                                <a:rPr lang="en-US" sz="2000" b="1" i="1" smtClean="0">
                                  <a:latin typeface="Cambria Math" panose="02040503050406030204" pitchFamily="18" charset="0"/>
                                  <a:ea typeface="Cambria Math" panose="02040503050406030204" pitchFamily="18" charset="0"/>
                                </a:rPr>
                                <m:t>𝒏</m:t>
                              </m:r>
                            </m:sub>
                          </m:sSub>
                        </m:e>
                      </m:d>
                      <m:r>
                        <a:rPr lang="en-US" sz="2000" b="1" i="1" smtClean="0">
                          <a:latin typeface="Cambria Math" panose="02040503050406030204" pitchFamily="18" charset="0"/>
                          <a:ea typeface="Cambria Math" panose="02040503050406030204" pitchFamily="18" charset="0"/>
                        </a:rPr>
                        <m:t>=</m:t>
                      </m:r>
                      <m:nary>
                        <m:naryPr>
                          <m:chr m:val="∏"/>
                          <m:limLoc m:val="subSup"/>
                          <m:supHide m:val="on"/>
                          <m:ctrlPr>
                            <a:rPr lang="en-US" sz="2000" b="1" i="1" smtClean="0">
                              <a:latin typeface="Cambria Math" panose="02040503050406030204" pitchFamily="18" charset="0"/>
                              <a:ea typeface="Cambria Math" panose="02040503050406030204" pitchFamily="18" charset="0"/>
                            </a:rPr>
                          </m:ctrlPr>
                        </m:naryPr>
                        <m:sub>
                          <m:r>
                            <m:rPr>
                              <m:brk m:alnAt="9"/>
                            </m:rPr>
                            <a:rPr lang="en-US" sz="2000" b="1" i="1" smtClean="0">
                              <a:latin typeface="Cambria Math" panose="02040503050406030204" pitchFamily="18" charset="0"/>
                              <a:ea typeface="Cambria Math" panose="02040503050406030204" pitchFamily="18" charset="0"/>
                            </a:rPr>
                            <m:t>𝒊</m:t>
                          </m:r>
                        </m:sub>
                        <m:sup/>
                        <m:e>
                          <m:r>
                            <a:rPr lang="en-US" sz="2000" b="1" i="1" smtClean="0">
                              <a:latin typeface="Cambria Math" panose="02040503050406030204" pitchFamily="18" charset="0"/>
                              <a:ea typeface="Cambria Math" panose="02040503050406030204" pitchFamily="18" charset="0"/>
                            </a:rPr>
                            <m:t>𝑷</m:t>
                          </m:r>
                        </m:e>
                      </m:nary>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𝑿</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𝑷𝒂𝒓𝒆𝒏𝒕</m:t>
                      </m:r>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𝑿</m:t>
                          </m:r>
                        </m:e>
                        <m:sub>
                          <m:r>
                            <a:rPr lang="en-US" sz="2000" b="1" i="1" smtClean="0">
                              <a:latin typeface="Cambria Math" panose="02040503050406030204" pitchFamily="18" charset="0"/>
                              <a:ea typeface="Cambria Math" panose="02040503050406030204" pitchFamily="18" charset="0"/>
                            </a:rPr>
                            <m:t>𝒊</m:t>
                          </m:r>
                        </m:sub>
                      </m:sSub>
                      <m:r>
                        <a:rPr lang="en-US" sz="2000" b="1" i="1" smtClean="0">
                          <a:latin typeface="Cambria Math" panose="02040503050406030204" pitchFamily="18" charset="0"/>
                          <a:ea typeface="Cambria Math" panose="02040503050406030204" pitchFamily="18" charset="0"/>
                        </a:rPr>
                        <m:t>))</m:t>
                      </m:r>
                    </m:oMath>
                  </m:oMathPara>
                </a14:m>
                <a:endParaRPr lang="en-US" sz="2000" b="1" i="0" dirty="0">
                  <a:solidFill>
                    <a:srgbClr val="040C28"/>
                  </a:solidFill>
                  <a:effectLst/>
                  <a:latin typeface="Georgia" panose="02040502050405020303" pitchFamily="18" charset="0"/>
                </a:endParaRPr>
              </a:p>
              <a:p>
                <a:pPr marL="342900" indent="-342900">
                  <a:spcBef>
                    <a:spcPts val="600"/>
                  </a:spcBef>
                  <a:spcAft>
                    <a:spcPts val="600"/>
                  </a:spcAft>
                  <a:buFont typeface="Arial" panose="020B0604020202020204" pitchFamily="34" charset="0"/>
                  <a:buChar char="•"/>
                </a:pPr>
                <a:r>
                  <a:rPr lang="en-US" sz="2000" dirty="0">
                    <a:solidFill>
                      <a:srgbClr val="040C28"/>
                    </a:solidFill>
                    <a:latin typeface="Georgia" panose="02040502050405020303" pitchFamily="18" charset="0"/>
                  </a:rPr>
                  <a:t>Example:</a:t>
                </a:r>
                <a:endParaRPr lang="en-US" sz="2000" i="0" dirty="0">
                  <a:solidFill>
                    <a:srgbClr val="040C28"/>
                  </a:solidFill>
                  <a:effectLst/>
                  <a:latin typeface="Georgia" panose="02040502050405020303" pitchFamily="18" charset="0"/>
                </a:endParaRPr>
              </a:p>
            </p:txBody>
          </p:sp>
        </mc:Choice>
        <mc:Fallback xmlns="">
          <p:sp>
            <p:nvSpPr>
              <p:cNvPr id="4" name="TextBox 3">
                <a:extLst>
                  <a:ext uri="{FF2B5EF4-FFF2-40B4-BE49-F238E27FC236}">
                    <a16:creationId xmlns:a16="http://schemas.microsoft.com/office/drawing/2014/main" id="{E51E700E-D557-043C-90FA-76E4E6FC6765}"/>
                  </a:ext>
                </a:extLst>
              </p:cNvPr>
              <p:cNvSpPr txBox="1">
                <a:spLocks noRot="1" noChangeAspect="1" noMove="1" noResize="1" noEditPoints="1" noAdjustHandles="1" noChangeArrowheads="1" noChangeShapeType="1" noTextEdit="1"/>
              </p:cNvSpPr>
              <p:nvPr/>
            </p:nvSpPr>
            <p:spPr>
              <a:xfrm>
                <a:off x="903577" y="996547"/>
                <a:ext cx="7639650" cy="1738361"/>
              </a:xfrm>
              <a:prstGeom prst="rect">
                <a:avLst/>
              </a:prstGeom>
              <a:blipFill>
                <a:blip r:embed="rId2"/>
                <a:stretch>
                  <a:fillRect l="-718" t="-2098" b="-489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8199CB79-8FB1-7814-41C4-05140464600E}"/>
              </a:ext>
            </a:extLst>
          </p:cNvPr>
          <p:cNvPicPr>
            <a:picLocks noChangeAspect="1"/>
          </p:cNvPicPr>
          <p:nvPr/>
        </p:nvPicPr>
        <p:blipFill>
          <a:blip r:embed="rId3"/>
          <a:stretch>
            <a:fillRect/>
          </a:stretch>
        </p:blipFill>
        <p:spPr>
          <a:xfrm>
            <a:off x="2037539" y="2675706"/>
            <a:ext cx="4159464" cy="444523"/>
          </a:xfrm>
          <a:prstGeom prst="rect">
            <a:avLst/>
          </a:prstGeom>
        </p:spPr>
      </p:pic>
      <p:pic>
        <p:nvPicPr>
          <p:cNvPr id="8" name="Picture 7">
            <a:extLst>
              <a:ext uri="{FF2B5EF4-FFF2-40B4-BE49-F238E27FC236}">
                <a16:creationId xmlns:a16="http://schemas.microsoft.com/office/drawing/2014/main" id="{42C7750B-71BB-47F6-140C-2FD00111E033}"/>
              </a:ext>
            </a:extLst>
          </p:cNvPr>
          <p:cNvPicPr>
            <a:picLocks noChangeAspect="1"/>
          </p:cNvPicPr>
          <p:nvPr/>
        </p:nvPicPr>
        <p:blipFill>
          <a:blip r:embed="rId4"/>
          <a:stretch>
            <a:fillRect/>
          </a:stretch>
        </p:blipFill>
        <p:spPr>
          <a:xfrm>
            <a:off x="2515721" y="3199148"/>
            <a:ext cx="3178273" cy="1811943"/>
          </a:xfrm>
          <a:prstGeom prst="rect">
            <a:avLst/>
          </a:prstGeom>
        </p:spPr>
      </p:pic>
    </p:spTree>
    <p:extLst>
      <p:ext uri="{BB962C8B-B14F-4D97-AF65-F5344CB8AC3E}">
        <p14:creationId xmlns:p14="http://schemas.microsoft.com/office/powerpoint/2010/main" val="446019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4C22C-BAD7-E700-BB57-D4C5A3D7C45F}"/>
              </a:ext>
            </a:extLst>
          </p:cNvPr>
          <p:cNvSpPr>
            <a:spLocks noGrp="1"/>
          </p:cNvSpPr>
          <p:nvPr>
            <p:ph type="title"/>
          </p:nvPr>
        </p:nvSpPr>
        <p:spPr/>
        <p:txBody>
          <a:bodyPr/>
          <a:lstStyle/>
          <a:p>
            <a:r>
              <a:rPr lang="en-US" sz="2400" dirty="0"/>
              <a:t>Bayesian Network</a:t>
            </a:r>
          </a:p>
        </p:txBody>
      </p:sp>
      <p:sp>
        <p:nvSpPr>
          <p:cNvPr id="3" name="Slide Number Placeholder 2">
            <a:extLst>
              <a:ext uri="{FF2B5EF4-FFF2-40B4-BE49-F238E27FC236}">
                <a16:creationId xmlns:a16="http://schemas.microsoft.com/office/drawing/2014/main" id="{B9F29958-8DA9-1478-CC68-5E2FD683EF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4" name="TextBox 3">
            <a:extLst>
              <a:ext uri="{FF2B5EF4-FFF2-40B4-BE49-F238E27FC236}">
                <a16:creationId xmlns:a16="http://schemas.microsoft.com/office/drawing/2014/main" id="{0B4576BB-0948-55A3-1414-ABCE6F5EE626}"/>
              </a:ext>
            </a:extLst>
          </p:cNvPr>
          <p:cNvSpPr txBox="1"/>
          <p:nvPr/>
        </p:nvSpPr>
        <p:spPr>
          <a:xfrm>
            <a:off x="810603" y="1045320"/>
            <a:ext cx="7646361" cy="3293209"/>
          </a:xfrm>
          <a:prstGeom prst="rect">
            <a:avLst/>
          </a:prstGeom>
          <a:noFill/>
        </p:spPr>
        <p:txBody>
          <a:bodyPr wrap="square" rtlCol="0">
            <a:spAutoFit/>
          </a:bodyPr>
          <a:lstStyle/>
          <a:p>
            <a:pPr algn="just">
              <a:spcBef>
                <a:spcPts val="600"/>
              </a:spcBef>
              <a:spcAft>
                <a:spcPts val="600"/>
              </a:spcAft>
            </a:pPr>
            <a:r>
              <a:rPr lang="en-US" sz="1800" b="1" dirty="0">
                <a:solidFill>
                  <a:srgbClr val="0070C0"/>
                </a:solidFill>
                <a:latin typeface="Georgia" panose="02040502050405020303" pitchFamily="18" charset="0"/>
              </a:rPr>
              <a:t>Example: </a:t>
            </a:r>
            <a:r>
              <a:rPr lang="en-US" sz="1800" dirty="0">
                <a:solidFill>
                  <a:schemeClr val="tx1"/>
                </a:solidFill>
                <a:latin typeface="Georgia" panose="02040502050405020303" pitchFamily="18" charset="0"/>
              </a:rPr>
              <a:t>Harry installed a new burglar alarm at his home to detect burglary. The alarm reliably responds at detecting a burglary but also responds for minor earthquakes. Harry has two neighbors John and Mary, who have taken a responsibility to inform Harry at work when they hear the alarm. John always calls Harry when he hears the alarm, but sometimes he got confused with the phone ringing and calls at that time too. On the other hand, Mary likes to listen to high music, so sometimes she misses to hear the alarm. </a:t>
            </a:r>
          </a:p>
          <a:p>
            <a:pPr algn="just">
              <a:spcBef>
                <a:spcPts val="600"/>
              </a:spcBef>
              <a:spcAft>
                <a:spcPts val="600"/>
              </a:spcAft>
            </a:pPr>
            <a:r>
              <a:rPr lang="en-US" sz="1800" b="1" dirty="0">
                <a:solidFill>
                  <a:srgbClr val="0070C0"/>
                </a:solidFill>
                <a:latin typeface="Georgia" panose="02040502050405020303" pitchFamily="18" charset="0"/>
              </a:rPr>
              <a:t>Problem: </a:t>
            </a:r>
            <a:r>
              <a:rPr lang="en-US" sz="1800" dirty="0">
                <a:latin typeface="Georgia" panose="02040502050405020303" pitchFamily="18" charset="0"/>
              </a:rPr>
              <a:t>Calculate the probability that alarm has sounded, but there is neither a burglary, nor an earthquake occurred, and John and Mary both called the Harry.</a:t>
            </a:r>
            <a:endParaRPr lang="en-US" sz="2000" dirty="0">
              <a:latin typeface="Georgia" panose="02040502050405020303" pitchFamily="18" charset="0"/>
            </a:endParaRPr>
          </a:p>
        </p:txBody>
      </p:sp>
    </p:spTree>
    <p:extLst>
      <p:ext uri="{BB962C8B-B14F-4D97-AF65-F5344CB8AC3E}">
        <p14:creationId xmlns:p14="http://schemas.microsoft.com/office/powerpoint/2010/main" val="2833636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F60AA-3512-CA9D-88B9-C9881A11C849}"/>
              </a:ext>
            </a:extLst>
          </p:cNvPr>
          <p:cNvSpPr>
            <a:spLocks noGrp="1"/>
          </p:cNvSpPr>
          <p:nvPr>
            <p:ph type="title"/>
          </p:nvPr>
        </p:nvSpPr>
        <p:spPr/>
        <p:txBody>
          <a:bodyPr/>
          <a:lstStyle/>
          <a:p>
            <a:r>
              <a:rPr lang="en-US" sz="2400" dirty="0"/>
              <a:t>Bayesian Network</a:t>
            </a:r>
          </a:p>
        </p:txBody>
      </p:sp>
      <p:sp>
        <p:nvSpPr>
          <p:cNvPr id="3" name="Slide Number Placeholder 2">
            <a:extLst>
              <a:ext uri="{FF2B5EF4-FFF2-40B4-BE49-F238E27FC236}">
                <a16:creationId xmlns:a16="http://schemas.microsoft.com/office/drawing/2014/main" id="{B5802DB2-0A8D-C657-1F94-575F14658D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pic>
        <p:nvPicPr>
          <p:cNvPr id="5" name="Picture 4">
            <a:extLst>
              <a:ext uri="{FF2B5EF4-FFF2-40B4-BE49-F238E27FC236}">
                <a16:creationId xmlns:a16="http://schemas.microsoft.com/office/drawing/2014/main" id="{E8C174E1-FFE2-FAE3-0E7D-2F85B02A6617}"/>
              </a:ext>
            </a:extLst>
          </p:cNvPr>
          <p:cNvPicPr>
            <a:picLocks noChangeAspect="1"/>
          </p:cNvPicPr>
          <p:nvPr/>
        </p:nvPicPr>
        <p:blipFill>
          <a:blip r:embed="rId2"/>
          <a:stretch>
            <a:fillRect/>
          </a:stretch>
        </p:blipFill>
        <p:spPr>
          <a:xfrm>
            <a:off x="1775875" y="880584"/>
            <a:ext cx="5836234" cy="386926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7B348D-732E-F2AB-A7C9-39F99340AB76}"/>
                  </a:ext>
                </a:extLst>
              </p:cNvPr>
              <p:cNvSpPr txBox="1"/>
              <p:nvPr/>
            </p:nvSpPr>
            <p:spPr>
              <a:xfrm>
                <a:off x="1237870" y="4749851"/>
                <a:ext cx="691224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𝑱</m:t>
                          </m:r>
                          <m:r>
                            <a:rPr lang="en-US" sz="1800" b="1" i="1" smtClean="0">
                              <a:latin typeface="Cambria Math" panose="02040503050406030204" pitchFamily="18" charset="0"/>
                            </a:rPr>
                            <m:t>,</m:t>
                          </m:r>
                          <m:r>
                            <a:rPr lang="en-US" sz="1800" b="1" i="1" smtClean="0">
                              <a:latin typeface="Cambria Math" panose="02040503050406030204" pitchFamily="18" charset="0"/>
                            </a:rPr>
                            <m:t>𝑴</m:t>
                          </m:r>
                          <m:r>
                            <a:rPr lang="en-US" sz="1800" b="1" i="1" smtClean="0">
                              <a:latin typeface="Cambria Math" panose="02040503050406030204" pitchFamily="18" charset="0"/>
                            </a:rPr>
                            <m:t>,</m:t>
                          </m:r>
                          <m:r>
                            <a:rPr lang="en-US" sz="1800" b="1" i="1" smtClean="0">
                              <a:latin typeface="Cambria Math" panose="02040503050406030204" pitchFamily="18" charset="0"/>
                            </a:rPr>
                            <m:t>𝑨</m:t>
                          </m:r>
                          <m:r>
                            <a:rPr lang="en-US" sz="1800" b="1" i="1" smtClean="0">
                              <a:latin typeface="Cambria Math" panose="02040503050406030204" pitchFamily="18" charset="0"/>
                            </a:rPr>
                            <m:t>,!</m:t>
                          </m:r>
                          <m:r>
                            <a:rPr lang="en-US" sz="1800" b="1" i="1" smtClean="0">
                              <a:latin typeface="Cambria Math" panose="02040503050406030204" pitchFamily="18" charset="0"/>
                            </a:rPr>
                            <m:t>𝑩</m:t>
                          </m:r>
                          <m:r>
                            <a:rPr lang="en-US" sz="1800" b="1" i="1" smtClean="0">
                              <a:latin typeface="Cambria Math" panose="02040503050406030204" pitchFamily="18" charset="0"/>
                            </a:rPr>
                            <m:t>,!</m:t>
                          </m:r>
                          <m:r>
                            <a:rPr lang="en-US" sz="1800" b="1" i="1" smtClean="0">
                              <a:latin typeface="Cambria Math" panose="02040503050406030204" pitchFamily="18" charset="0"/>
                            </a:rPr>
                            <m:t>𝑬</m:t>
                          </m:r>
                        </m:e>
                      </m:d>
                      <m:r>
                        <a:rPr lang="en-US" sz="1800" b="1" i="1" smtClean="0">
                          <a:latin typeface="Cambria Math" panose="02040503050406030204" pitchFamily="18" charset="0"/>
                        </a:rPr>
                        <m:t>=</m:t>
                      </m:r>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𝑱</m:t>
                          </m:r>
                        </m:e>
                        <m:e>
                          <m:r>
                            <a:rPr lang="en-US" sz="1800" b="1" i="1" smtClean="0">
                              <a:latin typeface="Cambria Math" panose="02040503050406030204" pitchFamily="18" charset="0"/>
                            </a:rPr>
                            <m:t>𝑨</m:t>
                          </m:r>
                        </m:e>
                      </m:d>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𝑴</m:t>
                          </m:r>
                        </m:e>
                        <m:e>
                          <m:r>
                            <a:rPr lang="en-US" sz="1800" b="1" i="1" smtClean="0">
                              <a:latin typeface="Cambria Math" panose="02040503050406030204" pitchFamily="18" charset="0"/>
                            </a:rPr>
                            <m:t>𝑨</m:t>
                          </m:r>
                        </m:e>
                      </m:d>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𝑨</m:t>
                          </m:r>
                        </m:e>
                        <m:e>
                          <m:r>
                            <a:rPr lang="en-US" sz="1800" b="1" i="1" smtClean="0">
                              <a:latin typeface="Cambria Math" panose="02040503050406030204" pitchFamily="18" charset="0"/>
                            </a:rPr>
                            <m:t>!</m:t>
                          </m:r>
                          <m:r>
                            <a:rPr lang="en-US" sz="1800" b="1" i="1" smtClean="0">
                              <a:latin typeface="Cambria Math" panose="02040503050406030204" pitchFamily="18" charset="0"/>
                            </a:rPr>
                            <m:t>𝑩</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rPr>
                            <m:t>!</m:t>
                          </m:r>
                          <m:r>
                            <a:rPr lang="en-US" sz="1800" b="1" i="1" smtClean="0">
                              <a:latin typeface="Cambria Math" panose="02040503050406030204" pitchFamily="18" charset="0"/>
                            </a:rPr>
                            <m:t>𝑬</m:t>
                          </m:r>
                        </m:e>
                      </m:d>
                      <m:r>
                        <a:rPr lang="en-US" sz="1800" b="1" i="1" smtClean="0">
                          <a:latin typeface="Cambria Math" panose="02040503050406030204" pitchFamily="18" charset="0"/>
                        </a:rPr>
                        <m:t>.</m:t>
                      </m:r>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m:t>
                          </m:r>
                          <m:r>
                            <a:rPr lang="en-US" sz="1800" b="1" i="1" smtClean="0">
                              <a:latin typeface="Cambria Math" panose="02040503050406030204" pitchFamily="18" charset="0"/>
                            </a:rPr>
                            <m:t>𝑩</m:t>
                          </m:r>
                        </m:e>
                      </m:d>
                      <m:r>
                        <a:rPr lang="en-US" sz="1800" b="1" i="1" smtClean="0">
                          <a:latin typeface="Cambria Math" panose="02040503050406030204" pitchFamily="18" charset="0"/>
                        </a:rPr>
                        <m:t>.</m:t>
                      </m:r>
                      <m:r>
                        <a:rPr lang="en-US" sz="1800" b="1" i="1" smtClean="0">
                          <a:latin typeface="Cambria Math" panose="02040503050406030204" pitchFamily="18" charset="0"/>
                        </a:rPr>
                        <m:t>𝑷</m:t>
                      </m:r>
                      <m:r>
                        <a:rPr lang="en-US" sz="1800" b="1" i="1" smtClean="0">
                          <a:latin typeface="Cambria Math" panose="02040503050406030204" pitchFamily="18" charset="0"/>
                        </a:rPr>
                        <m:t>(!</m:t>
                      </m:r>
                      <m:r>
                        <a:rPr lang="en-US" sz="1800" b="1" i="1" smtClean="0">
                          <a:latin typeface="Cambria Math" panose="02040503050406030204" pitchFamily="18" charset="0"/>
                        </a:rPr>
                        <m:t>𝑬</m:t>
                      </m:r>
                      <m:r>
                        <a:rPr lang="en-US" sz="1800" b="1" i="1" smtClean="0">
                          <a:latin typeface="Cambria Math" panose="02040503050406030204" pitchFamily="18" charset="0"/>
                        </a:rPr>
                        <m:t>)</m:t>
                      </m:r>
                    </m:oMath>
                  </m:oMathPara>
                </a14:m>
                <a:endParaRPr lang="en-US" sz="1800" b="1" dirty="0"/>
              </a:p>
            </p:txBody>
          </p:sp>
        </mc:Choice>
        <mc:Fallback xmlns="">
          <p:sp>
            <p:nvSpPr>
              <p:cNvPr id="4" name="TextBox 3">
                <a:extLst>
                  <a:ext uri="{FF2B5EF4-FFF2-40B4-BE49-F238E27FC236}">
                    <a16:creationId xmlns:a16="http://schemas.microsoft.com/office/drawing/2014/main" id="{BE7B348D-732E-F2AB-A7C9-39F99340AB76}"/>
                  </a:ext>
                </a:extLst>
              </p:cNvPr>
              <p:cNvSpPr txBox="1">
                <a:spLocks noRot="1" noChangeAspect="1" noMove="1" noResize="1" noEditPoints="1" noAdjustHandles="1" noChangeArrowheads="1" noChangeShapeType="1" noTextEdit="1"/>
              </p:cNvSpPr>
              <p:nvPr/>
            </p:nvSpPr>
            <p:spPr>
              <a:xfrm>
                <a:off x="1237870" y="4749851"/>
                <a:ext cx="6912244" cy="276999"/>
              </a:xfrm>
              <a:prstGeom prst="rect">
                <a:avLst/>
              </a:prstGeom>
              <a:blipFill>
                <a:blip r:embed="rId3"/>
                <a:stretch>
                  <a:fillRect b="-34783"/>
                </a:stretch>
              </a:blipFill>
            </p:spPr>
            <p:txBody>
              <a:bodyPr/>
              <a:lstStyle/>
              <a:p>
                <a:r>
                  <a:rPr lang="en-US">
                    <a:noFill/>
                  </a:rPr>
                  <a:t> </a:t>
                </a:r>
              </a:p>
            </p:txBody>
          </p:sp>
        </mc:Fallback>
      </mc:AlternateContent>
    </p:spTree>
    <p:extLst>
      <p:ext uri="{BB962C8B-B14F-4D97-AF65-F5344CB8AC3E}">
        <p14:creationId xmlns:p14="http://schemas.microsoft.com/office/powerpoint/2010/main" val="326427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4173D-E900-794E-A000-50777F41DA8E}"/>
              </a:ext>
            </a:extLst>
          </p:cNvPr>
          <p:cNvSpPr>
            <a:spLocks noGrp="1"/>
          </p:cNvSpPr>
          <p:nvPr>
            <p:ph type="title"/>
          </p:nvPr>
        </p:nvSpPr>
        <p:spPr/>
        <p:txBody>
          <a:bodyPr/>
          <a:lstStyle/>
          <a:p>
            <a:r>
              <a:rPr lang="en-US" sz="2400" dirty="0"/>
              <a:t>Bayesian Network</a:t>
            </a:r>
          </a:p>
        </p:txBody>
      </p:sp>
      <p:sp>
        <p:nvSpPr>
          <p:cNvPr id="3" name="Slide Number Placeholder 2">
            <a:extLst>
              <a:ext uri="{FF2B5EF4-FFF2-40B4-BE49-F238E27FC236}">
                <a16:creationId xmlns:a16="http://schemas.microsoft.com/office/drawing/2014/main" id="{FDF4C691-635E-9CBA-FE37-E355E9B6E2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pic>
        <p:nvPicPr>
          <p:cNvPr id="5" name="Picture 2" descr="What does Bayesian networks mean in Machine Learning? - Quora">
            <a:extLst>
              <a:ext uri="{FF2B5EF4-FFF2-40B4-BE49-F238E27FC236}">
                <a16:creationId xmlns:a16="http://schemas.microsoft.com/office/drawing/2014/main" id="{41857D9F-BBDD-C0FA-F392-A09F35BF5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3696" y="1027679"/>
            <a:ext cx="3059531" cy="20532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9FA306E-90BF-C4C8-97BF-24FAF8D41F91}"/>
              </a:ext>
            </a:extLst>
          </p:cNvPr>
          <p:cNvPicPr>
            <a:picLocks noChangeAspect="1"/>
          </p:cNvPicPr>
          <p:nvPr/>
        </p:nvPicPr>
        <p:blipFill>
          <a:blip r:embed="rId3"/>
          <a:stretch>
            <a:fillRect/>
          </a:stretch>
        </p:blipFill>
        <p:spPr>
          <a:xfrm>
            <a:off x="438850" y="1241723"/>
            <a:ext cx="4975104" cy="173363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6452C03-ED82-BFA3-11E3-8918EE47AECE}"/>
                  </a:ext>
                </a:extLst>
              </p:cNvPr>
              <p:cNvSpPr txBox="1"/>
              <p:nvPr/>
            </p:nvSpPr>
            <p:spPr>
              <a:xfrm>
                <a:off x="438851" y="3624778"/>
                <a:ext cx="257557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𝑷</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𝑺</m:t>
                          </m:r>
                          <m:r>
                            <a:rPr lang="en-US" sz="1800" b="1" i="1" smtClean="0">
                              <a:latin typeface="Cambria Math" panose="02040503050406030204" pitchFamily="18" charset="0"/>
                            </a:rPr>
                            <m:t>=</m:t>
                          </m:r>
                          <m:r>
                            <a:rPr lang="en-US" sz="1800" b="1" i="1" smtClean="0">
                              <a:latin typeface="Cambria Math" panose="02040503050406030204" pitchFamily="18" charset="0"/>
                            </a:rPr>
                            <m:t>𝟏</m:t>
                          </m:r>
                          <m:r>
                            <a:rPr lang="en-US" sz="1800" b="1" i="1" smtClean="0">
                              <a:latin typeface="Cambria Math" panose="02040503050406030204" pitchFamily="18" charset="0"/>
                            </a:rPr>
                            <m:t> | </m:t>
                          </m:r>
                          <m:r>
                            <a:rPr lang="en-US" sz="1800" b="1" i="1" smtClean="0">
                              <a:latin typeface="Cambria Math" panose="02040503050406030204" pitchFamily="18" charset="0"/>
                            </a:rPr>
                            <m:t>𝑾</m:t>
                          </m:r>
                          <m:r>
                            <a:rPr lang="en-US" sz="1800" b="1" i="1" smtClean="0">
                              <a:latin typeface="Cambria Math" panose="02040503050406030204" pitchFamily="18" charset="0"/>
                            </a:rPr>
                            <m:t>=</m:t>
                          </m:r>
                          <m:r>
                            <a:rPr lang="en-US" sz="1800" b="1" i="1" smtClean="0">
                              <a:latin typeface="Cambria Math" panose="02040503050406030204" pitchFamily="18" charset="0"/>
                            </a:rPr>
                            <m:t>𝟏</m:t>
                          </m:r>
                        </m:e>
                      </m:d>
                      <m:r>
                        <a:rPr lang="en-US" sz="1800" b="1" i="1" smtClean="0">
                          <a:latin typeface="Cambria Math" panose="02040503050406030204" pitchFamily="18" charset="0"/>
                        </a:rPr>
                        <m:t>=?</m:t>
                      </m:r>
                    </m:oMath>
                  </m:oMathPara>
                </a14:m>
                <a:endParaRPr lang="en-US" sz="1800" b="1" dirty="0"/>
              </a:p>
            </p:txBody>
          </p:sp>
        </mc:Choice>
        <mc:Fallback xmlns="">
          <p:sp>
            <p:nvSpPr>
              <p:cNvPr id="8" name="TextBox 7">
                <a:extLst>
                  <a:ext uri="{FF2B5EF4-FFF2-40B4-BE49-F238E27FC236}">
                    <a16:creationId xmlns:a16="http://schemas.microsoft.com/office/drawing/2014/main" id="{46452C03-ED82-BFA3-11E3-8918EE47AECE}"/>
                  </a:ext>
                </a:extLst>
              </p:cNvPr>
              <p:cNvSpPr txBox="1">
                <a:spLocks noRot="1" noChangeAspect="1" noMove="1" noResize="1" noEditPoints="1" noAdjustHandles="1" noChangeArrowheads="1" noChangeShapeType="1" noTextEdit="1"/>
              </p:cNvSpPr>
              <p:nvPr/>
            </p:nvSpPr>
            <p:spPr>
              <a:xfrm>
                <a:off x="438851" y="3624778"/>
                <a:ext cx="2575570" cy="276999"/>
              </a:xfrm>
              <a:prstGeom prst="rect">
                <a:avLst/>
              </a:prstGeom>
              <a:blipFill>
                <a:blip r:embed="rId4"/>
                <a:stretch>
                  <a:fillRect t="-2222" b="-37778"/>
                </a:stretch>
              </a:blipFill>
            </p:spPr>
            <p:txBody>
              <a:bodyPr/>
              <a:lstStyle/>
              <a:p>
                <a:r>
                  <a:rPr lang="en-US">
                    <a:noFill/>
                  </a:rPr>
                  <a:t> </a:t>
                </a:r>
              </a:p>
            </p:txBody>
          </p:sp>
        </mc:Fallback>
      </mc:AlternateContent>
    </p:spTree>
    <p:extLst>
      <p:ext uri="{BB962C8B-B14F-4D97-AF65-F5344CB8AC3E}">
        <p14:creationId xmlns:p14="http://schemas.microsoft.com/office/powerpoint/2010/main" val="2240602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82E2-1E36-6B50-91F9-661BC8323BC0}"/>
              </a:ext>
            </a:extLst>
          </p:cNvPr>
          <p:cNvSpPr>
            <a:spLocks noGrp="1"/>
          </p:cNvSpPr>
          <p:nvPr>
            <p:ph type="title"/>
          </p:nvPr>
        </p:nvSpPr>
        <p:spPr/>
        <p:txBody>
          <a:bodyPr/>
          <a:lstStyle/>
          <a:p>
            <a:r>
              <a:rPr lang="en-US" sz="2400" dirty="0"/>
              <a:t>Decision Networks</a:t>
            </a:r>
          </a:p>
        </p:txBody>
      </p:sp>
      <p:sp>
        <p:nvSpPr>
          <p:cNvPr id="3" name="Slide Number Placeholder 2">
            <a:extLst>
              <a:ext uri="{FF2B5EF4-FFF2-40B4-BE49-F238E27FC236}">
                <a16:creationId xmlns:a16="http://schemas.microsoft.com/office/drawing/2014/main" id="{7C74E6BF-4F11-D4B8-7799-42069A95D7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5" name="Picture 4">
            <a:extLst>
              <a:ext uri="{FF2B5EF4-FFF2-40B4-BE49-F238E27FC236}">
                <a16:creationId xmlns:a16="http://schemas.microsoft.com/office/drawing/2014/main" id="{F1EDF3DA-3C0A-9A32-B0A1-455050EF860E}"/>
              </a:ext>
            </a:extLst>
          </p:cNvPr>
          <p:cNvPicPr>
            <a:picLocks noChangeAspect="1"/>
          </p:cNvPicPr>
          <p:nvPr/>
        </p:nvPicPr>
        <p:blipFill>
          <a:blip r:embed="rId2"/>
          <a:stretch>
            <a:fillRect/>
          </a:stretch>
        </p:blipFill>
        <p:spPr>
          <a:xfrm>
            <a:off x="1129324" y="1114881"/>
            <a:ext cx="7309885" cy="3488648"/>
          </a:xfrm>
          <a:prstGeom prst="rect">
            <a:avLst/>
          </a:prstGeom>
        </p:spPr>
      </p:pic>
      <p:sp>
        <p:nvSpPr>
          <p:cNvPr id="6" name="TextBox 5">
            <a:extLst>
              <a:ext uri="{FF2B5EF4-FFF2-40B4-BE49-F238E27FC236}">
                <a16:creationId xmlns:a16="http://schemas.microsoft.com/office/drawing/2014/main" id="{83047652-A271-AF70-B57D-2FA56749CCC6}"/>
              </a:ext>
            </a:extLst>
          </p:cNvPr>
          <p:cNvSpPr txBox="1"/>
          <p:nvPr/>
        </p:nvSpPr>
        <p:spPr>
          <a:xfrm>
            <a:off x="3262393" y="1238867"/>
            <a:ext cx="1160895" cy="307777"/>
          </a:xfrm>
          <a:prstGeom prst="rect">
            <a:avLst/>
          </a:prstGeom>
          <a:noFill/>
        </p:spPr>
        <p:txBody>
          <a:bodyPr wrap="none" rtlCol="0">
            <a:spAutoFit/>
          </a:bodyPr>
          <a:lstStyle/>
          <a:p>
            <a:r>
              <a:rPr lang="en-US" dirty="0">
                <a:solidFill>
                  <a:srgbClr val="0070C0"/>
                </a:solidFill>
              </a:rPr>
              <a:t>Action Node</a:t>
            </a:r>
          </a:p>
        </p:txBody>
      </p:sp>
      <p:sp>
        <p:nvSpPr>
          <p:cNvPr id="7" name="TextBox 6">
            <a:extLst>
              <a:ext uri="{FF2B5EF4-FFF2-40B4-BE49-F238E27FC236}">
                <a16:creationId xmlns:a16="http://schemas.microsoft.com/office/drawing/2014/main" id="{DE36B827-CAC0-A48E-E6C9-00C7AC03CE65}"/>
              </a:ext>
            </a:extLst>
          </p:cNvPr>
          <p:cNvSpPr txBox="1"/>
          <p:nvPr/>
        </p:nvSpPr>
        <p:spPr>
          <a:xfrm>
            <a:off x="3143771" y="2363617"/>
            <a:ext cx="1279517" cy="307777"/>
          </a:xfrm>
          <a:prstGeom prst="rect">
            <a:avLst/>
          </a:prstGeom>
          <a:noFill/>
        </p:spPr>
        <p:txBody>
          <a:bodyPr wrap="none" rtlCol="0">
            <a:spAutoFit/>
          </a:bodyPr>
          <a:lstStyle/>
          <a:p>
            <a:r>
              <a:rPr lang="en-US" dirty="0">
                <a:solidFill>
                  <a:srgbClr val="0070C0"/>
                </a:solidFill>
              </a:rPr>
              <a:t>Chance Node</a:t>
            </a:r>
          </a:p>
        </p:txBody>
      </p:sp>
      <p:sp>
        <p:nvSpPr>
          <p:cNvPr id="8" name="TextBox 7">
            <a:extLst>
              <a:ext uri="{FF2B5EF4-FFF2-40B4-BE49-F238E27FC236}">
                <a16:creationId xmlns:a16="http://schemas.microsoft.com/office/drawing/2014/main" id="{48295160-7DC7-2150-F074-2E2853DFD7B1}"/>
              </a:ext>
            </a:extLst>
          </p:cNvPr>
          <p:cNvSpPr txBox="1"/>
          <p:nvPr/>
        </p:nvSpPr>
        <p:spPr>
          <a:xfrm>
            <a:off x="4720714" y="2517505"/>
            <a:ext cx="1101584" cy="307777"/>
          </a:xfrm>
          <a:prstGeom prst="rect">
            <a:avLst/>
          </a:prstGeom>
          <a:noFill/>
        </p:spPr>
        <p:txBody>
          <a:bodyPr wrap="none" rtlCol="0">
            <a:spAutoFit/>
          </a:bodyPr>
          <a:lstStyle/>
          <a:p>
            <a:r>
              <a:rPr lang="en-US" dirty="0">
                <a:solidFill>
                  <a:srgbClr val="0070C0"/>
                </a:solidFill>
              </a:rPr>
              <a:t>Utility Node</a:t>
            </a:r>
          </a:p>
        </p:txBody>
      </p:sp>
      <p:sp>
        <p:nvSpPr>
          <p:cNvPr id="10" name="TextBox 9">
            <a:extLst>
              <a:ext uri="{FF2B5EF4-FFF2-40B4-BE49-F238E27FC236}">
                <a16:creationId xmlns:a16="http://schemas.microsoft.com/office/drawing/2014/main" id="{3EA3570C-4579-026C-FB34-48F67BA5C290}"/>
              </a:ext>
            </a:extLst>
          </p:cNvPr>
          <p:cNvSpPr txBox="1"/>
          <p:nvPr/>
        </p:nvSpPr>
        <p:spPr>
          <a:xfrm>
            <a:off x="5463153" y="3708150"/>
            <a:ext cx="3289514" cy="441339"/>
          </a:xfrm>
          <a:prstGeom prst="rect">
            <a:avLst/>
          </a:prstGeom>
          <a:noFill/>
        </p:spPr>
        <p:txBody>
          <a:bodyPr wrap="square">
            <a:spAutoFit/>
          </a:bodyPr>
          <a:lstStyle/>
          <a:p>
            <a:pPr>
              <a:lnSpc>
                <a:spcPct val="80000"/>
              </a:lnSpc>
            </a:pPr>
            <a:r>
              <a:rPr lang="en-US" sz="1400" b="1" dirty="0">
                <a:solidFill>
                  <a:srgbClr val="FF0000"/>
                </a:solidFill>
                <a:latin typeface="Calibri"/>
                <a:ea typeface="ＭＳ Ｐゴシック" pitchFamily="34" charset="-128"/>
                <a:cs typeface="Calibri"/>
              </a:rPr>
              <a:t>choose the action which maximizes the expected utility given the evidence</a:t>
            </a:r>
          </a:p>
        </p:txBody>
      </p:sp>
    </p:spTree>
    <p:extLst>
      <p:ext uri="{BB962C8B-B14F-4D97-AF65-F5344CB8AC3E}">
        <p14:creationId xmlns:p14="http://schemas.microsoft.com/office/powerpoint/2010/main" val="1180545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82E2-1E36-6B50-91F9-661BC8323BC0}"/>
              </a:ext>
            </a:extLst>
          </p:cNvPr>
          <p:cNvSpPr>
            <a:spLocks noGrp="1"/>
          </p:cNvSpPr>
          <p:nvPr>
            <p:ph type="title"/>
          </p:nvPr>
        </p:nvSpPr>
        <p:spPr/>
        <p:txBody>
          <a:bodyPr/>
          <a:lstStyle/>
          <a:p>
            <a:r>
              <a:rPr lang="en-US" sz="2400" dirty="0"/>
              <a:t>Decision Networks</a:t>
            </a:r>
          </a:p>
        </p:txBody>
      </p:sp>
      <p:sp>
        <p:nvSpPr>
          <p:cNvPr id="3" name="Slide Number Placeholder 2">
            <a:extLst>
              <a:ext uri="{FF2B5EF4-FFF2-40B4-BE49-F238E27FC236}">
                <a16:creationId xmlns:a16="http://schemas.microsoft.com/office/drawing/2014/main" id="{7C74E6BF-4F11-D4B8-7799-42069A95D7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4" name="Picture 3">
            <a:extLst>
              <a:ext uri="{FF2B5EF4-FFF2-40B4-BE49-F238E27FC236}">
                <a16:creationId xmlns:a16="http://schemas.microsoft.com/office/drawing/2014/main" id="{A4D1389E-9611-51CA-AC4F-36B9C9D64BD9}"/>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870568" y="1113727"/>
            <a:ext cx="3546449" cy="217830"/>
          </a:xfrm>
          <a:prstGeom prst="rect">
            <a:avLst/>
          </a:prstGeom>
        </p:spPr>
      </p:pic>
      <p:pic>
        <p:nvPicPr>
          <p:cNvPr id="11" name="Picture 10">
            <a:extLst>
              <a:ext uri="{FF2B5EF4-FFF2-40B4-BE49-F238E27FC236}">
                <a16:creationId xmlns:a16="http://schemas.microsoft.com/office/drawing/2014/main" id="{7A45965E-A551-52BE-012D-D64E20469E8A}"/>
              </a:ext>
            </a:extLst>
          </p:cNvPr>
          <p:cNvPicPr>
            <a:picLocks noChangeAspect="1"/>
          </p:cNvPicPr>
          <p:nvPr/>
        </p:nvPicPr>
        <p:blipFill>
          <a:blip r:embed="rId4"/>
          <a:stretch>
            <a:fillRect/>
          </a:stretch>
        </p:blipFill>
        <p:spPr>
          <a:xfrm>
            <a:off x="4917095" y="968292"/>
            <a:ext cx="4134062" cy="3206915"/>
          </a:xfrm>
          <a:prstGeom prst="rect">
            <a:avLst/>
          </a:prstGeom>
        </p:spPr>
      </p:pic>
      <p:pic>
        <p:nvPicPr>
          <p:cNvPr id="13" name="Picture 12">
            <a:extLst>
              <a:ext uri="{FF2B5EF4-FFF2-40B4-BE49-F238E27FC236}">
                <a16:creationId xmlns:a16="http://schemas.microsoft.com/office/drawing/2014/main" id="{1C99868F-9360-BAEB-06E3-BE9E8F0B7A34}"/>
              </a:ext>
            </a:extLst>
          </p:cNvPr>
          <p:cNvPicPr>
            <a:picLocks noChangeAspect="1"/>
          </p:cNvPicPr>
          <p:nvPr/>
        </p:nvPicPr>
        <p:blipFill>
          <a:blip r:embed="rId5"/>
          <a:stretch>
            <a:fillRect/>
          </a:stretch>
        </p:blipFill>
        <p:spPr>
          <a:xfrm>
            <a:off x="1223250" y="1418095"/>
            <a:ext cx="2811985" cy="3474312"/>
          </a:xfrm>
          <a:prstGeom prst="rect">
            <a:avLst/>
          </a:prstGeom>
        </p:spPr>
      </p:pic>
    </p:spTree>
    <p:extLst>
      <p:ext uri="{BB962C8B-B14F-4D97-AF65-F5344CB8AC3E}">
        <p14:creationId xmlns:p14="http://schemas.microsoft.com/office/powerpoint/2010/main" val="198054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82E2-1E36-6B50-91F9-661BC8323BC0}"/>
              </a:ext>
            </a:extLst>
          </p:cNvPr>
          <p:cNvSpPr>
            <a:spLocks noGrp="1"/>
          </p:cNvSpPr>
          <p:nvPr>
            <p:ph type="title"/>
          </p:nvPr>
        </p:nvSpPr>
        <p:spPr/>
        <p:txBody>
          <a:bodyPr/>
          <a:lstStyle/>
          <a:p>
            <a:r>
              <a:rPr lang="en-US" sz="2400" dirty="0"/>
              <a:t>Decision Networks</a:t>
            </a:r>
          </a:p>
        </p:txBody>
      </p:sp>
      <p:sp>
        <p:nvSpPr>
          <p:cNvPr id="3" name="Slide Number Placeholder 2">
            <a:extLst>
              <a:ext uri="{FF2B5EF4-FFF2-40B4-BE49-F238E27FC236}">
                <a16:creationId xmlns:a16="http://schemas.microsoft.com/office/drawing/2014/main" id="{7C74E6BF-4F11-D4B8-7799-42069A95D7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pic>
        <p:nvPicPr>
          <p:cNvPr id="6" name="Picture 5">
            <a:extLst>
              <a:ext uri="{FF2B5EF4-FFF2-40B4-BE49-F238E27FC236}">
                <a16:creationId xmlns:a16="http://schemas.microsoft.com/office/drawing/2014/main" id="{A9939BFA-CAD7-77E0-8444-80E6887014A0}"/>
              </a:ext>
            </a:extLst>
          </p:cNvPr>
          <p:cNvPicPr>
            <a:picLocks noChangeAspect="1"/>
          </p:cNvPicPr>
          <p:nvPr/>
        </p:nvPicPr>
        <p:blipFill>
          <a:blip r:embed="rId2"/>
          <a:stretch>
            <a:fillRect/>
          </a:stretch>
        </p:blipFill>
        <p:spPr>
          <a:xfrm>
            <a:off x="5498134" y="1184221"/>
            <a:ext cx="3593793" cy="3151699"/>
          </a:xfrm>
          <a:prstGeom prst="rect">
            <a:avLst/>
          </a:prstGeom>
        </p:spPr>
      </p:pic>
      <p:pic>
        <p:nvPicPr>
          <p:cNvPr id="8" name="Picture 7">
            <a:extLst>
              <a:ext uri="{FF2B5EF4-FFF2-40B4-BE49-F238E27FC236}">
                <a16:creationId xmlns:a16="http://schemas.microsoft.com/office/drawing/2014/main" id="{0BC81386-1512-F007-6DF7-F9BDC4F6E34F}"/>
              </a:ext>
            </a:extLst>
          </p:cNvPr>
          <p:cNvPicPr>
            <a:picLocks noChangeAspect="1"/>
          </p:cNvPicPr>
          <p:nvPr/>
        </p:nvPicPr>
        <p:blipFill>
          <a:blip r:embed="rId3"/>
          <a:stretch>
            <a:fillRect/>
          </a:stretch>
        </p:blipFill>
        <p:spPr>
          <a:xfrm>
            <a:off x="1255158" y="1168207"/>
            <a:ext cx="3797495" cy="3778444"/>
          </a:xfrm>
          <a:prstGeom prst="rect">
            <a:avLst/>
          </a:prstGeom>
        </p:spPr>
      </p:pic>
    </p:spTree>
    <p:extLst>
      <p:ext uri="{BB962C8B-B14F-4D97-AF65-F5344CB8AC3E}">
        <p14:creationId xmlns:p14="http://schemas.microsoft.com/office/powerpoint/2010/main" val="68436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82E2-1E36-6B50-91F9-661BC8323BC0}"/>
              </a:ext>
            </a:extLst>
          </p:cNvPr>
          <p:cNvSpPr>
            <a:spLocks noGrp="1"/>
          </p:cNvSpPr>
          <p:nvPr>
            <p:ph type="title"/>
          </p:nvPr>
        </p:nvSpPr>
        <p:spPr/>
        <p:txBody>
          <a:bodyPr/>
          <a:lstStyle/>
          <a:p>
            <a:r>
              <a:rPr lang="en-US" sz="2400" dirty="0"/>
              <a:t>Decision Networks</a:t>
            </a:r>
          </a:p>
        </p:txBody>
      </p:sp>
      <p:sp>
        <p:nvSpPr>
          <p:cNvPr id="3" name="Slide Number Placeholder 2">
            <a:extLst>
              <a:ext uri="{FF2B5EF4-FFF2-40B4-BE49-F238E27FC236}">
                <a16:creationId xmlns:a16="http://schemas.microsoft.com/office/drawing/2014/main" id="{7C74E6BF-4F11-D4B8-7799-42069A95D7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pic>
        <p:nvPicPr>
          <p:cNvPr id="7" name="Picture 6">
            <a:extLst>
              <a:ext uri="{FF2B5EF4-FFF2-40B4-BE49-F238E27FC236}">
                <a16:creationId xmlns:a16="http://schemas.microsoft.com/office/drawing/2014/main" id="{153978B3-439D-A06C-D01C-EB69904C4D77}"/>
              </a:ext>
            </a:extLst>
          </p:cNvPr>
          <p:cNvPicPr>
            <a:picLocks noChangeAspect="1"/>
          </p:cNvPicPr>
          <p:nvPr/>
        </p:nvPicPr>
        <p:blipFill>
          <a:blip r:embed="rId2"/>
          <a:stretch>
            <a:fillRect/>
          </a:stretch>
        </p:blipFill>
        <p:spPr>
          <a:xfrm>
            <a:off x="5556141" y="1190641"/>
            <a:ext cx="3535785" cy="3653458"/>
          </a:xfrm>
          <a:prstGeom prst="rect">
            <a:avLst/>
          </a:prstGeom>
        </p:spPr>
      </p:pic>
      <p:pic>
        <p:nvPicPr>
          <p:cNvPr id="10" name="Picture 9">
            <a:extLst>
              <a:ext uri="{FF2B5EF4-FFF2-40B4-BE49-F238E27FC236}">
                <a16:creationId xmlns:a16="http://schemas.microsoft.com/office/drawing/2014/main" id="{99EFB1B9-6633-53AA-367B-0CD85455DF67}"/>
              </a:ext>
            </a:extLst>
          </p:cNvPr>
          <p:cNvPicPr>
            <a:picLocks noChangeAspect="1"/>
          </p:cNvPicPr>
          <p:nvPr/>
        </p:nvPicPr>
        <p:blipFill>
          <a:blip r:embed="rId3"/>
          <a:stretch>
            <a:fillRect/>
          </a:stretch>
        </p:blipFill>
        <p:spPr>
          <a:xfrm>
            <a:off x="871574" y="1309898"/>
            <a:ext cx="4388076" cy="3283119"/>
          </a:xfrm>
          <a:prstGeom prst="rect">
            <a:avLst/>
          </a:prstGeom>
        </p:spPr>
      </p:pic>
    </p:spTree>
    <p:extLst>
      <p:ext uri="{BB962C8B-B14F-4D97-AF65-F5344CB8AC3E}">
        <p14:creationId xmlns:p14="http://schemas.microsoft.com/office/powerpoint/2010/main" val="2476641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4FD6-23DD-C7B3-FE50-52D85C8A50E5}"/>
              </a:ext>
            </a:extLst>
          </p:cNvPr>
          <p:cNvSpPr>
            <a:spLocks noGrp="1"/>
          </p:cNvSpPr>
          <p:nvPr>
            <p:ph type="title"/>
          </p:nvPr>
        </p:nvSpPr>
        <p:spPr/>
        <p:txBody>
          <a:bodyPr/>
          <a:lstStyle/>
          <a:p>
            <a:r>
              <a:rPr lang="en-US" sz="2400" dirty="0"/>
              <a:t>Naïve Bayes</a:t>
            </a:r>
          </a:p>
        </p:txBody>
      </p:sp>
      <p:sp>
        <p:nvSpPr>
          <p:cNvPr id="3" name="Slide Number Placeholder 2">
            <a:extLst>
              <a:ext uri="{FF2B5EF4-FFF2-40B4-BE49-F238E27FC236}">
                <a16:creationId xmlns:a16="http://schemas.microsoft.com/office/drawing/2014/main" id="{8F450596-647C-DB91-10E3-575971E69F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4" name="TextBox 3">
            <a:extLst>
              <a:ext uri="{FF2B5EF4-FFF2-40B4-BE49-F238E27FC236}">
                <a16:creationId xmlns:a16="http://schemas.microsoft.com/office/drawing/2014/main" id="{D4A4A7D2-7B3A-4B0C-69AA-A559AB5E3961}"/>
              </a:ext>
            </a:extLst>
          </p:cNvPr>
          <p:cNvSpPr txBox="1"/>
          <p:nvPr/>
        </p:nvSpPr>
        <p:spPr>
          <a:xfrm>
            <a:off x="821410" y="905828"/>
            <a:ext cx="7501179" cy="3247043"/>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2000" b="0" i="0" dirty="0">
                <a:solidFill>
                  <a:srgbClr val="4D5156"/>
                </a:solidFill>
                <a:effectLst/>
                <a:latin typeface="Georgia" panose="02040502050405020303" pitchFamily="18" charset="0"/>
              </a:rPr>
              <a:t>The Naïve Bayes classifier is </a:t>
            </a:r>
            <a:r>
              <a:rPr lang="en-US" sz="2000" b="0" i="0" dirty="0">
                <a:solidFill>
                  <a:srgbClr val="040C28"/>
                </a:solidFill>
                <a:effectLst/>
                <a:latin typeface="Georgia" panose="02040502050405020303" pitchFamily="18" charset="0"/>
              </a:rPr>
              <a:t>a supervised machine learning algorithm, which is used for classification tasks</a:t>
            </a:r>
          </a:p>
          <a:p>
            <a:pPr marL="285750" indent="-285750">
              <a:spcBef>
                <a:spcPts val="600"/>
              </a:spcBef>
              <a:buFont typeface="Arial" panose="020B0604020202020204" pitchFamily="34" charset="0"/>
              <a:buChar char="•"/>
            </a:pPr>
            <a:endParaRPr lang="en-US" sz="2000" dirty="0">
              <a:solidFill>
                <a:srgbClr val="040C28"/>
              </a:solidFill>
              <a:latin typeface="Georgia" panose="02040502050405020303" pitchFamily="18" charset="0"/>
            </a:endParaRPr>
          </a:p>
          <a:p>
            <a:pPr marL="285750" indent="-285750">
              <a:spcBef>
                <a:spcPts val="600"/>
              </a:spcBef>
              <a:buFont typeface="Arial" panose="020B0604020202020204" pitchFamily="34" charset="0"/>
              <a:buChar char="•"/>
            </a:pPr>
            <a:r>
              <a:rPr lang="en-US" sz="2000" dirty="0">
                <a:solidFill>
                  <a:srgbClr val="040C28"/>
                </a:solidFill>
                <a:latin typeface="Georgia" panose="02040502050405020303" pitchFamily="18" charset="0"/>
              </a:rPr>
              <a:t>Procedure:</a:t>
            </a:r>
          </a:p>
          <a:p>
            <a:pPr lvl="1">
              <a:spcBef>
                <a:spcPts val="600"/>
              </a:spcBef>
            </a:pPr>
            <a:r>
              <a:rPr lang="en-US" sz="2000" dirty="0">
                <a:solidFill>
                  <a:srgbClr val="040C28"/>
                </a:solidFill>
                <a:latin typeface="Georgia" panose="02040502050405020303" pitchFamily="18" charset="0"/>
              </a:rPr>
              <a:t>      -  Step 1: convert data into a frequency table</a:t>
            </a:r>
          </a:p>
          <a:p>
            <a:pPr lvl="1">
              <a:spcBef>
                <a:spcPts val="600"/>
              </a:spcBef>
            </a:pPr>
            <a:r>
              <a:rPr lang="en-US" sz="2000" dirty="0">
                <a:solidFill>
                  <a:srgbClr val="040C28"/>
                </a:solidFill>
                <a:latin typeface="Georgia" panose="02040502050405020303" pitchFamily="18" charset="0"/>
              </a:rPr>
              <a:t>      -  Step 2: Create Likelihood table by finding the probability</a:t>
            </a:r>
          </a:p>
          <a:p>
            <a:pPr lvl="1">
              <a:spcBef>
                <a:spcPts val="600"/>
              </a:spcBef>
            </a:pPr>
            <a:r>
              <a:rPr lang="en-US" sz="2000" dirty="0">
                <a:solidFill>
                  <a:srgbClr val="040C28"/>
                </a:solidFill>
                <a:latin typeface="Georgia" panose="02040502050405020303" pitchFamily="18" charset="0"/>
              </a:rPr>
              <a:t>      -  Step 3: Use Bayesian equation to calculate the posterior probability. The class with highest posterior probability is the outcome of the prediction</a:t>
            </a:r>
            <a:endParaRPr lang="en-US" sz="2000" dirty="0">
              <a:latin typeface="Georgia" panose="02040502050405020303" pitchFamily="18" charset="0"/>
            </a:endParaRPr>
          </a:p>
        </p:txBody>
      </p:sp>
    </p:spTree>
    <p:extLst>
      <p:ext uri="{BB962C8B-B14F-4D97-AF65-F5344CB8AC3E}">
        <p14:creationId xmlns:p14="http://schemas.microsoft.com/office/powerpoint/2010/main" val="4260129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4FD6-23DD-C7B3-FE50-52D85C8A50E5}"/>
              </a:ext>
            </a:extLst>
          </p:cNvPr>
          <p:cNvSpPr>
            <a:spLocks noGrp="1"/>
          </p:cNvSpPr>
          <p:nvPr>
            <p:ph type="title"/>
          </p:nvPr>
        </p:nvSpPr>
        <p:spPr/>
        <p:txBody>
          <a:bodyPr/>
          <a:lstStyle/>
          <a:p>
            <a:r>
              <a:rPr lang="en-US" sz="2400" dirty="0"/>
              <a:t>Naïve Bayes</a:t>
            </a:r>
          </a:p>
        </p:txBody>
      </p:sp>
      <p:sp>
        <p:nvSpPr>
          <p:cNvPr id="3" name="Slide Number Placeholder 2">
            <a:extLst>
              <a:ext uri="{FF2B5EF4-FFF2-40B4-BE49-F238E27FC236}">
                <a16:creationId xmlns:a16="http://schemas.microsoft.com/office/drawing/2014/main" id="{8F450596-647C-DB91-10E3-575971E69F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pic>
        <p:nvPicPr>
          <p:cNvPr id="5" name="Picture 2">
            <a:extLst>
              <a:ext uri="{FF2B5EF4-FFF2-40B4-BE49-F238E27FC236}">
                <a16:creationId xmlns:a16="http://schemas.microsoft.com/office/drawing/2014/main" id="{2C0980E9-AF6A-ED89-01B6-F63C3D7D8E0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89901" y="1190248"/>
            <a:ext cx="3813229" cy="3404999"/>
          </a:xfrm>
          <a:prstGeom prst="rect">
            <a:avLst/>
          </a:prstGeom>
          <a:noFill/>
        </p:spPr>
      </p:pic>
      <p:sp>
        <p:nvSpPr>
          <p:cNvPr id="6" name="TextBox 5">
            <a:extLst>
              <a:ext uri="{FF2B5EF4-FFF2-40B4-BE49-F238E27FC236}">
                <a16:creationId xmlns:a16="http://schemas.microsoft.com/office/drawing/2014/main" id="{9481890C-BCAB-F460-B347-58627548E80C}"/>
              </a:ext>
            </a:extLst>
          </p:cNvPr>
          <p:cNvSpPr txBox="1"/>
          <p:nvPr/>
        </p:nvSpPr>
        <p:spPr>
          <a:xfrm>
            <a:off x="557939" y="990193"/>
            <a:ext cx="4353731" cy="3708708"/>
          </a:xfrm>
          <a:prstGeom prst="rect">
            <a:avLst/>
          </a:prstGeom>
          <a:noFill/>
        </p:spPr>
        <p:txBody>
          <a:bodyPr wrap="square" rtlCol="0">
            <a:spAutoFit/>
          </a:bodyPr>
          <a:lstStyle/>
          <a:p>
            <a:pPr>
              <a:spcBef>
                <a:spcPts val="600"/>
              </a:spcBef>
            </a:pPr>
            <a:r>
              <a:rPr lang="en-US" sz="2000" b="1" dirty="0">
                <a:latin typeface="Georgia" panose="02040502050405020303" pitchFamily="18" charset="0"/>
              </a:rPr>
              <a:t>Example: Spam email detection</a:t>
            </a:r>
          </a:p>
          <a:p>
            <a:pPr>
              <a:spcBef>
                <a:spcPts val="600"/>
              </a:spcBef>
            </a:pPr>
            <a:r>
              <a:rPr lang="en-US" sz="2000" dirty="0">
                <a:latin typeface="Georgia" panose="02040502050405020303" pitchFamily="18" charset="0"/>
              </a:rPr>
              <a:t>Input: an email</a:t>
            </a:r>
          </a:p>
          <a:p>
            <a:pPr>
              <a:spcBef>
                <a:spcPts val="600"/>
              </a:spcBef>
            </a:pPr>
            <a:r>
              <a:rPr lang="en-US" sz="2000" dirty="0">
                <a:latin typeface="Georgia" panose="02040502050405020303" pitchFamily="18" charset="0"/>
              </a:rPr>
              <a:t>Output: spam or normal</a:t>
            </a:r>
          </a:p>
          <a:p>
            <a:pPr>
              <a:spcBef>
                <a:spcPts val="600"/>
              </a:spcBef>
            </a:pPr>
            <a:endParaRPr lang="en-US" sz="2000" dirty="0">
              <a:latin typeface="Georgia" panose="02040502050405020303" pitchFamily="18" charset="0"/>
            </a:endParaRPr>
          </a:p>
          <a:p>
            <a:pPr>
              <a:spcBef>
                <a:spcPts val="600"/>
              </a:spcBef>
            </a:pPr>
            <a:r>
              <a:rPr lang="en-US" sz="2000" dirty="0">
                <a:latin typeface="Georgia" panose="02040502050405020303" pitchFamily="18" charset="0"/>
              </a:rPr>
              <a:t>Setup:</a:t>
            </a:r>
          </a:p>
          <a:p>
            <a:pPr marL="342900" indent="-342900">
              <a:spcBef>
                <a:spcPts val="600"/>
              </a:spcBef>
              <a:buFont typeface="Arial" panose="020B0604020202020204" pitchFamily="34" charset="0"/>
              <a:buChar char="•"/>
            </a:pPr>
            <a:r>
              <a:rPr lang="en-US" sz="2000" dirty="0">
                <a:latin typeface="Georgia" panose="02040502050405020303" pitchFamily="18" charset="0"/>
              </a:rPr>
              <a:t>Get a large collection of example emails, each labeled “spam” or “normal”</a:t>
            </a:r>
          </a:p>
          <a:p>
            <a:pPr marL="342900" indent="-342900">
              <a:spcBef>
                <a:spcPts val="600"/>
              </a:spcBef>
              <a:buFont typeface="Arial" panose="020B0604020202020204" pitchFamily="34" charset="0"/>
              <a:buChar char="•"/>
            </a:pPr>
            <a:r>
              <a:rPr lang="en-US" sz="2000" dirty="0">
                <a:latin typeface="Georgia" panose="02040502050405020303" pitchFamily="18" charset="0"/>
              </a:rPr>
              <a:t>Select features:</a:t>
            </a:r>
          </a:p>
          <a:p>
            <a:pPr>
              <a:spcBef>
                <a:spcPts val="600"/>
              </a:spcBef>
            </a:pPr>
            <a:r>
              <a:rPr lang="en-US" sz="2000" dirty="0">
                <a:latin typeface="Georgia" panose="02040502050405020303" pitchFamily="18" charset="0"/>
              </a:rPr>
              <a:t>      e.g.: words, text pattern…</a:t>
            </a:r>
          </a:p>
        </p:txBody>
      </p:sp>
      <p:sp>
        <p:nvSpPr>
          <p:cNvPr id="8" name="TextBox 7">
            <a:extLst>
              <a:ext uri="{FF2B5EF4-FFF2-40B4-BE49-F238E27FC236}">
                <a16:creationId xmlns:a16="http://schemas.microsoft.com/office/drawing/2014/main" id="{1C5D44F9-80B2-6B7B-23DD-E28995257CCB}"/>
              </a:ext>
            </a:extLst>
          </p:cNvPr>
          <p:cNvSpPr txBox="1"/>
          <p:nvPr/>
        </p:nvSpPr>
        <p:spPr>
          <a:xfrm>
            <a:off x="4911670" y="4725778"/>
            <a:ext cx="4579748" cy="307777"/>
          </a:xfrm>
          <a:prstGeom prst="rect">
            <a:avLst/>
          </a:prstGeom>
          <a:noFill/>
        </p:spPr>
        <p:txBody>
          <a:bodyPr wrap="square">
            <a:spAutoFit/>
          </a:bodyPr>
          <a:lstStyle/>
          <a:p>
            <a:r>
              <a:rPr lang="en-US" dirty="0">
                <a:hlinkClick r:id="rId3"/>
              </a:rPr>
              <a:t>Naive Bayes, Clearly Explained!!! - YouTube</a:t>
            </a:r>
            <a:endParaRPr lang="en-US" dirty="0"/>
          </a:p>
        </p:txBody>
      </p:sp>
    </p:spTree>
    <p:extLst>
      <p:ext uri="{BB962C8B-B14F-4D97-AF65-F5344CB8AC3E}">
        <p14:creationId xmlns:p14="http://schemas.microsoft.com/office/powerpoint/2010/main" val="400316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4FD6-23DD-C7B3-FE50-52D85C8A50E5}"/>
              </a:ext>
            </a:extLst>
          </p:cNvPr>
          <p:cNvSpPr>
            <a:spLocks noGrp="1"/>
          </p:cNvSpPr>
          <p:nvPr>
            <p:ph type="title"/>
          </p:nvPr>
        </p:nvSpPr>
        <p:spPr/>
        <p:txBody>
          <a:bodyPr/>
          <a:lstStyle/>
          <a:p>
            <a:r>
              <a:rPr lang="en-US" sz="2400" dirty="0"/>
              <a:t>Naïve Bayes</a:t>
            </a:r>
          </a:p>
        </p:txBody>
      </p:sp>
      <p:sp>
        <p:nvSpPr>
          <p:cNvPr id="3" name="Slide Number Placeholder 2">
            <a:extLst>
              <a:ext uri="{FF2B5EF4-FFF2-40B4-BE49-F238E27FC236}">
                <a16:creationId xmlns:a16="http://schemas.microsoft.com/office/drawing/2014/main" id="{8F450596-647C-DB91-10E3-575971E69F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
        <p:nvSpPr>
          <p:cNvPr id="6" name="TextBox 5">
            <a:extLst>
              <a:ext uri="{FF2B5EF4-FFF2-40B4-BE49-F238E27FC236}">
                <a16:creationId xmlns:a16="http://schemas.microsoft.com/office/drawing/2014/main" id="{9481890C-BCAB-F460-B347-58627548E80C}"/>
              </a:ext>
            </a:extLst>
          </p:cNvPr>
          <p:cNvSpPr txBox="1"/>
          <p:nvPr/>
        </p:nvSpPr>
        <p:spPr>
          <a:xfrm>
            <a:off x="557939" y="990193"/>
            <a:ext cx="4353731" cy="3400931"/>
          </a:xfrm>
          <a:prstGeom prst="rect">
            <a:avLst/>
          </a:prstGeom>
          <a:noFill/>
        </p:spPr>
        <p:txBody>
          <a:bodyPr wrap="square" rtlCol="0">
            <a:spAutoFit/>
          </a:bodyPr>
          <a:lstStyle/>
          <a:p>
            <a:pPr>
              <a:spcBef>
                <a:spcPts val="600"/>
              </a:spcBef>
            </a:pPr>
            <a:r>
              <a:rPr lang="en-US" sz="2000" b="1" dirty="0">
                <a:latin typeface="Georgia" panose="02040502050405020303" pitchFamily="18" charset="0"/>
              </a:rPr>
              <a:t>Example: digit recognition</a:t>
            </a:r>
          </a:p>
          <a:p>
            <a:pPr>
              <a:spcBef>
                <a:spcPts val="600"/>
              </a:spcBef>
            </a:pPr>
            <a:r>
              <a:rPr lang="en-US" sz="2000" dirty="0">
                <a:latin typeface="Georgia" panose="02040502050405020303" pitchFamily="18" charset="0"/>
              </a:rPr>
              <a:t>Input: image</a:t>
            </a:r>
          </a:p>
          <a:p>
            <a:pPr>
              <a:spcBef>
                <a:spcPts val="600"/>
              </a:spcBef>
            </a:pPr>
            <a:r>
              <a:rPr lang="en-US" sz="2000" dirty="0">
                <a:latin typeface="Georgia" panose="02040502050405020303" pitchFamily="18" charset="0"/>
              </a:rPr>
              <a:t>Output: a digit 0-9</a:t>
            </a:r>
          </a:p>
          <a:p>
            <a:pPr>
              <a:spcBef>
                <a:spcPts val="600"/>
              </a:spcBef>
            </a:pPr>
            <a:endParaRPr lang="en-US" sz="2000" dirty="0">
              <a:latin typeface="Georgia" panose="02040502050405020303" pitchFamily="18" charset="0"/>
            </a:endParaRPr>
          </a:p>
          <a:p>
            <a:pPr>
              <a:spcBef>
                <a:spcPts val="600"/>
              </a:spcBef>
            </a:pPr>
            <a:r>
              <a:rPr lang="en-US" sz="2000" dirty="0">
                <a:latin typeface="Georgia" panose="02040502050405020303" pitchFamily="18" charset="0"/>
              </a:rPr>
              <a:t>Setup:</a:t>
            </a:r>
          </a:p>
          <a:p>
            <a:pPr marL="342900" indent="-342900">
              <a:spcBef>
                <a:spcPts val="600"/>
              </a:spcBef>
              <a:buFont typeface="Arial" panose="020B0604020202020204" pitchFamily="34" charset="0"/>
              <a:buChar char="•"/>
            </a:pPr>
            <a:r>
              <a:rPr lang="en-US" sz="2000" dirty="0">
                <a:latin typeface="Georgia" panose="02040502050405020303" pitchFamily="18" charset="0"/>
              </a:rPr>
              <a:t>Get a large collection of example images, each labeled with a digit</a:t>
            </a:r>
          </a:p>
          <a:p>
            <a:pPr marL="342900" indent="-342900">
              <a:spcBef>
                <a:spcPts val="600"/>
              </a:spcBef>
              <a:buFont typeface="Arial" panose="020B0604020202020204" pitchFamily="34" charset="0"/>
              <a:buChar char="•"/>
            </a:pPr>
            <a:r>
              <a:rPr lang="en-US" sz="2000" dirty="0">
                <a:latin typeface="Georgia" panose="02040502050405020303" pitchFamily="18" charset="0"/>
              </a:rPr>
              <a:t>Select features:</a:t>
            </a:r>
          </a:p>
          <a:p>
            <a:pPr>
              <a:spcBef>
                <a:spcPts val="600"/>
              </a:spcBef>
            </a:pPr>
            <a:r>
              <a:rPr lang="en-US" sz="2000" dirty="0">
                <a:latin typeface="Georgia" panose="02040502050405020303" pitchFamily="18" charset="0"/>
              </a:rPr>
              <a:t>      e.g.: pixel value, shape…</a:t>
            </a:r>
          </a:p>
        </p:txBody>
      </p:sp>
      <p:pic>
        <p:nvPicPr>
          <p:cNvPr id="7" name="Picture 6">
            <a:extLst>
              <a:ext uri="{FF2B5EF4-FFF2-40B4-BE49-F238E27FC236}">
                <a16:creationId xmlns:a16="http://schemas.microsoft.com/office/drawing/2014/main" id="{6ECCECC5-A362-3207-2084-5EE69CD467AB}"/>
              </a:ext>
            </a:extLst>
          </p:cNvPr>
          <p:cNvPicPr>
            <a:picLocks noChangeAspect="1"/>
          </p:cNvPicPr>
          <p:nvPr/>
        </p:nvPicPr>
        <p:blipFill rotWithShape="1">
          <a:blip r:embed="rId3"/>
          <a:srcRect t="4018"/>
          <a:stretch/>
        </p:blipFill>
        <p:spPr>
          <a:xfrm>
            <a:off x="7217295" y="813661"/>
            <a:ext cx="1600282" cy="4260536"/>
          </a:xfrm>
          <a:prstGeom prst="rect">
            <a:avLst/>
          </a:prstGeom>
        </p:spPr>
      </p:pic>
    </p:spTree>
    <p:extLst>
      <p:ext uri="{BB962C8B-B14F-4D97-AF65-F5344CB8AC3E}">
        <p14:creationId xmlns:p14="http://schemas.microsoft.com/office/powerpoint/2010/main" val="2300975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0F17-8736-48D4-95B7-ABD5AFEDADB5}"/>
              </a:ext>
            </a:extLst>
          </p:cNvPr>
          <p:cNvSpPr>
            <a:spLocks noGrp="1"/>
          </p:cNvSpPr>
          <p:nvPr>
            <p:ph type="title"/>
          </p:nvPr>
        </p:nvSpPr>
        <p:spPr/>
        <p:txBody>
          <a:bodyPr/>
          <a:lstStyle/>
          <a:p>
            <a:r>
              <a:rPr lang="en-US" dirty="0"/>
              <a:t>Decision Tree</a:t>
            </a:r>
          </a:p>
        </p:txBody>
      </p:sp>
      <p:sp>
        <p:nvSpPr>
          <p:cNvPr id="3" name="Slide Number Placeholder 2">
            <a:extLst>
              <a:ext uri="{FF2B5EF4-FFF2-40B4-BE49-F238E27FC236}">
                <a16:creationId xmlns:a16="http://schemas.microsoft.com/office/drawing/2014/main" id="{B6BC0B78-1EAE-47FB-9A89-C0BFD942AD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pic>
        <p:nvPicPr>
          <p:cNvPr id="5" name="Picture 4">
            <a:extLst>
              <a:ext uri="{FF2B5EF4-FFF2-40B4-BE49-F238E27FC236}">
                <a16:creationId xmlns:a16="http://schemas.microsoft.com/office/drawing/2014/main" id="{BA257217-C590-403E-8531-9322436DB316}"/>
              </a:ext>
            </a:extLst>
          </p:cNvPr>
          <p:cNvPicPr>
            <a:picLocks noChangeAspect="1"/>
          </p:cNvPicPr>
          <p:nvPr/>
        </p:nvPicPr>
        <p:blipFill>
          <a:blip r:embed="rId2"/>
          <a:stretch>
            <a:fillRect/>
          </a:stretch>
        </p:blipFill>
        <p:spPr>
          <a:xfrm>
            <a:off x="2997960" y="1212632"/>
            <a:ext cx="3614596" cy="3537219"/>
          </a:xfrm>
          <a:prstGeom prst="rect">
            <a:avLst/>
          </a:prstGeom>
        </p:spPr>
      </p:pic>
    </p:spTree>
    <p:extLst>
      <p:ext uri="{BB962C8B-B14F-4D97-AF65-F5344CB8AC3E}">
        <p14:creationId xmlns:p14="http://schemas.microsoft.com/office/powerpoint/2010/main" val="3150096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0F17-8736-48D4-95B7-ABD5AFEDADB5}"/>
              </a:ext>
            </a:extLst>
          </p:cNvPr>
          <p:cNvSpPr>
            <a:spLocks noGrp="1"/>
          </p:cNvSpPr>
          <p:nvPr>
            <p:ph type="title"/>
          </p:nvPr>
        </p:nvSpPr>
        <p:spPr/>
        <p:txBody>
          <a:bodyPr/>
          <a:lstStyle/>
          <a:p>
            <a:r>
              <a:rPr lang="en-US" dirty="0"/>
              <a:t>Decision Tree</a:t>
            </a:r>
          </a:p>
        </p:txBody>
      </p:sp>
      <p:sp>
        <p:nvSpPr>
          <p:cNvPr id="3" name="Slide Number Placeholder 2">
            <a:extLst>
              <a:ext uri="{FF2B5EF4-FFF2-40B4-BE49-F238E27FC236}">
                <a16:creationId xmlns:a16="http://schemas.microsoft.com/office/drawing/2014/main" id="{B6BC0B78-1EAE-47FB-9A89-C0BFD942AD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pic>
        <p:nvPicPr>
          <p:cNvPr id="6" name="Picture 5">
            <a:extLst>
              <a:ext uri="{FF2B5EF4-FFF2-40B4-BE49-F238E27FC236}">
                <a16:creationId xmlns:a16="http://schemas.microsoft.com/office/drawing/2014/main" id="{9454224F-63CD-4737-AD21-7AC88D663FCE}"/>
              </a:ext>
            </a:extLst>
          </p:cNvPr>
          <p:cNvPicPr>
            <a:picLocks noChangeAspect="1"/>
          </p:cNvPicPr>
          <p:nvPr/>
        </p:nvPicPr>
        <p:blipFill>
          <a:blip r:embed="rId2"/>
          <a:stretch>
            <a:fillRect/>
          </a:stretch>
        </p:blipFill>
        <p:spPr>
          <a:xfrm>
            <a:off x="518738" y="1597793"/>
            <a:ext cx="4122483" cy="2035950"/>
          </a:xfrm>
          <a:prstGeom prst="rect">
            <a:avLst/>
          </a:prstGeom>
        </p:spPr>
      </p:pic>
      <p:pic>
        <p:nvPicPr>
          <p:cNvPr id="8" name="Picture 7">
            <a:extLst>
              <a:ext uri="{FF2B5EF4-FFF2-40B4-BE49-F238E27FC236}">
                <a16:creationId xmlns:a16="http://schemas.microsoft.com/office/drawing/2014/main" id="{5389178B-7F40-42D1-A355-3EB92BD2202A}"/>
              </a:ext>
            </a:extLst>
          </p:cNvPr>
          <p:cNvPicPr>
            <a:picLocks noChangeAspect="1"/>
          </p:cNvPicPr>
          <p:nvPr/>
        </p:nvPicPr>
        <p:blipFill>
          <a:blip r:embed="rId3"/>
          <a:stretch>
            <a:fillRect/>
          </a:stretch>
        </p:blipFill>
        <p:spPr>
          <a:xfrm>
            <a:off x="4858416" y="1145406"/>
            <a:ext cx="4016851" cy="2555622"/>
          </a:xfrm>
          <a:prstGeom prst="rect">
            <a:avLst/>
          </a:prstGeom>
        </p:spPr>
      </p:pic>
    </p:spTree>
    <p:extLst>
      <p:ext uri="{BB962C8B-B14F-4D97-AF65-F5344CB8AC3E}">
        <p14:creationId xmlns:p14="http://schemas.microsoft.com/office/powerpoint/2010/main" val="2638640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P(x_1, x_2, \ldots x_n) \ge 0$&#10;\end{document}&#10;"/>
  <p:tag name="FILENAME" val="txp_fig"/>
  <p:tag name="FORMAT" val="pngmono"/>
  <p:tag name="RES" val="1200"/>
  <p:tag name="BLEND" val="0"/>
  <p:tag name="TRANSPARENT" val="0"/>
  <p:tag name="TBUG" val="0"/>
  <p:tag name="ALLOWFS" val="0"/>
  <p:tag name="ORIGWIDTH" val="190"/>
  <p:tag name="PICTUREFILESIZE" val="8743"/>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sum_{(x_1, x_2, \ldots x_n)} P(x_1, x_2, \ldots x_n) = 1&#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92"/>
  <p:tag name="PICTUREFILESIZE" val="16117"/>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10;P(y) P(x|y) = P(x, y) &#10;\]&#10;\end{document}&#10;"/>
  <p:tag name="FILENAME" val="txp_fig"/>
  <p:tag name="FORMAT" val="pngmono"/>
  <p:tag name="RES" val="1200"/>
  <p:tag name="BLEND" val="0"/>
  <p:tag name="TRANSPARENT" val="0"/>
  <p:tag name="TBUG" val="0"/>
  <p:tag name="ALLOWFS" val="0"/>
  <p:tag name="ORIGWIDTH" val="207"/>
  <p:tag name="PICTUREFILESIZE" val="11250"/>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P(x | y) = \frac{P(x, y)}{P(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164"/>
  <p:tag name="PICTUREFILESIZE" val="13149"/>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P(x_1, x_2, x_3) = P(x_1) P(x_2 | x_1) P(x_3|x_1,x_2)$&#10;\end{document}&#10;"/>
  <p:tag name="FILENAME" val="txp_fig"/>
  <p:tag name="FORMAT" val="pngmono"/>
  <p:tag name="RES" val="1200"/>
  <p:tag name="BLEND" val="0"/>
  <p:tag name="TRANSPARENT" val="0"/>
  <p:tag name="TBUG" val="0"/>
  <p:tag name="ALLOWFS" val="0"/>
  <p:tag name="ORIGWIDTH" val="415"/>
  <p:tag name="PICTUREFILESIZE" val="20588"/>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10;P(x_1, x_2, \ldots x_n) = \prod_i P(x_i | x_1 \ldots x_{i-1})&#10;\]&#10;\end{document}&#10;"/>
  <p:tag name="FILENAME" val="txp_fig"/>
  <p:tag name="FORMAT" val="pngmono"/>
  <p:tag name="RES" val="1200"/>
  <p:tag name="BLEND" val="0"/>
  <p:tag name="TRANSPARENT" val="0"/>
  <p:tag name="TBUG" val="0"/>
  <p:tag name="ALLOWFS" val="0"/>
  <p:tag name="ORIGWIDTH" val="361"/>
  <p:tag name="PICTUREFILESIZE" val="16681"/>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P(x | y) = \frac{P(y | x)}{P(y)} P(x)&#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07"/>
  <p:tag name="PICTUREFILESIZE" val="16339"/>
</p:tagLst>
</file>

<file path=ppt/tags/tag8.xml><?xml version="1.0" encoding="utf-8"?>
<p:tagLst xmlns:a="http://schemas.openxmlformats.org/drawingml/2006/main" xmlns:r="http://schemas.openxmlformats.org/officeDocument/2006/relationships" xmlns:p="http://schemas.openxmlformats.org/presentationml/2006/main">
  <p:tag name="ORIGINALHEIGHT" val="152.2713"/>
  <p:tag name="ORIGINALWIDTH" val="2479.096"/>
  <p:tag name="OUTPUTDPI" val="1200"/>
  <p:tag name="LATEXADDIN" val="\documentclass{article}&#10;\usepackage{amsmath}&#10;\pagestyle{empty}&#10;\begin{document}&#10;&#10;\newcommand{\xb}{\mathbf{x}}&#10;\newcommand{\ub}{\mathbf{u}}&#10;\newcommand{\bs}{\mathbf{s}}&#10;\newcommand{\ba}{\mathbf{a}}&#10;&#10;EU($a$) = $\sum_{\text{Pa}(U)} P(\text{Pa}(U) | E = e) U(\text{Pa}(U),a)$&#10;&#10;&#10;\end{document}"/>
  <p:tag name="IGUANATEXSIZE" val="20"/>
  <p:tag name="IGUANATEXCURSOR" val="271"/>
  <p:tag name="TRANSPARENCY" val="True"/>
  <p:tag name="FILENAME" val=""/>
  <p:tag name="INPUTTYPE" val="0"/>
  <p:tag name="LATEXENGINEID" val="1"/>
  <p:tag name="TEMPFOLDER" val="c:\temp\"/>
</p:tagLst>
</file>

<file path=ppt/theme/theme1.xml><?xml version="1.0" encoding="utf-8"?>
<a:theme xmlns:a="http://schemas.openxmlformats.org/drawingml/2006/main" name="Viola template">
  <a:themeElements>
    <a:clrScheme name="Custom 347">
      <a:dk1>
        <a:srgbClr val="000000"/>
      </a:dk1>
      <a:lt1>
        <a:srgbClr val="FFFFFF"/>
      </a:lt1>
      <a:dk2>
        <a:srgbClr val="8A8682"/>
      </a:dk2>
      <a:lt2>
        <a:srgbClr val="F0EEE9"/>
      </a:lt2>
      <a:accent1>
        <a:srgbClr val="FFCD00"/>
      </a:accent1>
      <a:accent2>
        <a:srgbClr val="F6921D"/>
      </a:accent2>
      <a:accent3>
        <a:srgbClr val="A7693A"/>
      </a:accent3>
      <a:accent4>
        <a:srgbClr val="D8D6D2"/>
      </a:accent4>
      <a:accent5>
        <a:srgbClr val="979593"/>
      </a:accent5>
      <a:accent6>
        <a:srgbClr val="6F6868"/>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1235</TotalTime>
  <Words>1158</Words>
  <Application>Microsoft Office PowerPoint</Application>
  <PresentationFormat>On-screen Show (16:9)</PresentationFormat>
  <Paragraphs>222</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Georgia</vt:lpstr>
      <vt:lpstr>Cambria Math</vt:lpstr>
      <vt:lpstr>Calibri</vt:lpstr>
      <vt:lpstr>Quattrocento Sans</vt:lpstr>
      <vt:lpstr>Lora</vt:lpstr>
      <vt:lpstr>Arial</vt:lpstr>
      <vt:lpstr>Viola template</vt:lpstr>
      <vt:lpstr>3. Probabilistic Reasoning</vt:lpstr>
      <vt:lpstr>Probabilistic Reasoning</vt:lpstr>
      <vt:lpstr>PowerPoint Presentation</vt:lpstr>
      <vt:lpstr>Review of Probability</vt:lpstr>
      <vt:lpstr>Review of Probability</vt:lpstr>
      <vt:lpstr>Review of Probability</vt:lpstr>
      <vt:lpstr>Joint Probability</vt:lpstr>
      <vt:lpstr>Joint distributions</vt:lpstr>
      <vt:lpstr>Marginal Distributions</vt:lpstr>
      <vt:lpstr>Conditional Probabilities</vt:lpstr>
      <vt:lpstr>Conditional Distributions</vt:lpstr>
      <vt:lpstr>Normalization</vt:lpstr>
      <vt:lpstr>Probabilistic Inference</vt:lpstr>
      <vt:lpstr>Probabilistic Inference</vt:lpstr>
      <vt:lpstr>Probabilistic Inference</vt:lpstr>
      <vt:lpstr>The Product Rule</vt:lpstr>
      <vt:lpstr>The Chain Rule</vt:lpstr>
      <vt:lpstr>Bayes’ Rule</vt:lpstr>
      <vt:lpstr>PowerPoint Presentation</vt:lpstr>
      <vt:lpstr>Inference with Bayes’ Rule</vt:lpstr>
      <vt:lpstr>Independence</vt:lpstr>
      <vt:lpstr>Conditional Independence</vt:lpstr>
      <vt:lpstr>PowerPoint Presentation</vt:lpstr>
      <vt:lpstr>Bayesian Network</vt:lpstr>
      <vt:lpstr>Inference in Bayes Net</vt:lpstr>
      <vt:lpstr>Bayesian Network</vt:lpstr>
      <vt:lpstr>Bayesian Network</vt:lpstr>
      <vt:lpstr>Bayesian Network</vt:lpstr>
      <vt:lpstr>Decision Networks</vt:lpstr>
      <vt:lpstr>Decision Networks</vt:lpstr>
      <vt:lpstr>Decision Networks</vt:lpstr>
      <vt:lpstr>Decision Networks</vt:lpstr>
      <vt:lpstr>Naïve Bayes</vt:lpstr>
      <vt:lpstr>Naïve Bayes</vt:lpstr>
      <vt:lpstr>Naïve Bayes</vt:lpstr>
      <vt:lpstr>Decision Tree</vt:lpstr>
      <vt:lpstr>Decision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PC</dc:creator>
  <cp:lastModifiedBy>duc b</cp:lastModifiedBy>
  <cp:revision>116</cp:revision>
  <dcterms:modified xsi:type="dcterms:W3CDTF">2024-09-11T04:27:21Z</dcterms:modified>
</cp:coreProperties>
</file>