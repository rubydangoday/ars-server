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8"/>
  </p:notesMasterIdLst>
  <p:sldIdLst>
    <p:sldId id="256" r:id="rId3"/>
    <p:sldId id="334" r:id="rId4"/>
    <p:sldId id="321" r:id="rId5"/>
    <p:sldId id="332" r:id="rId6"/>
    <p:sldId id="333" r:id="rId7"/>
    <p:sldId id="322" r:id="rId8"/>
    <p:sldId id="331" r:id="rId9"/>
    <p:sldId id="323" r:id="rId10"/>
    <p:sldId id="324" r:id="rId11"/>
    <p:sldId id="325" r:id="rId12"/>
    <p:sldId id="326" r:id="rId13"/>
    <p:sldId id="327" r:id="rId14"/>
    <p:sldId id="330" r:id="rId15"/>
    <p:sldId id="329" r:id="rId16"/>
    <p:sldId id="328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5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345" autoAdjust="0"/>
  </p:normalViewPr>
  <p:slideViewPr>
    <p:cSldViewPr snapToGrid="0">
      <p:cViewPr varScale="1">
        <p:scale>
          <a:sx n="74" d="100"/>
          <a:sy n="74" d="100"/>
        </p:scale>
        <p:origin x="6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292934"/>
                </a:solidFill>
                <a:latin typeface="Arial"/>
              </a:rPr>
              <a:t>Click to move the slide</a:t>
            </a: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3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33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34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35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6404C1A7-2838-4AD8-BDC3-92BC68EF0ADA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3667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412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E0431B75-ECC4-49BC-8D1F-BD133B3296B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2490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6404C1A7-2838-4AD8-BDC3-92BC68EF0ADA}" type="slidenum">
              <a:rPr lang="en-US" sz="1400" b="0" strike="noStrike" spc="-1" smtClean="0">
                <a:latin typeface="Times New Roman"/>
              </a:rPr>
              <a:t>10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9789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6404C1A7-2838-4AD8-BDC3-92BC68EF0ADA}" type="slidenum">
              <a:rPr lang="en-US" sz="1400" b="0" strike="noStrike" spc="-1" smtClean="0">
                <a:latin typeface="Times New Roman"/>
              </a:rPr>
              <a:t>12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0511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876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876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876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876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533520"/>
            <a:ext cx="8229240" cy="4592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876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57200" y="414756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876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74240" y="414756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4147560"/>
            <a:ext cx="822924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4147560"/>
            <a:ext cx="822924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57200" y="414756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74240" y="414756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4147560"/>
            <a:ext cx="26496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239640" y="4147560"/>
            <a:ext cx="26496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6022080" y="4147560"/>
            <a:ext cx="26496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strike="noStrike" kern="1200" spc="-100">
                <a:solidFill>
                  <a:srgbClr val="D2533C"/>
                </a:solidFill>
                <a:latin typeface="Arial"/>
                <a:ea typeface="+mj-ea"/>
                <a:cs typeface="+mj-cs"/>
              </a:defRPr>
            </a:lvl1pPr>
          </a:lstStyle>
          <a:p>
            <a:endParaRPr lang="en-US" sz="1800" b="0" strike="noStrike" spc="-1" dirty="0">
              <a:solidFill>
                <a:srgbClr val="292934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876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lang="en-US" sz="4000" b="0" strike="noStrike" kern="1200" spc="-100">
                <a:solidFill>
                  <a:srgbClr val="D2533C"/>
                </a:solidFill>
                <a:latin typeface="Arial"/>
                <a:ea typeface="+mj-ea"/>
                <a:cs typeface="+mj-cs"/>
              </a:defRPr>
            </a:lvl1pPr>
          </a:lstStyle>
          <a:p>
            <a:endParaRPr lang="en-US" sz="1800" b="0" strike="noStrike" spc="-1" dirty="0">
              <a:solidFill>
                <a:srgbClr val="292934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876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876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876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457200" y="533520"/>
            <a:ext cx="8229240" cy="4592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876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57200" y="414756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876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674240" y="414756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57200" y="4147560"/>
            <a:ext cx="822924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57200" y="4147560"/>
            <a:ext cx="822924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57200" y="414756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674240" y="4147560"/>
            <a:ext cx="40158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457200" y="4147560"/>
            <a:ext cx="26496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body"/>
          </p:nvPr>
        </p:nvSpPr>
        <p:spPr>
          <a:xfrm>
            <a:off x="3239640" y="4147560"/>
            <a:ext cx="26496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6022080" y="4147560"/>
            <a:ext cx="2649600" cy="232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/>
          <p:cNvSpPr/>
          <p:nvPr/>
        </p:nvSpPr>
        <p:spPr>
          <a:xfrm>
            <a:off x="0" y="220680"/>
            <a:ext cx="914364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" name="CustomShape 2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685800" y="1371600"/>
            <a:ext cx="7848360" cy="192672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5400" b="0" strike="noStrike" cap="all" spc="-100">
                <a:solidFill>
                  <a:srgbClr val="D2533C"/>
                </a:solidFill>
                <a:latin typeface="Arial"/>
              </a:rPr>
              <a:t>Click to edit Master title style</a:t>
            </a:r>
            <a:endParaRPr lang="en-US" sz="5400" b="0" strike="noStrike" spc="-1">
              <a:solidFill>
                <a:srgbClr val="292934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/>
          </p:nvPr>
        </p:nvSpPr>
        <p:spPr>
          <a:xfrm>
            <a:off x="457200" y="18360"/>
            <a:ext cx="2895120" cy="328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29D37095-588C-45F6-8B72-42254A459725}" type="datetime1">
              <a:rPr lang="en-US" sz="1200" b="0" strike="noStrike" spc="-1">
                <a:solidFill>
                  <a:srgbClr val="FFFFFF"/>
                </a:solidFill>
                <a:latin typeface="Arial"/>
              </a:rPr>
              <a:t>10/1/2026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/>
          </p:nvPr>
        </p:nvSpPr>
        <p:spPr>
          <a:xfrm>
            <a:off x="3429000" y="18360"/>
            <a:ext cx="4114440" cy="328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/>
          </p:nvPr>
        </p:nvSpPr>
        <p:spPr>
          <a:xfrm>
            <a:off x="7620120" y="6481440"/>
            <a:ext cx="1066320" cy="328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727F769D-28E7-42F9-BCDD-F3ADAB16463A}" type="slidenum">
              <a:rPr lang="en-US" sz="1400" b="1" strike="noStrike" spc="-1">
                <a:solidFill>
                  <a:srgbClr val="5C697C"/>
                </a:solidFill>
                <a:latin typeface="Arial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6" name="Line 7"/>
          <p:cNvSpPr/>
          <p:nvPr/>
        </p:nvSpPr>
        <p:spPr>
          <a:xfrm>
            <a:off x="685800" y="3398400"/>
            <a:ext cx="7848360" cy="1440"/>
          </a:xfrm>
          <a:prstGeom prst="line">
            <a:avLst/>
          </a:prstGeom>
          <a:ln w="19080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" name="PlaceHolder 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292934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292934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292934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292934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92934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92934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92934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220680"/>
            <a:ext cx="914364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CustomShape 2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PlaceHolder 3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00" dirty="0">
                <a:solidFill>
                  <a:srgbClr val="D2533C"/>
                </a:solidFill>
                <a:latin typeface="Arial"/>
              </a:rPr>
              <a:t>Click to edit Master title style</a:t>
            </a:r>
            <a:endParaRPr lang="en-US" sz="4000" b="0" strike="noStrike" spc="-1" dirty="0">
              <a:solidFill>
                <a:srgbClr val="292934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876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82880" indent="-18252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n-US" sz="2400" b="0" strike="noStrike" spc="-1">
                <a:solidFill>
                  <a:srgbClr val="292934"/>
                </a:solidFill>
                <a:latin typeface="Arial"/>
              </a:rPr>
              <a:t>Click to edit Master text styles</a:t>
            </a:r>
          </a:p>
          <a:p>
            <a:pPr marL="457200" lvl="1" indent="-18252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n-US" sz="2000" b="0" strike="noStrike" spc="-1">
                <a:solidFill>
                  <a:srgbClr val="292934"/>
                </a:solidFill>
                <a:latin typeface="Arial"/>
              </a:rPr>
              <a:t>Second level</a:t>
            </a:r>
          </a:p>
          <a:p>
            <a:pPr marL="731520" lvl="2" indent="-18252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en-US" sz="1800" b="0" strike="noStrike" spc="-1">
                <a:solidFill>
                  <a:srgbClr val="292934"/>
                </a:solidFill>
                <a:latin typeface="Arial"/>
              </a:rPr>
              <a:t>Third level</a:t>
            </a:r>
          </a:p>
          <a:p>
            <a:pPr marL="1005840" lvl="3" indent="-18252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292934"/>
                </a:solidFill>
                <a:latin typeface="Arial"/>
              </a:rPr>
              <a:t>Fourth level</a:t>
            </a:r>
          </a:p>
          <a:p>
            <a:pPr marL="1188720" lvl="4" indent="-136800">
              <a:lnSpc>
                <a:spcPct val="100000"/>
              </a:lnSpc>
              <a:spcBef>
                <a:spcPts val="281"/>
              </a:spcBef>
              <a:buClr>
                <a:srgbClr val="93A299"/>
              </a:buClr>
              <a:buFont typeface="Arial"/>
              <a:buChar char="•"/>
            </a:pPr>
            <a:r>
              <a:rPr lang="en-US" sz="1400" b="0" strike="noStrike" spc="-1">
                <a:solidFill>
                  <a:srgbClr val="292934"/>
                </a:solidFill>
                <a:latin typeface="Arial"/>
              </a:rPr>
              <a:t>Fifth level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dt"/>
          </p:nvPr>
        </p:nvSpPr>
        <p:spPr>
          <a:xfrm>
            <a:off x="457200" y="18360"/>
            <a:ext cx="2895120" cy="328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6ABAF899-C97D-4AE3-8E8A-31881E63E85C}" type="datetime1">
              <a:rPr lang="en-US" sz="1200" b="0" strike="noStrike" spc="-1">
                <a:solidFill>
                  <a:srgbClr val="FFFFFF"/>
                </a:solidFill>
                <a:latin typeface="Arial"/>
              </a:rPr>
              <a:t>10/1/2026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ftr"/>
          </p:nvPr>
        </p:nvSpPr>
        <p:spPr>
          <a:xfrm>
            <a:off x="3429000" y="18360"/>
            <a:ext cx="4114440" cy="328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sldNum"/>
          </p:nvPr>
        </p:nvSpPr>
        <p:spPr>
          <a:xfrm>
            <a:off x="7620120" y="6501240"/>
            <a:ext cx="1066320" cy="328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D19E3E36-F529-45DB-BB26-17FCAA007BAA}" type="slidenum">
              <a:rPr lang="en-US" sz="1400" b="1" strike="noStrike" spc="-1">
                <a:solidFill>
                  <a:srgbClr val="454F5D"/>
                </a:solidFill>
                <a:latin typeface="Arial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libcoap.net/" TargetMode="Externa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rysn/aiocoap" TargetMode="External"/><Relationship Id="rId2" Type="http://schemas.openxmlformats.org/officeDocument/2006/relationships/hyperlink" Target="http://goo.gl/LLQ03w" TargetMode="Externa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aiocoap.readthedocs.io/en/lates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4" descr="http://img02.deviantart.net/aaac/i/2006/302/3/0/microchip_tattoo_design_1_by_spikeex.jpg"/>
          <p:cNvPicPr/>
          <p:nvPr/>
        </p:nvPicPr>
        <p:blipFill>
          <a:blip r:embed="rId3"/>
          <a:stretch/>
        </p:blipFill>
        <p:spPr>
          <a:xfrm>
            <a:off x="5708160" y="3505320"/>
            <a:ext cx="3322440" cy="3322440"/>
          </a:xfrm>
          <a:prstGeom prst="rect">
            <a:avLst/>
          </a:prstGeom>
          <a:ln>
            <a:noFill/>
          </a:ln>
        </p:spPr>
      </p:pic>
      <p:sp>
        <p:nvSpPr>
          <p:cNvPr id="137" name="TextShape 1"/>
          <p:cNvSpPr txBox="1"/>
          <p:nvPr/>
        </p:nvSpPr>
        <p:spPr>
          <a:xfrm>
            <a:off x="685800" y="1371600"/>
            <a:ext cx="7848360" cy="1926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br>
              <a:rPr dirty="0"/>
            </a:br>
            <a:br>
              <a:rPr dirty="0"/>
            </a:br>
            <a:r>
              <a:rPr lang="en-US" sz="5400" b="1" strike="noStrike" cap="all" spc="-100" dirty="0" err="1">
                <a:solidFill>
                  <a:srgbClr val="D2533C"/>
                </a:solidFill>
                <a:latin typeface="Arial"/>
              </a:rPr>
              <a:t>IoT</a:t>
            </a:r>
            <a:r>
              <a:rPr lang="en-US" sz="5400" b="1" strike="noStrike" cap="all" spc="-100" dirty="0">
                <a:solidFill>
                  <a:srgbClr val="D2533C"/>
                </a:solidFill>
                <a:latin typeface="Arial"/>
              </a:rPr>
              <a:t> Protocols</a:t>
            </a:r>
            <a:br>
              <a:rPr dirty="0"/>
            </a:br>
            <a:r>
              <a:rPr lang="en-US" sz="4400" b="1" cap="all" spc="-100" dirty="0" err="1">
                <a:solidFill>
                  <a:srgbClr val="0070C0"/>
                </a:solidFill>
              </a:rPr>
              <a:t>CoAP</a:t>
            </a:r>
            <a:r>
              <a:rPr lang="en-US" sz="4400" b="1" cap="all" spc="-100" dirty="0">
                <a:solidFill>
                  <a:srgbClr val="0070C0"/>
                </a:solidFill>
              </a:rPr>
              <a:t> - Constrained Application Protocol</a:t>
            </a:r>
            <a:endParaRPr lang="en-US" sz="4400" b="0" strike="noStrike" spc="-1" dirty="0">
              <a:solidFill>
                <a:srgbClr val="292934"/>
              </a:solidFill>
              <a:latin typeface="Arial"/>
            </a:endParaRPr>
          </a:p>
        </p:txBody>
      </p:sp>
      <p:sp>
        <p:nvSpPr>
          <p:cNvPr id="138" name="TextShape 2"/>
          <p:cNvSpPr txBox="1"/>
          <p:nvPr/>
        </p:nvSpPr>
        <p:spPr>
          <a:xfrm>
            <a:off x="685800" y="350532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57576E"/>
                </a:solidFill>
                <a:latin typeface="Arial"/>
              </a:rPr>
              <a:t>Lecturer: Dr. Bui Ha </a:t>
            </a:r>
            <a:r>
              <a:rPr lang="en-US" sz="2400" b="0" strike="noStrike" spc="-1" dirty="0" err="1">
                <a:solidFill>
                  <a:srgbClr val="57576E"/>
                </a:solidFill>
                <a:latin typeface="Arial"/>
              </a:rPr>
              <a:t>Duc</a:t>
            </a:r>
            <a:endParaRPr lang="en-US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57576E"/>
                </a:solidFill>
                <a:latin typeface="Arial"/>
              </a:rPr>
              <a:t>Dept. of Mechatronics</a:t>
            </a:r>
            <a:endParaRPr lang="en-US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57576E"/>
                </a:solidFill>
                <a:latin typeface="Arial"/>
              </a:rPr>
              <a:t>Email: ducbh@hcmute.edu.vn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139" name="TextShape 3"/>
          <p:cNvSpPr txBox="1"/>
          <p:nvPr/>
        </p:nvSpPr>
        <p:spPr>
          <a:xfrm>
            <a:off x="7620120" y="6400800"/>
            <a:ext cx="1066320" cy="328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D73B2264-C198-40E9-89FE-032A85FEE564}" type="slidenum">
              <a:rPr lang="en-US" sz="1400" b="1" strike="noStrike" spc="-1">
                <a:solidFill>
                  <a:srgbClr val="5C697C"/>
                </a:solidFill>
                <a:latin typeface="Arial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>
            <a:extLst>
              <a:ext uri="{FF2B5EF4-FFF2-40B4-BE49-F238E27FC236}">
                <a16:creationId xmlns:a16="http://schemas.microsoft.com/office/drawing/2014/main" id="{71D13282-F6B7-4E86-B446-A1F863883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048" y="381240"/>
            <a:ext cx="5152030" cy="324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3B0C4A-1C5E-455A-BA12-04F469060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D2729-C807-42F1-A04B-02AD70136F8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3111690"/>
            <a:ext cx="8161361" cy="33650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RESTful Protocol:</a:t>
            </a:r>
          </a:p>
          <a:p>
            <a:r>
              <a:rPr lang="en-US" sz="2400" b="1" u="none" strike="noStrike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REST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stands for </a:t>
            </a:r>
            <a:r>
              <a:rPr lang="en-US" sz="2400" b="1" u="none" strike="noStrike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Representational State Transfer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REST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is a architectural style, not a library or standard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 API that follows these constraints is called RESTful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GET : Fetch a resource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POST : </a:t>
            </a:r>
            <a:r>
              <a:rPr lang="en-US" b="0" u="none" strike="noStrike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Create a new resource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PUT : Overwrite an entire resource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DELETE : Remove a resource </a:t>
            </a:r>
          </a:p>
        </p:txBody>
      </p:sp>
    </p:spTree>
    <p:extLst>
      <p:ext uri="{BB962C8B-B14F-4D97-AF65-F5344CB8AC3E}">
        <p14:creationId xmlns:p14="http://schemas.microsoft.com/office/powerpoint/2010/main" val="2027499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/>
          </p:nvPr>
        </p:nvSpPr>
        <p:spPr>
          <a:xfrm>
            <a:off x="457200" y="1552561"/>
            <a:ext cx="8229240" cy="990360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CoAP is a specialized web transfer protocol designed for constrained devices and networks (IoT devices).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CoAP is essentially a light weight HTTP-like communication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CoAP</a:t>
            </a:r>
            <a:endParaRPr lang="en-GB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11" y="3561962"/>
            <a:ext cx="5528263" cy="231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713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74241-E2C5-4038-B113-4C6B931CE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CoAP vs HTTP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C6494-AD22-4B7D-84A4-C7A50B437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75" y="1829500"/>
            <a:ext cx="8145119" cy="297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95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71B4-672E-4E11-94FC-61DFD107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CoAP vs MQTT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709672-9F06-4811-B86D-61A3E0F43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612713"/>
              </p:ext>
            </p:extLst>
          </p:nvPr>
        </p:nvGraphicFramePr>
        <p:xfrm>
          <a:off x="314893" y="1413819"/>
          <a:ext cx="8641382" cy="5442042"/>
        </p:xfrm>
        <a:graphic>
          <a:graphicData uri="http://schemas.openxmlformats.org/drawingml/2006/table">
            <a:tbl>
              <a:tblPr/>
              <a:tblGrid>
                <a:gridCol w="2333669">
                  <a:extLst>
                    <a:ext uri="{9D8B030D-6E8A-4147-A177-3AD203B41FA5}">
                      <a16:colId xmlns:a16="http://schemas.microsoft.com/office/drawing/2014/main" val="567746946"/>
                    </a:ext>
                  </a:extLst>
                </a:gridCol>
                <a:gridCol w="3427252">
                  <a:extLst>
                    <a:ext uri="{9D8B030D-6E8A-4147-A177-3AD203B41FA5}">
                      <a16:colId xmlns:a16="http://schemas.microsoft.com/office/drawing/2014/main" val="2463363985"/>
                    </a:ext>
                  </a:extLst>
                </a:gridCol>
                <a:gridCol w="2880461">
                  <a:extLst>
                    <a:ext uri="{9D8B030D-6E8A-4147-A177-3AD203B41FA5}">
                      <a16:colId xmlns:a16="http://schemas.microsoft.com/office/drawing/2014/main" val="1848874530"/>
                    </a:ext>
                  </a:extLst>
                </a:gridCol>
              </a:tblGrid>
              <a:tr h="350065">
                <a:tc>
                  <a:txBody>
                    <a:bodyPr/>
                    <a:lstStyle/>
                    <a:p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  <a:latin typeface="Google Sans Text"/>
                        </a:rPr>
                        <a:t>MQTT </a:t>
                      </a:r>
                      <a:endParaRPr lang="en-US" sz="1600" dirty="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  <a:latin typeface="Google Sans Text"/>
                        </a:rPr>
                        <a:t>CoAP </a:t>
                      </a:r>
                      <a:endParaRPr lang="en-US" sz="1600" dirty="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1118755"/>
                  </a:ext>
                </a:extLst>
              </a:tr>
              <a:tr h="350065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Architecture Model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Publish / Subscribe</a:t>
                      </a:r>
                      <a:r>
                        <a:rPr lang="en-US" sz="1200">
                          <a:effectLst/>
                          <a:latin typeface="Google Sans Text"/>
                        </a:rPr>
                        <a:t> (Broker-centric)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1">
                          <a:effectLst/>
                          <a:latin typeface="Google Sans Text"/>
                        </a:rPr>
                        <a:t>Request / Response</a:t>
                      </a:r>
                      <a:r>
                        <a:rPr lang="fr-FR" sz="1200">
                          <a:effectLst/>
                          <a:latin typeface="Google Sans Text"/>
                        </a:rPr>
                        <a:t> (Client / Server) + Observe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377155"/>
                  </a:ext>
                </a:extLst>
              </a:tr>
              <a:tr h="350065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Transport Layer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TCP</a:t>
                      </a:r>
                      <a:r>
                        <a:rPr lang="en-US" sz="1200">
                          <a:effectLst/>
                          <a:latin typeface="Google Sans Text"/>
                        </a:rPr>
                        <a:t> (Transmission Control Protocol)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UDP</a:t>
                      </a:r>
                      <a:r>
                        <a:rPr lang="en-US" sz="1200">
                          <a:effectLst/>
                          <a:latin typeface="Google Sans Text"/>
                        </a:rPr>
                        <a:t> (User Datagram Protocol)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442340"/>
                  </a:ext>
                </a:extLst>
              </a:tr>
              <a:tr h="350065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Header Overhead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Google Sans Text"/>
                        </a:rPr>
                        <a:t>Very small (~2 bytes minimal)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Google Sans Text"/>
                        </a:rPr>
                        <a:t>Small (~4 bytes minimal)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206943"/>
                  </a:ext>
                </a:extLst>
              </a:tr>
              <a:tr h="350065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Google Sans Text"/>
                        </a:rPr>
                        <a:t>Network Topology</a:t>
                      </a:r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Google Sans Text"/>
                        </a:rPr>
                        <a:t>Star topology (All nodes talk through a Central Broker)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Google Sans Text"/>
                        </a:rPr>
                        <a:t>Point-to-Point, Device-to-Device (P2P), or Mesh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197381"/>
                  </a:ext>
                </a:extLst>
              </a:tr>
              <a:tr h="503752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Device Interoperability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Google Sans Text"/>
                        </a:rPr>
                        <a:t>Loose coupling (Publishers &amp; Subscribers do not know each other)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Google Sans Text"/>
                        </a:rPr>
                        <a:t>Tight coupling (Direct RESTful addressable endpoints)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654715"/>
                  </a:ext>
                </a:extLst>
              </a:tr>
              <a:tr h="503752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RESTful Compatibility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Google Sans Text"/>
                        </a:rPr>
                        <a:t>No native support (Requires custom translation layers)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Google Sans Text"/>
                        </a:rPr>
                        <a:t>Native 1:1 mapping with HTTP (GET, POST, PUT, DELETE)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160000"/>
                  </a:ext>
                </a:extLst>
              </a:tr>
              <a:tr h="503752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Device Discovery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Google Sans Text"/>
                        </a:rPr>
                        <a:t>Manual (Requires pre-configured Broker IP and Topic names)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Google Sans Text"/>
                        </a:rPr>
                        <a:t>Automatic via Multicast (GET /.well-known/core)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315964"/>
                  </a:ext>
                </a:extLst>
              </a:tr>
              <a:tr h="503752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Power Consumption / Deep Sleep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Google Sans Text"/>
                        </a:rPr>
                        <a:t>Moderate (TCP connection upkeep &amp; keep-alives consume battery)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Google Sans Text"/>
                        </a:rPr>
                        <a:t>Ultra-low (Sends quick UDP packet and returns to deep sleep immediately)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901390"/>
                  </a:ext>
                </a:extLst>
              </a:tr>
              <a:tr h="503752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Reliability / Quality of Service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QoS 0</a:t>
                      </a:r>
                      <a:r>
                        <a:rPr lang="en-US" sz="1200">
                          <a:effectLst/>
                          <a:latin typeface="Google Sans Text"/>
                        </a:rPr>
                        <a:t> (At most once), </a:t>
                      </a:r>
                      <a:r>
                        <a:rPr lang="en-US" sz="1200" b="1">
                          <a:effectLst/>
                          <a:latin typeface="Google Sans Text"/>
                        </a:rPr>
                        <a:t>QoS 1</a:t>
                      </a:r>
                      <a:r>
                        <a:rPr lang="en-US" sz="1200">
                          <a:effectLst/>
                          <a:latin typeface="Google Sans Text"/>
                        </a:rPr>
                        <a:t> (At least once), </a:t>
                      </a:r>
                      <a:r>
                        <a:rPr lang="en-US" sz="1200" b="1">
                          <a:effectLst/>
                          <a:latin typeface="Google Sans Text"/>
                        </a:rPr>
                        <a:t>QoS 2</a:t>
                      </a:r>
                      <a:r>
                        <a:rPr lang="en-US" sz="1200">
                          <a:effectLst/>
                          <a:latin typeface="Google Sans Text"/>
                        </a:rPr>
                        <a:t> (Exactly once)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NON</a:t>
                      </a:r>
                      <a:r>
                        <a:rPr lang="en-US" sz="1200">
                          <a:effectLst/>
                          <a:latin typeface="Google Sans Text"/>
                        </a:rPr>
                        <a:t> (Non-confirmable) and </a:t>
                      </a:r>
                      <a:r>
                        <a:rPr lang="en-US" sz="1200" b="1">
                          <a:effectLst/>
                          <a:latin typeface="Google Sans Text"/>
                        </a:rPr>
                        <a:t>CON</a:t>
                      </a:r>
                      <a:r>
                        <a:rPr lang="en-US" sz="1200">
                          <a:effectLst/>
                          <a:latin typeface="Google Sans Text"/>
                        </a:rPr>
                        <a:t> (Confirmable with application-layer ACK)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1441266"/>
                  </a:ext>
                </a:extLst>
              </a:tr>
              <a:tr h="350065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Security Protocol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Google Sans Text"/>
                        </a:rPr>
                        <a:t>TLS / SSL (over TCP)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Google Sans Text"/>
                        </a:rPr>
                        <a:t>DTLS (Datagram Transport Layer Security over UDP)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286649"/>
                  </a:ext>
                </a:extLst>
              </a:tr>
              <a:tr h="657439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Google Sans Text"/>
                        </a:rPr>
                        <a:t>Primary Use Cases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Google Sans Text"/>
                        </a:rPr>
                        <a:t>Live dashboards, real-time telemetry streaming, centralized Cloud IoT platforms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Google Sans Text"/>
                        </a:rPr>
                        <a:t>Battery-powered sensors, Smart Home (Matter/Thread), Smart City (NB-IoT), P2P control</a:t>
                      </a:r>
                    </a:p>
                  </a:txBody>
                  <a:tcPr marL="29592" marR="29592" marT="19728" marB="19728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437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118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/>
          </p:nvPr>
        </p:nvSpPr>
        <p:spPr>
          <a:xfrm>
            <a:off x="511790" y="1628964"/>
            <a:ext cx="8229240" cy="3805013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CoAP</a:t>
            </a: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 can be use:</a:t>
            </a:r>
          </a:p>
          <a:p>
            <a:pPr marL="3429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Between devices on the same constrained network (e.g. low-power,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lossy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network)</a:t>
            </a:r>
          </a:p>
          <a:p>
            <a:pPr marL="3429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Between devices and general nodes on the internet</a:t>
            </a:r>
          </a:p>
          <a:p>
            <a:pPr marL="3429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Between devices on different constrained networks joined by the internet</a:t>
            </a:r>
          </a:p>
          <a:p>
            <a:pPr>
              <a:spcBef>
                <a:spcPts val="600"/>
              </a:spcBef>
            </a:pPr>
            <a:r>
              <a:rPr lang="en-GB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CoAP</a:t>
            </a:r>
            <a:r>
              <a:rPr lang="en-GB" sz="2000" b="1" dirty="0">
                <a:latin typeface="Cambria" panose="02040503050406030204" pitchFamily="18" charset="0"/>
                <a:ea typeface="Cambria" panose="02040503050406030204" pitchFamily="18" charset="0"/>
              </a:rPr>
              <a:t> is close to HTTP (Request / Response)</a:t>
            </a:r>
          </a:p>
          <a:p>
            <a:pPr marL="3429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REST model with GET, POST, PUT and DELETE verbs</a:t>
            </a:r>
          </a:p>
          <a:p>
            <a:pPr marL="3429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URIs, response code</a:t>
            </a:r>
          </a:p>
          <a:p>
            <a:pPr marL="341313" lvl="1" indent="-341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IP Multicast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CoAP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1489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099F5-C27E-41C5-AAD0-E61BA09C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CoAP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D754D-0D48-4CFA-9A26-560EDFB8205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6962" y="1405812"/>
            <a:ext cx="8229240" cy="3595276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Asynchronous</a:t>
            </a:r>
          </a:p>
          <a:p>
            <a:pPr marL="3429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Low overhead</a:t>
            </a:r>
          </a:p>
          <a:p>
            <a:pPr marL="3429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Very simple to parse</a:t>
            </a:r>
          </a:p>
          <a:p>
            <a:pPr marL="3429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URI and content-type support</a:t>
            </a:r>
          </a:p>
          <a:p>
            <a:pPr marL="3429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Proxy and caching capacities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326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/>
          </p:nvPr>
        </p:nvSpPr>
        <p:spPr>
          <a:xfrm>
            <a:off x="457200" y="1600201"/>
            <a:ext cx="7785847" cy="157063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CoAP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 protocol includes </a:t>
            </a:r>
            <a:r>
              <a:rPr lang="en-GB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two different layers 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</a:p>
          <a:p>
            <a:pPr lvl="1">
              <a:spcBef>
                <a:spcPts val="1200"/>
              </a:spcBef>
            </a:pPr>
            <a:r>
              <a:rPr lang="en-GB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Messages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: deals with UDP and with asynchronous messages </a:t>
            </a:r>
          </a:p>
          <a:p>
            <a:pPr lvl="1">
              <a:spcBef>
                <a:spcPts val="1200"/>
              </a:spcBef>
            </a:pPr>
            <a:r>
              <a:rPr lang="en-GB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Request/Response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: manages request/response interaction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CoAP</a:t>
            </a:r>
            <a:r>
              <a:rPr lang="en-GB" b="1" dirty="0"/>
              <a:t> Protocols stack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24" y="3429000"/>
            <a:ext cx="7506748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5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CoAP</a:t>
            </a:r>
            <a:r>
              <a:rPr lang="en-GB" b="1" dirty="0"/>
              <a:t> Message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5366488" y="26084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i="1" dirty="0" err="1">
                <a:solidFill>
                  <a:srgbClr val="231F20"/>
                </a:solidFill>
                <a:latin typeface="CiscoSerif-Italic-Regular"/>
              </a:rPr>
              <a:t>CoAP</a:t>
            </a:r>
            <a:r>
              <a:rPr lang="en-GB" b="1" i="1" dirty="0">
                <a:solidFill>
                  <a:srgbClr val="231F20"/>
                </a:solidFill>
                <a:latin typeface="CiscoSerif-Italic-Regular"/>
              </a:rPr>
              <a:t> Message Format</a:t>
            </a:r>
            <a:r>
              <a:rPr lang="en-GB" b="1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20" y="460404"/>
            <a:ext cx="4217852" cy="21269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7AF50A-54B6-4C21-9EBD-5F1367A535E7}"/>
              </a:ext>
            </a:extLst>
          </p:cNvPr>
          <p:cNvSpPr txBox="1"/>
          <p:nvPr/>
        </p:nvSpPr>
        <p:spPr>
          <a:xfrm>
            <a:off x="532262" y="3149607"/>
            <a:ext cx="82292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GB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</a:t>
            </a: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a 2 bit unsigned integer indicating the CoAP version</a:t>
            </a:r>
          </a:p>
          <a:p>
            <a:pPr>
              <a:spcBef>
                <a:spcPts val="600"/>
              </a:spcBef>
            </a:pPr>
            <a:r>
              <a:rPr lang="en-GB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a 2 bit unsigned integer indicating the message type: 0 confirmable, 1 non-confirmable</a:t>
            </a:r>
          </a:p>
          <a:p>
            <a:pPr>
              <a:spcBef>
                <a:spcPts val="600"/>
              </a:spcBef>
            </a:pPr>
            <a:r>
              <a:rPr lang="en-GB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TKL</a:t>
            </a: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4 bit, specifies the size (0–8 Bytes) of the Token field</a:t>
            </a:r>
          </a:p>
          <a:p>
            <a:pPr>
              <a:spcBef>
                <a:spcPts val="600"/>
              </a:spcBef>
            </a:pPr>
            <a:r>
              <a:rPr lang="en-GB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</a:t>
            </a: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the code response (8 bit length)</a:t>
            </a:r>
          </a:p>
          <a:p>
            <a:pPr>
              <a:spcBef>
                <a:spcPts val="600"/>
              </a:spcBef>
            </a:pPr>
            <a:r>
              <a:rPr lang="en-GB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Message ID</a:t>
            </a: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the message ID expressed with 16 bit</a:t>
            </a:r>
          </a:p>
          <a:p>
            <a:pPr>
              <a:spcBef>
                <a:spcPts val="600"/>
              </a:spcBef>
            </a:pPr>
            <a:r>
              <a:rPr lang="en-GB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Token</a:t>
            </a: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correlates requests and responses </a:t>
            </a:r>
          </a:p>
          <a:p>
            <a:pPr>
              <a:spcBef>
                <a:spcPts val="600"/>
              </a:spcBef>
            </a:pPr>
            <a:r>
              <a:rPr lang="en-GB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Payload</a:t>
            </a: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CoAP application data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93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CoAP</a:t>
            </a:r>
            <a:r>
              <a:rPr lang="en-GB" b="1" dirty="0"/>
              <a:t> Message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500231" y="1704702"/>
            <a:ext cx="8229240" cy="44003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8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CoAP</a:t>
            </a:r>
            <a:r>
              <a:rPr lang="en-GB" sz="28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supports four different message types: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Confirmable (CON)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Confirmable message is sent again and again until the other party sends an acknowledge message (ACK)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ACK message contains the same ID of the confirmable message (CON)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If the server has troubles managing the incoming request, it can send back a Rest message (RST) instead of the Acknowledge message (ACK)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Non-confirmable (NON)</a:t>
            </a:r>
          </a:p>
          <a:p>
            <a:pPr marL="3429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 that don’t require an Acknowledge by the server</a:t>
            </a:r>
            <a:endParaRPr lang="en-GB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Acknowledgment (ACK)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Reset (RST)</a:t>
            </a:r>
          </a:p>
        </p:txBody>
      </p:sp>
    </p:spTree>
    <p:extLst>
      <p:ext uri="{BB962C8B-B14F-4D97-AF65-F5344CB8AC3E}">
        <p14:creationId xmlns:p14="http://schemas.microsoft.com/office/powerpoint/2010/main" val="2601036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CoAP</a:t>
            </a:r>
            <a:r>
              <a:rPr lang="en-GB" b="1" dirty="0"/>
              <a:t> Message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628" y="4021809"/>
            <a:ext cx="3643123" cy="25127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35" y="1349069"/>
            <a:ext cx="3316310" cy="22226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253" y="1406153"/>
            <a:ext cx="4786095" cy="21655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96437" y="3581557"/>
            <a:ext cx="2452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Confirmable message</a:t>
            </a:r>
            <a:endParaRPr lang="en-GB" b="1" dirty="0"/>
          </a:p>
        </p:txBody>
      </p:sp>
      <p:sp>
        <p:nvSpPr>
          <p:cNvPr id="11" name="Rectangle 10"/>
          <p:cNvSpPr/>
          <p:nvPr/>
        </p:nvSpPr>
        <p:spPr>
          <a:xfrm>
            <a:off x="3296437" y="6420784"/>
            <a:ext cx="3010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Non-Confirmable message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018728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CoAP</a:t>
            </a:r>
            <a:r>
              <a:rPr lang="en-GB" b="1" dirty="0"/>
              <a:t> Request/Response Model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62" y="1845785"/>
            <a:ext cx="6916115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122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18" y="1756108"/>
            <a:ext cx="7859222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145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CoAP</a:t>
            </a:r>
            <a:r>
              <a:rPr lang="en-GB" b="1" dirty="0"/>
              <a:t> Framework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772A8-E5AA-4EF2-81F3-3411FD7A9F67}"/>
              </a:ext>
            </a:extLst>
          </p:cNvPr>
          <p:cNvSpPr txBox="1"/>
          <p:nvPr/>
        </p:nvSpPr>
        <p:spPr>
          <a:xfrm>
            <a:off x="457199" y="1883391"/>
            <a:ext cx="844796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libCoAP</a:t>
            </a:r>
            <a:endParaRPr lang="en-US" sz="24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Lightweight, high-performance C implementation of the CoAP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Website: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https://libcoap.net/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Installation: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apt update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libcoap3 libcoap3-bin libcoap3-dev</a:t>
            </a:r>
            <a:endParaRPr lang="en-US" b="1" dirty="0">
              <a:latin typeface="Courier New" panose="02070309020205020404" pitchFamily="49" charset="0"/>
              <a:ea typeface="Cambria" panose="02040503050406030204" pitchFamily="18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Compile</a:t>
            </a:r>
          </a:p>
          <a:p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gcc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code.c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 -o run $(pkg-config --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cflags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 --libs libcoap-3)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846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CoAP Library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457200" y="1523880"/>
            <a:ext cx="8516204" cy="5370393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Eclipse Californium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Website: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https://www.eclipse.org/californium/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Californium is a powerful </a:t>
            </a:r>
            <a:r>
              <a:rPr lang="en-GB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CoAP</a:t>
            </a:r>
            <a: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framework targeting back-end services communicating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Californium is a </a:t>
            </a:r>
            <a:r>
              <a:rPr lang="en-GB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</a:t>
            </a:r>
            <a: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implementation of RFC7252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Official Tutorial: 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</a:t>
            </a:r>
            <a:r>
              <a:rPr lang="en-GB" sz="2000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/>
              </a:rPr>
              <a:t>http://goo.gl/LLQ03w</a:t>
            </a:r>
            <a:endParaRPr lang="en-GB" sz="2000" i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GB" sz="2000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Aiocoap</a:t>
            </a:r>
            <a:endParaRPr lang="en-GB" sz="20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aiocoap</a:t>
            </a:r>
            <a:r>
              <a:rPr lang="en-GB" sz="2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package is a </a:t>
            </a:r>
            <a:r>
              <a:rPr lang="en-GB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Python</a:t>
            </a:r>
            <a:r>
              <a:rPr lang="en-GB" sz="2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implementation of CoAP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GB" sz="2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457200" lvl="1"/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GB" sz="20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https://github.com/chrysn/aiocoap</a:t>
            </a:r>
            <a:endParaRPr lang="en-GB" sz="200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Official documentation:</a:t>
            </a:r>
          </a:p>
          <a:p>
            <a:pPr marL="457200" lvl="1" indent="0">
              <a:buNone/>
            </a:pPr>
            <a:r>
              <a:rPr lang="en-GB" sz="2000" i="1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GB" sz="2000" i="1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https://aiocoap.readthedocs.io/en/latest/</a:t>
            </a:r>
            <a:endParaRPr lang="en-GB" sz="20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GB" sz="2000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/>
            <a:endParaRPr lang="en-GB" sz="20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737" y="607166"/>
            <a:ext cx="1562828" cy="15628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FA3A5B-BC8B-4643-8BC4-5E22818929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74" y="5334120"/>
            <a:ext cx="2587355" cy="70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79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3526</TotalTime>
  <Words>800</Words>
  <Application>Microsoft Office PowerPoint</Application>
  <PresentationFormat>On-screen Show (4:3)</PresentationFormat>
  <Paragraphs>123</Paragraphs>
  <Slides>15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Cambria</vt:lpstr>
      <vt:lpstr>CiscoSerif-Italic-Regular</vt:lpstr>
      <vt:lpstr>Courier New</vt:lpstr>
      <vt:lpstr>Google Sans Text</vt:lpstr>
      <vt:lpstr>Symbol</vt:lpstr>
      <vt:lpstr>Times New Roman</vt:lpstr>
      <vt:lpstr>Wingdings</vt:lpstr>
      <vt:lpstr>Office Theme</vt:lpstr>
      <vt:lpstr>Office Theme</vt:lpstr>
      <vt:lpstr>PowerPoint Presentation</vt:lpstr>
      <vt:lpstr>REST</vt:lpstr>
      <vt:lpstr>CoAP</vt:lpstr>
      <vt:lpstr>CoAP vs HTTP</vt:lpstr>
      <vt:lpstr>CoAP vs MQTT</vt:lpstr>
      <vt:lpstr>CoAP</vt:lpstr>
      <vt:lpstr>CoAP features</vt:lpstr>
      <vt:lpstr>CoAP Protocols stack</vt:lpstr>
      <vt:lpstr>CoAP Message</vt:lpstr>
      <vt:lpstr>CoAP Message</vt:lpstr>
      <vt:lpstr>CoAP Message</vt:lpstr>
      <vt:lpstr>CoAP Request/Response Model</vt:lpstr>
      <vt:lpstr>Example</vt:lpstr>
      <vt:lpstr>CoAP Framework</vt:lpstr>
      <vt:lpstr>CoAP Library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Thực tập vi điều khiển</dc:title>
  <dc:subject/>
  <dc:creator>haduc</dc:creator>
  <dc:description/>
  <cp:lastModifiedBy>duc b</cp:lastModifiedBy>
  <cp:revision>425</cp:revision>
  <dcterms:created xsi:type="dcterms:W3CDTF">2015-08-30T01:38:28Z</dcterms:created>
  <dcterms:modified xsi:type="dcterms:W3CDTF">2026-10-01T01:49:34Z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13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25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64</vt:i4>
  </property>
</Properties>
</file>