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56" r:id="rId2"/>
    <p:sldId id="301" r:id="rId3"/>
    <p:sldId id="266" r:id="rId4"/>
    <p:sldId id="302" r:id="rId5"/>
    <p:sldId id="3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 varScale="1">
        <p:scale>
          <a:sx n="46" d="100"/>
          <a:sy n="46" d="100"/>
        </p:scale>
        <p:origin x="33" y="80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/>
              <a:t>Robot Operating system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AD1E-BB76-2A1B-87DC-E819C480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DA4D3-0973-A339-6987-C7895F7FA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This course is designed to provide student with: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Understand robot middleware frameworks</a:t>
            </a:r>
            <a:r>
              <a:rPr lang="en-US" sz="2200" dirty="0"/>
              <a:t>, with a focus on ROS 2 architecture, nodes, topics, services, actions, and QoS.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Develop robot communication and visualization pipelines </a:t>
            </a:r>
            <a:r>
              <a:rPr lang="en-US" sz="2200" dirty="0"/>
              <a:t>using ROS 2 tools for data exchange, monitoring, and debugging.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Simulate robotic systems </a:t>
            </a:r>
            <a:r>
              <a:rPr lang="en-US" sz="2200" dirty="0"/>
              <a:t>in virtual environments and integrate simulation with real robot control.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Implement robot control and task execution</a:t>
            </a:r>
            <a:r>
              <a:rPr lang="en-US" sz="2200" dirty="0"/>
              <a:t>, including basic motion control and sensor integration.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Design and implement robotic applications </a:t>
            </a:r>
            <a:r>
              <a:rPr lang="en-US" sz="2200" dirty="0"/>
              <a:t>for: Navigation, Perception, Manipulation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Deploy ROS 2-based applications on embedded platforms</a:t>
            </a:r>
            <a:r>
              <a:rPr lang="en-US" sz="2200" dirty="0"/>
              <a:t>, considering real-time constraints and hardware limitations.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D054-3743-8AC9-C5C1-A22EEF6C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7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 to Robot Middleware &amp; ROS 2 Basics</a:t>
            </a:r>
          </a:p>
          <a:p>
            <a:r>
              <a:rPr lang="en-US" sz="2800" dirty="0"/>
              <a:t>ROS 2 Communication Mechanisms</a:t>
            </a:r>
          </a:p>
          <a:p>
            <a:r>
              <a:rPr lang="en-US" sz="2800" dirty="0"/>
              <a:t>ROS 2 Programming</a:t>
            </a:r>
          </a:p>
          <a:p>
            <a:r>
              <a:rPr lang="en-US" sz="2800" dirty="0"/>
              <a:t>Coordinate Frames &amp; Robot Description</a:t>
            </a:r>
          </a:p>
          <a:p>
            <a:r>
              <a:rPr lang="en-US" sz="2800" dirty="0"/>
              <a:t>Visualization &amp; Debugging Tools</a:t>
            </a:r>
          </a:p>
          <a:p>
            <a:r>
              <a:rPr lang="en-US" sz="2800" dirty="0"/>
              <a:t>Simulation with Gazebo</a:t>
            </a:r>
          </a:p>
          <a:p>
            <a:r>
              <a:rPr lang="en-US" sz="2800" dirty="0"/>
              <a:t>Robot Control</a:t>
            </a:r>
          </a:p>
          <a:p>
            <a:r>
              <a:rPr lang="en-US" sz="2800" dirty="0"/>
              <a:t>Robot Behavior Design</a:t>
            </a:r>
          </a:p>
          <a:p>
            <a:r>
              <a:rPr lang="en-US" sz="2800" dirty="0"/>
              <a:t>Deployment on Embedded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4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5FA8-48E1-3B0E-82E4-47E83763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30A41-CE74-9AE3-8221-D1ADCC1B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4BDA06-E3AB-B7E2-7FA5-A2A0BB955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04831"/>
            <a:ext cx="2482978" cy="3530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2CE0F-ED0F-BFDF-8934-B2B21C350791}"/>
              </a:ext>
            </a:extLst>
          </p:cNvPr>
          <p:cNvSpPr txBox="1"/>
          <p:nvPr/>
        </p:nvSpPr>
        <p:spPr>
          <a:xfrm>
            <a:off x="1295400" y="5525869"/>
            <a:ext cx="4131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Source code:</a:t>
            </a:r>
          </a:p>
          <a:p>
            <a:r>
              <a:rPr lang="en-US" dirty="0"/>
              <a:t>https://github.com/fmrico/book_ros2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B64E4A-60E9-60A2-65CF-354D8D51B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727" y="922861"/>
            <a:ext cx="1619333" cy="1835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43F43F-DA2A-13EC-9C92-8A4CBB7E0FA3}"/>
              </a:ext>
            </a:extLst>
          </p:cNvPr>
          <p:cNvSpPr txBox="1"/>
          <p:nvPr/>
        </p:nvSpPr>
        <p:spPr>
          <a:xfrm>
            <a:off x="7543800" y="1196945"/>
            <a:ext cx="432352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Roboto"/>
              </a:rPr>
              <a:t>The Construct Robotics Institute</a:t>
            </a:r>
          </a:p>
          <a:p>
            <a:endParaRPr lang="en-US" b="1" i="1" dirty="0">
              <a:solidFill>
                <a:srgbClr val="0F0F0F"/>
              </a:solidFill>
              <a:latin typeface="Roboto"/>
            </a:endParaRPr>
          </a:p>
          <a:p>
            <a:r>
              <a:rPr lang="en-US" b="1" i="1" dirty="0" err="1">
                <a:solidFill>
                  <a:srgbClr val="0F0F0F"/>
                </a:solidFill>
                <a:latin typeface="Roboto"/>
              </a:rPr>
              <a:t>Youtube</a:t>
            </a:r>
            <a:r>
              <a:rPr lang="en-US" b="1" i="1" dirty="0">
                <a:solidFill>
                  <a:srgbClr val="0F0F0F"/>
                </a:solidFill>
                <a:latin typeface="Roboto"/>
              </a:rPr>
              <a:t> channel: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https://www.youtube.com/channel/UCt6Lag-vv25fTX3e11mVY1Q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B5DCC-1F52-4715-8F3A-5532BA51D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345" y="3505200"/>
            <a:ext cx="1409710" cy="1076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31ED49-3344-4147-861E-5F84CFFA4B9C}"/>
              </a:ext>
            </a:extLst>
          </p:cNvPr>
          <p:cNvSpPr txBox="1"/>
          <p:nvPr/>
        </p:nvSpPr>
        <p:spPr>
          <a:xfrm>
            <a:off x="7620000" y="3429583"/>
            <a:ext cx="4323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 err="1">
                <a:solidFill>
                  <a:srgbClr val="211D1E"/>
                </a:solidFill>
                <a:latin typeface="+mj-lt"/>
              </a:rPr>
              <a:t>RoboticsStackExchange</a:t>
            </a:r>
            <a:endParaRPr lang="en-US" sz="1800" b="1" i="0" u="none" strike="noStrike" baseline="0" dirty="0">
              <a:solidFill>
                <a:srgbClr val="211D1E"/>
              </a:solidFill>
              <a:latin typeface="+mj-lt"/>
            </a:endParaRPr>
          </a:p>
          <a:p>
            <a:r>
              <a:rPr lang="en-US" sz="1800" b="0" i="0" u="none" strike="noStrike" baseline="0" dirty="0">
                <a:solidFill>
                  <a:srgbClr val="0070C0"/>
                </a:solidFill>
                <a:latin typeface="LMMono12"/>
              </a:rPr>
              <a:t>https://robotics.stackexchange.com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LMRoman12"/>
              </a:rPr>
              <a:t> 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1C4BD-5326-42F5-96AF-59DBDA785A3A}"/>
              </a:ext>
            </a:extLst>
          </p:cNvPr>
          <p:cNvSpPr txBox="1"/>
          <p:nvPr/>
        </p:nvSpPr>
        <p:spPr>
          <a:xfrm>
            <a:off x="8854435" y="5202703"/>
            <a:ext cx="3833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211D1E"/>
                </a:solidFill>
                <a:latin typeface="LMRoman12"/>
              </a:rPr>
              <a:t>ROS2 Documentation</a:t>
            </a:r>
          </a:p>
          <a:p>
            <a:r>
              <a:rPr lang="en-US" sz="1800" b="0" i="0" u="none" strike="noStrike" baseline="0" dirty="0">
                <a:solidFill>
                  <a:srgbClr val="0070C0"/>
                </a:solidFill>
                <a:latin typeface="LMMono12"/>
              </a:rPr>
              <a:t>https://docs.ros.org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F6BD18-D995-496D-BC9F-002AF3930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345" y="5270676"/>
            <a:ext cx="2088911" cy="597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16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D2B6-99BC-0ACF-EB9D-7FC1EE32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017B-052D-F6C8-6A2C-5DB3A01E5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5837"/>
            <a:ext cx="8686800" cy="4876800"/>
          </a:xfrm>
        </p:spPr>
        <p:txBody>
          <a:bodyPr/>
          <a:lstStyle/>
          <a:p>
            <a:r>
              <a:rPr lang="en-US" b="1" dirty="0"/>
              <a:t>Quizzes and Project – 50%</a:t>
            </a:r>
          </a:p>
          <a:p>
            <a:pPr marL="674687" indent="-342900">
              <a:buFont typeface="Wingdings" panose="05000000000000000000" pitchFamily="2" charset="2"/>
              <a:buChar char="§"/>
            </a:pPr>
            <a:r>
              <a:rPr lang="en-US" dirty="0"/>
              <a:t> 1 in-class Quiz</a:t>
            </a:r>
          </a:p>
          <a:p>
            <a:pPr marL="674687" indent="-342900">
              <a:buFont typeface="Wingdings" panose="05000000000000000000" pitchFamily="2" charset="2"/>
              <a:buChar char="§"/>
            </a:pPr>
            <a:r>
              <a:rPr lang="en-US" dirty="0"/>
              <a:t> 1 Project</a:t>
            </a:r>
          </a:p>
          <a:p>
            <a:pPr marL="674687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Final Examination – 50%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D4F4-AF54-DA5F-A834-3837C51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C2E147F-5878-5C32-959D-CF9A38F8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146" y="2093976"/>
            <a:ext cx="347900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5827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5498</TotalTime>
  <Words>251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LMMono12</vt:lpstr>
      <vt:lpstr>LMRoman12</vt:lpstr>
      <vt:lpstr>Roboto</vt:lpstr>
      <vt:lpstr>Wingdings</vt:lpstr>
      <vt:lpstr>Clarity</vt:lpstr>
      <vt:lpstr>  Robot Operating system Course Introduction</vt:lpstr>
      <vt:lpstr>Course Objectives</vt:lpstr>
      <vt:lpstr>Course Outline</vt:lpstr>
      <vt:lpstr>References</vt:lpstr>
      <vt:lpstr>Assessments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604</cp:revision>
  <dcterms:created xsi:type="dcterms:W3CDTF">2015-08-30T01:38:28Z</dcterms:created>
  <dcterms:modified xsi:type="dcterms:W3CDTF">2026-01-20T03:11:00Z</dcterms:modified>
</cp:coreProperties>
</file>