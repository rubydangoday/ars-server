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sldIdLst>
    <p:sldId id="256" r:id="rId2"/>
    <p:sldId id="301" r:id="rId3"/>
    <p:sldId id="304" r:id="rId4"/>
    <p:sldId id="315" r:id="rId5"/>
    <p:sldId id="310" r:id="rId6"/>
    <p:sldId id="311" r:id="rId7"/>
    <p:sldId id="305" r:id="rId8"/>
    <p:sldId id="309" r:id="rId9"/>
    <p:sldId id="312" r:id="rId10"/>
    <p:sldId id="313" r:id="rId11"/>
    <p:sldId id="306" r:id="rId12"/>
    <p:sldId id="314" r:id="rId13"/>
    <p:sldId id="316" r:id="rId14"/>
    <p:sldId id="317" r:id="rId15"/>
    <p:sldId id="307" r:id="rId16"/>
    <p:sldId id="308" r:id="rId17"/>
    <p:sldId id="318" r:id="rId18"/>
    <p:sldId id="319" r:id="rId19"/>
    <p:sldId id="320" r:id="rId20"/>
    <p:sldId id="321" r:id="rId21"/>
    <p:sldId id="322" r:id="rId22"/>
    <p:sldId id="32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5F33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2596" autoAdjust="0"/>
  </p:normalViewPr>
  <p:slideViewPr>
    <p:cSldViewPr>
      <p:cViewPr varScale="1">
        <p:scale>
          <a:sx n="57" d="100"/>
          <a:sy n="57" d="100"/>
        </p:scale>
        <p:origin x="45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33C2-6F37-4DE9-AAF9-8ABC356AE6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680-6E9A-445B-9304-F7D1A27E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94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  <a:latin typeface="Google Sans Text"/>
              </a:rPr>
              <a:t>Low rate (e.g., 10-50 Hz):</a:t>
            </a:r>
            <a:r>
              <a:rPr lang="en-US" dirty="0">
                <a:effectLst/>
                <a:latin typeface="Google Sans Text"/>
              </a:rPr>
              <a:t> Good for slow movements or high-latency hardware.</a:t>
            </a:r>
          </a:p>
          <a:p>
            <a:r>
              <a:rPr lang="en-US" b="1" dirty="0">
                <a:effectLst/>
                <a:latin typeface="Google Sans Text"/>
              </a:rPr>
              <a:t>High rate (e.g., 100-1000 Hz):</a:t>
            </a:r>
            <a:r>
              <a:rPr lang="en-US" dirty="0">
                <a:effectLst/>
                <a:latin typeface="Google Sans Text"/>
              </a:rPr>
              <a:t> Required for dynamic stability, high-speed balancing, or complex manipulation.</a:t>
            </a:r>
          </a:p>
          <a:p>
            <a:r>
              <a:rPr lang="en-US" b="1" dirty="0">
                <a:effectLst/>
                <a:latin typeface="Google Sans Text"/>
              </a:rPr>
              <a:t>Note:</a:t>
            </a:r>
            <a:r>
              <a:rPr lang="en-US" dirty="0">
                <a:effectLst/>
                <a:latin typeface="Google Sans Text"/>
              </a:rPr>
              <a:t> Your hardware communication must be fast enough to finish within this window. If you set $100$ Hz, your read() and write() together must take significantly less than $10$ </a:t>
            </a:r>
            <a:r>
              <a:rPr lang="en-US" dirty="0" err="1">
                <a:effectLst/>
                <a:latin typeface="Google Sans Text"/>
              </a:rPr>
              <a:t>ms.</a:t>
            </a:r>
            <a:endParaRPr lang="en-US" dirty="0">
              <a:effectLst/>
              <a:latin typeface="Google Sans Tex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8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02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61BE-7EE5-473D-84A7-4C53642E76F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51FE-9C5E-464A-AC70-6B909B40C01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01107"/>
            <a:ext cx="1422400" cy="329184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206D-CD87-417B-A3E9-8E7F517E463E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107-3B8C-4C3E-96B2-5FDE77B1A8A3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7A77-E7D0-4A81-9F27-235411449FDF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5E10-1A59-4CE8-9F8F-26909B2B45ED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69CF-71D8-44A8-A43E-06A522466198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0A33-8193-44AB-9CBE-84B62B603B98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2B2-C299-428F-9DB0-AF5E4D034999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CD9-E72D-423D-873E-C8701D4E51F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19C6-978E-42A3-A0DA-A23B7AC4704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38B7AF6-6F47-4FBA-B77D-1A1AB60E82CA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48131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vn/url?sa=i&amp;rct=j&amp;q=&amp;esrc=s&amp;source=images&amp;cd=&amp;cad=rja&amp;uact=8&amp;ved=0CAcQjRxqFQoTCOa4gpvXz8cCFU-ejgodsSsIRA&amp;url=http://spikeex.deviantart.com/art/Microchip-Tattoo-Design-1-42179858&amp;ei=31_iVaZNz7y6BLHXoKAE&amp;psig=AFQjCNF-y2BM98GH0MilH1ajH4XNM5xsRQ&amp;ust=144098539350373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02.deviantart.net/aaac/i/2006/302/3/0/microchip_tattoo_design_1_by_spikeex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535251"/>
            <a:ext cx="3322748" cy="332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b="1" dirty="0"/>
            </a:br>
            <a:r>
              <a:rPr lang="en-US" b="1" dirty="0"/>
              <a:t>Robot Operating system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ROS </a:t>
            </a:r>
            <a:r>
              <a:rPr lang="en-US" b="1" dirty="0" err="1">
                <a:solidFill>
                  <a:srgbClr val="0070C0"/>
                </a:solidFill>
              </a:rPr>
              <a:t>CONtrol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Lecturer: Dr. Bui Ha Duc</a:t>
            </a:r>
          </a:p>
          <a:p>
            <a:r>
              <a:rPr lang="en-US" dirty="0"/>
              <a:t>Dept. of Mechatronics</a:t>
            </a:r>
          </a:p>
          <a:p>
            <a:r>
              <a:rPr lang="en-US" dirty="0"/>
              <a:t>Email: ducbh@hcmute.edu.vn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1066800" cy="329184"/>
          </a:xfrm>
        </p:spPr>
        <p:txBody>
          <a:bodyPr/>
          <a:lstStyle/>
          <a:p>
            <a:fld id="{3957FE44-DABC-424D-A234-74BB9410FF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1EA0-9C23-483E-918C-33BCDD66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Control your robot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4B104-7274-4E94-95CE-8513EC89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DCCD3-2890-4D35-8DCA-2652E867A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11068131" cy="274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B678D8-A13C-4868-9528-1A9AB35CC3A3}"/>
              </a:ext>
            </a:extLst>
          </p:cNvPr>
          <p:cNvSpPr txBox="1"/>
          <p:nvPr/>
        </p:nvSpPr>
        <p:spPr>
          <a:xfrm>
            <a:off x="1066800" y="4343420"/>
            <a:ext cx="1021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99FF"/>
                </a:solidFill>
              </a:rPr>
              <a:t>ros_control</a:t>
            </a:r>
            <a:r>
              <a:rPr lang="en-US" b="1" dirty="0">
                <a:solidFill>
                  <a:srgbClr val="0099FF"/>
                </a:solidFill>
              </a:rPr>
              <a:t> </a:t>
            </a:r>
            <a:r>
              <a:rPr lang="en-US" dirty="0"/>
              <a:t>is a framework in the ROS)designed to bridge the gap between high-level robot software (e.g. navigation) and the low-level hardware (e.g. motors, encoders, and sensors).</a:t>
            </a:r>
          </a:p>
          <a:p>
            <a:endParaRPr lang="en-US" dirty="0"/>
          </a:p>
          <a:p>
            <a:r>
              <a:rPr lang="en-US" b="1" dirty="0" err="1">
                <a:solidFill>
                  <a:srgbClr val="0099FF"/>
                </a:solidFill>
              </a:rPr>
              <a:t>ros_control</a:t>
            </a:r>
            <a:r>
              <a:rPr lang="en-US" b="1" dirty="0">
                <a:solidFill>
                  <a:srgbClr val="0099FF"/>
                </a:solidFill>
              </a:rPr>
              <a:t> </a:t>
            </a:r>
            <a:r>
              <a:rPr lang="en-US" dirty="0"/>
              <a:t>is designed to be compatible with real-time kernels (like PREEMPT_RT) </a:t>
            </a:r>
            <a:r>
              <a:rPr lang="en-US" dirty="0">
                <a:sym typeface="Wingdings" panose="05000000000000000000" pitchFamily="2" charset="2"/>
              </a:rPr>
              <a:t> Real-time safety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E663DE-3695-4F76-8596-AB003425D6C0}"/>
              </a:ext>
            </a:extLst>
          </p:cNvPr>
          <p:cNvSpPr txBox="1"/>
          <p:nvPr/>
        </p:nvSpPr>
        <p:spPr>
          <a:xfrm>
            <a:off x="914400" y="6187655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For more detail refer to https://control.ros.org/rolling/doc/getting_started/getting_started.html</a:t>
            </a:r>
          </a:p>
        </p:txBody>
      </p:sp>
    </p:spTree>
    <p:extLst>
      <p:ext uri="{BB962C8B-B14F-4D97-AF65-F5344CB8AC3E}">
        <p14:creationId xmlns:p14="http://schemas.microsoft.com/office/powerpoint/2010/main" val="24424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2476-B45E-4DE6-B30D-CB87D9B2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A1E4E-2256-463F-8A46-4AC59375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 descr="&quot;ros2_control Architecture&quot;">
            <a:extLst>
              <a:ext uri="{FF2B5EF4-FFF2-40B4-BE49-F238E27FC236}">
                <a16:creationId xmlns:a16="http://schemas.microsoft.com/office/drawing/2014/main" id="{B9C85DE2-816F-40FA-8C2B-93F9525D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2" y="1371600"/>
            <a:ext cx="4016375" cy="536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C042A4-113D-4723-857B-90C94F6A1C87}"/>
              </a:ext>
            </a:extLst>
          </p:cNvPr>
          <p:cNvSpPr txBox="1"/>
          <p:nvPr/>
        </p:nvSpPr>
        <p:spPr>
          <a:xfrm>
            <a:off x="1124023" y="49530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1. Hardware Interface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38000-8D47-49F6-A215-D2871827DA1C}"/>
              </a:ext>
            </a:extLst>
          </p:cNvPr>
          <p:cNvSpPr txBox="1"/>
          <p:nvPr/>
        </p:nvSpPr>
        <p:spPr>
          <a:xfrm>
            <a:off x="1124023" y="3759361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2. Resource Manager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0BA4E-850E-4ACE-B033-63CB5FFB0E80}"/>
              </a:ext>
            </a:extLst>
          </p:cNvPr>
          <p:cNvSpPr txBox="1"/>
          <p:nvPr/>
        </p:nvSpPr>
        <p:spPr>
          <a:xfrm>
            <a:off x="1143000" y="2743200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3. Control Manager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F00756-BB18-488F-9C01-8C8B6265994B}"/>
              </a:ext>
            </a:extLst>
          </p:cNvPr>
          <p:cNvSpPr txBox="1"/>
          <p:nvPr/>
        </p:nvSpPr>
        <p:spPr>
          <a:xfrm>
            <a:off x="1124023" y="1708646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4. Controllers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A67080-F8A7-49CD-AEA4-1542ABD58A51}"/>
              </a:ext>
            </a:extLst>
          </p:cNvPr>
          <p:cNvCxnSpPr/>
          <p:nvPr/>
        </p:nvCxnSpPr>
        <p:spPr>
          <a:xfrm>
            <a:off x="2971800" y="1893312"/>
            <a:ext cx="111601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7630E0-AB29-4EB1-9314-F96E27797B8E}"/>
              </a:ext>
            </a:extLst>
          </p:cNvPr>
          <p:cNvCxnSpPr/>
          <p:nvPr/>
        </p:nvCxnSpPr>
        <p:spPr>
          <a:xfrm>
            <a:off x="3417982" y="2927866"/>
            <a:ext cx="111601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72DE00-7447-4BF7-A5D0-9FF68242847A}"/>
              </a:ext>
            </a:extLst>
          </p:cNvPr>
          <p:cNvCxnSpPr/>
          <p:nvPr/>
        </p:nvCxnSpPr>
        <p:spPr>
          <a:xfrm>
            <a:off x="3629837" y="3946132"/>
            <a:ext cx="111601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0A48AC-9C63-410A-8F9D-78DF0EC21CFB}"/>
              </a:ext>
            </a:extLst>
          </p:cNvPr>
          <p:cNvCxnSpPr>
            <a:cxnSpLocks/>
          </p:cNvCxnSpPr>
          <p:nvPr/>
        </p:nvCxnSpPr>
        <p:spPr>
          <a:xfrm>
            <a:off x="3629837" y="5181600"/>
            <a:ext cx="457975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96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2476-B45E-4DE6-B30D-CB87D9B2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D94C-42EA-4BA5-B22C-972F6F3A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/>
              <a:t>Hardware interface</a:t>
            </a:r>
          </a:p>
          <a:p>
            <a:r>
              <a:rPr lang="en-US" dirty="0">
                <a:solidFill>
                  <a:srgbClr val="0099FF"/>
                </a:solidFill>
              </a:rPr>
              <a:t>C++ plugin </a:t>
            </a:r>
            <a:r>
              <a:rPr lang="en-US" dirty="0"/>
              <a:t>that acts as the "translator" between the ROS world and the physical (HW) world</a:t>
            </a:r>
          </a:p>
          <a:p>
            <a:r>
              <a:rPr lang="en-US" dirty="0"/>
              <a:t>Core Method:</a:t>
            </a:r>
          </a:p>
          <a:p>
            <a:pPr lvl="1"/>
            <a:r>
              <a:rPr lang="en-US" sz="2400" dirty="0"/>
              <a:t>read(): Fetches raw data from the hardware and stores it in memory</a:t>
            </a:r>
          </a:p>
          <a:p>
            <a:pPr lvl="1"/>
            <a:r>
              <a:rPr lang="en-US" sz="2400" dirty="0"/>
              <a:t>write(): Sends calculated commands from memory to the hardware.</a:t>
            </a:r>
          </a:p>
          <a:p>
            <a:r>
              <a:rPr lang="en-US" dirty="0"/>
              <a:t>This plugin is specified inside the </a:t>
            </a:r>
            <a:r>
              <a:rPr lang="en-US" dirty="0">
                <a:solidFill>
                  <a:srgbClr val="0099FF"/>
                </a:solidFill>
              </a:rPr>
              <a:t>&lt;hardware&gt; </a:t>
            </a:r>
            <a:r>
              <a:rPr lang="en-US" dirty="0"/>
              <a:t>tag of the </a:t>
            </a:r>
            <a:r>
              <a:rPr lang="en-US" b="1" dirty="0"/>
              <a:t>robot URDF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A1E4E-2256-463F-8A46-4AC59375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83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AC1A-C2B0-4FD6-B5C3-E1877A37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8A05-D3BA-4171-894A-337B1298B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Real Robot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90EAF-F256-4B06-8AA2-5E91B479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F09A1C-1A2D-4432-8A09-630891A97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2191327"/>
            <a:ext cx="4953000" cy="2579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5DC9C9-6CAC-4511-8226-A6994F375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91327"/>
            <a:ext cx="5544868" cy="4110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481021-7B87-4C3A-8CAF-6F10729954F3}"/>
              </a:ext>
            </a:extLst>
          </p:cNvPr>
          <p:cNvSpPr txBox="1"/>
          <p:nvPr/>
        </p:nvSpPr>
        <p:spPr>
          <a:xfrm>
            <a:off x="2438400" y="6316441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C++ interface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60CD45-C61F-4986-B88A-6A16115DB802}"/>
              </a:ext>
            </a:extLst>
          </p:cNvPr>
          <p:cNvSpPr txBox="1"/>
          <p:nvPr/>
        </p:nvSpPr>
        <p:spPr>
          <a:xfrm>
            <a:off x="8434997" y="48465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URDF define</a:t>
            </a:r>
          </a:p>
        </p:txBody>
      </p:sp>
    </p:spTree>
    <p:extLst>
      <p:ext uri="{BB962C8B-B14F-4D97-AF65-F5344CB8AC3E}">
        <p14:creationId xmlns:p14="http://schemas.microsoft.com/office/powerpoint/2010/main" val="2422828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0446-2847-44CC-8387-62CE983F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B4020-6E3A-41F1-810E-9D6750F16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Gazebo Sim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Mock hardware (testing)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707F4-D87A-49C9-8036-E2AA196B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3EF9E3-C58A-4BD5-B02C-719C6DCE2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419600"/>
            <a:ext cx="5663384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46F5E9-1B51-4535-A2DD-BE868CCAA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097880"/>
            <a:ext cx="5037537" cy="68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5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C915-DF1A-46A0-B196-3EB8F1BD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0E03-08D8-4009-880A-B06E32C5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Resource Manager</a:t>
            </a:r>
          </a:p>
          <a:p>
            <a:r>
              <a:rPr lang="en-US" dirty="0"/>
              <a:t>Resource Manager manages the state of the hardware by creating a shared memory space where hardware data is stored</a:t>
            </a:r>
          </a:p>
          <a:p>
            <a:pPr lvl="1"/>
            <a:r>
              <a:rPr lang="en-US" sz="2400" dirty="0"/>
              <a:t>Command interfaces: hardware </a:t>
            </a:r>
            <a:r>
              <a:rPr lang="en-US" sz="2400" dirty="0">
                <a:sym typeface="Wingdings" panose="05000000000000000000" pitchFamily="2" charset="2"/>
              </a:rPr>
              <a:t> controller</a:t>
            </a:r>
            <a:endParaRPr lang="en-US" sz="2400" dirty="0"/>
          </a:p>
          <a:p>
            <a:pPr lvl="1"/>
            <a:r>
              <a:rPr lang="en-US" sz="2400" dirty="0"/>
              <a:t>State Interfaces: controller </a:t>
            </a:r>
            <a:r>
              <a:rPr lang="en-US" sz="2400" dirty="0">
                <a:sym typeface="Wingdings" panose="05000000000000000000" pitchFamily="2" charset="2"/>
              </a:rPr>
              <a:t> hardware</a:t>
            </a:r>
            <a:endParaRPr lang="en-US" sz="2400" dirty="0"/>
          </a:p>
          <a:p>
            <a:r>
              <a:rPr lang="en-US" dirty="0"/>
              <a:t>Resources Manager  ensures hardware data is available for any controller to read simultaneously.</a:t>
            </a:r>
          </a:p>
          <a:p>
            <a:r>
              <a:rPr lang="en-US" dirty="0"/>
              <a:t>ROS automatically parses the robot URDF and build  this memory map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4FC8-2241-4400-801B-5A8BE0C6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2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C915-DF1A-46A0-B196-3EB8F1BD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0E03-08D8-4009-880A-B06E32C5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Controller Manager</a:t>
            </a:r>
          </a:p>
          <a:p>
            <a:r>
              <a:rPr lang="en-US" dirty="0"/>
              <a:t>Controller manager is the "Heart" of the ROS 2 Control</a:t>
            </a:r>
          </a:p>
          <a:p>
            <a:r>
              <a:rPr lang="en-US" dirty="0"/>
              <a:t>It manages the timing of the real-time loop, in each cycle:</a:t>
            </a:r>
          </a:p>
          <a:p>
            <a:pPr lvl="1"/>
            <a:r>
              <a:rPr lang="en-US" sz="2400" dirty="0"/>
              <a:t>It tells the Hardware Interface to read() from hardware</a:t>
            </a:r>
          </a:p>
          <a:p>
            <a:pPr lvl="1"/>
            <a:r>
              <a:rPr lang="en-US" sz="2400" dirty="0"/>
              <a:t>tells the Controllers run update() function for active controller</a:t>
            </a:r>
          </a:p>
          <a:p>
            <a:pPr lvl="1"/>
            <a:r>
              <a:rPr lang="en-US" sz="2400" dirty="0"/>
              <a:t>tells the Hardware Interface to write() the results back to the hardware</a:t>
            </a:r>
          </a:p>
          <a:p>
            <a:r>
              <a:rPr lang="en-US" dirty="0"/>
              <a:t>It exposes ROS services so user can load, start, or stop controllers while the robot is running</a:t>
            </a:r>
          </a:p>
          <a:p>
            <a:r>
              <a:rPr lang="en-US" dirty="0"/>
              <a:t>Controller manager is configured via a </a:t>
            </a:r>
            <a:r>
              <a:rPr lang="en-US" dirty="0">
                <a:solidFill>
                  <a:srgbClr val="0099FF"/>
                </a:solidFill>
              </a:rPr>
              <a:t>YAML file </a:t>
            </a:r>
            <a:r>
              <a:rPr lang="en-US" dirty="0"/>
              <a:t>where you list your controllers and their update rates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4FC8-2241-4400-801B-5A8BE0C6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598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D582-12A5-4451-910D-21B6D3F2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A79D5-94AD-45C1-9A5E-B885C195F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YAML file is the configuration blueprint for Control manager</a:t>
            </a:r>
          </a:p>
          <a:p>
            <a:r>
              <a:rPr lang="en-US" dirty="0"/>
              <a:t>YAML file is divided into two main sections: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Controller Manager's parameters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24CFE-9D2A-4F21-B395-17D879A0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9BD48-A862-45E8-834D-13DD2F414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895600"/>
            <a:ext cx="942473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9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39A0-5A9A-4AEF-94DF-99DC9672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B013E-9C1F-421A-822B-12E26439B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>
                <a:solidFill>
                  <a:srgbClr val="0070C0"/>
                </a:solidFill>
              </a:rPr>
              <a:t>Individual parameters for each controller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85BB9-A308-4597-B5C4-D4DC2FF3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E14EA-931B-4668-B0B6-F7B86BD7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09800"/>
            <a:ext cx="823748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65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C915-DF1A-46A0-B196-3EB8F1BD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0E03-08D8-4009-880A-B06E32C5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Controllers</a:t>
            </a:r>
          </a:p>
          <a:p>
            <a:r>
              <a:rPr lang="en-US" dirty="0"/>
              <a:t>Controllers are modular plugins that process data from hardware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Broadcasters</a:t>
            </a:r>
            <a:r>
              <a:rPr lang="en-US" sz="2400" dirty="0"/>
              <a:t>: (e.g., </a:t>
            </a:r>
            <a:r>
              <a:rPr lang="en-US" sz="2400" dirty="0" err="1"/>
              <a:t>JointStateBroadcaster</a:t>
            </a:r>
            <a:r>
              <a:rPr lang="en-US" sz="2400" dirty="0"/>
              <a:t>) Read state interfaces and publish them to topic </a:t>
            </a:r>
            <a:r>
              <a:rPr lang="en-US" sz="2400" dirty="0">
                <a:solidFill>
                  <a:srgbClr val="0070C0"/>
                </a:solidFill>
              </a:rPr>
              <a:t>/</a:t>
            </a:r>
            <a:r>
              <a:rPr lang="en-US" sz="2400" dirty="0" err="1">
                <a:solidFill>
                  <a:srgbClr val="0070C0"/>
                </a:solidFill>
              </a:rPr>
              <a:t>joint_states</a:t>
            </a:r>
            <a:endParaRPr lang="en-US" sz="2400" dirty="0">
              <a:solidFill>
                <a:srgbClr val="0070C0"/>
              </a:solidFill>
            </a:endParaRP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Command Controllers</a:t>
            </a:r>
            <a:r>
              <a:rPr lang="en-US" sz="2400" dirty="0"/>
              <a:t>: (e.g., </a:t>
            </a:r>
            <a:r>
              <a:rPr lang="en-US" sz="2400" dirty="0" err="1"/>
              <a:t>DiffDriveController</a:t>
            </a:r>
            <a:r>
              <a:rPr lang="en-US" sz="2400" dirty="0"/>
              <a:t>, </a:t>
            </a:r>
            <a:r>
              <a:rPr lang="en-US" sz="2400" dirty="0" err="1"/>
              <a:t>JointTrajectoryController</a:t>
            </a:r>
            <a:r>
              <a:rPr lang="en-US" sz="2400" dirty="0"/>
              <a:t>) Take high-level goals and calculate the specific motor commands (Position, Velocity, or Effort).</a:t>
            </a:r>
          </a:p>
          <a:p>
            <a:r>
              <a:rPr lang="en-US" dirty="0"/>
              <a:t>Controller They take a "Goal" (e.g., "Go 1.0 m/s") and compare it to the "State" (e.g., "Currently going 0.8 m/s") to calculate the command needed to close the 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4FC8-2241-4400-801B-5A8BE0C6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12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7639-5556-436B-9738-5B74C014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83584-404B-4A10-A178-8C2675BEA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Broadcasters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4EB66-67FD-4A37-91E1-CA37B320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DC20E-1198-438B-9D73-14A0D78D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24074"/>
            <a:ext cx="7188673" cy="425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1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8A6D-D789-49B7-97B4-E541233F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17C2-C078-4E27-BCC4-13FB34BA3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controller (Effort/Velocity/Position)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F7749-0555-4CE3-9B46-4FD16B9A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356BF6-94C6-4EDE-97D9-AC5B0979F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86649"/>
              </p:ext>
            </p:extLst>
          </p:nvPr>
        </p:nvGraphicFramePr>
        <p:xfrm>
          <a:off x="914400" y="2239806"/>
          <a:ext cx="10896599" cy="4084794"/>
        </p:xfrm>
        <a:graphic>
          <a:graphicData uri="http://schemas.openxmlformats.org/drawingml/2006/table">
            <a:tbl>
              <a:tblPr/>
              <a:tblGrid>
                <a:gridCol w="2596233">
                  <a:extLst>
                    <a:ext uri="{9D8B030D-6E8A-4147-A177-3AD203B41FA5}">
                      <a16:colId xmlns:a16="http://schemas.microsoft.com/office/drawing/2014/main" val="2399850294"/>
                    </a:ext>
                  </a:extLst>
                </a:gridCol>
                <a:gridCol w="2596233">
                  <a:extLst>
                    <a:ext uri="{9D8B030D-6E8A-4147-A177-3AD203B41FA5}">
                      <a16:colId xmlns:a16="http://schemas.microsoft.com/office/drawing/2014/main" val="4284458549"/>
                    </a:ext>
                  </a:extLst>
                </a:gridCol>
                <a:gridCol w="2596233">
                  <a:extLst>
                    <a:ext uri="{9D8B030D-6E8A-4147-A177-3AD203B41FA5}">
                      <a16:colId xmlns:a16="http://schemas.microsoft.com/office/drawing/2014/main" val="2609995755"/>
                    </a:ext>
                  </a:extLst>
                </a:gridCol>
                <a:gridCol w="3107900">
                  <a:extLst>
                    <a:ext uri="{9D8B030D-6E8A-4147-A177-3AD203B41FA5}">
                      <a16:colId xmlns:a16="http://schemas.microsoft.com/office/drawing/2014/main" val="1219392331"/>
                    </a:ext>
                  </a:extLst>
                </a:gridCol>
              </a:tblGrid>
              <a:tr h="342436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 Controller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Velocity Controller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Effort Controller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75805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96568"/>
                  </a:ext>
                </a:extLst>
              </a:tr>
              <a:tr h="56298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Goal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Reaching a specific target angle or coordinate.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Maintaining a specific speed over time.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Applying a specific force or torque.</a:t>
                      </a:r>
                    </a:p>
                  </a:txBody>
                  <a:tcPr marL="75805" marR="75805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012459"/>
                  </a:ext>
                </a:extLst>
              </a:tr>
              <a:tr h="56298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Common Plugin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position_controllers/JointGroupPositionController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velocity_controllers/JointGroupVelocityController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 err="1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effort_controllers</a:t>
                      </a:r>
                      <a:r>
                        <a:rPr lang="en-US" sz="1500" dirty="0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n-US" sz="1500" dirty="0" err="1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JointGroupEffortController</a:t>
                      </a:r>
                      <a:endParaRPr lang="en-US" sz="1500" dirty="0">
                        <a:solidFill>
                          <a:srgbClr val="0070C0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75805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133282"/>
                  </a:ext>
                </a:extLst>
              </a:tr>
              <a:tr h="56298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 (ROS Topic)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std_msgs/Float64MultiArray (Target positions)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std_msgs/Float64MultiArray (Target speeds)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 err="1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std_msgs</a:t>
                      </a:r>
                      <a:r>
                        <a:rPr lang="en-US" sz="1500" dirty="0">
                          <a:solidFill>
                            <a:srgbClr val="0070C0"/>
                          </a:solidFill>
                          <a:effectLst/>
                          <a:latin typeface="Google Sans Text"/>
                        </a:rPr>
                        <a:t>/Float64MultiArray (Target Newtons/Amps)</a:t>
                      </a:r>
                    </a:p>
                  </a:txBody>
                  <a:tcPr marL="75805" marR="75805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939738"/>
                  </a:ext>
                </a:extLst>
              </a:tr>
              <a:tr h="56298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 (Hardware Interface)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command_interface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name="position"&gt;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command_interface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name="velocity"&gt;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command_interface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name="effort"&gt;</a:t>
                      </a:r>
                    </a:p>
                  </a:txBody>
                  <a:tcPr marL="75805" marR="75805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384586"/>
                  </a:ext>
                </a:extLst>
              </a:tr>
              <a:tr h="783527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Robotics Use Case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Robotic arm joints (SCARA, 6-DOF), Grippers, Steering angle.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Mobile robot wheels (Diff-Drive), Conveyors, spinning LiDAR.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Research: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Gravity compensation, force-feedback, balancing robots.</a:t>
                      </a:r>
                    </a:p>
                  </a:txBody>
                  <a:tcPr marL="75805" marR="75805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100059"/>
                  </a:ext>
                </a:extLst>
              </a:tr>
              <a:tr h="56298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Feel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"Stiff" and precise.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Smooth and continuous.</a:t>
                      </a:r>
                    </a:p>
                  </a:txBody>
                  <a:tcPr marL="75805" marR="47378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"Soft" or compliant (Physical interaction).</a:t>
                      </a:r>
                    </a:p>
                  </a:txBody>
                  <a:tcPr marL="75805" marR="75805" marT="63171" marB="63171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5533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ABBFCAA-A72F-46E2-9EBE-3C9C3D477F37}"/>
              </a:ext>
            </a:extLst>
          </p:cNvPr>
          <p:cNvSpPr txBox="1"/>
          <p:nvPr/>
        </p:nvSpPr>
        <p:spPr>
          <a:xfrm>
            <a:off x="914400" y="6347691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https://control.ros.org/rolling/doc/ros2_controllers/doc/controllers_index.html</a:t>
            </a:r>
          </a:p>
        </p:txBody>
      </p:sp>
    </p:spTree>
    <p:extLst>
      <p:ext uri="{BB962C8B-B14F-4D97-AF65-F5344CB8AC3E}">
        <p14:creationId xmlns:p14="http://schemas.microsoft.com/office/powerpoint/2010/main" val="404288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A293-530F-47C3-878A-84E8ADFD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720D7D-BA13-438D-8397-34530D5DB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711439"/>
              </p:ext>
            </p:extLst>
          </p:nvPr>
        </p:nvGraphicFramePr>
        <p:xfrm>
          <a:off x="838200" y="1524000"/>
          <a:ext cx="10972801" cy="5231718"/>
        </p:xfrm>
        <a:graphic>
          <a:graphicData uri="http://schemas.openxmlformats.org/drawingml/2006/table">
            <a:tbl>
              <a:tblPr/>
              <a:tblGrid>
                <a:gridCol w="1788160">
                  <a:extLst>
                    <a:ext uri="{9D8B030D-6E8A-4147-A177-3AD203B41FA5}">
                      <a16:colId xmlns:a16="http://schemas.microsoft.com/office/drawing/2014/main" val="3151955481"/>
                    </a:ext>
                  </a:extLst>
                </a:gridCol>
                <a:gridCol w="2098040">
                  <a:extLst>
                    <a:ext uri="{9D8B030D-6E8A-4147-A177-3AD203B41FA5}">
                      <a16:colId xmlns:a16="http://schemas.microsoft.com/office/drawing/2014/main" val="100007249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813149338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430986305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3616531995"/>
                    </a:ext>
                  </a:extLst>
                </a:gridCol>
              </a:tblGrid>
              <a:tr h="277403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Controller Name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Robot Type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 Interface (ROS)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Internal Logic / Kinematics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 Interface 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45295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982692"/>
                  </a:ext>
                </a:extLst>
              </a:tr>
              <a:tr h="892112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diff_drive_controller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Mobile Robots (2-wheel, Skid-steer)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geometry_msgs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/Twist ($x$, $z$ velocity)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Differential drive kinematics; calculates wheel velocities; computes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Odometry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velocity</a:t>
                      </a:r>
                    </a:p>
                  </a:txBody>
                  <a:tcPr marL="45295" marR="45295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242870"/>
                  </a:ext>
                </a:extLst>
              </a:tr>
              <a:tr h="892112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joint_trajectory_controller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Robotic Arms / Multi-joint Manipulators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trajectory_msgs/JointTrajectory (Waypoints + Time)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Spline Interpolation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(cubic/quintic) to ensure smooth, synchronized motion across all joints.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position, velocity, or effort</a:t>
                      </a:r>
                    </a:p>
                  </a:txBody>
                  <a:tcPr marL="45295" marR="45295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073942"/>
                  </a:ext>
                </a:extLst>
              </a:tr>
              <a:tr h="68720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tricycle_controller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3-Wheeled Robots (1 steered/driven, 2 trailing)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geometry_msgs/Twist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Maps base velocity to a steering angle and traction speed for the front wheel.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 (steer) and velocity (drive)</a:t>
                      </a:r>
                    </a:p>
                  </a:txBody>
                  <a:tcPr marL="45295" marR="45295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513944"/>
                  </a:ext>
                </a:extLst>
              </a:tr>
              <a:tr h="68720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bicycle_steering_controller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Car-like Robots (Ackermann)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geometry_msgs/Twist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Implements Ackermann geometry for a traction joint and a steering joint.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 (steer) and velocity (drive)</a:t>
                      </a:r>
                    </a:p>
                  </a:txBody>
                  <a:tcPr marL="45295" marR="45295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77411"/>
                  </a:ext>
                </a:extLst>
              </a:tr>
              <a:tr h="892112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gripper_action_controller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End Effectors / Claws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control_msgs/GripperCommand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Provides an Action interface; handles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Stall Detection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to know when an object is grasped.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</a:t>
                      </a:r>
                    </a:p>
                  </a:txBody>
                  <a:tcPr marL="45295" marR="45295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963293"/>
                  </a:ext>
                </a:extLst>
              </a:tr>
              <a:tr h="892112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admittance_controller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Human-Robot Interaction / Assembly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geometry_msgs/Wrench (Force/Torque)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Converts sensed external forces into compliant movement (simulating "softness").</a:t>
                      </a:r>
                    </a:p>
                  </a:txBody>
                  <a:tcPr marL="45295" marR="28310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 or velocity</a:t>
                      </a:r>
                    </a:p>
                  </a:txBody>
                  <a:tcPr marL="45295" marR="45295" marT="37746" marB="37746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65646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27E9B-CF31-4C83-BE28-CC73C023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4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C915-DF1A-46A0-B196-3EB8F1BD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ROS Control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0E03-08D8-4009-880A-B06E32C5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Topics</a:t>
            </a:r>
          </a:p>
          <a:p>
            <a:r>
              <a:rPr lang="en-US" dirty="0"/>
              <a:t>Topic  exposes the controllers to the rest of the ROS system</a:t>
            </a:r>
          </a:p>
          <a:p>
            <a:r>
              <a:rPr lang="en-US" dirty="0"/>
              <a:t>This layer is not real-time;</a:t>
            </a:r>
          </a:p>
          <a:p>
            <a:r>
              <a:rPr lang="en-US" dirty="0"/>
              <a:t>Common topics/services: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joint_states</a:t>
            </a:r>
            <a:r>
              <a:rPr lang="en-US" dirty="0"/>
              <a:t> : contain name, position, velocity, effort of joints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cmd_vel</a:t>
            </a:r>
            <a:r>
              <a:rPr lang="en-US" dirty="0"/>
              <a:t>: control mobile robot, contain 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, heading angle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odom</a:t>
            </a:r>
            <a:r>
              <a:rPr lang="en-US" dirty="0"/>
              <a:t>: mobile robot odometry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tf</a:t>
            </a:r>
            <a:r>
              <a:rPr lang="en-US" dirty="0"/>
              <a:t>: link transform</a:t>
            </a:r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4FC8-2241-4400-801B-5A8BE0C6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83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C915-DF1A-46A0-B196-3EB8F1BD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ROS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0E03-08D8-4009-880A-B06E32C5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</a:t>
            </a:r>
            <a:r>
              <a:rPr lang="en-US" dirty="0"/>
              <a:t>Add Ros2_control to the robot URDF</a:t>
            </a:r>
          </a:p>
          <a:p>
            <a:pPr lvl="1"/>
            <a:r>
              <a:rPr lang="en-US" dirty="0"/>
              <a:t>Tell the ros2_control which joints exist, what command they accept, what state they publish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4FC8-2241-4400-801B-5A8BE0C6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5FCAC5-9B2D-4E76-80A4-33E36EC16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609998"/>
            <a:ext cx="4591084" cy="369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84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32E0-C8C1-49FC-A165-5EC21FB12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ROS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0AEAD-AC16-47FA-BDBC-BC3F568D7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</a:t>
            </a:r>
            <a:r>
              <a:rPr lang="en-US" dirty="0"/>
              <a:t>Add transmission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5FE4F-9BD9-46D0-B679-AC6498A5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7" name="Picture 3" descr="How does a differential gear work? | tec-science">
            <a:extLst>
              <a:ext uri="{FF2B5EF4-FFF2-40B4-BE49-F238E27FC236}">
                <a16:creationId xmlns:a16="http://schemas.microsoft.com/office/drawing/2014/main" id="{2D5E2EF7-D411-4DA1-A0C3-F1CD284EE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062" y="2420284"/>
            <a:ext cx="3005667" cy="169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Four-Bar Linkage | Wolfram Demonstrations Project">
            <a:extLst>
              <a:ext uri="{FF2B5EF4-FFF2-40B4-BE49-F238E27FC236}">
                <a16:creationId xmlns:a16="http://schemas.microsoft.com/office/drawing/2014/main" id="{41B9FB17-13B9-4671-8622-953945DB8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437" y="219406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Habasit - Power Transmission Belts">
            <a:extLst>
              <a:ext uri="{FF2B5EF4-FFF2-40B4-BE49-F238E27FC236}">
                <a16:creationId xmlns:a16="http://schemas.microsoft.com/office/drawing/2014/main" id="{429DC118-12C2-4807-A196-CC500EE76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24003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AD59D6-F438-4F93-9372-B2433E995304}"/>
              </a:ext>
            </a:extLst>
          </p:cNvPr>
          <p:cNvSpPr txBox="1"/>
          <p:nvPr/>
        </p:nvSpPr>
        <p:spPr>
          <a:xfrm>
            <a:off x="411317" y="4643127"/>
            <a:ext cx="3657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 err="1">
                <a:solidFill>
                  <a:srgbClr val="0070C0"/>
                </a:solidFill>
              </a:rPr>
              <a:t>SimpleTransmission</a:t>
            </a:r>
            <a:r>
              <a:rPr lang="en-US" dirty="0"/>
              <a:t>: A simple transmission with a constant reduction ratio and no additional dynamics.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97B772-E688-4E8B-8BD8-822487A052B8}"/>
              </a:ext>
            </a:extLst>
          </p:cNvPr>
          <p:cNvSpPr txBox="1"/>
          <p:nvPr/>
        </p:nvSpPr>
        <p:spPr>
          <a:xfrm>
            <a:off x="4211145" y="4827947"/>
            <a:ext cx="37697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 err="1">
                <a:solidFill>
                  <a:srgbClr val="0070C0"/>
                </a:solidFill>
              </a:rPr>
              <a:t>DifferentialTransmission</a:t>
            </a:r>
            <a:r>
              <a:rPr lang="en-US" dirty="0"/>
              <a:t>: A differential transmission with two actuators and two joints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3DDF8-1DB3-4EFC-8EF4-C1862E47B2F9}"/>
              </a:ext>
            </a:extLst>
          </p:cNvPr>
          <p:cNvSpPr txBox="1"/>
          <p:nvPr/>
        </p:nvSpPr>
        <p:spPr>
          <a:xfrm>
            <a:off x="8047838" y="4781626"/>
            <a:ext cx="41134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 err="1">
                <a:solidFill>
                  <a:srgbClr val="0070C0"/>
                </a:solidFill>
              </a:rPr>
              <a:t>FourBarLinkageTransmission</a:t>
            </a:r>
            <a:r>
              <a:rPr lang="en-US" dirty="0"/>
              <a:t>: A four-bar-linkage transmission with two actuators and two joints</a:t>
            </a:r>
          </a:p>
        </p:txBody>
      </p:sp>
    </p:spTree>
    <p:extLst>
      <p:ext uri="{BB962C8B-B14F-4D97-AF65-F5344CB8AC3E}">
        <p14:creationId xmlns:p14="http://schemas.microsoft.com/office/powerpoint/2010/main" val="48746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0059-97E7-47AB-9EE3-3DD23F01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ROS Control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35996-4879-42F6-98C7-DA911CF7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6B10C9-545F-4C60-88DA-D6229C33A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09800"/>
            <a:ext cx="7784399" cy="19812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75F74A-163A-4BFF-A2ED-7F25C26FB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/>
          <a:lstStyle/>
          <a:p>
            <a:r>
              <a:rPr lang="en-US" dirty="0"/>
              <a:t>Example of simple transmission</a:t>
            </a:r>
          </a:p>
        </p:txBody>
      </p:sp>
    </p:spTree>
    <p:extLst>
      <p:ext uri="{BB962C8B-B14F-4D97-AF65-F5344CB8AC3E}">
        <p14:creationId xmlns:p14="http://schemas.microsoft.com/office/powerpoint/2010/main" val="2031911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39F2-264B-4CBE-A877-CDD793B9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ROS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37F6-3F3D-4A41-8F26-387D63E1D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</a:t>
            </a:r>
            <a:r>
              <a:rPr lang="en-US" dirty="0"/>
              <a:t>: Add hardware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2DB71-6BBC-4756-8B8F-2AFBB826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7FEAC-FBBA-4EE7-99F8-15A426D0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362200"/>
            <a:ext cx="4953000" cy="257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77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1116-C726-42B8-8CA9-6A12E564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ROS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8CC2F-8555-44F9-B176-896C51D29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</a:t>
            </a:r>
            <a:r>
              <a:rPr lang="en-US" dirty="0"/>
              <a:t>Create controller configuration (YAML)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CC66C-8E42-43F3-8792-EF1E72B1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155D7-EF1E-4470-96FB-58EDE5EA4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362199"/>
            <a:ext cx="6019800" cy="40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22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1116-C726-42B8-8CA9-6A12E564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ROS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8CC2F-8555-44F9-B176-896C51D29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Step5: write a .launch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CC66C-8E42-43F3-8792-EF1E72B1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97223-FB93-423B-A84F-0CD1A80BB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0"/>
            <a:ext cx="5867400" cy="3771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E3C0C8-6669-4537-99E3-7CBBFEA7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33600"/>
            <a:ext cx="550185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70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57ED-6514-442B-A8E9-6D87F75A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ROS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33F1-8557-4B10-AB39-77D2F8006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6</a:t>
            </a:r>
            <a:r>
              <a:rPr lang="en-US" dirty="0"/>
              <a:t>: Control your robot via </a:t>
            </a:r>
            <a:r>
              <a:rPr lang="en-US" dirty="0" err="1"/>
              <a:t>ros</a:t>
            </a:r>
            <a:r>
              <a:rPr lang="en-US" dirty="0"/>
              <a:t> control topics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04271-A4E7-445F-B883-C48E5782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0535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5787</TotalTime>
  <Words>1293</Words>
  <Application>Microsoft Office PowerPoint</Application>
  <PresentationFormat>Widescreen</PresentationFormat>
  <Paragraphs>192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Google Sans Text</vt:lpstr>
      <vt:lpstr>Clarity</vt:lpstr>
      <vt:lpstr>  Robot Operating system ROS CONtrol</vt:lpstr>
      <vt:lpstr>Control your robot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ROS Control Components</vt:lpstr>
      <vt:lpstr>Implementing ROS Control</vt:lpstr>
      <vt:lpstr>Implementing ROS Control</vt:lpstr>
      <vt:lpstr>Implementing ROS Control</vt:lpstr>
      <vt:lpstr>Implementing ROS Control</vt:lpstr>
      <vt:lpstr>Implementing ROS Control</vt:lpstr>
      <vt:lpstr>Implementing ROS Control</vt:lpstr>
      <vt:lpstr>Implementing ROS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creator>haduc</dc:creator>
  <cp:lastModifiedBy>duc b</cp:lastModifiedBy>
  <cp:revision>624</cp:revision>
  <dcterms:created xsi:type="dcterms:W3CDTF">2015-08-30T01:38:28Z</dcterms:created>
  <dcterms:modified xsi:type="dcterms:W3CDTF">2026-03-10T05:40:53Z</dcterms:modified>
</cp:coreProperties>
</file>