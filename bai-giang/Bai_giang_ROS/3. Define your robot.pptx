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22"/>
  </p:notesMasterIdLst>
  <p:sldIdLst>
    <p:sldId id="256" r:id="rId2"/>
    <p:sldId id="301" r:id="rId3"/>
    <p:sldId id="280" r:id="rId4"/>
    <p:sldId id="281" r:id="rId5"/>
    <p:sldId id="282" r:id="rId6"/>
    <p:sldId id="283" r:id="rId7"/>
    <p:sldId id="284" r:id="rId8"/>
    <p:sldId id="285" r:id="rId9"/>
    <p:sldId id="286" r:id="rId10"/>
    <p:sldId id="287" r:id="rId11"/>
    <p:sldId id="288" r:id="rId12"/>
    <p:sldId id="289" r:id="rId13"/>
    <p:sldId id="290" r:id="rId14"/>
    <p:sldId id="291" r:id="rId15"/>
    <p:sldId id="292" r:id="rId16"/>
    <p:sldId id="293" r:id="rId17"/>
    <p:sldId id="296" r:id="rId18"/>
    <p:sldId id="297" r:id="rId19"/>
    <p:sldId id="300" r:id="rId20"/>
    <p:sldId id="29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9FF"/>
    <a:srgbClr val="FF5F33"/>
    <a:srgbClr val="FF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5" autoAdjust="0"/>
    <p:restoredTop sz="92596" autoAdjust="0"/>
  </p:normalViewPr>
  <p:slideViewPr>
    <p:cSldViewPr>
      <p:cViewPr varScale="1">
        <p:scale>
          <a:sx n="46" d="100"/>
          <a:sy n="46" d="100"/>
        </p:scale>
        <p:origin x="48" y="7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37A33C2-6F37-4DE9-AAF9-8ABC356AE657}" type="datetimeFigureOut">
              <a:rPr lang="en-US" smtClean="0"/>
              <a:t>2/3/2026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DAE4680-6E9A-445B-9304-F7D1A27E0E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373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aseline="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2943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https://www.youtube.com/watch?v=BcjHyhV0kIs&amp;list=PLunhqkrRNRhYAffV8JDiFOatQXuU-NnxT&amp;index=2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DAE4680-6E9A-445B-9304-F7D1A27E0E4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4633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371601"/>
            <a:ext cx="104648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505200"/>
            <a:ext cx="85344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3561BE-7EE5-473D-84A7-4C53642E76F3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914400" y="3398520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0F51FE-9C5E-464A-AC70-6B909B40C01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160000" y="6501107"/>
            <a:ext cx="1422400" cy="329184"/>
          </a:xfrm>
        </p:spPr>
        <p:txBody>
          <a:bodyPr/>
          <a:lstStyle>
            <a:lvl1pPr>
              <a:defRPr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2362201"/>
            <a:ext cx="103632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4626865"/>
            <a:ext cx="103632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ED206D-CD87-417B-A3E9-8E7F517E463E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975360" y="4599432"/>
            <a:ext cx="104648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73352"/>
            <a:ext cx="53848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D8F107-3B8C-4C3E-96B2-5FDE77B1A8A3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39840" y="1676400"/>
            <a:ext cx="524256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9840" y="2438400"/>
            <a:ext cx="52425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B7A77-E7D0-4A81-9F27-235411449FDF}" type="datetime1">
              <a:rPr lang="en-US" smtClean="0"/>
              <a:t>2/3/2026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3741949" y="4045691"/>
            <a:ext cx="4709160" cy="1059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175E10-1A59-4CE8-9F8F-26909B2B45ED}" type="datetime1">
              <a:rPr lang="en-US" smtClean="0"/>
              <a:t>2/3/2026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769CF-71D8-44A8-A43E-06A522466198}" type="datetime1">
              <a:rPr lang="en-US" smtClean="0"/>
              <a:t>2/3/2026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080"/>
            <a:ext cx="2852928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2400" y="792080"/>
            <a:ext cx="7620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2130553"/>
            <a:ext cx="2852928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720A33-8193-44AB-9CBE-84B62B603B98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912152" y="3579942"/>
            <a:ext cx="5577840" cy="2117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792480"/>
            <a:ext cx="2856907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11480" y="838201"/>
            <a:ext cx="787252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133600"/>
            <a:ext cx="2852928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8572B2-C299-428F-9DB0-AF5E4D034999}" type="datetime1">
              <a:rPr lang="en-US" smtClean="0"/>
              <a:t>2/3/2026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DEECD9-E72D-423D-873E-C8701D4E51F3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609600"/>
            <a:ext cx="27432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0264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519C6-978E-42A3-A0DA-A23B7AC47044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12192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533400"/>
            <a:ext cx="109728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12192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18288"/>
            <a:ext cx="3860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fld id="{938B7AF6-6F47-4FBA-B77D-1A1AB60E82CA}" type="datetime1">
              <a:rPr lang="en-US" smtClean="0"/>
              <a:t>2/3/2026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72000" y="18288"/>
            <a:ext cx="5486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00" y="6481315"/>
            <a:ext cx="14224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chemeClr val="accent5">
                    <a:lumMod val="75000"/>
                  </a:schemeClr>
                </a:solidFill>
              </a:defRPr>
            </a:lvl1pPr>
          </a:lstStyle>
          <a:p>
            <a:fld id="{3957FE44-DABC-424D-A234-74BB9410FF27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.vn/url?sa=i&amp;rct=j&amp;q=&amp;esrc=s&amp;source=images&amp;cd=&amp;cad=rja&amp;uact=8&amp;ved=0CAcQjRxqFQoTCOa4gpvXz8cCFU-ejgodsSsIRA&amp;url=http://spikeex.deviantart.com/art/Microchip-Tattoo-Design-1-42179858&amp;ei=31_iVaZNz7y6BLHXoKAE&amp;psig=AFQjCNF-y2BM98GH0MilH1ajH4XNM5xsRQ&amp;ust=1440985393503735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://wiki.ros.org/catkin/CMakeLists.txt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ros.org/catkin/CMakeLists.txt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iki.ros.org/catkin/CMakeLists.txt" TargetMode="Externa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azebosim.org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http://img02.deviantart.net/aaac/i/2006/302/3/0/microchip_tattoo_design_1_by_spikeex.jpg">
            <a:hlinkClick r:id="rId3"/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600" y="3535251"/>
            <a:ext cx="3322748" cy="332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dirty="0"/>
            </a:br>
            <a:br>
              <a:rPr lang="en-US" b="1" dirty="0"/>
            </a:br>
            <a:r>
              <a:rPr lang="en-US" b="1" dirty="0"/>
              <a:t>Robot Operating system</a:t>
            </a:r>
            <a:br>
              <a:rPr lang="en-US" b="1" dirty="0"/>
            </a:br>
            <a:r>
              <a:rPr lang="en-US" b="1" dirty="0">
                <a:solidFill>
                  <a:srgbClr val="0070C0"/>
                </a:solidFill>
              </a:rPr>
              <a:t>Define your robot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Lecturer: Dr. Bui Ha Duc</a:t>
            </a:r>
          </a:p>
          <a:p>
            <a:r>
              <a:rPr lang="en-US" dirty="0"/>
              <a:t>Dept. of Mechatronics</a:t>
            </a:r>
          </a:p>
          <a:p>
            <a:r>
              <a:rPr lang="en-US" dirty="0"/>
              <a:t>Email: ducbh@hcmute.edu.vn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9144000" y="6400800"/>
            <a:ext cx="1066800" cy="329184"/>
          </a:xfrm>
        </p:spPr>
        <p:txBody>
          <a:bodyPr/>
          <a:lstStyle/>
          <a:p>
            <a:fld id="{3957FE44-DABC-424D-A234-74BB9410FF2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65352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81EA0-9C23-483E-918C-33BCDD667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70C0"/>
                </a:solidFill>
              </a:rPr>
              <a:t>Define your robot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D4B104-7274-4E94-95CE-8513EC89E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2863053-6EF7-4E18-B454-AA155DE1CF1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14400" y="762000"/>
            <a:ext cx="5334000" cy="5334000"/>
          </a:xfrm>
          <a:prstGeom prst="rect">
            <a:avLst/>
          </a:prstGeom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AF0DEF1-B6EB-4C39-B6B7-317A3D7F114D}"/>
              </a:ext>
            </a:extLst>
          </p:cNvPr>
          <p:cNvSpPr/>
          <p:nvPr/>
        </p:nvSpPr>
        <p:spPr>
          <a:xfrm>
            <a:off x="3505200" y="3048000"/>
            <a:ext cx="2057400" cy="7620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URDF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387FA2-ECBF-4731-A7EB-753AE34FF64E}"/>
              </a:ext>
            </a:extLst>
          </p:cNvPr>
          <p:cNvSpPr/>
          <p:nvPr/>
        </p:nvSpPr>
        <p:spPr>
          <a:xfrm>
            <a:off x="8137236" y="1877291"/>
            <a:ext cx="2057400" cy="7620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ROS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0E4626-64A2-420F-ABCE-8FA6F6EDB83B}"/>
              </a:ext>
            </a:extLst>
          </p:cNvPr>
          <p:cNvSpPr/>
          <p:nvPr/>
        </p:nvSpPr>
        <p:spPr>
          <a:xfrm>
            <a:off x="5067300" y="4648200"/>
            <a:ext cx="2057400" cy="7620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SDF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0BBC511-E8A2-4DA6-87FD-4DBB8009A8FD}"/>
              </a:ext>
            </a:extLst>
          </p:cNvPr>
          <p:cNvSpPr/>
          <p:nvPr/>
        </p:nvSpPr>
        <p:spPr>
          <a:xfrm>
            <a:off x="8137236" y="4648200"/>
            <a:ext cx="2057400" cy="762000"/>
          </a:xfrm>
          <a:prstGeom prst="round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/>
              <a:t>Gazebo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2032B08-2629-427B-B3A8-E38CA5FAC746}"/>
              </a:ext>
            </a:extLst>
          </p:cNvPr>
          <p:cNvCxnSpPr>
            <a:endCxn id="10" idx="1"/>
          </p:cNvCxnSpPr>
          <p:nvPr/>
        </p:nvCxnSpPr>
        <p:spPr>
          <a:xfrm>
            <a:off x="2438400" y="3429000"/>
            <a:ext cx="1066800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B4744374-12CE-40C2-9F55-3BD5EC5ED340}"/>
              </a:ext>
            </a:extLst>
          </p:cNvPr>
          <p:cNvCxnSpPr>
            <a:cxnSpLocks/>
            <a:stCxn id="10" idx="3"/>
            <a:endCxn id="13" idx="1"/>
          </p:cNvCxnSpPr>
          <p:nvPr/>
        </p:nvCxnSpPr>
        <p:spPr>
          <a:xfrm flipV="1">
            <a:off x="5562600" y="2258291"/>
            <a:ext cx="2574636" cy="1170709"/>
          </a:xfrm>
          <a:prstGeom prst="bentConnector3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55D7CDC-69BC-463D-8119-1F85EC58EC83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7124700" y="5029200"/>
            <a:ext cx="1012536" cy="0"/>
          </a:xfrm>
          <a:prstGeom prst="straightConnector1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or: Elbow 23">
            <a:extLst>
              <a:ext uri="{FF2B5EF4-FFF2-40B4-BE49-F238E27FC236}">
                <a16:creationId xmlns:a16="http://schemas.microsoft.com/office/drawing/2014/main" id="{228525D3-03FD-4613-8316-C12DD39513B7}"/>
              </a:ext>
            </a:extLst>
          </p:cNvPr>
          <p:cNvCxnSpPr>
            <a:stCxn id="10" idx="2"/>
            <a:endCxn id="14" idx="1"/>
          </p:cNvCxnSpPr>
          <p:nvPr/>
        </p:nvCxnSpPr>
        <p:spPr>
          <a:xfrm rot="16200000" flipH="1">
            <a:off x="4191000" y="4152900"/>
            <a:ext cx="1219200" cy="533400"/>
          </a:xfrm>
          <a:prstGeom prst="bentConnector2">
            <a:avLst/>
          </a:prstGeom>
          <a:ln w="190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3EAB7845-F619-41A7-90D2-22804BCFE96C}"/>
              </a:ext>
            </a:extLst>
          </p:cNvPr>
          <p:cNvCxnSpPr/>
          <p:nvPr/>
        </p:nvCxnSpPr>
        <p:spPr>
          <a:xfrm>
            <a:off x="9165936" y="2843645"/>
            <a:ext cx="0" cy="1652155"/>
          </a:xfrm>
          <a:prstGeom prst="straightConnector1">
            <a:avLst/>
          </a:prstGeom>
          <a:ln w="38100">
            <a:solidFill>
              <a:schemeClr val="accent2">
                <a:lumMod val="75000"/>
              </a:schemeClr>
            </a:solidFill>
            <a:prstDash val="dash"/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463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C098A8-779C-38BD-0AB9-4A620B64D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URDF - Unified Robot Description 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83F25-B79D-DD51-848F-BBA40FFAE6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Unified Robot Description Format (URDF) is an XML format used to describe all the elements of a robot.</a:t>
            </a:r>
          </a:p>
          <a:p>
            <a:pPr lvl="1"/>
            <a:r>
              <a:rPr lang="en-US"/>
              <a:t>Links and joints</a:t>
            </a:r>
          </a:p>
          <a:p>
            <a:pPr lvl="1"/>
            <a:r>
              <a:rPr lang="en-US"/>
              <a:t>Kinematic, dynamic and visual properties</a:t>
            </a:r>
          </a:p>
          <a:p>
            <a:r>
              <a:rPr lang="en-US"/>
              <a:t>Benefits of URDF:</a:t>
            </a:r>
          </a:p>
          <a:p>
            <a:pPr lvl="1"/>
            <a:r>
              <a:rPr lang="en-US"/>
              <a:t>Simple and standardized</a:t>
            </a:r>
          </a:p>
          <a:p>
            <a:pPr lvl="1"/>
            <a:r>
              <a:rPr lang="en-US"/>
              <a:t>Keep all the physical characteristic in one common place</a:t>
            </a:r>
          </a:p>
          <a:p>
            <a:r>
              <a:rPr lang="en-US"/>
              <a:t>URDF is made up of a few simple structures repeated over and over.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2889A-48C0-E23F-8F90-63D1DAB418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478552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78E80-4CBB-3116-3005-EBB322BD01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URDF Components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187F8-805A-AFF4-C402-EB296AB77F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81683" y="1447800"/>
            <a:ext cx="5500688" cy="4876800"/>
          </a:xfrm>
        </p:spPr>
        <p:txBody>
          <a:bodyPr/>
          <a:lstStyle/>
          <a:p>
            <a:r>
              <a:rPr lang="en-US"/>
              <a:t>URDF consists of:</a:t>
            </a:r>
          </a:p>
          <a:p>
            <a:pPr lvl="1"/>
            <a:r>
              <a:rPr lang="en-US"/>
              <a:t>Link elements: represent the physical components of the robot</a:t>
            </a:r>
          </a:p>
          <a:p>
            <a:pPr lvl="1"/>
            <a:r>
              <a:rPr lang="en-US"/>
              <a:t>Joint elements: represent how one link moves relative to another link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6A3680-5D71-EB68-CB9F-72E2075ABE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D29DEB0-A5E7-F03A-BD24-B551FE280C67}"/>
              </a:ext>
            </a:extLst>
          </p:cNvPr>
          <p:cNvSpPr/>
          <p:nvPr/>
        </p:nvSpPr>
        <p:spPr>
          <a:xfrm>
            <a:off x="2514600" y="6246168"/>
            <a:ext cx="28669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/>
              <a:t>More detail</a:t>
            </a:r>
            <a:endParaRPr lang="en-US" sz="1200" b="1" i="1" dirty="0">
              <a:hlinkClick r:id="rId2"/>
            </a:endParaRPr>
          </a:p>
          <a:p>
            <a:r>
              <a:rPr lang="en-US" sz="1200" i="1">
                <a:solidFill>
                  <a:srgbClr val="0099FF"/>
                </a:solidFill>
              </a:rPr>
              <a:t>http://wiki.ros.org/urdf/XML/model</a:t>
            </a:r>
            <a:endParaRPr lang="en-US" sz="1100" i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4591F4F-87F2-2130-3178-7057E3E28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2685" y="3271012"/>
            <a:ext cx="2151062" cy="26725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A397058-083E-ACF7-289A-D4F1ED5258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7397" y="3775938"/>
            <a:ext cx="2497006" cy="1687727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A129255-32D3-D70D-FBB8-B490AB0F8190}"/>
              </a:ext>
            </a:extLst>
          </p:cNvPr>
          <p:cNvSpPr txBox="1"/>
          <p:nvPr/>
        </p:nvSpPr>
        <p:spPr>
          <a:xfrm>
            <a:off x="4204895" y="3393020"/>
            <a:ext cx="13716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i="1"/>
              <a:t>pr2.urdf</a:t>
            </a:r>
            <a:endParaRPr lang="en-US" sz="1600" b="1" i="1" dirty="0">
              <a:hlinkClick r:id="rId2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00DFA42-31A6-694D-46DD-D7B5BEF6D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19111" y="762000"/>
            <a:ext cx="3245482" cy="3352644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</a:schemeClr>
            </a:solidFill>
          </a:ln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8A1C32B-FECA-97B1-9F2B-D4E5182FF7F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33527" y="4818964"/>
            <a:ext cx="3230000" cy="977825"/>
          </a:xfrm>
          <a:prstGeom prst="rect">
            <a:avLst/>
          </a:prstGeom>
          <a:ln>
            <a:solidFill>
              <a:schemeClr val="tx2">
                <a:lumMod val="75000"/>
              </a:schemeClr>
            </a:solidFill>
          </a:ln>
        </p:spPr>
      </p:pic>
      <p:sp>
        <p:nvSpPr>
          <p:cNvPr id="16" name="Arrow: Right 15">
            <a:extLst>
              <a:ext uri="{FF2B5EF4-FFF2-40B4-BE49-F238E27FC236}">
                <a16:creationId xmlns:a16="http://schemas.microsoft.com/office/drawing/2014/main" id="{94AFF0E5-91C8-6A71-A87E-5BF9B568A4A2}"/>
              </a:ext>
            </a:extLst>
          </p:cNvPr>
          <p:cNvSpPr/>
          <p:nvPr/>
        </p:nvSpPr>
        <p:spPr>
          <a:xfrm>
            <a:off x="3654935" y="4302506"/>
            <a:ext cx="541723" cy="30480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352B3C5E-CE9B-09D8-66B4-CE0065925532}"/>
              </a:ext>
            </a:extLst>
          </p:cNvPr>
          <p:cNvCxnSpPr/>
          <p:nvPr/>
        </p:nvCxnSpPr>
        <p:spPr>
          <a:xfrm flipV="1">
            <a:off x="6324601" y="2895601"/>
            <a:ext cx="995749" cy="1142993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A91422C6-D1CC-EB1E-1D3F-003A77D4D8C4}"/>
              </a:ext>
            </a:extLst>
          </p:cNvPr>
          <p:cNvCxnSpPr>
            <a:cxnSpLocks/>
          </p:cNvCxnSpPr>
          <p:nvPr/>
        </p:nvCxnSpPr>
        <p:spPr>
          <a:xfrm>
            <a:off x="6751635" y="4918930"/>
            <a:ext cx="568715" cy="26267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30953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0FD309-48AA-6CFE-D7E3-83A2242E98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Links and Joints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150E4-59C6-B315-D54C-E4C7DE1AB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Identify links and joints of this Robot arm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953BFF-475B-FD3A-9034-C7F16ED545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5</a:t>
            </a:fld>
            <a:endParaRPr lang="en-US" dirty="0"/>
          </a:p>
        </p:txBody>
      </p:sp>
      <p:pic>
        <p:nvPicPr>
          <p:cNvPr id="5" name="Visual servoing with Franka robot_720p">
            <a:hlinkClick r:id="" action="ppaction://media"/>
            <a:extLst>
              <a:ext uri="{FF2B5EF4-FFF2-40B4-BE49-F238E27FC236}">
                <a16:creationId xmlns:a16="http://schemas.microsoft.com/office/drawing/2014/main" id="{4C55ED6D-C4DE-002E-1F1B-8EC36390D47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886676" y="2286000"/>
            <a:ext cx="680720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464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3318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0D824B-E84C-AE2D-F1D7-0198C67E83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Links and Joints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0C8E8-B90C-07D0-5EE5-9052E3C7DE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41A2C3-C103-EB48-4166-C0272116A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7D8DCBB1-9D8C-19CB-B903-B7B368D912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667" b="19231"/>
          <a:stretch/>
        </p:blipFill>
        <p:spPr bwMode="auto">
          <a:xfrm>
            <a:off x="2787846" y="1371600"/>
            <a:ext cx="6616308" cy="4518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674433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CE66-DE11-34B5-130C-0358F3806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Links and Joints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7A4BF-B2E5-EA10-E1B0-702A91F90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2" y="1487959"/>
            <a:ext cx="5638799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Links</a:t>
            </a:r>
          </a:p>
          <a:p>
            <a:pPr marL="631825" indent="-342900"/>
            <a:r>
              <a:rPr lang="en-US" sz="2000" b="1">
                <a:solidFill>
                  <a:srgbClr val="0070C0"/>
                </a:solidFill>
              </a:rPr>
              <a:t>Visual</a:t>
            </a:r>
            <a:r>
              <a:rPr lang="en-US" sz="2000"/>
              <a:t> - This is visual properties of the link.</a:t>
            </a:r>
          </a:p>
          <a:p>
            <a:pPr marL="906145" lvl="1" indent="-342900"/>
            <a:r>
              <a:rPr lang="en-US" sz="1600" b="1" i="1"/>
              <a:t>Geometry </a:t>
            </a:r>
            <a:r>
              <a:rPr lang="en-US" sz="1600"/>
              <a:t>- box/ cylinder / sphere with size parameters, or a mesh</a:t>
            </a:r>
          </a:p>
          <a:p>
            <a:pPr marL="906145" lvl="1" indent="-342900"/>
            <a:r>
              <a:rPr lang="en-US" sz="1600" b="1" i="1"/>
              <a:t>Origin </a:t>
            </a:r>
            <a:r>
              <a:rPr lang="en-US" sz="1600"/>
              <a:t>- an offset for the geometry so it doesn’t need to be centred around the link origin</a:t>
            </a:r>
          </a:p>
          <a:p>
            <a:pPr marL="906145" lvl="1" indent="-342900"/>
            <a:r>
              <a:rPr lang="en-US" sz="1600" b="1" i="1"/>
              <a:t>Material</a:t>
            </a:r>
            <a:r>
              <a:rPr lang="en-US" sz="1600"/>
              <a:t> - Basically, the colour. </a:t>
            </a:r>
          </a:p>
          <a:p>
            <a:pPr marL="631825" indent="-342900"/>
            <a:r>
              <a:rPr lang="en-US" sz="2000" b="1">
                <a:solidFill>
                  <a:srgbClr val="0070C0"/>
                </a:solidFill>
              </a:rPr>
              <a:t>Inertial</a:t>
            </a:r>
            <a:r>
              <a:rPr lang="en-US" sz="2000"/>
              <a:t> - used for physics calculations, but determines how the link responds to forces. </a:t>
            </a:r>
          </a:p>
          <a:p>
            <a:pPr marL="906145" lvl="1" indent="-342900"/>
            <a:r>
              <a:rPr lang="en-US" sz="1600" b="1" i="1"/>
              <a:t>Mass</a:t>
            </a:r>
            <a:r>
              <a:rPr lang="en-US" sz="1600"/>
              <a:t> - Mass of the link</a:t>
            </a:r>
          </a:p>
          <a:p>
            <a:pPr marL="906145" lvl="1" indent="-342900"/>
            <a:r>
              <a:rPr lang="en-US" sz="1600" b="1" i="1"/>
              <a:t>Origin</a:t>
            </a:r>
            <a:r>
              <a:rPr lang="en-US" sz="1600"/>
              <a:t> - The centre of mass (a.k.a centre of gravity). </a:t>
            </a:r>
          </a:p>
          <a:p>
            <a:pPr marL="906145" lvl="1" indent="-342900"/>
            <a:r>
              <a:rPr lang="en-US" sz="1600" b="1" i="1"/>
              <a:t>Inertia</a:t>
            </a:r>
            <a:r>
              <a:rPr lang="en-US" sz="1600"/>
              <a:t> - The rotational inertia matrix.It describes how the distribution of the mass will affect rotation.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98C64-6B3B-5A20-6950-3DC49C1D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7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63C55C9-86DE-4F63-3812-28B17E773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6896" y="812006"/>
            <a:ext cx="2568321" cy="142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9EE132-E758-8D97-53DE-4BA5FD2EE001}"/>
              </a:ext>
            </a:extLst>
          </p:cNvPr>
          <p:cNvSpPr/>
          <p:nvPr/>
        </p:nvSpPr>
        <p:spPr>
          <a:xfrm>
            <a:off x="2133600" y="6396336"/>
            <a:ext cx="28669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/>
              <a:t>More detail</a:t>
            </a:r>
            <a:endParaRPr lang="en-US" sz="1200" b="1" i="1" dirty="0">
              <a:hlinkClick r:id="rId3"/>
            </a:endParaRPr>
          </a:p>
          <a:p>
            <a:r>
              <a:rPr lang="en-US" sz="1200" i="1">
                <a:solidFill>
                  <a:srgbClr val="0099FF"/>
                </a:solidFill>
              </a:rPr>
              <a:t>http://wiki.ros.org/urdf/XML/link</a:t>
            </a:r>
            <a:endParaRPr lang="en-US" sz="11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A4FFBD-010E-0339-2480-ECA01486A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1" y="2692228"/>
            <a:ext cx="2971799" cy="3352644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0798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ACE66-DE11-34B5-130C-0358F3806A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Links and Joints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B7A4BF-B2E5-EA10-E1B0-702A91F90F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2" y="1487959"/>
            <a:ext cx="5638799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Links</a:t>
            </a:r>
          </a:p>
          <a:p>
            <a:pPr lvl="1"/>
            <a:r>
              <a:rPr lang="en-US" b="1" i="0">
                <a:solidFill>
                  <a:srgbClr val="0070C0"/>
                </a:solidFill>
                <a:effectLst/>
                <a:latin typeface="Merriweather"/>
              </a:rPr>
              <a:t>Collision</a:t>
            </a:r>
            <a:r>
              <a:rPr lang="en-US" b="0" i="0">
                <a:effectLst/>
                <a:latin typeface="Merriweather"/>
              </a:rPr>
              <a:t> - used for physics collision calculations. </a:t>
            </a:r>
          </a:p>
          <a:p>
            <a:pPr marL="742950" lvl="1" indent="-285750"/>
            <a:r>
              <a:rPr lang="en-US" sz="1600" b="1">
                <a:latin typeface="Merriweather"/>
              </a:rPr>
              <a:t>Geometry</a:t>
            </a:r>
            <a:r>
              <a:rPr lang="en-US" sz="1600">
                <a:latin typeface="Merriweather"/>
              </a:rPr>
              <a:t> and </a:t>
            </a:r>
            <a:r>
              <a:rPr lang="en-US" sz="1600" b="1">
                <a:latin typeface="Merriweather"/>
              </a:rPr>
              <a:t>Origin</a:t>
            </a:r>
            <a:r>
              <a:rPr lang="en-US" sz="1600">
                <a:latin typeface="Merriweather"/>
              </a:rPr>
              <a:t> - Same options as for visual. This will often be copy-pasted from the Visual tag.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98C64-6B3B-5A20-6950-3DC49C1D9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63C55C9-86DE-4F63-3812-28B17E773D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56896" y="812006"/>
            <a:ext cx="2568321" cy="14239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169EE132-E758-8D97-53DE-4BA5FD2EE001}"/>
              </a:ext>
            </a:extLst>
          </p:cNvPr>
          <p:cNvSpPr/>
          <p:nvPr/>
        </p:nvSpPr>
        <p:spPr>
          <a:xfrm>
            <a:off x="2133600" y="6396336"/>
            <a:ext cx="286693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b="1" i="1" dirty="0"/>
              <a:t>More detail</a:t>
            </a:r>
            <a:endParaRPr lang="en-US" sz="1200" b="1" i="1" dirty="0">
              <a:hlinkClick r:id="rId3"/>
            </a:endParaRPr>
          </a:p>
          <a:p>
            <a:r>
              <a:rPr lang="en-US" sz="1200" i="1">
                <a:solidFill>
                  <a:srgbClr val="0099FF"/>
                </a:solidFill>
              </a:rPr>
              <a:t>http://wiki.ros.org/urdf/XML/link</a:t>
            </a:r>
            <a:endParaRPr lang="en-US" sz="1100" i="1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5A4FFBD-010E-0339-2480-ECA01486AA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1" y="2692228"/>
            <a:ext cx="2971799" cy="3352644"/>
          </a:xfrm>
          <a:prstGeom prst="rect">
            <a:avLst/>
          </a:prstGeom>
          <a:solidFill>
            <a:schemeClr val="accent2"/>
          </a:solidFill>
          <a:ln>
            <a:solidFill>
              <a:schemeClr val="tx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418846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72E9-8497-E026-AAF3-1E3FB31EC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Links and Joints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2070D-40A3-3B32-7F76-EA3780AD6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/>
              <a:t>Joints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F50E6-CAEE-4240-6ED5-CD2352966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55E334D-BB23-211C-E1DC-CBADFA89F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05201" y="1876426"/>
            <a:ext cx="5724525" cy="460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84028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72E9-8497-E026-AAF3-1E3FB31EC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Links and Joints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B2070D-40A3-3B32-7F76-EA3780AD60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Joints</a:t>
            </a:r>
            <a:r>
              <a:rPr lang="en-US"/>
              <a:t>: Each joint will need to have the following specified</a:t>
            </a:r>
          </a:p>
          <a:p>
            <a:pPr lvl="1"/>
            <a:r>
              <a:rPr lang="en-US" b="1">
                <a:solidFill>
                  <a:srgbClr val="0070C0"/>
                </a:solidFill>
              </a:rPr>
              <a:t>Name</a:t>
            </a:r>
            <a:r>
              <a:rPr lang="en-US">
                <a:solidFill>
                  <a:srgbClr val="0070C0"/>
                </a:solidFill>
              </a:rPr>
              <a:t> </a:t>
            </a:r>
            <a:r>
              <a:rPr lang="en-US"/>
              <a:t>- A name for the joint. </a:t>
            </a:r>
          </a:p>
          <a:p>
            <a:pPr lvl="1"/>
            <a:r>
              <a:rPr lang="en-US" b="1">
                <a:solidFill>
                  <a:srgbClr val="0070C0"/>
                </a:solidFill>
              </a:rPr>
              <a:t>Type</a:t>
            </a:r>
            <a:r>
              <a:rPr lang="en-US"/>
              <a:t> - joint type, the four most popular being fixed, prismatic, revolute, and continuous.</a:t>
            </a:r>
          </a:p>
          <a:p>
            <a:pPr lvl="1"/>
            <a:r>
              <a:rPr lang="en-US" b="1">
                <a:solidFill>
                  <a:srgbClr val="0070C0"/>
                </a:solidFill>
              </a:rPr>
              <a:t>Parent and child links </a:t>
            </a:r>
            <a:r>
              <a:rPr lang="en-US"/>
              <a:t>- Which links this joint defines a relationship between</a:t>
            </a:r>
          </a:p>
          <a:p>
            <a:pPr lvl="1"/>
            <a:r>
              <a:rPr lang="en-US" b="1">
                <a:solidFill>
                  <a:srgbClr val="0070C0"/>
                </a:solidFill>
              </a:rPr>
              <a:t>Origin</a:t>
            </a:r>
            <a:r>
              <a:rPr lang="en-US"/>
              <a:t> - The relationship between the two links, before any motion is applied</a:t>
            </a:r>
          </a:p>
          <a:p>
            <a:pPr lvl="1"/>
            <a:r>
              <a:rPr lang="en-US" b="1" i="0">
                <a:solidFill>
                  <a:srgbClr val="0070C0"/>
                </a:solidFill>
                <a:effectLst/>
                <a:latin typeface="Merriweather"/>
              </a:rPr>
              <a:t>Axis</a:t>
            </a:r>
            <a:r>
              <a:rPr lang="en-US" b="0" i="0">
                <a:effectLst/>
                <a:latin typeface="Merriweather"/>
              </a:rPr>
              <a:t> - Which axis to move along or around</a:t>
            </a:r>
          </a:p>
          <a:p>
            <a:pPr lvl="1"/>
            <a:r>
              <a:rPr lang="en-US" b="1" i="0">
                <a:solidFill>
                  <a:srgbClr val="0070C0"/>
                </a:solidFill>
                <a:effectLst/>
                <a:latin typeface="Merriweather"/>
              </a:rPr>
              <a:t>Limits</a:t>
            </a:r>
            <a:r>
              <a:rPr lang="en-US" b="0" i="0">
                <a:effectLst/>
                <a:latin typeface="Merriweather"/>
              </a:rPr>
              <a:t> - Physical actuation limits, which may be expected by other parts of the system. These can include:</a:t>
            </a:r>
          </a:p>
          <a:p>
            <a:pPr marL="742950" lvl="1" indent="-285750"/>
            <a:r>
              <a:rPr lang="en-US" b="1" i="0">
                <a:effectLst/>
                <a:latin typeface="Merriweather"/>
              </a:rPr>
              <a:t>Upper</a:t>
            </a:r>
            <a:r>
              <a:rPr lang="en-US" b="0" i="0">
                <a:effectLst/>
                <a:latin typeface="Merriweather"/>
              </a:rPr>
              <a:t> and </a:t>
            </a:r>
            <a:r>
              <a:rPr lang="en-US" b="1" i="0">
                <a:effectLst/>
                <a:latin typeface="Merriweather"/>
              </a:rPr>
              <a:t>Lower</a:t>
            </a:r>
            <a:r>
              <a:rPr lang="en-US" b="0" i="0">
                <a:effectLst/>
                <a:latin typeface="Merriweather"/>
              </a:rPr>
              <a:t> position limits - in metres/radians</a:t>
            </a:r>
          </a:p>
          <a:p>
            <a:pPr marL="742950" lvl="1" indent="-285750"/>
            <a:r>
              <a:rPr lang="en-US" b="1" i="0">
                <a:effectLst/>
                <a:latin typeface="Merriweather"/>
              </a:rPr>
              <a:t>Velocity</a:t>
            </a:r>
            <a:r>
              <a:rPr lang="en-US" b="0" i="0">
                <a:effectLst/>
                <a:latin typeface="Merriweather"/>
              </a:rPr>
              <a:t> limits - in m/s or rad/s</a:t>
            </a:r>
          </a:p>
          <a:p>
            <a:pPr marL="742950" lvl="1" indent="-285750"/>
            <a:r>
              <a:rPr lang="en-US" b="1" i="0">
                <a:effectLst/>
                <a:latin typeface="Merriweather"/>
              </a:rPr>
              <a:t>Effort</a:t>
            </a:r>
            <a:r>
              <a:rPr lang="en-US" b="0" i="0">
                <a:effectLst/>
                <a:latin typeface="Merriweather"/>
              </a:rPr>
              <a:t> limits - in N or Nm</a:t>
            </a:r>
          </a:p>
          <a:p>
            <a:pPr lvl="1"/>
            <a:endParaRPr lang="en-US"/>
          </a:p>
          <a:p>
            <a:pPr lvl="1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F50E6-CAEE-4240-6ED5-CD2352966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6374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F672E9-8497-E026-AAF3-1E3FB31EC4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Links and Joints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BF50E6-CAEE-4240-6ED5-CD2352966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01B899E-C108-1F92-5F52-6B01934864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709123"/>
            <a:ext cx="7848600" cy="2202313"/>
          </a:xfrm>
          <a:prstGeom prst="rect">
            <a:avLst/>
          </a:prstGeom>
        </p:spPr>
      </p:pic>
      <p:pic>
        <p:nvPicPr>
          <p:cNvPr id="5123" name="Picture 3">
            <a:extLst>
              <a:ext uri="{FF2B5EF4-FFF2-40B4-BE49-F238E27FC236}">
                <a16:creationId xmlns:a16="http://schemas.microsoft.com/office/drawing/2014/main" id="{D088B5A2-956F-B83E-49D5-59D953E536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5600" y="993689"/>
            <a:ext cx="3074126" cy="28165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70765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62DD66-89C8-5319-5633-65360AA812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XML macro - </a:t>
            </a:r>
            <a:r>
              <a:rPr lang="en-US" b="1"/>
              <a:t>xacro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4888D5-7B62-426E-3352-AF419CE3A7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URDF is generally long and repeatitive</a:t>
            </a:r>
          </a:p>
          <a:p>
            <a:r>
              <a:rPr lang="en-US" b="1" i="0">
                <a:solidFill>
                  <a:srgbClr val="0070C0"/>
                </a:solidFill>
                <a:effectLst/>
                <a:latin typeface="Merriweather"/>
              </a:rPr>
              <a:t>Xacro</a:t>
            </a:r>
            <a:r>
              <a:rPr lang="en-US" b="0" i="0">
                <a:effectLst/>
                <a:latin typeface="Merriweather"/>
              </a:rPr>
              <a:t> lets us manipulate the URDF files easier by</a:t>
            </a:r>
          </a:p>
          <a:p>
            <a:pPr lvl="1"/>
            <a:r>
              <a:rPr lang="en-US"/>
              <a:t>splitting up code into multiple files</a:t>
            </a:r>
          </a:p>
          <a:p>
            <a:pPr lvl="1"/>
            <a:r>
              <a:rPr lang="en-US" b="0" i="0">
                <a:effectLst/>
                <a:latin typeface="Merriweather"/>
              </a:rPr>
              <a:t>avoiding duplicate code</a:t>
            </a:r>
          </a:p>
          <a:p>
            <a:pPr lvl="1"/>
            <a:r>
              <a:rPr lang="en-US">
                <a:latin typeface="Merriweather"/>
              </a:rPr>
              <a:t>Declaring properties</a:t>
            </a:r>
          </a:p>
          <a:p>
            <a:pPr lvl="1"/>
            <a:endParaRPr lang="en-US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1B11A2-9CED-C0D7-FA71-8248EF360F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6146" name="Picture 2" descr="Running xacro">
            <a:extLst>
              <a:ext uri="{FF2B5EF4-FFF2-40B4-BE49-F238E27FC236}">
                <a16:creationId xmlns:a16="http://schemas.microsoft.com/office/drawing/2014/main" id="{5A77C6D4-25C6-CE82-88FA-8A232A82C4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05001" y="3124201"/>
            <a:ext cx="8058665" cy="2961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897671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80D24-33AB-B9EA-E79F-F27B3519B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4E078-956E-59FF-1BB3-3246B252CD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Create URDF for a differential drive robot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7EF44E-AFEB-97AB-B686-4F82FFFB4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7170" name="Picture 2" descr="Schematic of a differential-drive mobile robot equipped with a... |  Download Scientific Diagram">
            <a:extLst>
              <a:ext uri="{FF2B5EF4-FFF2-40B4-BE49-F238E27FC236}">
                <a16:creationId xmlns:a16="http://schemas.microsoft.com/office/drawing/2014/main" id="{B8C5C757-AA9A-7B47-E555-37F33FA602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8600" y="2209800"/>
            <a:ext cx="4382382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2849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CED08A-8D13-5186-19B9-651A9316FC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4D6FA-94F1-6E02-9DC9-F5817BA3C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9C6354-8ACC-0502-2990-515AFDEB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E08EB0-55CD-E889-8E6D-48040B169D95}"/>
              </a:ext>
            </a:extLst>
          </p:cNvPr>
          <p:cNvSpPr/>
          <p:nvPr/>
        </p:nvSpPr>
        <p:spPr>
          <a:xfrm>
            <a:off x="2541181" y="2967335"/>
            <a:ext cx="7109639" cy="175432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Simulation the robot </a:t>
            </a:r>
          </a:p>
          <a:p>
            <a:pPr algn="ctr"/>
            <a:r>
              <a:rPr lang="en-US" sz="5400" b="1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in Gazebo</a:t>
            </a:r>
          </a:p>
        </p:txBody>
      </p:sp>
    </p:spTree>
    <p:extLst>
      <p:ext uri="{BB962C8B-B14F-4D97-AF65-F5344CB8AC3E}">
        <p14:creationId xmlns:p14="http://schemas.microsoft.com/office/powerpoint/2010/main" val="37456647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C4DDE-F336-E55E-B9FF-6EB81865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Gazebo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36C5E-2648-A4F3-C1F2-251AEFB79A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Gazebo is a leader in robot simulation, created in 2002 </a:t>
            </a:r>
          </a:p>
          <a:p>
            <a:r>
              <a:rPr lang="en-US"/>
              <a:t>Official website: </a:t>
            </a:r>
            <a:r>
              <a:rPr lang="en-US" i="1">
                <a:hlinkClick r:id="rId2"/>
              </a:rPr>
              <a:t>https://gazebosim.org/</a:t>
            </a:r>
            <a:endParaRPr lang="en-US" i="1"/>
          </a:p>
          <a:p>
            <a:endParaRPr lang="en-US" i="1"/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FA3CA-8D3F-62E9-C429-F52F791E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578DB20-9C07-15E0-E729-36F52E4D8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2601" y="2667001"/>
            <a:ext cx="8865215" cy="2938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55314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AC4DDE-F336-E55E-B9FF-6EB8186567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Gazebo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36C5E-2648-A4F3-C1F2-251AEFB79A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81200" y="1600200"/>
            <a:ext cx="4495800" cy="4876800"/>
          </a:xfrm>
        </p:spPr>
        <p:txBody>
          <a:bodyPr>
            <a:normAutofit lnSpcReduction="10000"/>
          </a:bodyPr>
          <a:lstStyle/>
          <a:p>
            <a:r>
              <a:rPr lang="en-US"/>
              <a:t>Gazebo is a 3D simulator with the ability to</a:t>
            </a:r>
          </a:p>
          <a:p>
            <a:pPr lvl="1"/>
            <a:r>
              <a:rPr lang="en-US"/>
              <a:t>accurately and efficiently simulate robots, sensors, and objects in a 3-D dynamic environment</a:t>
            </a:r>
          </a:p>
          <a:p>
            <a:pPr lvl="1"/>
            <a:r>
              <a:rPr lang="en-US"/>
              <a:t>Generates realistic sensor feedback and physical interactions between objects</a:t>
            </a:r>
          </a:p>
          <a:p>
            <a:r>
              <a:rPr lang="en-US"/>
              <a:t>Why simulation?</a:t>
            </a:r>
          </a:p>
          <a:p>
            <a:pPr lvl="1"/>
            <a:r>
              <a:rPr lang="en-US"/>
              <a:t>Save time and your sanity</a:t>
            </a:r>
          </a:p>
          <a:p>
            <a:pPr lvl="1"/>
            <a:r>
              <a:rPr lang="en-US"/>
              <a:t>Experimentation much less destructive</a:t>
            </a:r>
          </a:p>
          <a:p>
            <a:pPr lvl="1"/>
            <a:r>
              <a:rPr lang="en-US"/>
              <a:t>Use hardware you don’t have</a:t>
            </a:r>
          </a:p>
          <a:p>
            <a:pPr lvl="1"/>
            <a:r>
              <a:rPr lang="en-US"/>
              <a:t>Create really cool videos</a:t>
            </a:r>
          </a:p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FA3CA-8D3F-62E9-C429-F52F791E8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6959B4-5A0D-C2F0-1706-A5492DFC42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5600" y="1905000"/>
            <a:ext cx="3831416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68653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780C-CB29-79D5-DC5B-28625765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Elements in Gazebo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4AB3-9E05-CB42-2AEA-109592BEC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0" y="1600200"/>
            <a:ext cx="4800600" cy="487680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World</a:t>
            </a:r>
          </a:p>
          <a:p>
            <a:pPr lvl="1"/>
            <a:r>
              <a:rPr lang="en-US"/>
              <a:t>A world is composed of a model hierarchy</a:t>
            </a:r>
          </a:p>
          <a:p>
            <a:pPr lvl="1"/>
            <a:r>
              <a:rPr lang="en-US"/>
              <a:t>The Gazebo server reads the world file to generate and populate a world</a:t>
            </a:r>
          </a:p>
          <a:p>
            <a:pPr lvl="1"/>
            <a:r>
              <a:rPr lang="en-US"/>
              <a:t>World file:</a:t>
            </a:r>
          </a:p>
          <a:p>
            <a:pPr lvl="2"/>
            <a:r>
              <a:rPr lang="en-US"/>
              <a:t>Has “.world” extension</a:t>
            </a:r>
          </a:p>
          <a:p>
            <a:pPr lvl="2"/>
            <a:r>
              <a:rPr lang="en-US"/>
              <a:t>Contains all the elements in a simulation, including scene, robots, lights, sensors, and static objects </a:t>
            </a:r>
          </a:p>
          <a:p>
            <a:pPr lvl="1"/>
            <a:r>
              <a:rPr lang="en-US"/>
              <a:t>Build a world:</a:t>
            </a:r>
          </a:p>
          <a:p>
            <a:pPr marL="274320" lvl="1" indent="0">
              <a:buNone/>
            </a:pPr>
            <a:r>
              <a:rPr lang="en-US"/>
              <a:t> </a:t>
            </a:r>
            <a:r>
              <a:rPr lang="en-US" sz="1400" i="1">
                <a:solidFill>
                  <a:srgbClr val="0070C0"/>
                </a:solidFill>
              </a:rPr>
              <a:t>https://classic.gazebosim.org/tutorials?tut=build_world</a:t>
            </a:r>
          </a:p>
          <a:p>
            <a:endParaRPr lang="en-US" b="1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5E1A5-0031-DA52-5500-DC38A0A2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4810E-DF21-3204-0FA4-FD80D0097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821292"/>
            <a:ext cx="3429000" cy="4715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89601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780C-CB29-79D5-DC5B-28625765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Elements in Gazebo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4AB3-9E05-CB42-2AEA-109592BEC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0" y="1600200"/>
            <a:ext cx="4800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Model</a:t>
            </a:r>
          </a:p>
          <a:p>
            <a:pPr lvl="1"/>
            <a:r>
              <a:rPr lang="en-US"/>
              <a:t>Model is a collection of links, joints,sensors, and plugins</a:t>
            </a:r>
          </a:p>
          <a:p>
            <a:pPr lvl="1"/>
            <a:r>
              <a:rPr lang="en-US"/>
              <a:t>Model is defined using formatted using </a:t>
            </a:r>
            <a:r>
              <a:rPr lang="en-US" b="1" i="1">
                <a:solidFill>
                  <a:srgbClr val="0070C0"/>
                </a:solidFill>
              </a:rPr>
              <a:t>SDF</a:t>
            </a:r>
            <a:r>
              <a:rPr lang="en-US"/>
              <a:t> (Simulation Description format) or </a:t>
            </a:r>
            <a:r>
              <a:rPr lang="en-US" b="1" i="1">
                <a:solidFill>
                  <a:srgbClr val="0070C0"/>
                </a:solidFill>
              </a:rPr>
              <a:t>URDF</a:t>
            </a:r>
            <a:r>
              <a:rPr lang="en-US"/>
              <a:t> (Unified Robot Description Format)</a:t>
            </a:r>
          </a:p>
          <a:p>
            <a:pPr lvl="1"/>
            <a:r>
              <a:rPr lang="en-US"/>
              <a:t>Each model contains a few key properties:</a:t>
            </a:r>
          </a:p>
          <a:p>
            <a:pPr lvl="2"/>
            <a:r>
              <a:rPr lang="en-US"/>
              <a:t>Physical properties: visual, kinematics, dynamics, appearance</a:t>
            </a:r>
          </a:p>
          <a:p>
            <a:pPr lvl="2"/>
            <a:r>
              <a:rPr lang="en-US"/>
              <a:t>Control and feedback interfaces (libgazebo)</a:t>
            </a:r>
          </a:p>
          <a:p>
            <a:pPr lvl="1"/>
            <a:r>
              <a:rPr lang="en-US"/>
              <a:t>Create SDF from URDF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5E1A5-0031-DA52-5500-DC38A0A2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18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4810E-DF21-3204-0FA4-FD80D0097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821292"/>
            <a:ext cx="3429000" cy="47157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2691013-A340-99D1-99E7-7908CEA674E8}"/>
              </a:ext>
            </a:extLst>
          </p:cNvPr>
          <p:cNvSpPr txBox="1"/>
          <p:nvPr/>
        </p:nvSpPr>
        <p:spPr>
          <a:xfrm>
            <a:off x="6096000" y="617071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rgbClr val="0070C0"/>
                </a:solidFill>
              </a:rPr>
              <a:t>https://classic.gazebosim.org/tutorials?tut=ros_urdf</a:t>
            </a:r>
          </a:p>
        </p:txBody>
      </p:sp>
    </p:spTree>
    <p:extLst>
      <p:ext uri="{BB962C8B-B14F-4D97-AF65-F5344CB8AC3E}">
        <p14:creationId xmlns:p14="http://schemas.microsoft.com/office/powerpoint/2010/main" val="20269013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780C-CB29-79D5-DC5B-28625765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Elements in Gazebo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4AB3-9E05-CB42-2AEA-109592BEC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0" y="1600200"/>
            <a:ext cx="4800600" cy="4876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/>
              <a:t>Plugin</a:t>
            </a:r>
          </a:p>
          <a:p>
            <a:pPr lvl="1"/>
            <a:r>
              <a:rPr lang="en-US"/>
              <a:t>Gazebo plugins give your URDF models greater functionality</a:t>
            </a:r>
          </a:p>
          <a:p>
            <a:pPr lvl="2"/>
            <a:r>
              <a:rPr lang="en-US"/>
              <a:t>Return sensor values</a:t>
            </a:r>
          </a:p>
          <a:p>
            <a:pPr lvl="2"/>
            <a:r>
              <a:rPr lang="en-US"/>
              <a:t>Control motors</a:t>
            </a:r>
          </a:p>
          <a:p>
            <a:pPr lvl="1"/>
            <a:r>
              <a:rPr lang="en-US"/>
              <a:t>Types of plugin:</a:t>
            </a:r>
          </a:p>
          <a:p>
            <a:pPr lvl="2"/>
            <a:r>
              <a:rPr lang="en-US"/>
              <a:t>ModelPlugins</a:t>
            </a:r>
          </a:p>
          <a:p>
            <a:pPr lvl="2"/>
            <a:r>
              <a:rPr lang="en-US"/>
              <a:t>SensorPlugins</a:t>
            </a:r>
          </a:p>
          <a:p>
            <a:pPr lvl="2"/>
            <a:r>
              <a:rPr lang="en-US"/>
              <a:t>VisualPlugins</a:t>
            </a:r>
          </a:p>
          <a:p>
            <a:pPr lvl="1"/>
            <a:r>
              <a:rPr lang="en-US"/>
              <a:t>More detail:</a:t>
            </a:r>
          </a:p>
          <a:p>
            <a:pPr marL="274320" lvl="1" indent="0"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5E1A5-0031-DA52-5500-DC38A0A2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19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4810E-DF21-3204-0FA4-FD80D0097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821292"/>
            <a:ext cx="3429000" cy="47157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A2DF8D9-5E97-4F6A-6590-6FA06F9684DA}"/>
              </a:ext>
            </a:extLst>
          </p:cNvPr>
          <p:cNvSpPr txBox="1"/>
          <p:nvPr/>
        </p:nvSpPr>
        <p:spPr>
          <a:xfrm>
            <a:off x="6070121" y="5039380"/>
            <a:ext cx="388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rgbClr val="0070C0"/>
                </a:solidFill>
              </a:rPr>
              <a:t>https://classic.gazebosim.org/tutorials?tut=ros_gzplugins</a:t>
            </a:r>
          </a:p>
        </p:txBody>
      </p:sp>
    </p:spTree>
    <p:extLst>
      <p:ext uri="{BB962C8B-B14F-4D97-AF65-F5344CB8AC3E}">
        <p14:creationId xmlns:p14="http://schemas.microsoft.com/office/powerpoint/2010/main" val="36220607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9780C-CB29-79D5-DC5B-286257652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Elements in Gazebo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234AB3-9E05-CB42-2AEA-109592BEC8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10200" y="1600200"/>
            <a:ext cx="4800600" cy="4876800"/>
          </a:xfrm>
        </p:spPr>
        <p:txBody>
          <a:bodyPr/>
          <a:lstStyle/>
          <a:p>
            <a:pPr marL="0" indent="0">
              <a:buNone/>
            </a:pPr>
            <a:r>
              <a:rPr lang="en-US" b="1"/>
              <a:t>Sensor</a:t>
            </a:r>
          </a:p>
          <a:p>
            <a:pPr lvl="1"/>
            <a:r>
              <a:rPr lang="en-US"/>
              <a:t>Collect, process, and output sensor data</a:t>
            </a:r>
          </a:p>
          <a:p>
            <a:pPr lvl="1"/>
            <a:r>
              <a:rPr lang="en-US"/>
              <a:t>Types of sensor:	</a:t>
            </a:r>
          </a:p>
          <a:p>
            <a:pPr lvl="2"/>
            <a:r>
              <a:rPr lang="en-US"/>
              <a:t>Ray sensor: produces distance data</a:t>
            </a:r>
          </a:p>
          <a:p>
            <a:pPr lvl="2"/>
            <a:r>
              <a:rPr lang="en-US"/>
              <a:t>Camera (2D and 3D): produces image and/or depth data</a:t>
            </a:r>
          </a:p>
          <a:p>
            <a:pPr lvl="2"/>
            <a:r>
              <a:rPr lang="en-US"/>
              <a:t>Contact: produces collision data</a:t>
            </a:r>
          </a:p>
          <a:p>
            <a:pPr lvl="2"/>
            <a:r>
              <a:rPr lang="en-US"/>
              <a:t>RFID: detects RFID tags</a:t>
            </a:r>
          </a:p>
          <a:p>
            <a:pPr lvl="2"/>
            <a:r>
              <a:rPr lang="en-US"/>
              <a:t>IMU: produce Inertial Motion Unit data</a:t>
            </a:r>
          </a:p>
          <a:p>
            <a:pPr lvl="1"/>
            <a:r>
              <a:rPr lang="en-US"/>
              <a:t>Example: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C5E1A5-0031-DA52-5500-DC38A0A29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57FE44-DABC-424D-A234-74BB9410FF27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44810E-DF21-3204-0FA4-FD80D00974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5000" y="1821292"/>
            <a:ext cx="3429000" cy="471575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18AA030-0CFA-3A23-8D6A-1B3E384A0142}"/>
              </a:ext>
            </a:extLst>
          </p:cNvPr>
          <p:cNvSpPr txBox="1"/>
          <p:nvPr/>
        </p:nvSpPr>
        <p:spPr>
          <a:xfrm>
            <a:off x="6096000" y="5410200"/>
            <a:ext cx="3886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i="1">
                <a:solidFill>
                  <a:srgbClr val="0070C0"/>
                </a:solidFill>
              </a:rPr>
              <a:t>https://classic.gazebosim.org/tutorials?tut=ros_gzplugins</a:t>
            </a:r>
          </a:p>
        </p:txBody>
      </p:sp>
    </p:spTree>
    <p:extLst>
      <p:ext uri="{BB962C8B-B14F-4D97-AF65-F5344CB8AC3E}">
        <p14:creationId xmlns:p14="http://schemas.microsoft.com/office/powerpoint/2010/main" val="27669304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5540</TotalTime>
  <Words>895</Words>
  <Application>Microsoft Office PowerPoint</Application>
  <PresentationFormat>Widescreen</PresentationFormat>
  <Paragraphs>144</Paragraphs>
  <Slides>20</Slides>
  <Notes>2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Merriweather</vt:lpstr>
      <vt:lpstr>Clarity</vt:lpstr>
      <vt:lpstr>  Robot Operating system Define your robot</vt:lpstr>
      <vt:lpstr>Define your robot</vt:lpstr>
      <vt:lpstr>URDF - Unified Robot Description Format</vt:lpstr>
      <vt:lpstr>URDF Components</vt:lpstr>
      <vt:lpstr>Links and Joints</vt:lpstr>
      <vt:lpstr>Links and Joints</vt:lpstr>
      <vt:lpstr>Links and Joints</vt:lpstr>
      <vt:lpstr>Links and Joints</vt:lpstr>
      <vt:lpstr>Links and Joints</vt:lpstr>
      <vt:lpstr>Links and Joints</vt:lpstr>
      <vt:lpstr>Links and Joints</vt:lpstr>
      <vt:lpstr>XML macro - xacro</vt:lpstr>
      <vt:lpstr>Exercise</vt:lpstr>
      <vt:lpstr>PowerPoint Presentation</vt:lpstr>
      <vt:lpstr>Gazebo</vt:lpstr>
      <vt:lpstr>Gazebo</vt:lpstr>
      <vt:lpstr>Elements in Gazebo</vt:lpstr>
      <vt:lpstr>Elements in Gazebo</vt:lpstr>
      <vt:lpstr>Elements in Gazebo</vt:lpstr>
      <vt:lpstr>Elements in Gazebo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Thực tập vi điều khiển</dc:title>
  <dc:creator>haduc</dc:creator>
  <cp:lastModifiedBy>duc b</cp:lastModifiedBy>
  <cp:revision>606</cp:revision>
  <dcterms:created xsi:type="dcterms:W3CDTF">2015-08-30T01:38:28Z</dcterms:created>
  <dcterms:modified xsi:type="dcterms:W3CDTF">2026-02-03T05:13:00Z</dcterms:modified>
</cp:coreProperties>
</file>