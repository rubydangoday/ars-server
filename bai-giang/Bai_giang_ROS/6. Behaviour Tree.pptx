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sldIdLst>
    <p:sldId id="256" r:id="rId2"/>
    <p:sldId id="314" r:id="rId3"/>
    <p:sldId id="311" r:id="rId4"/>
    <p:sldId id="313" r:id="rId5"/>
    <p:sldId id="310" r:id="rId6"/>
    <p:sldId id="316" r:id="rId7"/>
    <p:sldId id="317" r:id="rId8"/>
    <p:sldId id="319" r:id="rId9"/>
    <p:sldId id="315" r:id="rId10"/>
    <p:sldId id="321" r:id="rId11"/>
    <p:sldId id="322" r:id="rId12"/>
    <p:sldId id="320" r:id="rId13"/>
    <p:sldId id="323" r:id="rId14"/>
    <p:sldId id="32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5F33"/>
    <a:srgbClr val="FF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2596" autoAdjust="0"/>
  </p:normalViewPr>
  <p:slideViewPr>
    <p:cSldViewPr>
      <p:cViewPr varScale="1">
        <p:scale>
          <a:sx n="73" d="100"/>
          <a:sy n="73" d="100"/>
        </p:scale>
        <p:origin x="72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33C2-6F37-4DE9-AAF9-8ABC356AE65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E4680-6E9A-445B-9304-F7D1A27E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94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61BE-7EE5-473D-84A7-4C53642E76F3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51FE-9C5E-464A-AC70-6B909B40C014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01107"/>
            <a:ext cx="1422400" cy="329184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206D-CD87-417B-A3E9-8E7F517E463E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107-3B8C-4C3E-96B2-5FDE77B1A8A3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7A77-E7D0-4A81-9F27-235411449FDF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5E10-1A59-4CE8-9F8F-26909B2B45ED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69CF-71D8-44A8-A43E-06A522466198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0A33-8193-44AB-9CBE-84B62B603B98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72B2-C299-428F-9DB0-AF5E4D034999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CD9-E72D-423D-873E-C8701D4E51F3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19C6-978E-42A3-A0DA-A23B7AC47044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38B7AF6-6F47-4FBA-B77D-1A1AB60E82CA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48131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vn/url?sa=i&amp;rct=j&amp;q=&amp;esrc=s&amp;source=images&amp;cd=&amp;cad=rja&amp;uact=8&amp;ved=0CAcQjRxqFQoTCOa4gpvXz8cCFU-ejgodsSsIRA&amp;url=http://spikeex.deviantart.com/art/Microchip-Tattoo-Design-1-42179858&amp;ei=31_iVaZNz7y6BLHXoKAE&amp;psig=AFQjCNF-y2BM98GH0MilH1ajH4XNM5xsRQ&amp;ust=144098539350373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g02.deviantart.net/aaac/i/2006/302/3/0/microchip_tattoo_design_1_by_spikeex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535251"/>
            <a:ext cx="3322748" cy="332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b="1" dirty="0"/>
            </a:br>
            <a:r>
              <a:rPr lang="en-US" b="1" dirty="0"/>
              <a:t>Robot Operating system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Behavior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Lecturer: Dr. Bui Ha Duc</a:t>
            </a:r>
          </a:p>
          <a:p>
            <a:r>
              <a:rPr lang="en-US" dirty="0"/>
              <a:t>Dept. of Mechatronics</a:t>
            </a:r>
          </a:p>
          <a:p>
            <a:r>
              <a:rPr lang="en-US" dirty="0"/>
              <a:t>Email: ducbh@hcmute.edu.vn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1066800" cy="329184"/>
          </a:xfrm>
        </p:spPr>
        <p:txBody>
          <a:bodyPr/>
          <a:lstStyle/>
          <a:p>
            <a:fld id="{3957FE44-DABC-424D-A234-74BB9410FF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3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2084-0E96-FE7D-011C-A7BEFF69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Decision making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7A175-5BDF-7CB0-0989-CD8B3B8A7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Problem: </a:t>
            </a:r>
          </a:p>
          <a:p>
            <a:r>
              <a:rPr lang="en-US" dirty="0"/>
              <a:t>Given a situation and set of possible actions to execute, which of the possible actions is the best?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812E9-BBF4-027E-445F-87DD29ED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B057A-2D09-0C8C-E6D7-A24E23F77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102" y="3048000"/>
            <a:ext cx="4781796" cy="337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08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0860-A7AB-CBF0-8DED-7407BBB0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Switching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E0A6-5831-7EE4-282D-31306948F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Task Switching Structure </a:t>
            </a:r>
            <a:r>
              <a:rPr lang="en-US" dirty="0"/>
              <a:t>is framework that decides which task to run given a set of available actions and changing environment conditions</a:t>
            </a:r>
          </a:p>
          <a:p>
            <a:pPr lvl="1"/>
            <a:r>
              <a:rPr lang="en-US" dirty="0"/>
              <a:t>When a and what action do we switch</a:t>
            </a:r>
          </a:p>
          <a:p>
            <a:r>
              <a:rPr lang="en-US" dirty="0"/>
              <a:t>Traditional method: FSM – Finite State Machines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F37AD-5138-A41E-A3DB-2244A0E9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6DF20-F3DF-C82D-0A20-3F3C21F55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344327"/>
            <a:ext cx="4289622" cy="2963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EF2E65-3CF1-043C-2961-C5ED41E83C97}"/>
              </a:ext>
            </a:extLst>
          </p:cNvPr>
          <p:cNvSpPr txBox="1"/>
          <p:nvPr/>
        </p:nvSpPr>
        <p:spPr>
          <a:xfrm>
            <a:off x="4648200" y="6316441"/>
            <a:ext cx="441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727272"/>
                </a:solidFill>
                <a:effectLst/>
                <a:latin typeface="Noto Sans"/>
              </a:rPr>
              <a:t>FSM Example for Cleaning robot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C8B32-F63C-08A4-CA19-CD2F85B92DF2}"/>
              </a:ext>
            </a:extLst>
          </p:cNvPr>
          <p:cNvSpPr txBox="1"/>
          <p:nvPr/>
        </p:nvSpPr>
        <p:spPr>
          <a:xfrm>
            <a:off x="1676400" y="4419600"/>
            <a:ext cx="236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Noto Sans"/>
              </a:rPr>
              <a:t>driving to the location of the item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3DDF8-5D6E-79D6-1653-98B70AAC8044}"/>
              </a:ext>
            </a:extLst>
          </p:cNvPr>
          <p:cNvSpPr txBox="1"/>
          <p:nvPr/>
        </p:nvSpPr>
        <p:spPr>
          <a:xfrm>
            <a:off x="3276600" y="5738193"/>
            <a:ext cx="220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Noto Sans"/>
              </a:rPr>
              <a:t>transports the item to its destination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34BDA6-6929-CBF6-0FDC-DA357552EB13}"/>
              </a:ext>
            </a:extLst>
          </p:cNvPr>
          <p:cNvSpPr txBox="1"/>
          <p:nvPr/>
        </p:nvSpPr>
        <p:spPr>
          <a:xfrm>
            <a:off x="8001000" y="3774009"/>
            <a:ext cx="1829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accent2">
                    <a:lumMod val="75000"/>
                  </a:schemeClr>
                </a:solidFill>
                <a:effectLst/>
                <a:latin typeface="Noto Sans"/>
              </a:rPr>
              <a:t>places the item at its destination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402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BD66-1F83-D056-6FE9-782839A3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Switching Structure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EB28DE-553B-CC93-CEB1-EFD7ADD2E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2200" y="1417099"/>
            <a:ext cx="4419600" cy="51716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8D1C2-FA6E-1BA4-BAFC-394FCFBD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E73C0-FF5C-9674-113E-C75A602D9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667000"/>
            <a:ext cx="4289622" cy="296399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122B2D8-B89E-66F1-60EC-58373FA85995}"/>
              </a:ext>
            </a:extLst>
          </p:cNvPr>
          <p:cNvSpPr/>
          <p:nvPr/>
        </p:nvSpPr>
        <p:spPr>
          <a:xfrm>
            <a:off x="5257800" y="3657600"/>
            <a:ext cx="6096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3863E7-9F60-A1FD-6BA3-4BCFE6B038DB}"/>
              </a:ext>
            </a:extLst>
          </p:cNvPr>
          <p:cNvSpPr txBox="1"/>
          <p:nvPr/>
        </p:nvSpPr>
        <p:spPr>
          <a:xfrm>
            <a:off x="852239" y="6001434"/>
            <a:ext cx="4872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FSMs</a:t>
            </a:r>
            <a:r>
              <a:rPr lang="en-US" dirty="0"/>
              <a:t> lack modularity, become less effective as tasks grow more complex</a:t>
            </a:r>
          </a:p>
        </p:txBody>
      </p:sp>
    </p:spTree>
    <p:extLst>
      <p:ext uri="{BB962C8B-B14F-4D97-AF65-F5344CB8AC3E}">
        <p14:creationId xmlns:p14="http://schemas.microsoft.com/office/powerpoint/2010/main" val="2693375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3EE3-9564-27A6-03FA-74DCF3CAE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Behavior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23A3-E975-0112-C332-596C8FDB1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553200" cy="5334000"/>
          </a:xfrm>
        </p:spPr>
        <p:txBody>
          <a:bodyPr>
            <a:normAutofit/>
          </a:bodyPr>
          <a:lstStyle/>
          <a:p>
            <a:r>
              <a:rPr lang="en-US" b="1" dirty="0"/>
              <a:t>Behavior Tree (BT) </a:t>
            </a:r>
            <a:r>
              <a:rPr lang="en-US" dirty="0"/>
              <a:t>is a </a:t>
            </a:r>
            <a:r>
              <a:rPr lang="en-US" b="1" dirty="0"/>
              <a:t>Task Switching structure</a:t>
            </a:r>
          </a:p>
          <a:p>
            <a:r>
              <a:rPr lang="en-US" b="1" dirty="0"/>
              <a:t>BT Advantages:</a:t>
            </a:r>
            <a:endParaRPr lang="en-US" dirty="0"/>
          </a:p>
          <a:p>
            <a:pPr lvl="1"/>
            <a:r>
              <a:rPr lang="en-US" b="1" dirty="0"/>
              <a:t>Graphical representation:</a:t>
            </a:r>
            <a:r>
              <a:rPr lang="en-US" dirty="0"/>
              <a:t> Easier to understand the overall decision process.</a:t>
            </a:r>
          </a:p>
          <a:p>
            <a:pPr lvl="1"/>
            <a:r>
              <a:rPr lang="en-US" b="1" dirty="0"/>
              <a:t>Modularity:</a:t>
            </a:r>
            <a:r>
              <a:rPr lang="en-US" dirty="0"/>
              <a:t> Sub-trees can be reused easily.</a:t>
            </a:r>
          </a:p>
          <a:p>
            <a:pPr lvl="1"/>
            <a:r>
              <a:rPr lang="en-GB" b="1" dirty="0"/>
              <a:t>Hierarchical structure</a:t>
            </a:r>
            <a:r>
              <a:rPr lang="en-GB" dirty="0"/>
              <a:t>: </a:t>
            </a:r>
            <a:r>
              <a:rPr lang="en-US" dirty="0"/>
              <a:t>Actions exist on many levels of detail </a:t>
            </a:r>
            <a:endParaRPr lang="en-US" b="1" dirty="0"/>
          </a:p>
          <a:p>
            <a:pPr lvl="1"/>
            <a:r>
              <a:rPr lang="en-US" b="1" dirty="0"/>
              <a:t>Reactivity:</a:t>
            </a:r>
            <a:r>
              <a:rPr lang="en-US" dirty="0"/>
              <a:t> Re-evaluated frequently, allowing fast reactions.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5AD62-8CD0-2B7D-2EDD-AA7C723BB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FBF17-5AF0-2316-1D4E-02507DE47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799816"/>
            <a:ext cx="4476980" cy="55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20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9858-0F73-C4E9-5958-1FAB1BF1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Behavior Tree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10315-A942-D2CF-42B7-D698CCDB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44B03D-9F5D-6220-F461-ADCA0348E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2200"/>
            <a:ext cx="3429000" cy="304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4896F3-65F7-A4B6-A9FB-8C428E18A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004427"/>
            <a:ext cx="7928925" cy="32576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00AD3C-4CCB-6CB8-60DB-0173FD2EF23C}"/>
              </a:ext>
            </a:extLst>
          </p:cNvPr>
          <p:cNvSpPr txBox="1"/>
          <p:nvPr/>
        </p:nvSpPr>
        <p:spPr>
          <a:xfrm>
            <a:off x="3352800" y="5867231"/>
            <a:ext cx="616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Usage of Behavior Tree and State Machine in Robotics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2A575-0D09-5112-BC9A-F26662C66383}"/>
              </a:ext>
            </a:extLst>
          </p:cNvPr>
          <p:cNvSpPr txBox="1"/>
          <p:nvPr/>
        </p:nvSpPr>
        <p:spPr>
          <a:xfrm>
            <a:off x="610340" y="6355040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0070C0"/>
                </a:solidFill>
              </a:rPr>
              <a:t>Source: https://arxiv.org/pdf/2208.04211</a:t>
            </a:r>
          </a:p>
        </p:txBody>
      </p:sp>
    </p:spTree>
    <p:extLst>
      <p:ext uri="{BB962C8B-B14F-4D97-AF65-F5344CB8AC3E}">
        <p14:creationId xmlns:p14="http://schemas.microsoft.com/office/powerpoint/2010/main" val="120091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8F04-2CA4-B658-13E8-9B066E4D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BT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3663C-EB55-8B90-5632-DE4D70F09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050" name="Picture 2" descr="Introduction to behavior trees - Robohub">
            <a:extLst>
              <a:ext uri="{FF2B5EF4-FFF2-40B4-BE49-F238E27FC236}">
                <a16:creationId xmlns:a16="http://schemas.microsoft.com/office/drawing/2014/main" id="{855736B5-F078-173A-460D-A9C440473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34875"/>
            <a:ext cx="8077200" cy="455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9A4C68-B546-C03F-E951-0E0D9423A334}"/>
              </a:ext>
            </a:extLst>
          </p:cNvPr>
          <p:cNvSpPr txBox="1"/>
          <p:nvPr/>
        </p:nvSpPr>
        <p:spPr>
          <a:xfrm>
            <a:off x="5486400" y="1371600"/>
            <a:ext cx="5257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Root</a:t>
            </a:r>
            <a:r>
              <a:rPr lang="en-US" sz="2000" b="1" dirty="0"/>
              <a:t>:</a:t>
            </a:r>
            <a:r>
              <a:rPr lang="en-US" sz="2000" dirty="0"/>
              <a:t> the starting point of the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Start the Logic (“tick” signal)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Has 1 direct child, usually a control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Receives a status back from its child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Success, Failure or Running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Pass status back to the main controller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120F18-6DA2-43A6-8E86-E8938BBE3A47}"/>
              </a:ext>
            </a:extLst>
          </p:cNvPr>
          <p:cNvCxnSpPr/>
          <p:nvPr/>
        </p:nvCxnSpPr>
        <p:spPr>
          <a:xfrm flipH="1">
            <a:off x="4876800" y="2209800"/>
            <a:ext cx="4572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162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4D450-F4D1-70A4-01F3-C66ECF8E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752D-24BE-EC67-EC20-D07C3A00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BT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51F11-EE2A-AA83-2036-7753A14FD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050" name="Picture 2" descr="Introduction to behavior trees - Robohub">
            <a:extLst>
              <a:ext uri="{FF2B5EF4-FFF2-40B4-BE49-F238E27FC236}">
                <a16:creationId xmlns:a16="http://schemas.microsoft.com/office/drawing/2014/main" id="{54ADBF56-A60E-D013-CDE8-634C8092D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34875"/>
            <a:ext cx="8077200" cy="455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D93C22-FB22-EA07-EB07-3D60C3DFC3FF}"/>
              </a:ext>
            </a:extLst>
          </p:cNvPr>
          <p:cNvSpPr txBox="1"/>
          <p:nvPr/>
        </p:nvSpPr>
        <p:spPr>
          <a:xfrm>
            <a:off x="6858000" y="1905000"/>
            <a:ext cx="5257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Nodes</a:t>
            </a:r>
            <a:r>
              <a:rPr lang="en-US" sz="2000" b="1" dirty="0"/>
              <a:t>:</a:t>
            </a:r>
            <a:r>
              <a:rPr lang="en-US" sz="2000" dirty="0"/>
              <a:t> perform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Types: Control, Decorator, Action and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Nodes are define in C++ by users/developers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Node don't pass arguments to each other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Parent node can only see its direct child / children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3DDB68C-BE3C-7E8E-F7FF-C132F483ADAF}"/>
              </a:ext>
            </a:extLst>
          </p:cNvPr>
          <p:cNvCxnSpPr>
            <a:cxnSpLocks/>
          </p:cNvCxnSpPr>
          <p:nvPr/>
        </p:nvCxnSpPr>
        <p:spPr>
          <a:xfrm flipH="1">
            <a:off x="4724400" y="2895600"/>
            <a:ext cx="1828800" cy="2286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5A97808-BB83-5122-B343-73E195F33C05}"/>
              </a:ext>
            </a:extLst>
          </p:cNvPr>
          <p:cNvCxnSpPr>
            <a:cxnSpLocks/>
          </p:cNvCxnSpPr>
          <p:nvPr/>
        </p:nvCxnSpPr>
        <p:spPr>
          <a:xfrm flipH="1">
            <a:off x="6400800" y="2895600"/>
            <a:ext cx="152400" cy="948392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15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0FE6-BCE2-EDD2-1396-0245A5D8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BT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A487E-1958-78AF-72DB-EAA500C12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781800" cy="4876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Control Nodes </a:t>
            </a:r>
            <a:r>
              <a:rPr lang="en-US" dirty="0"/>
              <a:t>– The Decision Makers</a:t>
            </a:r>
          </a:p>
          <a:p>
            <a:r>
              <a:rPr lang="en-US" dirty="0"/>
              <a:t>Can have one or more children</a:t>
            </a:r>
          </a:p>
          <a:p>
            <a:r>
              <a:rPr lang="en-US" dirty="0"/>
              <a:t>Return 3 status: Success, Failure, Running</a:t>
            </a:r>
          </a:p>
          <a:p>
            <a:r>
              <a:rPr lang="en-US" dirty="0">
                <a:solidFill>
                  <a:srgbClr val="0070C0"/>
                </a:solidFill>
              </a:rPr>
              <a:t>Sequence Nodes </a:t>
            </a:r>
            <a:r>
              <a:rPr lang="en-US" dirty="0"/>
              <a:t>(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): Runs children one by one, from left to right. If one fails, the whole sequence fails. It only succeeds if all children succeed.</a:t>
            </a:r>
          </a:p>
          <a:p>
            <a:r>
              <a:rPr lang="en-US" dirty="0">
                <a:solidFill>
                  <a:srgbClr val="0070C0"/>
                </a:solidFill>
              </a:rPr>
              <a:t>Fallback Nodes </a:t>
            </a:r>
            <a:r>
              <a:rPr lang="en-US" dirty="0"/>
              <a:t>(?): Runs children one by one, from left to right. If one succeeds, the node stops and returns success. It only fails if all children fail.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817F4-54DA-CF1A-8989-829EFFB3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2F2BB3-CB7A-8FB1-71CC-7AD167D92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66106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549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ADEA-C9A1-C9A9-3A9A-D59FEA76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CDBF9-EEA2-0297-EA78-ABD4833B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BT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37761-E599-3EBD-5612-EDBCCA8BC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6934200" cy="4876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Decorator Nodes </a:t>
            </a:r>
            <a:r>
              <a:rPr lang="en-US" dirty="0"/>
              <a:t>– the Modifiers</a:t>
            </a:r>
          </a:p>
          <a:p>
            <a:r>
              <a:rPr lang="en-US" dirty="0"/>
              <a:t>Have </a:t>
            </a:r>
            <a:r>
              <a:rPr lang="en-US" dirty="0">
                <a:solidFill>
                  <a:srgbClr val="FF0000"/>
                </a:solidFill>
              </a:rPr>
              <a:t>exactly one </a:t>
            </a:r>
            <a:r>
              <a:rPr lang="en-US" dirty="0"/>
              <a:t>child.</a:t>
            </a:r>
          </a:p>
          <a:p>
            <a:r>
              <a:rPr lang="en-US" dirty="0"/>
              <a:t>Change the child behavior</a:t>
            </a:r>
          </a:p>
          <a:p>
            <a:r>
              <a:rPr lang="en-US" dirty="0">
                <a:solidFill>
                  <a:srgbClr val="0070C0"/>
                </a:solidFill>
              </a:rPr>
              <a:t>Inverter</a:t>
            </a:r>
            <a:r>
              <a:rPr lang="en-US" dirty="0"/>
              <a:t>: Turns Success into Failure and vice versa</a:t>
            </a:r>
          </a:p>
          <a:p>
            <a:r>
              <a:rPr lang="en-US" dirty="0">
                <a:solidFill>
                  <a:srgbClr val="0070C0"/>
                </a:solidFill>
              </a:rPr>
              <a:t>Repeater</a:t>
            </a:r>
            <a:r>
              <a:rPr lang="en-US" dirty="0"/>
              <a:t>: Runs the child multiple times</a:t>
            </a:r>
          </a:p>
          <a:p>
            <a:r>
              <a:rPr lang="en-US" dirty="0">
                <a:solidFill>
                  <a:srgbClr val="0070C0"/>
                </a:solidFill>
              </a:rPr>
              <a:t>Retry</a:t>
            </a:r>
            <a:r>
              <a:rPr lang="en-US" dirty="0"/>
              <a:t>: Keeps ticking the child until it succeeds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8BD96-47F4-2862-2DBE-3073A649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C4F58E-0FFA-E4BC-6B6E-E9D407EA3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600200"/>
            <a:ext cx="4388119" cy="31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4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46DB1-252C-3FCC-784E-A153F38C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7CBD-32F3-0C32-61FA-16DB04E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BT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90E35-A3A5-CAA5-AF4A-2681A8500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Leaf Nodes </a:t>
            </a:r>
            <a:r>
              <a:rPr lang="en-US" dirty="0"/>
              <a:t>– the Doers</a:t>
            </a:r>
          </a:p>
          <a:p>
            <a:r>
              <a:rPr lang="en-US" dirty="0"/>
              <a:t>Have </a:t>
            </a:r>
            <a:r>
              <a:rPr lang="en-US" dirty="0">
                <a:solidFill>
                  <a:srgbClr val="FF0000"/>
                </a:solidFill>
              </a:rPr>
              <a:t>no </a:t>
            </a:r>
            <a:r>
              <a:rPr lang="en-US" dirty="0"/>
              <a:t>child.</a:t>
            </a:r>
          </a:p>
          <a:p>
            <a:r>
              <a:rPr lang="en-US" dirty="0"/>
              <a:t>Leaf Nodes interact with the robot or the environment </a:t>
            </a:r>
          </a:p>
          <a:p>
            <a:r>
              <a:rPr lang="en-US" dirty="0">
                <a:solidFill>
                  <a:srgbClr val="0070C0"/>
                </a:solidFill>
              </a:rPr>
              <a:t>Action Nodes: </a:t>
            </a:r>
            <a:r>
              <a:rPr lang="en-US" dirty="0"/>
              <a:t>Perform an actual task</a:t>
            </a:r>
          </a:p>
          <a:p>
            <a:r>
              <a:rPr lang="en-US" dirty="0">
                <a:solidFill>
                  <a:srgbClr val="0070C0"/>
                </a:solidFill>
              </a:rPr>
              <a:t>Condition Nodes: </a:t>
            </a:r>
            <a:r>
              <a:rPr lang="en-US" dirty="0"/>
              <a:t>Check a state without changing anything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45F50-6F44-B3DC-55DB-B239453E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94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BEB13-31DF-DA72-C615-267B51ED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BE75-E192-2E6D-5B83-72BB73B5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BT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DDB3C-B8C9-CBDA-7913-2385B421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050" name="Picture 2" descr="Introduction to behavior trees - Robohub">
            <a:extLst>
              <a:ext uri="{FF2B5EF4-FFF2-40B4-BE49-F238E27FC236}">
                <a16:creationId xmlns:a16="http://schemas.microsoft.com/office/drawing/2014/main" id="{DB740661-669C-1F0A-AF19-C80F881DA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080" y="1422316"/>
            <a:ext cx="8077200" cy="455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36540C-E4C9-4885-9680-2D702BB63016}"/>
              </a:ext>
            </a:extLst>
          </p:cNvPr>
          <p:cNvSpPr txBox="1"/>
          <p:nvPr/>
        </p:nvSpPr>
        <p:spPr>
          <a:xfrm>
            <a:off x="266700" y="3524877"/>
            <a:ext cx="40767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Blackboard</a:t>
            </a:r>
            <a:r>
              <a:rPr lang="en-US" sz="2000" b="1" dirty="0"/>
              <a:t>:</a:t>
            </a:r>
            <a:r>
              <a:rPr lang="en-US" sz="2000" dirty="0"/>
              <a:t> Shared memory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Key – value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Nodes are defined in C++ by users/developers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Nodes write and read values via Blackboard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Types: anything (Boolean, int, vector, vector3 …)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B88EBC-64A7-E443-091B-68AA0243E20F}"/>
              </a:ext>
            </a:extLst>
          </p:cNvPr>
          <p:cNvCxnSpPr>
            <a:cxnSpLocks/>
          </p:cNvCxnSpPr>
          <p:nvPr/>
        </p:nvCxnSpPr>
        <p:spPr>
          <a:xfrm>
            <a:off x="3733800" y="4956038"/>
            <a:ext cx="4572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17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3536-3AE9-36C6-AAE5-874CF50E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BT Blackboard and Ports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D33E4-F72C-26B4-65C8-2B6A7451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C949DD-0F24-2C01-69B9-305D0893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199" y="1534886"/>
            <a:ext cx="6724877" cy="47897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A4302C-D7C1-280C-EF9B-6EC72988B423}"/>
              </a:ext>
            </a:extLst>
          </p:cNvPr>
          <p:cNvSpPr txBox="1"/>
          <p:nvPr/>
        </p:nvSpPr>
        <p:spPr>
          <a:xfrm>
            <a:off x="9087076" y="4419600"/>
            <a:ext cx="2819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3100"/>
                </a:solidFill>
                <a:effectLst/>
                <a:latin typeface="Open Sans"/>
              </a:rPr>
              <a:t>Input port</a:t>
            </a:r>
            <a:r>
              <a:rPr lang="en-US" b="0" i="0" dirty="0">
                <a:solidFill>
                  <a:srgbClr val="003100"/>
                </a:solidFill>
                <a:effectLst/>
                <a:latin typeface="Open Sans"/>
              </a:rPr>
              <a:t> can read an entry in the Blackboard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739959-B088-1730-0D12-C16610481168}"/>
              </a:ext>
            </a:extLst>
          </p:cNvPr>
          <p:cNvSpPr txBox="1"/>
          <p:nvPr/>
        </p:nvSpPr>
        <p:spPr>
          <a:xfrm>
            <a:off x="1219200" y="4702909"/>
            <a:ext cx="30861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3100"/>
                </a:solidFill>
                <a:effectLst/>
                <a:latin typeface="Open Sans"/>
              </a:rPr>
              <a:t>Output port</a:t>
            </a:r>
            <a:r>
              <a:rPr lang="en-US" b="0" i="0" dirty="0">
                <a:solidFill>
                  <a:srgbClr val="003100"/>
                </a:solidFill>
                <a:effectLst/>
                <a:latin typeface="Open Sans"/>
              </a:rPr>
              <a:t> can write into an entry in Blackboard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749EFC-2C21-A2D0-2288-6F8375248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238" y="605471"/>
            <a:ext cx="4407126" cy="18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84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92A6-0B7D-087B-7F8F-5CEB0493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Implementing BT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4F4BE-F30C-849B-B5B0-69B48C59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C6232B-164C-128A-13EE-03F928C3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743200"/>
            <a:ext cx="1143000" cy="1568497"/>
          </a:xfrm>
          <a:prstGeom prst="rect">
            <a:avLst/>
          </a:prstGeom>
        </p:spPr>
      </p:pic>
      <p:pic>
        <p:nvPicPr>
          <p:cNvPr id="7170" name="Picture 2" descr="Groot2 PRO free until the end of Robocup 2025 - ROS General - Open Robotics  Discourse">
            <a:extLst>
              <a:ext uri="{FF2B5EF4-FFF2-40B4-BE49-F238E27FC236}">
                <a16:creationId xmlns:a16="http://schemas.microsoft.com/office/drawing/2014/main" id="{C372467E-5445-6CE4-FAA8-6F5B36C7D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559" y="2404654"/>
            <a:ext cx="16764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62F523-0936-FB01-65BD-CCCB59C080DC}"/>
              </a:ext>
            </a:extLst>
          </p:cNvPr>
          <p:cNvCxnSpPr/>
          <p:nvPr/>
        </p:nvCxnSpPr>
        <p:spPr>
          <a:xfrm>
            <a:off x="1828800" y="3429000"/>
            <a:ext cx="228600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23DA6B5-C1A5-79DE-A83E-336E5EEDB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328454"/>
            <a:ext cx="1481959" cy="182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D99EC9-2685-FED7-A2FB-9408EB2D74EF}"/>
              </a:ext>
            </a:extLst>
          </p:cNvPr>
          <p:cNvSpPr txBox="1"/>
          <p:nvPr/>
        </p:nvSpPr>
        <p:spPr>
          <a:xfrm>
            <a:off x="7696200" y="40386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BT (.xml)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063542-6A52-6353-708F-A7B05095828C}"/>
              </a:ext>
            </a:extLst>
          </p:cNvPr>
          <p:cNvCxnSpPr>
            <a:cxnSpLocks/>
          </p:cNvCxnSpPr>
          <p:nvPr/>
        </p:nvCxnSpPr>
        <p:spPr>
          <a:xfrm>
            <a:off x="5943600" y="3411582"/>
            <a:ext cx="121920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DEFAE17-6C2E-256A-A815-E45D8CD43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484" y="2209800"/>
            <a:ext cx="1565379" cy="1784089"/>
          </a:xfrm>
          <a:prstGeom prst="rect">
            <a:avLst/>
          </a:prstGeom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3F8348A-99D9-CA35-AB9C-6998B0309E40}"/>
              </a:ext>
            </a:extLst>
          </p:cNvPr>
          <p:cNvCxnSpPr>
            <a:cxnSpLocks/>
          </p:cNvCxnSpPr>
          <p:nvPr/>
        </p:nvCxnSpPr>
        <p:spPr>
          <a:xfrm>
            <a:off x="1124494" y="4447121"/>
            <a:ext cx="3066506" cy="897629"/>
          </a:xfrm>
          <a:prstGeom prst="bentConnector3">
            <a:avLst>
              <a:gd name="adj1" fmla="val 586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 descr="C++ - Free ui icons">
            <a:extLst>
              <a:ext uri="{FF2B5EF4-FFF2-40B4-BE49-F238E27FC236}">
                <a16:creationId xmlns:a16="http://schemas.microsoft.com/office/drawing/2014/main" id="{99116584-0918-3890-61FB-B845283C2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5530897"/>
            <a:ext cx="719959" cy="71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OS2 Expert Workshop III | FIMA ry">
            <a:extLst>
              <a:ext uri="{FF2B5EF4-FFF2-40B4-BE49-F238E27FC236}">
                <a16:creationId xmlns:a16="http://schemas.microsoft.com/office/drawing/2014/main" id="{502AD392-7C95-FB78-150D-E309479BE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559" y="4936147"/>
            <a:ext cx="2033584" cy="203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51420ED-2C9A-857A-2828-5E0E38B362D7}"/>
              </a:ext>
            </a:extLst>
          </p:cNvPr>
          <p:cNvSpPr txBox="1"/>
          <p:nvPr/>
        </p:nvSpPr>
        <p:spPr>
          <a:xfrm>
            <a:off x="4343400" y="5768273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Action Nodes (.</a:t>
            </a:r>
            <a:r>
              <a:rPr lang="en-US" b="1" dirty="0" err="1"/>
              <a:t>cpp</a:t>
            </a:r>
            <a:r>
              <a:rPr lang="en-US" b="1" dirty="0"/>
              <a:t>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51B5FE7-81C9-071D-9025-72C7175FC084}"/>
              </a:ext>
            </a:extLst>
          </p:cNvPr>
          <p:cNvCxnSpPr>
            <a:cxnSpLocks/>
          </p:cNvCxnSpPr>
          <p:nvPr/>
        </p:nvCxnSpPr>
        <p:spPr>
          <a:xfrm>
            <a:off x="5943600" y="5344750"/>
            <a:ext cx="121920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EF387633-37B8-AE12-1456-934173C7C1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835" y="4542660"/>
            <a:ext cx="1168460" cy="1225613"/>
          </a:xfrm>
          <a:prstGeom prst="rect">
            <a:avLst/>
          </a:prstGeom>
        </p:spPr>
      </p:pic>
      <p:pic>
        <p:nvPicPr>
          <p:cNvPr id="7169" name="Picture 7168">
            <a:extLst>
              <a:ext uri="{FF2B5EF4-FFF2-40B4-BE49-F238E27FC236}">
                <a16:creationId xmlns:a16="http://schemas.microsoft.com/office/drawing/2014/main" id="{03A6B3E9-9CFA-6661-0AA4-FD27AA7221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4909" y="4542659"/>
            <a:ext cx="1168460" cy="1225613"/>
          </a:xfrm>
          <a:prstGeom prst="rect">
            <a:avLst/>
          </a:prstGeom>
        </p:spPr>
      </p:pic>
      <p:sp>
        <p:nvSpPr>
          <p:cNvPr id="7173" name="TextBox 7172">
            <a:extLst>
              <a:ext uri="{FF2B5EF4-FFF2-40B4-BE49-F238E27FC236}">
                <a16:creationId xmlns:a16="http://schemas.microsoft.com/office/drawing/2014/main" id="{0EE6EDC4-F623-4B87-9D0B-8C9BD79391B8}"/>
              </a:ext>
            </a:extLst>
          </p:cNvPr>
          <p:cNvSpPr txBox="1"/>
          <p:nvPr/>
        </p:nvSpPr>
        <p:spPr>
          <a:xfrm>
            <a:off x="7689669" y="5855377"/>
            <a:ext cx="259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BT Factory </a:t>
            </a:r>
          </a:p>
          <a:p>
            <a:r>
              <a:rPr lang="en-US" dirty="0"/>
              <a:t>Register C++ Classes to match XML</a:t>
            </a:r>
          </a:p>
        </p:txBody>
      </p:sp>
      <p:pic>
        <p:nvPicPr>
          <p:cNvPr id="7175" name="Picture 6" descr="ROS2 Expert Workshop III | FIMA ry">
            <a:extLst>
              <a:ext uri="{FF2B5EF4-FFF2-40B4-BE49-F238E27FC236}">
                <a16:creationId xmlns:a16="http://schemas.microsoft.com/office/drawing/2014/main" id="{C3ACDB2D-A2CA-0DB1-232D-3527E0EC0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943" y="3140462"/>
            <a:ext cx="2033584" cy="203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76" name="Connector: Elbow 7175">
            <a:extLst>
              <a:ext uri="{FF2B5EF4-FFF2-40B4-BE49-F238E27FC236}">
                <a16:creationId xmlns:a16="http://schemas.microsoft.com/office/drawing/2014/main" id="{F16BD264-AE3E-E5A9-1964-0D9A1E65FCC1}"/>
              </a:ext>
            </a:extLst>
          </p:cNvPr>
          <p:cNvCxnSpPr>
            <a:cxnSpLocks/>
          </p:cNvCxnSpPr>
          <p:nvPr/>
        </p:nvCxnSpPr>
        <p:spPr>
          <a:xfrm>
            <a:off x="9161207" y="3296451"/>
            <a:ext cx="1066800" cy="729869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9" name="Connector: Elbow 7178">
            <a:extLst>
              <a:ext uri="{FF2B5EF4-FFF2-40B4-BE49-F238E27FC236}">
                <a16:creationId xmlns:a16="http://schemas.microsoft.com/office/drawing/2014/main" id="{D84AF527-78BB-934E-B48A-77F78C774DCC}"/>
              </a:ext>
            </a:extLst>
          </p:cNvPr>
          <p:cNvCxnSpPr>
            <a:cxnSpLocks/>
          </p:cNvCxnSpPr>
          <p:nvPr/>
        </p:nvCxnSpPr>
        <p:spPr>
          <a:xfrm flipV="1">
            <a:off x="9161207" y="4311697"/>
            <a:ext cx="1066800" cy="1030798"/>
          </a:xfrm>
          <a:prstGeom prst="bentConnector3">
            <a:avLst>
              <a:gd name="adj1" fmla="val 50000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3395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6440</TotalTime>
  <Words>566</Words>
  <Application>Microsoft Office PowerPoint</Application>
  <PresentationFormat>Widescreen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Noto Sans</vt:lpstr>
      <vt:lpstr>Open Sans</vt:lpstr>
      <vt:lpstr>Wingdings</vt:lpstr>
      <vt:lpstr>Clarity</vt:lpstr>
      <vt:lpstr>  Robot Operating system Behavior Tree</vt:lpstr>
      <vt:lpstr>Decision making</vt:lpstr>
      <vt:lpstr>Task Switching Structure</vt:lpstr>
      <vt:lpstr>Task Switching Structure</vt:lpstr>
      <vt:lpstr>Introduction to Behavior Tree</vt:lpstr>
      <vt:lpstr>Introduction to Behavior Tree</vt:lpstr>
      <vt:lpstr>Components of BT</vt:lpstr>
      <vt:lpstr>Components of BT</vt:lpstr>
      <vt:lpstr>BT Nodes</vt:lpstr>
      <vt:lpstr>BT Nodes</vt:lpstr>
      <vt:lpstr>BT Nodes</vt:lpstr>
      <vt:lpstr>Components of BT</vt:lpstr>
      <vt:lpstr>BT Blackboard and Ports</vt:lpstr>
      <vt:lpstr>Implementing BT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tập vi điều khiển</dc:title>
  <dc:creator>haduc</dc:creator>
  <cp:lastModifiedBy>duc b</cp:lastModifiedBy>
  <cp:revision>640</cp:revision>
  <dcterms:created xsi:type="dcterms:W3CDTF">2015-08-30T01:38:28Z</dcterms:created>
  <dcterms:modified xsi:type="dcterms:W3CDTF">2026-03-27T15:36:33Z</dcterms:modified>
</cp:coreProperties>
</file>