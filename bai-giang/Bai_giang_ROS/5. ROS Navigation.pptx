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19"/>
  </p:notesMasterIdLst>
  <p:sldIdLst>
    <p:sldId id="256" r:id="rId2"/>
    <p:sldId id="310" r:id="rId3"/>
    <p:sldId id="302" r:id="rId4"/>
    <p:sldId id="303" r:id="rId5"/>
    <p:sldId id="304" r:id="rId6"/>
    <p:sldId id="311" r:id="rId7"/>
    <p:sldId id="305" r:id="rId8"/>
    <p:sldId id="306" r:id="rId9"/>
    <p:sldId id="307" r:id="rId10"/>
    <p:sldId id="308" r:id="rId11"/>
    <p:sldId id="313" r:id="rId12"/>
    <p:sldId id="312" r:id="rId13"/>
    <p:sldId id="314" r:id="rId14"/>
    <p:sldId id="315" r:id="rId15"/>
    <p:sldId id="316" r:id="rId16"/>
    <p:sldId id="317" r:id="rId17"/>
    <p:sldId id="318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9FF"/>
    <a:srgbClr val="FF5F33"/>
    <a:srgbClr val="FF80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5" autoAdjust="0"/>
    <p:restoredTop sz="92596" autoAdjust="0"/>
  </p:normalViewPr>
  <p:slideViewPr>
    <p:cSldViewPr>
      <p:cViewPr varScale="1">
        <p:scale>
          <a:sx n="57" d="100"/>
          <a:sy n="57" d="100"/>
        </p:scale>
        <p:origin x="45" y="57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7A33C2-6F37-4DE9-AAF9-8ABC356AE657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AE4680-6E9A-445B-9304-F7D1A27E0E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41373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AE4680-6E9A-445B-9304-F7D1A27E0E4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62943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 files are stored as images, with a variety of common formats being supported (such as PNG, JPG, and PGM)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AE4680-6E9A-445B-9304-F7D1A27E0E4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06356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Navigation is split into independent </a:t>
            </a:r>
            <a:r>
              <a:rPr lang="en-US" b="1" dirty="0"/>
              <a:t>Action Servers</a:t>
            </a:r>
            <a:r>
              <a:rPr lang="en-US" dirty="0"/>
              <a:t> (Planner, Controller, Smoother, Behavior Tree). Each server is a separate node, making the system more stable and easier to debug or replace specific components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AE4680-6E9A-445B-9304-F7D1A27E0E47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89985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371601"/>
            <a:ext cx="10464800" cy="1927225"/>
          </a:xfrm>
        </p:spPr>
        <p:txBody>
          <a:bodyPr anchor="b">
            <a:no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3505200"/>
            <a:ext cx="85344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561BE-7EE5-473D-84A7-4C53642E76F3}" type="datetime1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7FE44-DABC-424D-A234-74BB9410FF27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914400" y="3398520"/>
            <a:ext cx="104648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F51FE-9C5E-464A-AC70-6B909B40C014}" type="datetime1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0000" y="6501107"/>
            <a:ext cx="1422400" cy="329184"/>
          </a:xfrm>
        </p:spPr>
        <p:txBody>
          <a:bodyPr/>
          <a:lstStyle>
            <a:lvl1pPr>
              <a:defRPr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fld id="{3957FE44-DABC-424D-A234-74BB9410FF27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2362201"/>
            <a:ext cx="10363200" cy="2200275"/>
          </a:xfrm>
        </p:spPr>
        <p:txBody>
          <a:bodyPr anchor="b">
            <a:normAutofit/>
          </a:bodyPr>
          <a:lstStyle>
            <a:lvl1pPr algn="l">
              <a:defRPr sz="4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4626865"/>
            <a:ext cx="103632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ED206D-CD87-417B-A3E9-8E7F517E463E}" type="datetime1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7FE44-DABC-424D-A234-74BB9410FF27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975360" y="4599432"/>
            <a:ext cx="104648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73352"/>
            <a:ext cx="53848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73352"/>
            <a:ext cx="53848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8F107-3B8C-4C3E-96B2-5FDE77B1A8A3}" type="datetime1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7FE44-DABC-424D-A234-74BB9410FF2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76400"/>
            <a:ext cx="524256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438400"/>
            <a:ext cx="524256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39840" y="1676400"/>
            <a:ext cx="524256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lang="en-US" sz="2000" b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9840" y="2438400"/>
            <a:ext cx="524256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B7A77-E7D0-4A81-9F27-235411449FDF}" type="datetime1">
              <a:rPr lang="en-US" smtClean="0"/>
              <a:t>3/17/2026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7FE44-DABC-424D-A234-74BB9410FF27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/>
          <p:cNvCxnSpPr/>
          <p:nvPr/>
        </p:nvCxnSpPr>
        <p:spPr>
          <a:xfrm rot="5400000">
            <a:off x="3741949" y="4045691"/>
            <a:ext cx="4709160" cy="1059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75E10-1A59-4CE8-9F8F-26909B2B45ED}" type="datetime1">
              <a:rPr lang="en-US" smtClean="0"/>
              <a:t>3/17/2026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7FE44-DABC-424D-A234-74BB9410FF2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7769CF-71D8-44A8-A43E-06A522466198}" type="datetime1">
              <a:rPr lang="en-US" smtClean="0"/>
              <a:t>3/17/2026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7FE44-DABC-424D-A234-74BB9410FF2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792080"/>
            <a:ext cx="2852928" cy="1261872"/>
          </a:xfrm>
        </p:spPr>
        <p:txBody>
          <a:bodyPr anchor="b">
            <a:no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2400" y="792080"/>
            <a:ext cx="7620000" cy="55778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2130553"/>
            <a:ext cx="2852928" cy="42436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20A33-8193-44AB-9CBE-84B62B603B98}" type="datetime1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7FE44-DABC-424D-A234-74BB9410FF27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 rot="5400000">
            <a:off x="912152" y="3579942"/>
            <a:ext cx="5577840" cy="2117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792480"/>
            <a:ext cx="2856907" cy="126492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11480" y="838201"/>
            <a:ext cx="7872520" cy="5500456"/>
          </a:xfrm>
          <a:solidFill>
            <a:schemeClr val="bg2"/>
          </a:solidFill>
          <a:ln w="76200">
            <a:solidFill>
              <a:srgbClr val="FFFFFF"/>
            </a:solidFill>
            <a:miter lim="800000"/>
          </a:ln>
          <a:effectLst>
            <a:outerShdw blurRad="50800" dist="12700" dir="5400000" algn="t" rotWithShape="0">
              <a:prstClr val="black">
                <a:alpha val="59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133600"/>
            <a:ext cx="2852928" cy="424281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572B2-C299-428F-9DB0-AF5E4D034999}" type="datetime1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7FE44-DABC-424D-A234-74BB9410FF2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DEECD9-E72D-423D-873E-C8701D4E51F3}" type="datetime1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7FE44-DABC-424D-A234-74BB9410FF2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609600"/>
            <a:ext cx="2743200" cy="5867400"/>
          </a:xfrm>
        </p:spPr>
        <p:txBody>
          <a:bodyPr vert="eaVert"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609600"/>
            <a:ext cx="8026400" cy="5867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519C6-978E-42A3-A0DA-A23B7AC47044}" type="datetime1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7FE44-DABC-424D-A234-74BB9410FF2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20786"/>
            <a:ext cx="121920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533400"/>
            <a:ext cx="109728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87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92000" cy="365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18288"/>
            <a:ext cx="3860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fld id="{938B7AF6-6F47-4FBA-B77D-1A1AB60E82CA}" type="datetime1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2000" y="18288"/>
            <a:ext cx="54864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60000" y="6481315"/>
            <a:ext cx="14224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fld id="{3957FE44-DABC-424D-A234-74BB9410FF27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4000" kern="1200" spc="-1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spcBef>
          <a:spcPct val="20000"/>
        </a:spcBef>
        <a:buClr>
          <a:schemeClr val="accent1"/>
        </a:buClr>
        <a:buSzPct val="9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3716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google.com.vn/url?sa=i&amp;rct=j&amp;q=&amp;esrc=s&amp;source=images&amp;cd=&amp;cad=rja&amp;uact=8&amp;ved=0CAcQjRxqFQoTCOa4gpvXz8cCFU-ejgodsSsIRA&amp;url=http://spikeex.deviantart.com/art/Microchip-Tattoo-Design-1-42179858&amp;ei=31_iVaZNz7y6BLHXoKAE&amp;psig=AFQjCNF-y2BM98GH0MilH1ajH4XNM5xsRQ&amp;ust=1440985393503735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http://img02.deviantart.net/aaac/i/2006/302/3/0/microchip_tattoo_design_1_by_spikeex.jpg">
            <a:hlinkClick r:id="rId3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9600" y="3535251"/>
            <a:ext cx="3322748" cy="33227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br>
              <a:rPr lang="en-US" dirty="0"/>
            </a:br>
            <a:br>
              <a:rPr lang="en-US" b="1" dirty="0"/>
            </a:br>
            <a:r>
              <a:rPr lang="en-US" b="1" dirty="0"/>
              <a:t>Robot Operating system</a:t>
            </a:r>
            <a:br>
              <a:rPr lang="en-US" b="1" dirty="0"/>
            </a:br>
            <a:r>
              <a:rPr lang="en-US" b="1" dirty="0">
                <a:solidFill>
                  <a:srgbClr val="0070C0"/>
                </a:solidFill>
              </a:rPr>
              <a:t>ROS Navigation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Lecturer: Dr. Bui Ha Duc</a:t>
            </a:r>
          </a:p>
          <a:p>
            <a:r>
              <a:rPr lang="en-US" dirty="0"/>
              <a:t>Dept. of Mechatronics</a:t>
            </a:r>
          </a:p>
          <a:p>
            <a:r>
              <a:rPr lang="en-US" dirty="0"/>
              <a:t>Email: ducbh@hcmute.edu.vn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9144000" y="6400800"/>
            <a:ext cx="1066800" cy="329184"/>
          </a:xfrm>
        </p:spPr>
        <p:txBody>
          <a:bodyPr/>
          <a:lstStyle/>
          <a:p>
            <a:fld id="{3957FE44-DABC-424D-A234-74BB9410FF27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65352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853EE3-9564-27A6-03FA-74DCF3CAE2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History of ROS Navigation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CD23A3-E975-0112-C332-596C8FDB10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0"/>
            <a:ext cx="10972800" cy="5334000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Purpose of navigation</a:t>
            </a:r>
            <a:r>
              <a:rPr lang="en-US" dirty="0"/>
              <a:t>: Navigate robot autonomously from starting point A to final goal B given a map of the environment</a:t>
            </a:r>
          </a:p>
          <a:p>
            <a:r>
              <a:rPr lang="en-US" dirty="0"/>
              <a:t>To navigate a robot we need:</a:t>
            </a:r>
          </a:p>
          <a:p>
            <a:pPr lvl="1"/>
            <a:r>
              <a:rPr lang="en-US" dirty="0"/>
              <a:t>A map</a:t>
            </a:r>
          </a:p>
          <a:p>
            <a:pPr lvl="1"/>
            <a:r>
              <a:rPr lang="en-US" dirty="0"/>
              <a:t>A localization module</a:t>
            </a:r>
          </a:p>
          <a:p>
            <a:pPr lvl="1"/>
            <a:r>
              <a:rPr lang="en-US" dirty="0"/>
              <a:t>A path planning module</a:t>
            </a:r>
          </a:p>
          <a:p>
            <a:r>
              <a:rPr lang="en-US" dirty="0"/>
              <a:t>These components are sufficient if:</a:t>
            </a:r>
          </a:p>
          <a:p>
            <a:pPr lvl="1"/>
            <a:r>
              <a:rPr lang="en-US" dirty="0"/>
              <a:t>The map fully reflects the  environment</a:t>
            </a:r>
          </a:p>
          <a:p>
            <a:pPr lvl="1"/>
            <a:r>
              <a:rPr lang="en-US" dirty="0"/>
              <a:t>The environment is static</a:t>
            </a:r>
          </a:p>
          <a:p>
            <a:pPr lvl="1"/>
            <a:r>
              <a:rPr lang="en-US" dirty="0"/>
              <a:t>There are no errors in the estimate</a:t>
            </a:r>
          </a:p>
          <a:p>
            <a:r>
              <a:rPr lang="en-US" dirty="0"/>
              <a:t>However:</a:t>
            </a:r>
          </a:p>
          <a:p>
            <a:pPr lvl="1"/>
            <a:r>
              <a:rPr lang="en-US" dirty="0"/>
              <a:t>The environment (map) changes</a:t>
            </a:r>
          </a:p>
          <a:p>
            <a:pPr lvl="1"/>
            <a:r>
              <a:rPr lang="en-US" dirty="0"/>
              <a:t>Thing may appear in the path of the robot</a:t>
            </a:r>
          </a:p>
          <a:p>
            <a:pPr lvl="1"/>
            <a:r>
              <a:rPr lang="en-US" dirty="0"/>
              <a:t>The sensor is noise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B5AD62-8CD0-2B7D-2EDD-AA7C723BB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7FE44-DABC-424D-A234-74BB9410FF27}" type="slidenum">
              <a:rPr lang="en-US" smtClean="0"/>
              <a:pPr/>
              <a:t>2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E1A20B9-7082-642A-71F2-219F20293F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7580" y="2798586"/>
            <a:ext cx="4730993" cy="2711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24205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10FB64-9F5B-E57C-3F30-575093F97B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History of ROS Navigation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D9DC7C-E2EC-220E-BCAB-919463508C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original </a:t>
            </a:r>
            <a:r>
              <a:rPr lang="en-US" b="1" dirty="0"/>
              <a:t>ROS Navigation Stack </a:t>
            </a:r>
            <a:r>
              <a:rPr lang="en-US" dirty="0"/>
              <a:t>was born around 2008–2010</a:t>
            </a:r>
          </a:p>
          <a:p>
            <a:r>
              <a:rPr lang="en-US" dirty="0"/>
              <a:t>It natively supported differential-drive and holonomic robots</a:t>
            </a:r>
          </a:p>
          <a:p>
            <a:r>
              <a:rPr lang="en-US" dirty="0"/>
              <a:t>It’s difficult top modify without breaking the whole thing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11FB2E-C4BB-0F74-8EA4-C9A7F8C94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7FE44-DABC-424D-A234-74BB9410FF27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9EEF3FA-24A3-DE88-CD2F-F9F6160DD9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2978312"/>
            <a:ext cx="6670893" cy="3713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60278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C4A3EC-60B1-C876-1CA2-BD43952B6E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History of ROS Navigation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1A062B-3CA4-ADCA-3FB2-7D5527AE5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7FE44-DABC-424D-A234-74BB9410FF27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1026" name="Picture 2" descr="Standard ROS Navigation Stack [7]. | Download Scientific Diagram">
            <a:extLst>
              <a:ext uri="{FF2B5EF4-FFF2-40B4-BE49-F238E27FC236}">
                <a16:creationId xmlns:a16="http://schemas.microsoft.com/office/drawing/2014/main" id="{6FB0F4F7-A22F-CE9B-D34B-CE0EF19DBE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2484078"/>
            <a:ext cx="9294920" cy="3805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EC9D3F8-5BDC-184D-171C-8C066856BA05}"/>
              </a:ext>
            </a:extLst>
          </p:cNvPr>
          <p:cNvSpPr txBox="1"/>
          <p:nvPr/>
        </p:nvSpPr>
        <p:spPr>
          <a:xfrm>
            <a:off x="9220200" y="1660309"/>
            <a:ext cx="228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Map provided by a “Map Server”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9CE4B49-1754-2BF0-27F7-D5E4BF61538F}"/>
              </a:ext>
            </a:extLst>
          </p:cNvPr>
          <p:cNvSpPr txBox="1"/>
          <p:nvPr/>
        </p:nvSpPr>
        <p:spPr>
          <a:xfrm>
            <a:off x="4114800" y="1728464"/>
            <a:ext cx="39624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>
                <a:solidFill>
                  <a:srgbClr val="0070C0"/>
                </a:solidFill>
              </a:rPr>
              <a:t>Planner has a layered architecture (local and global planner)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C30F747-AC17-DE2B-84C6-6673F0A6C182}"/>
              </a:ext>
            </a:extLst>
          </p:cNvPr>
          <p:cNvSpPr txBox="1"/>
          <p:nvPr/>
        </p:nvSpPr>
        <p:spPr>
          <a:xfrm>
            <a:off x="7848600" y="4551361"/>
            <a:ext cx="32004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Obstacle sensing refined on-line by appropriate modules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F3F4659-1338-4691-1770-9826FC65DAE5}"/>
              </a:ext>
            </a:extLst>
          </p:cNvPr>
          <p:cNvSpPr txBox="1"/>
          <p:nvPr/>
        </p:nvSpPr>
        <p:spPr>
          <a:xfrm>
            <a:off x="228600" y="1983474"/>
            <a:ext cx="342752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Adaptive Monte Carlo Localization algorithm uses a particle filter to track the position of the robot</a:t>
            </a:r>
          </a:p>
        </p:txBody>
      </p:sp>
    </p:spTree>
    <p:extLst>
      <p:ext uri="{BB962C8B-B14F-4D97-AF65-F5344CB8AC3E}">
        <p14:creationId xmlns:p14="http://schemas.microsoft.com/office/powerpoint/2010/main" val="36738116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0E27D-864D-7F04-4D19-DDCCF30DA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Map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24BCEC-9CFE-380C-649E-6045BC791F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0"/>
            <a:ext cx="5181600" cy="48768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A map is a representation of the environment where the robot is operating</a:t>
            </a:r>
          </a:p>
          <a:p>
            <a:r>
              <a:rPr lang="en-US" dirty="0"/>
              <a:t>It should contain enough information to accomplish a task of interest</a:t>
            </a:r>
          </a:p>
          <a:p>
            <a:r>
              <a:rPr lang="en-US" dirty="0"/>
              <a:t>Representations: </a:t>
            </a:r>
          </a:p>
          <a:p>
            <a:pPr lvl="1"/>
            <a:r>
              <a:rPr lang="en-US" dirty="0"/>
              <a:t>Metric </a:t>
            </a:r>
          </a:p>
          <a:p>
            <a:pPr lvl="2"/>
            <a:r>
              <a:rPr lang="en-US" dirty="0"/>
              <a:t>Occupancy Grid Based (OGM)</a:t>
            </a:r>
          </a:p>
          <a:p>
            <a:pPr lvl="2"/>
            <a:r>
              <a:rPr lang="en-US" dirty="0"/>
              <a:t>Feature Based </a:t>
            </a:r>
          </a:p>
          <a:p>
            <a:pPr lvl="2"/>
            <a:r>
              <a:rPr lang="en-US" dirty="0"/>
              <a:t>Hybrid </a:t>
            </a:r>
          </a:p>
          <a:p>
            <a:pPr lvl="1"/>
            <a:r>
              <a:rPr lang="en-US" dirty="0"/>
              <a:t>Topological </a:t>
            </a:r>
          </a:p>
          <a:p>
            <a:pPr lvl="1"/>
            <a:r>
              <a:rPr lang="en-US" dirty="0"/>
              <a:t>Hybrid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E0EF45-AD3C-AD0B-BB79-A18EAFDD73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7FE44-DABC-424D-A234-74BB9410FF27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9A27A76-0736-E9B7-D840-3F68A6F1AA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2693" y="762000"/>
            <a:ext cx="5723223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86045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323AF7-B834-B933-2258-E861BD4B83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Building a Map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932144-B3A7-B55E-46B0-C74DF70D16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0"/>
            <a:ext cx="4343400" cy="4876800"/>
          </a:xfrm>
        </p:spPr>
        <p:txBody>
          <a:bodyPr/>
          <a:lstStyle/>
          <a:p>
            <a:r>
              <a:rPr lang="en-US" dirty="0"/>
              <a:t>ROS uses </a:t>
            </a:r>
            <a:r>
              <a:rPr lang="en-US" dirty="0" err="1"/>
              <a:t>GMapping</a:t>
            </a:r>
            <a:r>
              <a:rPr lang="en-US" dirty="0"/>
              <a:t>, which implements  a particle filter to track the robot trajectories.</a:t>
            </a:r>
          </a:p>
          <a:p>
            <a:r>
              <a:rPr lang="en-US" dirty="0"/>
              <a:t>To build a map you need to:</a:t>
            </a:r>
          </a:p>
          <a:p>
            <a:pPr lvl="1"/>
            <a:r>
              <a:rPr lang="en-US" dirty="0"/>
              <a:t>Record a bag with /</a:t>
            </a:r>
            <a:r>
              <a:rPr lang="en-US" dirty="0" err="1"/>
              <a:t>odom</a:t>
            </a:r>
            <a:r>
              <a:rPr lang="en-US" dirty="0"/>
              <a:t>, /scan/ and /</a:t>
            </a:r>
            <a:r>
              <a:rPr lang="en-US" dirty="0" err="1"/>
              <a:t>tf</a:t>
            </a:r>
            <a:r>
              <a:rPr lang="en-US" dirty="0"/>
              <a:t> while driving the robot around in the environment it is going to operate in</a:t>
            </a:r>
          </a:p>
          <a:p>
            <a:pPr lvl="1"/>
            <a:r>
              <a:rPr lang="en-US" dirty="0"/>
              <a:t>Play the bag and the </a:t>
            </a:r>
            <a:r>
              <a:rPr lang="en-US" dirty="0" err="1"/>
              <a:t>gmapping</a:t>
            </a:r>
            <a:r>
              <a:rPr lang="en-US" dirty="0"/>
              <a:t>-node, and then save it.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663E4E-660E-6315-6206-9E3F64D067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7FE44-DABC-424D-A234-74BB9410FF27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E87EDAC-959F-6867-8464-392AA779FD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1600" y="1632012"/>
            <a:ext cx="6877050" cy="4438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58527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8AE310-3433-2A05-A691-924F1B194B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Robot Pose and Path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FE6880-C7B6-8394-651B-165987A991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0"/>
            <a:ext cx="5486400" cy="4876800"/>
          </a:xfrm>
        </p:spPr>
        <p:txBody>
          <a:bodyPr/>
          <a:lstStyle/>
          <a:p>
            <a:r>
              <a:rPr lang="en-US" dirty="0"/>
              <a:t>A metric map defines a reference frame</a:t>
            </a:r>
          </a:p>
          <a:p>
            <a:r>
              <a:rPr lang="en-US" dirty="0"/>
              <a:t>To operate in a map, a robot should know its position in that reference frame</a:t>
            </a:r>
          </a:p>
          <a:p>
            <a:r>
              <a:rPr lang="en-US" dirty="0"/>
              <a:t>A sequence of waypoints or of actions to reach a goal location in the map is a path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D2A60F-2E4D-CF1E-2B76-7847CA2C5B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7FE44-DABC-424D-A234-74BB9410FF27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D744CF1-1AE3-97B3-433F-AE1E0B8F87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4200" y="1591322"/>
            <a:ext cx="4248368" cy="3664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44533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015B21-3D23-5984-93DC-4AB9F564C0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Localization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3490EC-D71B-B864-A553-1D0CBDE17B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0"/>
            <a:ext cx="8001000" cy="4876800"/>
          </a:xfrm>
        </p:spPr>
        <p:txBody>
          <a:bodyPr/>
          <a:lstStyle/>
          <a:p>
            <a:r>
              <a:rPr lang="en-US" dirty="0"/>
              <a:t>ROS implements the Adaptive Monte Carlo Localization algorithm (ACML)</a:t>
            </a:r>
          </a:p>
          <a:p>
            <a:r>
              <a:rPr lang="en-US" dirty="0"/>
              <a:t>ACML:</a:t>
            </a:r>
          </a:p>
          <a:p>
            <a:pPr lvl="1"/>
            <a:r>
              <a:rPr lang="en-US" dirty="0"/>
              <a:t>Relies on laser scan</a:t>
            </a:r>
          </a:p>
          <a:p>
            <a:pPr lvl="1"/>
            <a:r>
              <a:rPr lang="en-US" dirty="0"/>
              <a:t>Use particle filter to track robot position</a:t>
            </a:r>
          </a:p>
          <a:p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2AB706-C2E6-BAF6-CB42-90A60CB9E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7FE44-DABC-424D-A234-74BB9410FF27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8C00E41-008C-ED73-17D3-85F25B2277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2064607"/>
            <a:ext cx="5162815" cy="387369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F5DDBAB-2C58-18A2-73CB-3747A9EA34E1}"/>
              </a:ext>
            </a:extLst>
          </p:cNvPr>
          <p:cNvSpPr txBox="1"/>
          <p:nvPr/>
        </p:nvSpPr>
        <p:spPr>
          <a:xfrm>
            <a:off x="763480" y="3853934"/>
            <a:ext cx="6094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1" dirty="0">
                <a:solidFill>
                  <a:srgbClr val="0070C0"/>
                </a:solidFill>
              </a:rPr>
              <a:t>https://www.youtube.com/watch?v=NrzmH_yerBU</a:t>
            </a:r>
          </a:p>
        </p:txBody>
      </p:sp>
    </p:spTree>
    <p:extLst>
      <p:ext uri="{BB962C8B-B14F-4D97-AF65-F5344CB8AC3E}">
        <p14:creationId xmlns:p14="http://schemas.microsoft.com/office/powerpoint/2010/main" val="32768914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C781D9-9A5F-A576-75AC-A8620186EE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Path Planning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4DA16D-5027-0A72-BCEE-D1D9814655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Determine (if it exists) a path to reach a given goal location given a localized robot and a map of traversable regions.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6B341C-61DB-0844-B016-E99C2837B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7FE44-DABC-424D-A234-74BB9410FF27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36A70D1-404F-D9CF-3F59-66D0F503FA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9448" y="2588789"/>
            <a:ext cx="5893103" cy="4076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33344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D9D341-CD94-E316-F148-DB5A8F9D7D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Mapping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DD2D32-6C65-B932-63A8-4F0531FAAE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Given a robot that has a perfect ego estimate of the position, and a sequence of measurements, determine the map of the environment.</a:t>
            </a:r>
          </a:p>
          <a:p>
            <a:r>
              <a:rPr lang="en-US" dirty="0"/>
              <a:t>A perfect estimate of the robot pose is usually not available.</a:t>
            </a:r>
          </a:p>
          <a:p>
            <a:r>
              <a:rPr lang="en-US" dirty="0"/>
              <a:t>Instead we solve a more complex problem: Simultaneous Localization and Mapping (SLAM).</a:t>
            </a:r>
          </a:p>
          <a:p>
            <a:r>
              <a:rPr lang="en-US" dirty="0"/>
              <a:t>SLAM= Simultaneous Localization and Mapping </a:t>
            </a:r>
          </a:p>
          <a:p>
            <a:r>
              <a:rPr lang="en-US" dirty="0"/>
              <a:t>Estimate:</a:t>
            </a:r>
          </a:p>
          <a:p>
            <a:pPr lvl="1"/>
            <a:r>
              <a:rPr lang="en-US" dirty="0"/>
              <a:t>the map of the environment</a:t>
            </a:r>
          </a:p>
          <a:p>
            <a:pPr lvl="1"/>
            <a:r>
              <a:rPr lang="en-US" dirty="0"/>
              <a:t>the trajectory of a moving device </a:t>
            </a:r>
          </a:p>
          <a:p>
            <a:pPr marL="0" indent="0">
              <a:buNone/>
            </a:pPr>
            <a:r>
              <a:rPr lang="en-US" dirty="0"/>
              <a:t>using a sequence of sensor measurements.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04D2CF-4DA7-E544-CAAD-002AA05217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7FE44-DABC-424D-A234-74BB9410FF27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06721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4407D0-7E9C-134E-0FF2-85D9248680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E6D5FC-ADEA-1B50-5AF6-64937DC033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585FFD-58C7-1AEA-6B7E-1387374449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7FE44-DABC-424D-A234-74BB9410FF27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2050" name="Picture 2" descr="What is SLAM? A Beginner to Expert Guide - Kodifly">
            <a:extLst>
              <a:ext uri="{FF2B5EF4-FFF2-40B4-BE49-F238E27FC236}">
                <a16:creationId xmlns:a16="http://schemas.microsoft.com/office/drawing/2014/main" id="{020D29A7-4350-AE5E-0B80-9B40F1BEF0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772387"/>
            <a:ext cx="7721600" cy="5791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379395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52CF76-6EEA-FC4C-F848-55C7FD557E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Navigation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585583-8BBD-F802-7A28-9F7A48E7F4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Released in 2018</a:t>
            </a:r>
          </a:p>
          <a:p>
            <a:r>
              <a:rPr lang="en-US" b="1" dirty="0"/>
              <a:t>Nav2</a:t>
            </a:r>
            <a:r>
              <a:rPr lang="en-US" dirty="0"/>
              <a:t> is a complete rewrite designed to leverage the modern capabilities of ROS</a:t>
            </a:r>
          </a:p>
          <a:p>
            <a:pPr lvl="1"/>
            <a:r>
              <a:rPr lang="en-US" b="1" dirty="0"/>
              <a:t>Architecture: From Monolithic to Modular</a:t>
            </a:r>
          </a:p>
          <a:p>
            <a:pPr marL="274320" lvl="1" indent="0">
              <a:buNone/>
            </a:pPr>
            <a:r>
              <a:rPr lang="en-US" b="1" dirty="0"/>
              <a:t>	</a:t>
            </a:r>
            <a:r>
              <a:rPr lang="en-US" b="1" dirty="0" err="1"/>
              <a:t>move_base</a:t>
            </a:r>
            <a:r>
              <a:rPr lang="en-US" b="1" dirty="0"/>
              <a:t> </a:t>
            </a:r>
            <a:r>
              <a:rPr lang="en-US" b="1" dirty="0">
                <a:sym typeface="Wingdings" panose="05000000000000000000" pitchFamily="2" charset="2"/>
              </a:rPr>
              <a:t>  Nav2 Servers</a:t>
            </a:r>
            <a:endParaRPr lang="en-US" b="1" dirty="0"/>
          </a:p>
          <a:p>
            <a:pPr lvl="1"/>
            <a:endParaRPr lang="en-US" dirty="0"/>
          </a:p>
          <a:p>
            <a:pPr lvl="1"/>
            <a:r>
              <a:rPr lang="en-US" b="1" dirty="0"/>
              <a:t>Logic: From Finite State Machine (FSM) to Behavior Trees (BT)</a:t>
            </a:r>
          </a:p>
          <a:p>
            <a:pPr marL="274320" lvl="1" indent="0">
              <a:buNone/>
            </a:pPr>
            <a:r>
              <a:rPr lang="en-US" b="1" dirty="0"/>
              <a:t>         </a:t>
            </a:r>
            <a:r>
              <a:rPr lang="en-US" dirty="0"/>
              <a:t>Complex mission logic can be defined in a simple XML file without recompiling code</a:t>
            </a:r>
          </a:p>
          <a:p>
            <a:pPr lvl="1"/>
            <a:endParaRPr lang="en-US" dirty="0"/>
          </a:p>
          <a:p>
            <a:pPr lvl="1"/>
            <a:r>
              <a:rPr lang="en-US" b="1" dirty="0"/>
              <a:t>Lifecycle nodes for systematic launch</a:t>
            </a:r>
          </a:p>
          <a:p>
            <a:pPr marL="274320" lvl="1" indent="0">
              <a:buNone/>
            </a:pPr>
            <a:r>
              <a:rPr lang="en-US" b="1" dirty="0"/>
              <a:t>	</a:t>
            </a:r>
            <a:r>
              <a:rPr lang="en-US" dirty="0"/>
              <a:t>Every major component in Nav2 has states like unconfigured, inactive, active and finalized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BF8748-3791-4497-AD3C-A35871F66C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7FE44-DABC-424D-A234-74BB9410FF27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74643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CA49BA-9180-4EB7-A877-78C8A0ED1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Nav2 vs Nav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312D93-47D5-435F-9221-8F3D7E9D46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E19BD8-153B-43F7-936C-89A63F241D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7FE44-DABC-424D-A234-74BB9410FF27}" type="slidenum">
              <a:rPr lang="en-US" smtClean="0"/>
              <a:pPr/>
              <a:t>13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4C7C8EF-DA6A-4A25-9098-DB6A3A3E1B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6851" y="1728493"/>
            <a:ext cx="6472298" cy="296069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1FEFC7F-CF5B-4164-A553-2DF626DDA5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1752600"/>
            <a:ext cx="5562600" cy="4442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74245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FA20C-3520-4F4B-B8AA-7CC2D4F3F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Nav2 </a:t>
            </a:r>
            <a:r>
              <a:rPr lang="en-US" b="1" dirty="0" err="1"/>
              <a:t>achitecture</a:t>
            </a:r>
            <a:endParaRPr lang="en-US" b="1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0F1C9DD5-BF21-46BB-8DFB-844594C769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34813" y="1600200"/>
            <a:ext cx="9522373" cy="4876800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BD284E-4BC9-4A16-8CCC-9E0A5F032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7FE44-DABC-424D-A234-74BB9410FF27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90273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B3B13F-64E0-4978-9EE1-C91F459E12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Behaviour</a:t>
            </a:r>
            <a:r>
              <a:rPr lang="en-US" b="1" dirty="0"/>
              <a:t> Tree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409C60-98A3-44F0-B882-48C4E5817A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44403C"/>
                </a:solidFill>
                <a:effectLst/>
                <a:latin typeface="Open Sans"/>
              </a:rPr>
              <a:t>Behavior Trees enable complex behaviors with less code and more modularity, making them easier to maintain and extend, compared to traditional state machines.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493FF7-9631-4CBB-852A-D9DF22C0D9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7FE44-DABC-424D-A234-74BB9410FF27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ECBDF88-AD02-43AF-9CB0-A728BBDAAFD0}"/>
              </a:ext>
            </a:extLst>
          </p:cNvPr>
          <p:cNvSpPr txBox="1"/>
          <p:nvPr/>
        </p:nvSpPr>
        <p:spPr>
          <a:xfrm>
            <a:off x="762000" y="6278890"/>
            <a:ext cx="60946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1" dirty="0">
                <a:solidFill>
                  <a:srgbClr val="0070C0"/>
                </a:solidFill>
              </a:rPr>
              <a:t>https://www.behaviortree.dev/</a:t>
            </a:r>
          </a:p>
        </p:txBody>
      </p:sp>
    </p:spTree>
    <p:extLst>
      <p:ext uri="{BB962C8B-B14F-4D97-AF65-F5344CB8AC3E}">
        <p14:creationId xmlns:p14="http://schemas.microsoft.com/office/powerpoint/2010/main" val="14509034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62963-7950-4420-B2C7-2039C5FCE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ROS2 Lifecycle nodes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4A092C02-A19D-46F8-B303-F0F1EE9E171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648311" y="1600200"/>
            <a:ext cx="5553089" cy="4876800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3E5686-4D78-4D95-BA97-4A7D23B282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7FE44-DABC-424D-A234-74BB9410FF27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4B028C6-3879-4DA2-9FE0-3E4743C1DCDE}"/>
              </a:ext>
            </a:extLst>
          </p:cNvPr>
          <p:cNvSpPr txBox="1"/>
          <p:nvPr/>
        </p:nvSpPr>
        <p:spPr>
          <a:xfrm>
            <a:off x="715372" y="2209800"/>
            <a:ext cx="4618628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0" i="0" u="none" strike="noStrike" baseline="0" dirty="0">
                <a:latin typeface="Intel Clear"/>
              </a:rPr>
              <a:t>States: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0" i="0" u="none" strike="noStrike" baseline="0" dirty="0">
                <a:latin typeface="Intel Clear"/>
              </a:rPr>
              <a:t>Unconfigured= created or new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0" i="0" u="none" strike="noStrike" baseline="0" dirty="0">
                <a:latin typeface="Intel Clear"/>
              </a:rPr>
              <a:t>Inactive = ready to work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0" i="0" u="none" strike="noStrike" baseline="0" dirty="0">
                <a:latin typeface="Intel Clear"/>
              </a:rPr>
              <a:t>Active = doing real work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Intel Clear"/>
              </a:rPr>
              <a:t>F</a:t>
            </a:r>
            <a:r>
              <a:rPr lang="en-US" sz="2400" b="0" i="0" u="none" strike="noStrike" baseline="0" dirty="0">
                <a:latin typeface="Intel Clear"/>
              </a:rPr>
              <a:t>inalized = ready to destroy</a:t>
            </a:r>
          </a:p>
          <a:p>
            <a:r>
              <a:rPr lang="en-US" sz="2400" b="0" i="0" u="none" strike="noStrike" baseline="0" dirty="0">
                <a:latin typeface="Intel Clear"/>
              </a:rPr>
              <a:t>States are controlled through ‘</a:t>
            </a:r>
            <a:r>
              <a:rPr lang="en-US" sz="2400" b="0" i="0" u="none" strike="noStrike" baseline="0" dirty="0" err="1">
                <a:latin typeface="Intel Clear"/>
              </a:rPr>
              <a:t>change_state</a:t>
            </a:r>
            <a:r>
              <a:rPr lang="en-US" sz="2400" b="0" i="0" u="none" strike="noStrike" baseline="0" dirty="0">
                <a:latin typeface="Intel Clear"/>
              </a:rPr>
              <a:t>’ service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88818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ED88EF-E327-4780-8D78-51726032F0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Nav2 Plugin interface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5FCF24-C690-4E93-BF33-4F276E8393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The ‘nav2_core’ package contains abstract interfaces for plugins</a:t>
            </a:r>
          </a:p>
          <a:p>
            <a:r>
              <a:rPr lang="en-US" dirty="0"/>
              <a:t>Global Planner – global_planner.hpp</a:t>
            </a:r>
          </a:p>
          <a:p>
            <a:r>
              <a:rPr lang="en-US" dirty="0"/>
              <a:t>Local Planner – local_planner.hpp</a:t>
            </a:r>
          </a:p>
          <a:p>
            <a:r>
              <a:rPr lang="en-US" dirty="0"/>
              <a:t>Recovery behaviors – recovery.hpp</a:t>
            </a:r>
          </a:p>
          <a:p>
            <a:r>
              <a:rPr lang="en-US" dirty="0"/>
              <a:t>Goal checker – goal_checker.hpp</a:t>
            </a:r>
          </a:p>
          <a:p>
            <a:r>
              <a:rPr lang="en-US"/>
              <a:t>Exceptions – exceptions</a:t>
            </a:r>
            <a:r>
              <a:rPr lang="en-US" dirty="0"/>
              <a:t>.hpp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D377B8-859C-4973-95EA-8DE8AB02A8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7FE44-DABC-424D-A234-74BB9410FF27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802670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larity">
  <a:themeElements>
    <a:clrScheme name="Clarity">
      <a:dk1>
        <a:srgbClr val="292934"/>
      </a:dk1>
      <a:lt1>
        <a:srgbClr val="FFFFFF"/>
      </a:lt1>
      <a:dk2>
        <a:srgbClr val="D2533C"/>
      </a:dk2>
      <a:lt2>
        <a:srgbClr val="F3F2DC"/>
      </a:lt2>
      <a:accent1>
        <a:srgbClr val="93A299"/>
      </a:accent1>
      <a:accent2>
        <a:srgbClr val="AD8F67"/>
      </a:accent2>
      <a:accent3>
        <a:srgbClr val="726056"/>
      </a:accent3>
      <a:accent4>
        <a:srgbClr val="4C5A6A"/>
      </a:accent4>
      <a:accent5>
        <a:srgbClr val="808DA0"/>
      </a:accent5>
      <a:accent6>
        <a:srgbClr val="79463D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larit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180000"/>
              </a:schemeClr>
            </a:gs>
            <a:gs pos="40000">
              <a:schemeClr val="phClr">
                <a:tint val="95000"/>
                <a:shade val="85000"/>
                <a:satMod val="150000"/>
              </a:schemeClr>
            </a:gs>
            <a:gs pos="100000">
              <a:schemeClr val="phClr">
                <a:shade val="45000"/>
                <a:satMod val="2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55000"/>
              </a:schemeClr>
              <a:schemeClr val="phClr">
                <a:tint val="97000"/>
                <a:satMod val="95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Clarity</Template>
  <TotalTime>5846</TotalTime>
  <Words>774</Words>
  <Application>Microsoft Office PowerPoint</Application>
  <PresentationFormat>Widescreen</PresentationFormat>
  <Paragraphs>115</Paragraphs>
  <Slides>17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Intel Clear</vt:lpstr>
      <vt:lpstr>Open Sans</vt:lpstr>
      <vt:lpstr>Clarity</vt:lpstr>
      <vt:lpstr>  Robot Operating system ROS Navigation</vt:lpstr>
      <vt:lpstr>History of ROS Navigation</vt:lpstr>
      <vt:lpstr>History of ROS Navigation</vt:lpstr>
      <vt:lpstr>History of ROS Navigation</vt:lpstr>
      <vt:lpstr>Map</vt:lpstr>
      <vt:lpstr>Building a Map </vt:lpstr>
      <vt:lpstr>Robot Pose and Path</vt:lpstr>
      <vt:lpstr>Localization</vt:lpstr>
      <vt:lpstr>Path Planning</vt:lpstr>
      <vt:lpstr>Mapping</vt:lpstr>
      <vt:lpstr>PowerPoint Presentation</vt:lpstr>
      <vt:lpstr>Navigation 2</vt:lpstr>
      <vt:lpstr>Nav2 vs Nav</vt:lpstr>
      <vt:lpstr>Nav2 achitecture</vt:lpstr>
      <vt:lpstr>Behaviour Tree</vt:lpstr>
      <vt:lpstr>ROS2 Lifecycle nodes</vt:lpstr>
      <vt:lpstr>Nav2 Plugin interface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Thực tập vi điều khiển</dc:title>
  <dc:creator>haduc</dc:creator>
  <cp:lastModifiedBy>duc b</cp:lastModifiedBy>
  <cp:revision>635</cp:revision>
  <dcterms:created xsi:type="dcterms:W3CDTF">2015-08-30T01:38:28Z</dcterms:created>
  <dcterms:modified xsi:type="dcterms:W3CDTF">2026-03-17T05:42:21Z</dcterms:modified>
</cp:coreProperties>
</file>